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本次汇报的主题是全国博物馆数量增长与文旅产业复苏。我的目标不是只描述数据上升或下降，而是用数值技术把年度数据中的变化率、阶段性和相关性提取出来。选取的三个指标分别是博物馆数量、国内游客和国内旅游总花费，时间范围是二零一四到二零二三年。</a:t>
            </a:r>
            <a:endParaRPr 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个题目放在数字经济与科技创新方向下，是因为文旅融合已经不只是线下旅游问题。博物馆数量反映公共文化服务供给，数字化展示和智慧文旅又会影响游客体验和消费转化。因此它同时连接国家文化数字化战略、民生改善和文旅消费复苏。</a:t>
            </a:r>
            <a:endParaRPr 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数据处理的第步是明确口径。这里把数据统一为全国年度数据，博物馆数量用个数表示，国内游客用百万人次表示，旅游总花费用亿元表示。这样处理后，三个指标可以按照同一年份对齐，形成适合数值计算的离散点集。</a:t>
            </a:r>
            <a:endParaRPr 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张表是后续计算的基础。可以看到，博物馆数量从二零一四年的三千六百五十八个增加到二零二三年的六千八百三十三个。旅游需求侧则明显不同，二零一九年处在高位，二零二零年受到冲击，二零二三年出现明显恢复。</a:t>
            </a:r>
            <a:endParaRPr 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预处理时我没有删除二零二零年的数据，因为它不是普通噪声，而是社会经济序列中需要解释的真实冲击。这里主要做三件事。统一年度、统一单位、标注冲击年份。这样后面做差分和拟合时，可以把长期趋势和短期冲击分开解释。</a:t>
            </a:r>
            <a:endParaRPr 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第一个数值方法是三点差分。对内部年份，我使用中心差分，用后一年的值减前一年的值再除以二。由于年度间隔是一年，所以结果可以直接理解为该年份附近每年的边际变化。首尾年份没有两侧数据，因此使用前向或后向差分。</a:t>
            </a:r>
            <a:endParaRPr 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第二个方法是最小二乘拟合。全周期只有十个点，而且包含疫情冲击，如果直接用一个线性模型，会把正常增长和冲击混在一起。因此我采用分段思路。平稳期用于解释同向增长，二零二零到二零二三年的恢复段用于短期趋势外推。</a:t>
            </a:r>
            <a:endParaRPr 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从规模趋势看，供给侧和需求侧呈现不同形态。博物馆数量持续单调上升，十年增长约百分之八十六点八。旅游总花费则在二零一九年达到高点，二零二零年明显下降，二零二三年恢复到四万九千多亿元，但还没有完全超过二零一九年。</a:t>
            </a:r>
            <a:endParaRPr 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差分结果把拐点表现得更清楚。博物馆年度增量总体较稳定，说明公共文化设施供给没有因为短期冲击而停滞。游客变化率在二零二零年附近急剧转负，而二零二三年转为显著正值，这说明需求侧恢复速度在后期明显加快。</a:t>
            </a:r>
            <a:endParaRPr 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有了模型的误差对比和散点图，结论更加清晰。分段最小二乘的 RMSE 明显低于全周期线性模型。平稳期的博物馆数量与国内游客高度同向，相关系数约为零点九八八。冲击年份的数据反而被拉低，恰恰说明了分段建模的必要性。</a:t>
            </a:r>
            <a:endParaRPr 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基于恢复段的线性拟合，可以得到二零二四到二零二六年的短期情景预测。例如二零二六年博物馆数预测约为八千三百八十三个，国内游客约为五十七点八亿人次。但这个结果只适合看方向，因为年度采样间隔、政策变化和滞后效应都会带来误差。</a:t>
            </a:r>
            <a:endParaRPr lang="zh-C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最后总结三点。第一，博物馆数量长期增长，说明公共文化供给持续扩张。第二，三点差分和分段拟合能有效识别冲击与恢复阶段。第三，文化设施供给是文旅复苏的重要基础，而数字化展示和智慧服务会进一步提升供给向消费转化的效率。</a:t>
            </a:r>
            <a:endParaRPr 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A"/>
          </a:solidFill>
          <a:ln>
            <a:noFill/>
          </a:ln>
        </p:spPr>
      </p:sp>
      <p:sp>
        <p:nvSpPr>
          <p:cNvPr id="3" name="Ellipse 3"/>
          <p:cNvSpPr/>
          <p:nvPr/>
        </p:nvSpPr>
        <p:spPr>
          <a:xfrm>
            <a:off x="6667500" y="-952500"/>
            <a:ext cx="5715000" cy="5715000"/>
          </a:xfrm>
          <a:prstGeom prst="ellipse">
            <a:avLst/>
          </a:prstGeom>
          <a:gradFill>
            <a:gsLst>
              <a:gs pos="0">
                <a:srgbClr val="1A3A5C">
                  <a:alpha val="6000"/>
                </a:srgbClr>
              </a:gs>
              <a:gs pos="100000">
                <a:srgbClr val="1A3A5C">
                  <a:alpha val="0"/>
                </a:srgbClr>
              </a:gs>
            </a:gsLst>
            <a:path path="circle">
              <a:fillToRect l="50000" t="50000" r="50000" b="50000"/>
            </a:path>
          </a:gradFill>
          <a:ln>
            <a:noFill/>
          </a:ln>
        </p:spPr>
      </p:sp>
      <p:sp>
        <p:nvSpPr>
          <p:cNvPr id="4" name="Rectangle 4"/>
          <p:cNvSpPr/>
          <p:nvPr/>
        </p:nvSpPr>
        <p:spPr>
          <a:xfrm>
            <a:off x="0" y="0"/>
            <a:ext cx="57150" cy="6858000"/>
          </a:xfrm>
          <a:prstGeom prst="rect">
            <a:avLst/>
          </a:prstGeom>
          <a:gradFill>
            <a:gsLst>
              <a:gs pos="0">
                <a:srgbClr val="C8963E"/>
              </a:gs>
              <a:gs pos="100000">
                <a:srgbClr val="D4A857"/>
              </a:gs>
            </a:gsLst>
            <a:lin ang="5400000" scaled="1"/>
          </a:gradFill>
          <a:ln>
            <a:noFill/>
          </a:ln>
        </p:spPr>
      </p:sp>
      <p:grpSp>
        <p:nvGrpSpPr>
          <p:cNvPr id="10" name="Group 10"/>
          <p:cNvGrpSpPr/>
          <p:nvPr/>
        </p:nvGrpSpPr>
        <p:grpSpPr>
          <a:xfrm>
            <a:off x="2588419" y="1704975"/>
            <a:ext cx="7015162" cy="2581275"/>
            <a:chOff x="2588419" y="1704975"/>
            <a:chExt cx="7015162" cy="2581275"/>
          </a:xfrm>
        </p:grpSpPr>
        <p:sp>
          <p:nvSpPr>
            <p:cNvPr id="5" name="TextBox 5"/>
            <p:cNvSpPr txBox="1"/>
            <p:nvPr/>
          </p:nvSpPr>
          <p:spPr>
            <a:xfrm>
              <a:off x="2588419" y="1704975"/>
              <a:ext cx="7015162" cy="914400"/>
            </a:xfrm>
            <a:prstGeom prst="rect">
              <a:avLst/>
            </a:prstGeom>
            <a:noFill/>
            <a:ln>
              <a:noFill/>
            </a:ln>
          </p:spPr>
          <p:txBody>
            <a:bodyPr wrap="none" lIns="0" tIns="0" rIns="0" bIns="0" anchor="t" anchorCtr="0">
              <a:spAutoFit/>
            </a:bodyPr>
            <a:lstStyle/>
            <a:p>
              <a:pPr algn="ctr"/>
              <a:r>
                <a:rPr lang="zh-CN" sz="4500" b="1" dirty="0">
                  <a:solidFill>
                    <a:srgbClr val="1A3A5C"/>
                  </a:solidFill>
                  <a:latin typeface="Georgia" panose="02040502050405020303"/>
                  <a:ea typeface="楷体" panose="02010609060101010101" charset="-122"/>
                  <a:cs typeface="Georgia" panose="02040502050405020303"/>
                </a:rPr>
                <a:t>数值技术课程结课汇报</a:t>
              </a:r>
              <a:endParaRPr lang="zh-CN" sz="4500" b="1" dirty="0">
                <a:solidFill>
                  <a:srgbClr val="1A3A5C"/>
                </a:solidFill>
                <a:latin typeface="Georgia" panose="02040502050405020303"/>
                <a:ea typeface="楷体" panose="02010609060101010101" charset="-122"/>
                <a:cs typeface="Georgia" panose="02040502050405020303"/>
              </a:endParaRPr>
            </a:p>
          </p:txBody>
        </p:sp>
        <p:sp>
          <p:nvSpPr>
            <p:cNvPr id="6" name="TextBox 6"/>
            <p:cNvSpPr txBox="1"/>
            <p:nvPr/>
          </p:nvSpPr>
          <p:spPr>
            <a:xfrm>
              <a:off x="4612529" y="2661285"/>
              <a:ext cx="2966942" cy="548640"/>
            </a:xfrm>
            <a:prstGeom prst="rect">
              <a:avLst/>
            </a:prstGeom>
            <a:noFill/>
            <a:ln>
              <a:noFill/>
            </a:ln>
          </p:spPr>
          <p:txBody>
            <a:bodyPr wrap="none" lIns="0" tIns="0" rIns="0" bIns="0" anchor="t" anchorCtr="0">
              <a:spAutoFit/>
            </a:bodyPr>
            <a:lstStyle/>
            <a:p>
              <a:pPr algn="ctr"/>
              <a:r>
                <a:rPr lang="zh-CN" sz="2700" b="1" dirty="0">
                  <a:solidFill>
                    <a:srgbClr val="2E6B8F"/>
                  </a:solidFill>
                  <a:latin typeface="Georgia" panose="02040502050405020303"/>
                  <a:ea typeface="楷体" panose="02010609060101010101" charset="-122"/>
                  <a:cs typeface="Georgia" panose="02040502050405020303"/>
                </a:rPr>
                <a:t>数字经济背景下</a:t>
              </a:r>
              <a:endParaRPr lang="zh-CN" sz="2700" b="1" dirty="0">
                <a:solidFill>
                  <a:srgbClr val="2E6B8F"/>
                </a:solidFill>
                <a:latin typeface="Georgia" panose="02040502050405020303"/>
                <a:ea typeface="楷体" panose="02010609060101010101" charset="-122"/>
                <a:cs typeface="Georgia" panose="02040502050405020303"/>
              </a:endParaRPr>
            </a:p>
          </p:txBody>
        </p:sp>
        <p:sp>
          <p:nvSpPr>
            <p:cNvPr id="7" name="TextBox 7"/>
            <p:cNvSpPr txBox="1"/>
            <p:nvPr/>
          </p:nvSpPr>
          <p:spPr>
            <a:xfrm>
              <a:off x="3991451" y="3137535"/>
              <a:ext cx="4209098" cy="548640"/>
            </a:xfrm>
            <a:prstGeom prst="rect">
              <a:avLst/>
            </a:prstGeom>
            <a:noFill/>
            <a:ln>
              <a:noFill/>
            </a:ln>
          </p:spPr>
          <p:txBody>
            <a:bodyPr wrap="none" lIns="0" tIns="0" rIns="0" bIns="0" anchor="t" anchorCtr="0">
              <a:spAutoFit/>
            </a:bodyPr>
            <a:lstStyle/>
            <a:p>
              <a:pPr algn="ctr"/>
              <a:r>
                <a:rPr lang="zh-CN" sz="2700" b="1" dirty="0">
                  <a:solidFill>
                    <a:srgbClr val="2E6B8F"/>
                  </a:solidFill>
                  <a:latin typeface="Georgia" panose="02040502050405020303"/>
                  <a:ea typeface="楷体" panose="02010609060101010101" charset="-122"/>
                  <a:cs typeface="Georgia" panose="02040502050405020303"/>
                </a:rPr>
                <a:t>博物馆增长与文旅复苏</a:t>
              </a:r>
              <a:endParaRPr lang="zh-CN" sz="2700" b="1" dirty="0">
                <a:solidFill>
                  <a:srgbClr val="2E6B8F"/>
                </a:solidFill>
                <a:latin typeface="Georgia" panose="02040502050405020303"/>
                <a:ea typeface="楷体" panose="02010609060101010101" charset="-122"/>
                <a:cs typeface="Georgia" panose="02040502050405020303"/>
              </a:endParaRPr>
            </a:p>
          </p:txBody>
        </p:sp>
        <p:sp>
          <p:nvSpPr>
            <p:cNvPr id="8" name="Rectangle 8"/>
            <p:cNvSpPr/>
            <p:nvPr/>
          </p:nvSpPr>
          <p:spPr>
            <a:xfrm>
              <a:off x="4667250" y="3714750"/>
              <a:ext cx="2857500" cy="19050"/>
            </a:xfrm>
            <a:prstGeom prst="roundRect">
              <a:avLst>
                <a:gd name="adj" fmla="val 50000"/>
              </a:avLst>
            </a:prstGeom>
            <a:solidFill>
              <a:srgbClr val="C8963E"/>
            </a:solidFill>
            <a:ln>
              <a:noFill/>
            </a:ln>
          </p:spPr>
        </p:sp>
        <p:sp>
          <p:nvSpPr>
            <p:cNvPr id="9" name="TextBox 9"/>
            <p:cNvSpPr txBox="1"/>
            <p:nvPr/>
          </p:nvSpPr>
          <p:spPr>
            <a:xfrm>
              <a:off x="3886200" y="3981450"/>
              <a:ext cx="4419600" cy="304800"/>
            </a:xfrm>
            <a:prstGeom prst="rect">
              <a:avLst/>
            </a:prstGeom>
            <a:noFill/>
            <a:ln>
              <a:noFill/>
            </a:ln>
          </p:spPr>
          <p:txBody>
            <a:bodyPr wrap="none" lIns="0" tIns="0" rIns="0" bIns="0" anchor="t" anchorCtr="0">
              <a:spAutoFit/>
            </a:bodyPr>
            <a:lstStyle/>
            <a:p>
              <a:pPr algn="ctr"/>
              <a:r>
                <a:rPr lang="zh-CN" sz="1500" dirty="0">
                  <a:solidFill>
                    <a:srgbClr val="6B7280"/>
                  </a:solidFill>
                  <a:latin typeface="Arial" panose="020B0604020202020204"/>
                  <a:ea typeface="微软雅黑" panose="020B0503020204020204" charset="-122"/>
                  <a:cs typeface="Arial" panose="020B0604020202020204"/>
                </a:rPr>
                <a:t>文化供给、数字化连接与消费转化的数值分析</a:t>
              </a:r>
              <a:endParaRPr lang="zh-CN" sz="1500" dirty="0">
                <a:solidFill>
                  <a:srgbClr val="6B7280"/>
                </a:solidFill>
                <a:latin typeface="Arial" panose="020B0604020202020204"/>
                <a:ea typeface="微软雅黑" panose="020B0503020204020204" charset="-122"/>
                <a:cs typeface="Arial" panose="020B0604020202020204"/>
              </a:endParaRPr>
            </a:p>
          </p:txBody>
        </p:sp>
      </p:grpSp>
      <p:grpSp>
        <p:nvGrpSpPr>
          <p:cNvPr id="27" name="Group 27"/>
          <p:cNvGrpSpPr/>
          <p:nvPr/>
        </p:nvGrpSpPr>
        <p:grpSpPr>
          <a:xfrm>
            <a:off x="2952750" y="4572000"/>
            <a:ext cx="6286500" cy="952500"/>
            <a:chOff x="2952750" y="4572000"/>
            <a:chExt cx="6286500" cy="952500"/>
          </a:xfrm>
        </p:grpSpPr>
        <p:sp>
          <p:nvSpPr>
            <p:cNvPr id="11" name="Rectangle 11"/>
            <p:cNvSpPr/>
            <p:nvPr/>
          </p:nvSpPr>
          <p:spPr>
            <a:xfrm>
              <a:off x="2952750" y="4572000"/>
              <a:ext cx="6286500" cy="952500"/>
            </a:xfrm>
            <a:prstGeom prst="roundRect">
              <a:avLst>
                <a:gd name="adj" fmla="val 10000"/>
              </a:avLst>
            </a:prstGeom>
            <a:solidFill>
              <a:srgbClr val="F0F4F8"/>
            </a:solidFill>
            <a:ln>
              <a:noFill/>
            </a:ln>
          </p:spPr>
        </p:sp>
        <p:grpSp>
          <p:nvGrpSpPr>
            <p:cNvPr id="14" name="Group 14"/>
            <p:cNvGrpSpPr/>
            <p:nvPr/>
          </p:nvGrpSpPr>
          <p:grpSpPr>
            <a:xfrm>
              <a:off x="3245644" y="4823607"/>
              <a:ext cx="214312" cy="186543"/>
              <a:chOff x="3245644" y="4823607"/>
              <a:chExt cx="214312" cy="186543"/>
            </a:xfrm>
          </p:grpSpPr>
          <p:sp>
            <p:nvSpPr>
              <p:cNvPr id="12" name="Freeform 12"/>
              <p:cNvSpPr/>
              <p:nvPr/>
            </p:nvSpPr>
            <p:spPr>
              <a:xfrm>
                <a:off x="3274217" y="4831171"/>
                <a:ext cx="85727" cy="171835"/>
              </a:xfrm>
              <a:custGeom>
                <a:avLst/>
                <a:gdLst/>
                <a:ahLst/>
                <a:cxnLst/>
                <a:rect l="l" t="t" r="r" b="b"/>
                <a:pathLst>
                  <a:path w="85727" h="171835">
                    <a:moveTo>
                      <a:pt x="85727" y="7529"/>
                    </a:moveTo>
                    <a:lnTo>
                      <a:pt x="85727" y="171835"/>
                    </a:lnTo>
                    <a:lnTo>
                      <a:pt x="2" y="171835"/>
                    </a:lnTo>
                    <a:lnTo>
                      <a:pt x="2" y="55169"/>
                    </a:lnTo>
                    <a:cubicBezTo>
                      <a:pt x="0" y="52779"/>
                      <a:pt x="1193" y="50547"/>
                      <a:pt x="3181" y="49221"/>
                    </a:cubicBezTo>
                    <a:lnTo>
                      <a:pt x="74618" y="1599"/>
                    </a:lnTo>
                    <a:cubicBezTo>
                      <a:pt x="76808" y="138"/>
                      <a:pt x="79624" y="0"/>
                      <a:pt x="81947" y="1240"/>
                    </a:cubicBezTo>
                    <a:cubicBezTo>
                      <a:pt x="84269" y="2479"/>
                      <a:pt x="85722" y="4896"/>
                      <a:pt x="85727" y="7529"/>
                    </a:cubicBezTo>
                    <a:close/>
                  </a:path>
                </a:pathLst>
              </a:custGeom>
              <a:solidFill>
                <a:srgbClr val="1A3A5C">
                  <a:alpha val="20000"/>
                </a:srgbClr>
              </a:solidFill>
              <a:ln>
                <a:noFill/>
              </a:ln>
            </p:spPr>
          </p:sp>
          <p:sp>
            <p:nvSpPr>
              <p:cNvPr id="13" name="Freeform 13"/>
              <p:cNvSpPr/>
              <p:nvPr/>
            </p:nvSpPr>
            <p:spPr>
              <a:xfrm>
                <a:off x="3245644" y="4823607"/>
                <a:ext cx="214312" cy="186543"/>
              </a:xfrm>
              <a:custGeom>
                <a:avLst/>
                <a:gdLst/>
                <a:ahLst/>
                <a:cxnLst/>
                <a:rect l="l" t="t" r="r" b="b"/>
                <a:pathLst>
                  <a:path w="214312" h="186543">
                    <a:moveTo>
                      <a:pt x="207169" y="172256"/>
                    </a:moveTo>
                    <a:lnTo>
                      <a:pt x="192881" y="172256"/>
                    </a:lnTo>
                    <a:lnTo>
                      <a:pt x="192881" y="72243"/>
                    </a:lnTo>
                    <a:cubicBezTo>
                      <a:pt x="192881" y="64353"/>
                      <a:pt x="186485" y="57956"/>
                      <a:pt x="178594" y="57956"/>
                    </a:cubicBezTo>
                    <a:lnTo>
                      <a:pt x="121444" y="57956"/>
                    </a:lnTo>
                    <a:lnTo>
                      <a:pt x="121444" y="15093"/>
                    </a:lnTo>
                    <a:cubicBezTo>
                      <a:pt x="121447" y="9822"/>
                      <a:pt x="118547" y="4976"/>
                      <a:pt x="113900" y="2488"/>
                    </a:cubicBezTo>
                    <a:cubicBezTo>
                      <a:pt x="109252" y="0"/>
                      <a:pt x="103612" y="273"/>
                      <a:pt x="99227" y="3199"/>
                    </a:cubicBezTo>
                    <a:lnTo>
                      <a:pt x="27789" y="50812"/>
                    </a:lnTo>
                    <a:cubicBezTo>
                      <a:pt x="23809" y="53468"/>
                      <a:pt x="21422" y="57940"/>
                      <a:pt x="21431" y="62724"/>
                    </a:cubicBezTo>
                    <a:lnTo>
                      <a:pt x="21431" y="172256"/>
                    </a:lnTo>
                    <a:lnTo>
                      <a:pt x="7144" y="172256"/>
                    </a:lnTo>
                    <a:cubicBezTo>
                      <a:pt x="3198" y="172256"/>
                      <a:pt x="0" y="175454"/>
                      <a:pt x="0" y="179400"/>
                    </a:cubicBezTo>
                    <a:cubicBezTo>
                      <a:pt x="0" y="183345"/>
                      <a:pt x="3198" y="186543"/>
                      <a:pt x="7144" y="186543"/>
                    </a:cubicBezTo>
                    <a:lnTo>
                      <a:pt x="207169" y="186543"/>
                    </a:lnTo>
                    <a:cubicBezTo>
                      <a:pt x="211114" y="186543"/>
                      <a:pt x="214312" y="183345"/>
                      <a:pt x="214312" y="179400"/>
                    </a:cubicBezTo>
                    <a:cubicBezTo>
                      <a:pt x="214312" y="175454"/>
                      <a:pt x="211114" y="172256"/>
                      <a:pt x="207169" y="172256"/>
                    </a:cubicBezTo>
                    <a:close/>
                    <a:moveTo>
                      <a:pt x="178594" y="72243"/>
                    </a:moveTo>
                    <a:lnTo>
                      <a:pt x="178594" y="172256"/>
                    </a:lnTo>
                    <a:lnTo>
                      <a:pt x="121444" y="172256"/>
                    </a:lnTo>
                    <a:lnTo>
                      <a:pt x="121444" y="72243"/>
                    </a:lnTo>
                    <a:close/>
                    <a:moveTo>
                      <a:pt x="35719" y="62724"/>
                    </a:moveTo>
                    <a:lnTo>
                      <a:pt x="107156" y="15093"/>
                    </a:lnTo>
                    <a:lnTo>
                      <a:pt x="107156" y="172256"/>
                    </a:lnTo>
                    <a:lnTo>
                      <a:pt x="35719" y="172256"/>
                    </a:lnTo>
                    <a:close/>
                    <a:moveTo>
                      <a:pt x="92869" y="86531"/>
                    </a:moveTo>
                    <a:lnTo>
                      <a:pt x="92869" y="100818"/>
                    </a:lnTo>
                    <a:cubicBezTo>
                      <a:pt x="92869" y="104764"/>
                      <a:pt x="89670" y="107962"/>
                      <a:pt x="85725" y="107962"/>
                    </a:cubicBezTo>
                    <a:cubicBezTo>
                      <a:pt x="81780" y="107962"/>
                      <a:pt x="78581" y="104764"/>
                      <a:pt x="78581" y="100818"/>
                    </a:cubicBezTo>
                    <a:lnTo>
                      <a:pt x="78581" y="86531"/>
                    </a:lnTo>
                    <a:cubicBezTo>
                      <a:pt x="78581" y="82586"/>
                      <a:pt x="81780" y="79387"/>
                      <a:pt x="85725" y="79387"/>
                    </a:cubicBezTo>
                    <a:cubicBezTo>
                      <a:pt x="89670" y="79387"/>
                      <a:pt x="92869" y="82586"/>
                      <a:pt x="92869" y="86531"/>
                    </a:cubicBezTo>
                    <a:close/>
                    <a:moveTo>
                      <a:pt x="64294" y="86531"/>
                    </a:moveTo>
                    <a:lnTo>
                      <a:pt x="64294" y="100818"/>
                    </a:lnTo>
                    <a:cubicBezTo>
                      <a:pt x="64294" y="104764"/>
                      <a:pt x="61095" y="107962"/>
                      <a:pt x="57150" y="107962"/>
                    </a:cubicBezTo>
                    <a:cubicBezTo>
                      <a:pt x="53205" y="107962"/>
                      <a:pt x="50006" y="104764"/>
                      <a:pt x="50006" y="100818"/>
                    </a:cubicBezTo>
                    <a:lnTo>
                      <a:pt x="50006" y="86531"/>
                    </a:lnTo>
                    <a:cubicBezTo>
                      <a:pt x="50006" y="82586"/>
                      <a:pt x="53205" y="79387"/>
                      <a:pt x="57150" y="79387"/>
                    </a:cubicBezTo>
                    <a:cubicBezTo>
                      <a:pt x="61095" y="79387"/>
                      <a:pt x="64294" y="82586"/>
                      <a:pt x="64294" y="86531"/>
                    </a:cubicBezTo>
                    <a:close/>
                    <a:moveTo>
                      <a:pt x="64294" y="136537"/>
                    </a:moveTo>
                    <a:lnTo>
                      <a:pt x="64294" y="150825"/>
                    </a:lnTo>
                    <a:cubicBezTo>
                      <a:pt x="64294" y="154770"/>
                      <a:pt x="61095" y="157968"/>
                      <a:pt x="57150" y="157968"/>
                    </a:cubicBezTo>
                    <a:cubicBezTo>
                      <a:pt x="53205" y="157968"/>
                      <a:pt x="50006" y="154770"/>
                      <a:pt x="50006" y="150825"/>
                    </a:cubicBezTo>
                    <a:lnTo>
                      <a:pt x="50006" y="136537"/>
                    </a:lnTo>
                    <a:cubicBezTo>
                      <a:pt x="50006" y="132592"/>
                      <a:pt x="53205" y="129393"/>
                      <a:pt x="57150" y="129393"/>
                    </a:cubicBezTo>
                    <a:cubicBezTo>
                      <a:pt x="61095" y="129393"/>
                      <a:pt x="64294" y="132592"/>
                      <a:pt x="64294" y="136537"/>
                    </a:cubicBezTo>
                    <a:close/>
                    <a:moveTo>
                      <a:pt x="92869" y="136537"/>
                    </a:moveTo>
                    <a:lnTo>
                      <a:pt x="92869" y="150825"/>
                    </a:lnTo>
                    <a:cubicBezTo>
                      <a:pt x="92869" y="154770"/>
                      <a:pt x="89670" y="157968"/>
                      <a:pt x="85725" y="157968"/>
                    </a:cubicBezTo>
                    <a:cubicBezTo>
                      <a:pt x="81780" y="157968"/>
                      <a:pt x="78581" y="154770"/>
                      <a:pt x="78581" y="150825"/>
                    </a:cubicBezTo>
                    <a:lnTo>
                      <a:pt x="78581" y="136537"/>
                    </a:lnTo>
                    <a:cubicBezTo>
                      <a:pt x="78581" y="132592"/>
                      <a:pt x="81780" y="129393"/>
                      <a:pt x="85725" y="129393"/>
                    </a:cubicBezTo>
                    <a:cubicBezTo>
                      <a:pt x="89670" y="129393"/>
                      <a:pt x="92869" y="132592"/>
                      <a:pt x="92869" y="136537"/>
                    </a:cubicBezTo>
                    <a:close/>
                  </a:path>
                </a:pathLst>
              </a:custGeom>
              <a:solidFill>
                <a:srgbClr val="1A3A5C"/>
              </a:solidFill>
              <a:ln>
                <a:noFill/>
              </a:ln>
            </p:spPr>
          </p:sp>
        </p:grpSp>
        <p:sp>
          <p:nvSpPr>
            <p:cNvPr id="15" name="TextBox 15"/>
            <p:cNvSpPr txBox="1"/>
            <p:nvPr/>
          </p:nvSpPr>
          <p:spPr>
            <a:xfrm>
              <a:off x="3509962" y="4850606"/>
              <a:ext cx="718661" cy="228600"/>
            </a:xfrm>
            <a:prstGeom prst="rect">
              <a:avLst/>
            </a:prstGeom>
            <a:noFill/>
            <a:ln>
              <a:noFill/>
            </a:ln>
          </p:spPr>
          <p:txBody>
            <a:bodyPr wrap="none" lIns="0" tIns="0" rIns="0" bIns="0" anchor="t" anchorCtr="0">
              <a:spAutoFit/>
            </a:bodyPr>
            <a:lstStyle/>
            <a:p>
              <a:pPr algn="l"/>
              <a:r>
                <a:rPr lang="zh-CN" sz="1125" b="1" dirty="0">
                  <a:solidFill>
                    <a:srgbClr val="1A1A2E"/>
                  </a:solidFill>
                  <a:latin typeface="Arial" panose="020B0604020202020204"/>
                  <a:ea typeface="微软雅黑" panose="020B0503020204020204" charset="-122"/>
                  <a:cs typeface="Arial" panose="020B0604020202020204"/>
                </a:rPr>
                <a:t>研究对象</a:t>
              </a:r>
              <a:endParaRPr lang="zh-CN" sz="1125" b="1" dirty="0">
                <a:solidFill>
                  <a:srgbClr val="1A1A2E"/>
                </a:solidFill>
                <a:latin typeface="Arial" panose="020B0604020202020204"/>
                <a:ea typeface="微软雅黑" panose="020B0503020204020204" charset="-122"/>
                <a:cs typeface="Arial" panose="020B0604020202020204"/>
              </a:endParaRPr>
            </a:p>
          </p:txBody>
        </p:sp>
        <p:sp>
          <p:nvSpPr>
            <p:cNvPr id="16" name="TextBox 16"/>
            <p:cNvSpPr txBox="1"/>
            <p:nvPr/>
          </p:nvSpPr>
          <p:spPr>
            <a:xfrm>
              <a:off x="4748212" y="4850606"/>
              <a:ext cx="1507331" cy="228600"/>
            </a:xfrm>
            <a:prstGeom prst="rect">
              <a:avLst/>
            </a:prstGeom>
            <a:noFill/>
            <a:ln>
              <a:noFill/>
            </a:ln>
          </p:spPr>
          <p:txBody>
            <a:bodyPr wrap="none" lIns="0" tIns="0" rIns="0" bIns="0" anchor="t" anchorCtr="0">
              <a:spAutoFit/>
            </a:bodyPr>
            <a:lstStyle/>
            <a:p>
              <a:pPr algn="l"/>
              <a:r>
                <a:rPr lang="zh-CN" sz="1125" dirty="0">
                  <a:solidFill>
                    <a:srgbClr val="6B7280"/>
                  </a:solidFill>
                  <a:latin typeface="Arial" panose="020B0604020202020204"/>
                  <a:ea typeface="微软雅黑" panose="020B0503020204020204" charset="-122"/>
                  <a:cs typeface="Arial" panose="020B0604020202020204"/>
                </a:rPr>
                <a:t>2014-2023 年度序列</a:t>
              </a:r>
              <a:endParaRPr lang="zh-CN" sz="1125" dirty="0">
                <a:solidFill>
                  <a:srgbClr val="6B7280"/>
                </a:solidFill>
                <a:latin typeface="Arial" panose="020B0604020202020204"/>
                <a:ea typeface="微软雅黑" panose="020B0503020204020204" charset="-122"/>
                <a:cs typeface="Arial" panose="020B0604020202020204"/>
              </a:endParaRPr>
            </a:p>
          </p:txBody>
        </p:sp>
        <p:grpSp>
          <p:nvGrpSpPr>
            <p:cNvPr id="19" name="Group 19"/>
            <p:cNvGrpSpPr/>
            <p:nvPr/>
          </p:nvGrpSpPr>
          <p:grpSpPr>
            <a:xfrm>
              <a:off x="3259931" y="5112544"/>
              <a:ext cx="185738" cy="157162"/>
              <a:chOff x="3259931" y="5112544"/>
              <a:chExt cx="185738" cy="157162"/>
            </a:xfrm>
          </p:grpSpPr>
          <p:sp>
            <p:nvSpPr>
              <p:cNvPr id="17" name="Freeform 17"/>
              <p:cNvSpPr/>
              <p:nvPr/>
            </p:nvSpPr>
            <p:spPr>
              <a:xfrm>
                <a:off x="3267075" y="5119688"/>
                <a:ext cx="171450" cy="142875"/>
              </a:xfrm>
              <a:custGeom>
                <a:avLst/>
                <a:gdLst/>
                <a:ahLst/>
                <a:cxnLst/>
                <a:rect l="l" t="t" r="r" b="b"/>
                <a:pathLst>
                  <a:path w="171450" h="142875">
                    <a:moveTo>
                      <a:pt x="171450" y="7144"/>
                    </a:moveTo>
                    <a:lnTo>
                      <a:pt x="171450" y="142875"/>
                    </a:lnTo>
                    <a:lnTo>
                      <a:pt x="0" y="142875"/>
                    </a:lnTo>
                    <a:lnTo>
                      <a:pt x="0" y="0"/>
                    </a:lnTo>
                    <a:lnTo>
                      <a:pt x="164306" y="0"/>
                    </a:lnTo>
                    <a:cubicBezTo>
                      <a:pt x="168252" y="0"/>
                      <a:pt x="171450" y="3198"/>
                      <a:pt x="171450" y="7144"/>
                    </a:cubicBezTo>
                    <a:close/>
                  </a:path>
                </a:pathLst>
              </a:custGeom>
              <a:solidFill>
                <a:srgbClr val="1A3A5C">
                  <a:alpha val="20000"/>
                </a:srgbClr>
              </a:solidFill>
              <a:ln>
                <a:noFill/>
              </a:ln>
            </p:spPr>
          </p:sp>
          <p:sp>
            <p:nvSpPr>
              <p:cNvPr id="18" name="Freeform 18"/>
              <p:cNvSpPr/>
              <p:nvPr/>
            </p:nvSpPr>
            <p:spPr>
              <a:xfrm>
                <a:off x="3259931" y="5112544"/>
                <a:ext cx="185738" cy="157162"/>
              </a:xfrm>
              <a:custGeom>
                <a:avLst/>
                <a:gdLst/>
                <a:ahLst/>
                <a:cxnLst/>
                <a:rect l="l" t="t" r="r" b="b"/>
                <a:pathLst>
                  <a:path w="185738" h="157162">
                    <a:moveTo>
                      <a:pt x="185738" y="150019"/>
                    </a:moveTo>
                    <a:cubicBezTo>
                      <a:pt x="185738" y="153964"/>
                      <a:pt x="182539" y="157162"/>
                      <a:pt x="178594" y="157162"/>
                    </a:cubicBezTo>
                    <a:lnTo>
                      <a:pt x="7144" y="157162"/>
                    </a:lnTo>
                    <a:cubicBezTo>
                      <a:pt x="3198" y="157162"/>
                      <a:pt x="0" y="153964"/>
                      <a:pt x="0" y="150019"/>
                    </a:cubicBezTo>
                    <a:lnTo>
                      <a:pt x="0" y="7144"/>
                    </a:lnTo>
                    <a:cubicBezTo>
                      <a:pt x="0" y="3198"/>
                      <a:pt x="3198" y="0"/>
                      <a:pt x="7144" y="0"/>
                    </a:cubicBezTo>
                    <a:cubicBezTo>
                      <a:pt x="11089" y="0"/>
                      <a:pt x="14288" y="3198"/>
                      <a:pt x="14288" y="7144"/>
                    </a:cubicBezTo>
                    <a:lnTo>
                      <a:pt x="14288" y="104201"/>
                    </a:lnTo>
                    <a:lnTo>
                      <a:pt x="59240" y="59240"/>
                    </a:lnTo>
                    <a:cubicBezTo>
                      <a:pt x="60579" y="57898"/>
                      <a:pt x="62398" y="57144"/>
                      <a:pt x="64294" y="57144"/>
                    </a:cubicBezTo>
                    <a:cubicBezTo>
                      <a:pt x="66190" y="57144"/>
                      <a:pt x="68008" y="57898"/>
                      <a:pt x="69348" y="59240"/>
                    </a:cubicBezTo>
                    <a:lnTo>
                      <a:pt x="92869" y="82769"/>
                    </a:lnTo>
                    <a:lnTo>
                      <a:pt x="139919" y="35719"/>
                    </a:lnTo>
                    <a:lnTo>
                      <a:pt x="121444" y="35719"/>
                    </a:lnTo>
                    <a:cubicBezTo>
                      <a:pt x="117498" y="35719"/>
                      <a:pt x="114300" y="32520"/>
                      <a:pt x="114300" y="28575"/>
                    </a:cubicBezTo>
                    <a:cubicBezTo>
                      <a:pt x="114300" y="24630"/>
                      <a:pt x="117498" y="21431"/>
                      <a:pt x="121444" y="21431"/>
                    </a:cubicBezTo>
                    <a:lnTo>
                      <a:pt x="157162" y="21431"/>
                    </a:lnTo>
                    <a:cubicBezTo>
                      <a:pt x="161108" y="21431"/>
                      <a:pt x="164306" y="24630"/>
                      <a:pt x="164306" y="28575"/>
                    </a:cubicBezTo>
                    <a:lnTo>
                      <a:pt x="164306" y="64294"/>
                    </a:lnTo>
                    <a:cubicBezTo>
                      <a:pt x="164306" y="68239"/>
                      <a:pt x="161108" y="71438"/>
                      <a:pt x="157162" y="71438"/>
                    </a:cubicBezTo>
                    <a:cubicBezTo>
                      <a:pt x="153217" y="71438"/>
                      <a:pt x="150019" y="68239"/>
                      <a:pt x="150019" y="64294"/>
                    </a:cubicBezTo>
                    <a:lnTo>
                      <a:pt x="150019" y="45818"/>
                    </a:lnTo>
                    <a:lnTo>
                      <a:pt x="97923" y="97923"/>
                    </a:lnTo>
                    <a:cubicBezTo>
                      <a:pt x="96583" y="99264"/>
                      <a:pt x="94765" y="100018"/>
                      <a:pt x="92869" y="100018"/>
                    </a:cubicBezTo>
                    <a:cubicBezTo>
                      <a:pt x="90973" y="100018"/>
                      <a:pt x="89154" y="99264"/>
                      <a:pt x="87815" y="97923"/>
                    </a:cubicBezTo>
                    <a:lnTo>
                      <a:pt x="64294" y="74393"/>
                    </a:lnTo>
                    <a:lnTo>
                      <a:pt x="14288" y="124399"/>
                    </a:lnTo>
                    <a:lnTo>
                      <a:pt x="14288" y="142875"/>
                    </a:lnTo>
                    <a:lnTo>
                      <a:pt x="178594" y="142875"/>
                    </a:lnTo>
                    <a:cubicBezTo>
                      <a:pt x="182539" y="142875"/>
                      <a:pt x="185738" y="146073"/>
                      <a:pt x="185738" y="150019"/>
                    </a:cubicBezTo>
                    <a:close/>
                  </a:path>
                </a:pathLst>
              </a:custGeom>
              <a:solidFill>
                <a:srgbClr val="1A3A5C"/>
              </a:solidFill>
              <a:ln>
                <a:noFill/>
              </a:ln>
            </p:spPr>
          </p:sp>
        </p:grpSp>
        <p:sp>
          <p:nvSpPr>
            <p:cNvPr id="20" name="TextBox 20"/>
            <p:cNvSpPr txBox="1"/>
            <p:nvPr/>
          </p:nvSpPr>
          <p:spPr>
            <a:xfrm>
              <a:off x="3509962" y="5117306"/>
              <a:ext cx="718661" cy="228600"/>
            </a:xfrm>
            <a:prstGeom prst="rect">
              <a:avLst/>
            </a:prstGeom>
            <a:noFill/>
            <a:ln>
              <a:noFill/>
            </a:ln>
          </p:spPr>
          <p:txBody>
            <a:bodyPr wrap="none" lIns="0" tIns="0" rIns="0" bIns="0" anchor="t" anchorCtr="0">
              <a:spAutoFit/>
            </a:bodyPr>
            <a:lstStyle/>
            <a:p>
              <a:pPr algn="l"/>
              <a:r>
                <a:rPr lang="zh-CN" sz="1125" b="1" dirty="0">
                  <a:solidFill>
                    <a:srgbClr val="1A1A2E"/>
                  </a:solidFill>
                  <a:latin typeface="Arial" panose="020B0604020202020204"/>
                  <a:ea typeface="微软雅黑" panose="020B0503020204020204" charset="-122"/>
                  <a:cs typeface="Arial" panose="020B0604020202020204"/>
                </a:rPr>
                <a:t>核心指标</a:t>
              </a:r>
              <a:endParaRPr lang="zh-CN" sz="1125" b="1" dirty="0">
                <a:solidFill>
                  <a:srgbClr val="1A1A2E"/>
                </a:solidFill>
                <a:latin typeface="Arial" panose="020B0604020202020204"/>
                <a:ea typeface="微软雅黑" panose="020B0503020204020204" charset="-122"/>
                <a:cs typeface="Arial" panose="020B0604020202020204"/>
              </a:endParaRPr>
            </a:p>
          </p:txBody>
        </p:sp>
        <p:sp>
          <p:nvSpPr>
            <p:cNvPr id="21" name="TextBox 21"/>
            <p:cNvSpPr txBox="1"/>
            <p:nvPr/>
          </p:nvSpPr>
          <p:spPr>
            <a:xfrm>
              <a:off x="4748212" y="5117306"/>
              <a:ext cx="1318379" cy="228600"/>
            </a:xfrm>
            <a:prstGeom prst="rect">
              <a:avLst/>
            </a:prstGeom>
            <a:noFill/>
            <a:ln>
              <a:noFill/>
            </a:ln>
          </p:spPr>
          <p:txBody>
            <a:bodyPr wrap="none" lIns="0" tIns="0" rIns="0" bIns="0" anchor="t" anchorCtr="0">
              <a:spAutoFit/>
            </a:bodyPr>
            <a:lstStyle/>
            <a:p>
              <a:pPr algn="l"/>
              <a:r>
                <a:rPr lang="zh-CN" sz="1125" dirty="0">
                  <a:solidFill>
                    <a:srgbClr val="6B7280"/>
                  </a:solidFill>
                  <a:latin typeface="Arial" panose="020B0604020202020204"/>
                  <a:ea typeface="微软雅黑" panose="020B0503020204020204" charset="-122"/>
                  <a:cs typeface="Arial" panose="020B0604020202020204"/>
                </a:rPr>
                <a:t>3 个国家统计指标</a:t>
              </a:r>
              <a:endParaRPr lang="zh-CN" sz="1125" dirty="0">
                <a:solidFill>
                  <a:srgbClr val="6B7280"/>
                </a:solidFill>
                <a:latin typeface="Arial" panose="020B0604020202020204"/>
                <a:ea typeface="微软雅黑" panose="020B0503020204020204" charset="-122"/>
                <a:cs typeface="Arial" panose="020B0604020202020204"/>
              </a:endParaRPr>
            </a:p>
          </p:txBody>
        </p:sp>
        <p:sp>
          <p:nvSpPr>
            <p:cNvPr id="25" name="TextBox 25"/>
            <p:cNvSpPr txBox="1"/>
            <p:nvPr/>
          </p:nvSpPr>
          <p:spPr>
            <a:xfrm>
              <a:off x="6938962" y="4850606"/>
              <a:ext cx="127000" cy="173355"/>
            </a:xfrm>
            <a:prstGeom prst="rect">
              <a:avLst/>
            </a:prstGeom>
            <a:noFill/>
            <a:ln>
              <a:noFill/>
            </a:ln>
          </p:spPr>
          <p:txBody>
            <a:bodyPr wrap="none" lIns="0" tIns="0" rIns="0" bIns="0" anchor="t" anchorCtr="0">
              <a:spAutoFit/>
            </a:bodyPr>
            <a:lstStyle/>
            <a:p>
              <a:pPr algn="l"/>
              <a:endParaRPr lang="zh-CN" sz="1125" b="1" dirty="0">
                <a:solidFill>
                  <a:srgbClr val="1A1A2E"/>
                </a:solidFill>
                <a:latin typeface="Arial" panose="020B0604020202020204"/>
                <a:ea typeface="微软雅黑" panose="020B0503020204020204" charset="-122"/>
                <a:cs typeface="Arial" panose="020B0604020202020204"/>
              </a:endParaRPr>
            </a:p>
          </p:txBody>
        </p:sp>
        <p:sp>
          <p:nvSpPr>
            <p:cNvPr id="26" name="TextBox 26"/>
            <p:cNvSpPr txBox="1"/>
            <p:nvPr/>
          </p:nvSpPr>
          <p:spPr>
            <a:xfrm>
              <a:off x="8177212" y="4850606"/>
              <a:ext cx="127000" cy="173355"/>
            </a:xfrm>
            <a:prstGeom prst="rect">
              <a:avLst/>
            </a:prstGeom>
            <a:noFill/>
            <a:ln>
              <a:noFill/>
            </a:ln>
          </p:spPr>
          <p:txBody>
            <a:bodyPr wrap="none" lIns="0" tIns="0" rIns="0" bIns="0" anchor="t" anchorCtr="0">
              <a:spAutoFit/>
            </a:bodyPr>
            <a:lstStyle/>
            <a:p>
              <a:pPr algn="l"/>
              <a:endParaRPr lang="zh-CN" sz="1125" dirty="0">
                <a:solidFill>
                  <a:srgbClr val="6B7280"/>
                </a:solidFill>
                <a:latin typeface="Arial" panose="020B0604020202020204"/>
                <a:ea typeface="微软雅黑" panose="020B0503020204020204" charset="-122"/>
                <a:cs typeface="Arial" panose="020B0604020202020204"/>
              </a:endParaRPr>
            </a:p>
          </p:txBody>
        </p:sp>
      </p:grpSp>
      <p:grpSp>
        <p:nvGrpSpPr>
          <p:cNvPr id="30" name="Group 30"/>
          <p:cNvGrpSpPr/>
          <p:nvPr/>
        </p:nvGrpSpPr>
        <p:grpSpPr>
          <a:xfrm>
            <a:off x="2879646" y="6181249"/>
            <a:ext cx="8751331" cy="517207"/>
            <a:chOff x="2879646" y="6181249"/>
            <a:chExt cx="8751331" cy="517207"/>
          </a:xfrm>
        </p:grpSpPr>
        <p:sp>
          <p:nvSpPr>
            <p:cNvPr id="28" name="TextBox 28"/>
            <p:cNvSpPr txBox="1"/>
            <p:nvPr/>
          </p:nvSpPr>
          <p:spPr>
            <a:xfrm>
              <a:off x="2879646" y="6181249"/>
              <a:ext cx="6432709" cy="198120"/>
            </a:xfrm>
            <a:prstGeom prst="rect">
              <a:avLst/>
            </a:prstGeom>
            <a:noFill/>
            <a:ln>
              <a:noFill/>
            </a:ln>
          </p:spPr>
          <p:txBody>
            <a:bodyPr wrap="none" lIns="0" tIns="0" rIns="0" bIns="0" anchor="t" anchorCtr="0">
              <a:spAutoFit/>
            </a:bodyPr>
            <a:lstStyle/>
            <a:p>
              <a:pPr algn="ctr"/>
              <a:r>
                <a:rPr lang="zh-CN" sz="975" dirty="0">
                  <a:solidFill>
                    <a:srgbClr val="9CA3AF"/>
                  </a:solidFill>
                  <a:latin typeface="Arial" panose="020B0604020202020204"/>
                  <a:ea typeface="微软雅黑" panose="020B0503020204020204" charset="-122"/>
                  <a:cs typeface="Arial" panose="020B0604020202020204"/>
                </a:rPr>
                <a:t>数据来源：国家统计局国家数据与《中国统计年鉴》公开指标；文化机构数按全国备案博物馆口径整理</a:t>
              </a:r>
              <a:endParaRPr lang="zh-CN" sz="975" dirty="0">
                <a:solidFill>
                  <a:srgbClr val="9CA3AF"/>
                </a:solidFill>
                <a:latin typeface="Arial" panose="020B0604020202020204"/>
                <a:ea typeface="微软雅黑" panose="020B0503020204020204" charset="-122"/>
                <a:cs typeface="Arial" panose="020B0604020202020204"/>
              </a:endParaRPr>
            </a:p>
          </p:txBody>
        </p:sp>
        <p:sp>
          <p:nvSpPr>
            <p:cNvPr id="29" name="TextBox 29"/>
            <p:cNvSpPr txBox="1"/>
            <p:nvPr/>
          </p:nvSpPr>
          <p:spPr>
            <a:xfrm>
              <a:off x="11266622" y="6530816"/>
              <a:ext cx="364355"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panose="020B0604020202020204"/>
                  <a:ea typeface="微软雅黑" panose="020B0503020204020204" charset="-122"/>
                  <a:cs typeface="Arial" panose="020B0604020202020204"/>
                </a:rPr>
                <a:t>01 / 12</a:t>
              </a:r>
              <a:endParaRPr lang="zh-CN" sz="825" dirty="0">
                <a:solidFill>
                  <a:srgbClr val="9CA3AF"/>
                </a:solidFill>
                <a:latin typeface="Arial" panose="020B0604020202020204"/>
                <a:ea typeface="微软雅黑" panose="020B0503020204020204" charset="-122"/>
                <a:cs typeface="Arial" panose="020B0604020202020204"/>
              </a:endParaRPr>
            </a:p>
          </p:txBody>
        </p:sp>
      </p:grpSp>
      <p:sp>
        <p:nvSpPr>
          <p:cNvPr id="31" name="文本框 30"/>
          <p:cNvSpPr txBox="1"/>
          <p:nvPr/>
        </p:nvSpPr>
        <p:spPr>
          <a:xfrm>
            <a:off x="8342630" y="3816350"/>
            <a:ext cx="1772285" cy="368300"/>
          </a:xfrm>
          <a:prstGeom prst="rect">
            <a:avLst/>
          </a:prstGeom>
          <a:noFill/>
        </p:spPr>
        <p:txBody>
          <a:bodyPr wrap="square" rtlCol="0">
            <a:spAutoFit/>
          </a:bodyPr>
          <a:p>
            <a:r>
              <a:rPr lang="zh-CN" altLang="en-US"/>
              <a:t>丁逸</a:t>
            </a:r>
            <a:r>
              <a:rPr lang="zh-CN" altLang="en-US"/>
              <a:t>夫</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blinds(horizontal)">
                                      <p:cBhvr>
                                        <p:cTn id="11"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A"/>
          </a:solidFill>
          <a:ln>
            <a:noFill/>
          </a:ln>
        </p:spPr>
      </p:sp>
      <p:grpSp>
        <p:nvGrpSpPr>
          <p:cNvPr id="7" name="Group 7"/>
          <p:cNvGrpSpPr/>
          <p:nvPr/>
        </p:nvGrpSpPr>
        <p:grpSpPr>
          <a:xfrm>
            <a:off x="571500" y="280988"/>
            <a:ext cx="11049000" cy="776287"/>
            <a:chOff x="571500" y="280988"/>
            <a:chExt cx="11049000" cy="776287"/>
          </a:xfrm>
        </p:grpSpPr>
        <p:sp>
          <p:nvSpPr>
            <p:cNvPr id="3" name="Rectangle 3"/>
            <p:cNvSpPr/>
            <p:nvPr/>
          </p:nvSpPr>
          <p:spPr>
            <a:xfrm>
              <a:off x="571500" y="285750"/>
              <a:ext cx="38100" cy="342900"/>
            </a:xfrm>
            <a:prstGeom prst="rect">
              <a:avLst/>
            </a:prstGeom>
            <a:solidFill>
              <a:srgbClr val="1A3A5C"/>
            </a:solidFill>
            <a:ln>
              <a:noFill/>
            </a:ln>
          </p:spPr>
        </p:sp>
        <p:sp>
          <p:nvSpPr>
            <p:cNvPr id="4" name="TextBox 4"/>
            <p:cNvSpPr txBox="1"/>
            <p:nvPr/>
          </p:nvSpPr>
          <p:spPr>
            <a:xfrm>
              <a:off x="733425" y="280988"/>
              <a:ext cx="6958012" cy="457200"/>
            </a:xfrm>
            <a:prstGeom prst="rect">
              <a:avLst/>
            </a:prstGeom>
            <a:noFill/>
            <a:ln>
              <a:noFill/>
            </a:ln>
          </p:spPr>
          <p:txBody>
            <a:bodyPr wrap="none" lIns="0" tIns="0" rIns="0" bIns="0" anchor="t" anchorCtr="0">
              <a:spAutoFit/>
            </a:bodyPr>
            <a:lstStyle/>
            <a:p>
              <a:pPr algn="l"/>
              <a:r>
                <a:rPr lang="zh-CN" sz="2250" b="1" dirty="0">
                  <a:solidFill>
                    <a:srgbClr val="1A3A5C"/>
                  </a:solidFill>
                  <a:latin typeface="Georgia" panose="02040502050405020303"/>
                  <a:ea typeface="楷体" panose="02010609060101010101" charset="-122"/>
                  <a:cs typeface="Georgia" panose="02040502050405020303"/>
                </a:rPr>
                <a:t>选题价值：数字经济连接文化供给与文旅消费</a:t>
              </a:r>
              <a:endParaRPr lang="zh-CN" sz="2250" b="1" dirty="0">
                <a:solidFill>
                  <a:srgbClr val="1A3A5C"/>
                </a:solidFill>
                <a:latin typeface="Georgia" panose="02040502050405020303"/>
                <a:ea typeface="楷体" panose="02010609060101010101" charset="-122"/>
                <a:cs typeface="Georgia" panose="02040502050405020303"/>
              </a:endParaRPr>
            </a:p>
          </p:txBody>
        </p:sp>
        <p:sp>
          <p:nvSpPr>
            <p:cNvPr id="5" name="Rectangle 5"/>
            <p:cNvSpPr/>
            <p:nvPr/>
          </p:nvSpPr>
          <p:spPr>
            <a:xfrm>
              <a:off x="571500" y="714375"/>
              <a:ext cx="11049000" cy="342900"/>
            </a:xfrm>
            <a:prstGeom prst="roundRect">
              <a:avLst>
                <a:gd name="adj" fmla="val 16667"/>
              </a:avLst>
            </a:prstGeom>
            <a:solidFill>
              <a:srgbClr val="1A3A5C">
                <a:alpha val="6000"/>
              </a:srgbClr>
            </a:solidFill>
            <a:ln>
              <a:noFill/>
            </a:ln>
          </p:spPr>
        </p:sp>
        <p:sp>
          <p:nvSpPr>
            <p:cNvPr id="6" name="TextBox 6"/>
            <p:cNvSpPr txBox="1"/>
            <p:nvPr/>
          </p:nvSpPr>
          <p:spPr>
            <a:xfrm>
              <a:off x="746760" y="803910"/>
              <a:ext cx="6471285" cy="243840"/>
            </a:xfrm>
            <a:prstGeom prst="rect">
              <a:avLst/>
            </a:prstGeom>
            <a:noFill/>
            <a:ln>
              <a:noFill/>
            </a:ln>
          </p:spPr>
          <p:txBody>
            <a:bodyPr wrap="none" lIns="0" tIns="0" rIns="0" bIns="0" anchor="t" anchorCtr="0">
              <a:spAutoFit/>
            </a:bodyPr>
            <a:lstStyle/>
            <a:p>
              <a:pPr algn="l"/>
              <a:r>
                <a:rPr lang="zh-CN" sz="1200" b="1" dirty="0">
                  <a:solidFill>
                    <a:srgbClr val="2E6B8F"/>
                  </a:solidFill>
                  <a:latin typeface="Arial" panose="020B0604020202020204"/>
                  <a:ea typeface="微软雅黑" panose="020B0503020204020204" charset="-122"/>
                  <a:cs typeface="Arial" panose="020B0604020202020204"/>
                </a:rPr>
                <a:t>博物馆是文化资源入口，数字化连接决定其向游客流量和文旅消费的转化效率。</a:t>
              </a:r>
              <a:endParaRPr lang="zh-CN" sz="1200" b="1" dirty="0">
                <a:solidFill>
                  <a:srgbClr val="2E6B8F"/>
                </a:solidFill>
                <a:latin typeface="Arial" panose="020B0604020202020204"/>
                <a:ea typeface="微软雅黑" panose="020B0503020204020204" charset="-122"/>
                <a:cs typeface="Arial" panose="020B0604020202020204"/>
              </a:endParaRPr>
            </a:p>
          </p:txBody>
        </p:sp>
      </p:grpSp>
      <p:grpSp>
        <p:nvGrpSpPr>
          <p:cNvPr id="29" name="Group 29"/>
          <p:cNvGrpSpPr/>
          <p:nvPr/>
        </p:nvGrpSpPr>
        <p:grpSpPr>
          <a:xfrm>
            <a:off x="571500" y="1285875"/>
            <a:ext cx="11049000" cy="762000"/>
            <a:chOff x="571500" y="1285875"/>
            <a:chExt cx="11049000" cy="762000"/>
          </a:xfrm>
        </p:grpSpPr>
        <p:sp>
          <p:nvSpPr>
            <p:cNvPr id="8" name="Rectangle 8"/>
            <p:cNvSpPr/>
            <p:nvPr/>
          </p:nvSpPr>
          <p:spPr>
            <a:xfrm>
              <a:off x="571500" y="1285875"/>
              <a:ext cx="3524250" cy="762000"/>
            </a:xfrm>
            <a:prstGeom prst="roundRect">
              <a:avLst>
                <a:gd name="adj" fmla="val 10000"/>
              </a:avLst>
            </a:prstGeom>
            <a:solidFill>
              <a:srgbClr val="FFFFFF"/>
            </a:solidFill>
            <a:ln w="9525">
              <a:solidFill>
                <a:srgbClr val="D1D5DB"/>
              </a:solidFill>
            </a:ln>
            <a:effectLst>
              <a:outerShdw blurRad="76200" dist="19050" dir="5400000" algn="ctr" rotWithShape="0">
                <a:srgbClr val="0F172A">
                  <a:alpha val="4500"/>
                </a:srgbClr>
              </a:outerShdw>
            </a:effectLst>
          </p:spPr>
        </p:sp>
        <p:sp>
          <p:nvSpPr>
            <p:cNvPr id="9" name="Rectangle 9"/>
            <p:cNvSpPr/>
            <p:nvPr/>
          </p:nvSpPr>
          <p:spPr>
            <a:xfrm>
              <a:off x="571500" y="1285875"/>
              <a:ext cx="38100" cy="762000"/>
            </a:xfrm>
            <a:prstGeom prst="roundRect">
              <a:avLst>
                <a:gd name="adj" fmla="val 50000"/>
              </a:avLst>
            </a:prstGeom>
            <a:solidFill>
              <a:srgbClr val="1A3A5C"/>
            </a:solidFill>
            <a:ln>
              <a:noFill/>
            </a:ln>
          </p:spPr>
        </p:sp>
        <p:grpSp>
          <p:nvGrpSpPr>
            <p:cNvPr id="12" name="Group 12"/>
            <p:cNvGrpSpPr/>
            <p:nvPr/>
          </p:nvGrpSpPr>
          <p:grpSpPr>
            <a:xfrm>
              <a:off x="816769" y="1537482"/>
              <a:ext cx="214312" cy="186543"/>
              <a:chOff x="816769" y="1537482"/>
              <a:chExt cx="214312" cy="186543"/>
            </a:xfrm>
          </p:grpSpPr>
          <p:sp>
            <p:nvSpPr>
              <p:cNvPr id="10" name="Freeform 10"/>
              <p:cNvSpPr/>
              <p:nvPr/>
            </p:nvSpPr>
            <p:spPr>
              <a:xfrm>
                <a:off x="845342" y="1545046"/>
                <a:ext cx="85727" cy="171835"/>
              </a:xfrm>
              <a:custGeom>
                <a:avLst/>
                <a:gdLst/>
                <a:ahLst/>
                <a:cxnLst/>
                <a:rect l="l" t="t" r="r" b="b"/>
                <a:pathLst>
                  <a:path w="85727" h="171835">
                    <a:moveTo>
                      <a:pt x="85727" y="7529"/>
                    </a:moveTo>
                    <a:lnTo>
                      <a:pt x="85727" y="171835"/>
                    </a:lnTo>
                    <a:lnTo>
                      <a:pt x="2" y="171835"/>
                    </a:lnTo>
                    <a:lnTo>
                      <a:pt x="2" y="55169"/>
                    </a:lnTo>
                    <a:cubicBezTo>
                      <a:pt x="0" y="52779"/>
                      <a:pt x="1193" y="50547"/>
                      <a:pt x="3181" y="49221"/>
                    </a:cubicBezTo>
                    <a:lnTo>
                      <a:pt x="74618" y="1599"/>
                    </a:lnTo>
                    <a:cubicBezTo>
                      <a:pt x="76808" y="138"/>
                      <a:pt x="79624" y="0"/>
                      <a:pt x="81947" y="1240"/>
                    </a:cubicBezTo>
                    <a:cubicBezTo>
                      <a:pt x="84269" y="2479"/>
                      <a:pt x="85722" y="4896"/>
                      <a:pt x="85727" y="7529"/>
                    </a:cubicBezTo>
                    <a:close/>
                  </a:path>
                </a:pathLst>
              </a:custGeom>
              <a:solidFill>
                <a:srgbClr val="1A3A5C">
                  <a:alpha val="20000"/>
                </a:srgbClr>
              </a:solidFill>
              <a:ln>
                <a:noFill/>
              </a:ln>
            </p:spPr>
          </p:sp>
          <p:sp>
            <p:nvSpPr>
              <p:cNvPr id="11" name="Freeform 11"/>
              <p:cNvSpPr/>
              <p:nvPr/>
            </p:nvSpPr>
            <p:spPr>
              <a:xfrm>
                <a:off x="816769" y="1537482"/>
                <a:ext cx="214312" cy="186543"/>
              </a:xfrm>
              <a:custGeom>
                <a:avLst/>
                <a:gdLst/>
                <a:ahLst/>
                <a:cxnLst/>
                <a:rect l="l" t="t" r="r" b="b"/>
                <a:pathLst>
                  <a:path w="214312" h="186543">
                    <a:moveTo>
                      <a:pt x="207169" y="172256"/>
                    </a:moveTo>
                    <a:lnTo>
                      <a:pt x="192881" y="172256"/>
                    </a:lnTo>
                    <a:lnTo>
                      <a:pt x="192881" y="72243"/>
                    </a:lnTo>
                    <a:cubicBezTo>
                      <a:pt x="192881" y="64353"/>
                      <a:pt x="186485" y="57956"/>
                      <a:pt x="178594" y="57956"/>
                    </a:cubicBezTo>
                    <a:lnTo>
                      <a:pt x="121444" y="57956"/>
                    </a:lnTo>
                    <a:lnTo>
                      <a:pt x="121444" y="15093"/>
                    </a:lnTo>
                    <a:cubicBezTo>
                      <a:pt x="121447" y="9822"/>
                      <a:pt x="118547" y="4976"/>
                      <a:pt x="113900" y="2488"/>
                    </a:cubicBezTo>
                    <a:cubicBezTo>
                      <a:pt x="109252" y="0"/>
                      <a:pt x="103612" y="273"/>
                      <a:pt x="99227" y="3199"/>
                    </a:cubicBezTo>
                    <a:lnTo>
                      <a:pt x="27789" y="50812"/>
                    </a:lnTo>
                    <a:cubicBezTo>
                      <a:pt x="23809" y="53468"/>
                      <a:pt x="21422" y="57940"/>
                      <a:pt x="21431" y="62724"/>
                    </a:cubicBezTo>
                    <a:lnTo>
                      <a:pt x="21431" y="172256"/>
                    </a:lnTo>
                    <a:lnTo>
                      <a:pt x="7144" y="172256"/>
                    </a:lnTo>
                    <a:cubicBezTo>
                      <a:pt x="3198" y="172256"/>
                      <a:pt x="0" y="175454"/>
                      <a:pt x="0" y="179400"/>
                    </a:cubicBezTo>
                    <a:cubicBezTo>
                      <a:pt x="0" y="183345"/>
                      <a:pt x="3198" y="186543"/>
                      <a:pt x="7144" y="186543"/>
                    </a:cubicBezTo>
                    <a:lnTo>
                      <a:pt x="207169" y="186543"/>
                    </a:lnTo>
                    <a:cubicBezTo>
                      <a:pt x="211114" y="186543"/>
                      <a:pt x="214312" y="183345"/>
                      <a:pt x="214312" y="179400"/>
                    </a:cubicBezTo>
                    <a:cubicBezTo>
                      <a:pt x="214312" y="175454"/>
                      <a:pt x="211114" y="172256"/>
                      <a:pt x="207169" y="172256"/>
                    </a:cubicBezTo>
                    <a:close/>
                    <a:moveTo>
                      <a:pt x="178594" y="72243"/>
                    </a:moveTo>
                    <a:lnTo>
                      <a:pt x="178594" y="172256"/>
                    </a:lnTo>
                    <a:lnTo>
                      <a:pt x="121444" y="172256"/>
                    </a:lnTo>
                    <a:lnTo>
                      <a:pt x="121444" y="72243"/>
                    </a:lnTo>
                    <a:close/>
                    <a:moveTo>
                      <a:pt x="35719" y="62724"/>
                    </a:moveTo>
                    <a:lnTo>
                      <a:pt x="107156" y="15093"/>
                    </a:lnTo>
                    <a:lnTo>
                      <a:pt x="107156" y="172256"/>
                    </a:lnTo>
                    <a:lnTo>
                      <a:pt x="35719" y="172256"/>
                    </a:lnTo>
                    <a:close/>
                    <a:moveTo>
                      <a:pt x="92869" y="86531"/>
                    </a:moveTo>
                    <a:lnTo>
                      <a:pt x="92869" y="100818"/>
                    </a:lnTo>
                    <a:cubicBezTo>
                      <a:pt x="92869" y="104764"/>
                      <a:pt x="89670" y="107962"/>
                      <a:pt x="85725" y="107962"/>
                    </a:cubicBezTo>
                    <a:cubicBezTo>
                      <a:pt x="81780" y="107962"/>
                      <a:pt x="78581" y="104764"/>
                      <a:pt x="78581" y="100818"/>
                    </a:cubicBezTo>
                    <a:lnTo>
                      <a:pt x="78581" y="86531"/>
                    </a:lnTo>
                    <a:cubicBezTo>
                      <a:pt x="78581" y="82586"/>
                      <a:pt x="81780" y="79387"/>
                      <a:pt x="85725" y="79387"/>
                    </a:cubicBezTo>
                    <a:cubicBezTo>
                      <a:pt x="89670" y="79387"/>
                      <a:pt x="92869" y="82586"/>
                      <a:pt x="92869" y="86531"/>
                    </a:cubicBezTo>
                    <a:close/>
                    <a:moveTo>
                      <a:pt x="64294" y="86531"/>
                    </a:moveTo>
                    <a:lnTo>
                      <a:pt x="64294" y="100818"/>
                    </a:lnTo>
                    <a:cubicBezTo>
                      <a:pt x="64294" y="104764"/>
                      <a:pt x="61095" y="107962"/>
                      <a:pt x="57150" y="107962"/>
                    </a:cubicBezTo>
                    <a:cubicBezTo>
                      <a:pt x="53205" y="107962"/>
                      <a:pt x="50006" y="104764"/>
                      <a:pt x="50006" y="100818"/>
                    </a:cubicBezTo>
                    <a:lnTo>
                      <a:pt x="50006" y="86531"/>
                    </a:lnTo>
                    <a:cubicBezTo>
                      <a:pt x="50006" y="82586"/>
                      <a:pt x="53205" y="79387"/>
                      <a:pt x="57150" y="79387"/>
                    </a:cubicBezTo>
                    <a:cubicBezTo>
                      <a:pt x="61095" y="79387"/>
                      <a:pt x="64294" y="82586"/>
                      <a:pt x="64294" y="86531"/>
                    </a:cubicBezTo>
                    <a:close/>
                    <a:moveTo>
                      <a:pt x="64294" y="136537"/>
                    </a:moveTo>
                    <a:lnTo>
                      <a:pt x="64294" y="150825"/>
                    </a:lnTo>
                    <a:cubicBezTo>
                      <a:pt x="64294" y="154770"/>
                      <a:pt x="61095" y="157968"/>
                      <a:pt x="57150" y="157968"/>
                    </a:cubicBezTo>
                    <a:cubicBezTo>
                      <a:pt x="53205" y="157968"/>
                      <a:pt x="50006" y="154770"/>
                      <a:pt x="50006" y="150825"/>
                    </a:cubicBezTo>
                    <a:lnTo>
                      <a:pt x="50006" y="136537"/>
                    </a:lnTo>
                    <a:cubicBezTo>
                      <a:pt x="50006" y="132592"/>
                      <a:pt x="53205" y="129393"/>
                      <a:pt x="57150" y="129393"/>
                    </a:cubicBezTo>
                    <a:cubicBezTo>
                      <a:pt x="61095" y="129393"/>
                      <a:pt x="64294" y="132592"/>
                      <a:pt x="64294" y="136537"/>
                    </a:cubicBezTo>
                    <a:close/>
                    <a:moveTo>
                      <a:pt x="92869" y="136537"/>
                    </a:moveTo>
                    <a:lnTo>
                      <a:pt x="92869" y="150825"/>
                    </a:lnTo>
                    <a:cubicBezTo>
                      <a:pt x="92869" y="154770"/>
                      <a:pt x="89670" y="157968"/>
                      <a:pt x="85725" y="157968"/>
                    </a:cubicBezTo>
                    <a:cubicBezTo>
                      <a:pt x="81780" y="157968"/>
                      <a:pt x="78581" y="154770"/>
                      <a:pt x="78581" y="150825"/>
                    </a:cubicBezTo>
                    <a:lnTo>
                      <a:pt x="78581" y="136537"/>
                    </a:lnTo>
                    <a:cubicBezTo>
                      <a:pt x="78581" y="132592"/>
                      <a:pt x="81780" y="129393"/>
                      <a:pt x="85725" y="129393"/>
                    </a:cubicBezTo>
                    <a:cubicBezTo>
                      <a:pt x="89670" y="129393"/>
                      <a:pt x="92869" y="132592"/>
                      <a:pt x="92869" y="136537"/>
                    </a:cubicBezTo>
                    <a:close/>
                  </a:path>
                </a:pathLst>
              </a:custGeom>
              <a:solidFill>
                <a:srgbClr val="1A3A5C"/>
              </a:solidFill>
              <a:ln>
                <a:noFill/>
              </a:ln>
            </p:spPr>
          </p:sp>
        </p:grpSp>
        <p:sp>
          <p:nvSpPr>
            <p:cNvPr id="13" name="TextBox 13"/>
            <p:cNvSpPr txBox="1"/>
            <p:nvPr/>
          </p:nvSpPr>
          <p:spPr>
            <a:xfrm>
              <a:off x="1127760" y="1470660"/>
              <a:ext cx="766572" cy="243840"/>
            </a:xfrm>
            <a:prstGeom prst="rect">
              <a:avLst/>
            </a:prstGeom>
            <a:noFill/>
            <a:ln>
              <a:noFill/>
            </a:ln>
          </p:spPr>
          <p:txBody>
            <a:bodyPr wrap="none" lIns="0" tIns="0" rIns="0" bIns="0" anchor="t" anchorCtr="0">
              <a:spAutoFit/>
            </a:bodyPr>
            <a:lstStyle/>
            <a:p>
              <a:pPr algn="l"/>
              <a:r>
                <a:rPr lang="zh-CN" sz="1200" b="1" dirty="0">
                  <a:solidFill>
                    <a:srgbClr val="1A1A2E"/>
                  </a:solidFill>
                  <a:latin typeface="Arial" panose="020B0604020202020204"/>
                  <a:ea typeface="微软雅黑" panose="020B0503020204020204" charset="-122"/>
                  <a:cs typeface="Arial" panose="020B0604020202020204"/>
                </a:rPr>
                <a:t>国家战略</a:t>
              </a:r>
              <a:endParaRPr lang="zh-CN" sz="1200" b="1" dirty="0">
                <a:solidFill>
                  <a:srgbClr val="1A1A2E"/>
                </a:solidFill>
                <a:latin typeface="Arial" panose="020B0604020202020204"/>
                <a:ea typeface="微软雅黑" panose="020B0503020204020204" charset="-122"/>
                <a:cs typeface="Arial" panose="020B0604020202020204"/>
              </a:endParaRPr>
            </a:p>
          </p:txBody>
        </p:sp>
        <p:sp>
          <p:nvSpPr>
            <p:cNvPr id="14" name="TextBox 14"/>
            <p:cNvSpPr txBox="1"/>
            <p:nvPr/>
          </p:nvSpPr>
          <p:spPr>
            <a:xfrm>
              <a:off x="1130618" y="1704499"/>
              <a:ext cx="2115820" cy="300990"/>
            </a:xfrm>
            <a:prstGeom prst="rect">
              <a:avLst/>
            </a:prstGeom>
            <a:noFill/>
            <a:ln>
              <a:noFill/>
            </a:ln>
          </p:spPr>
          <p:txBody>
            <a:bodyPr wrap="none" lIns="0" tIns="0" rIns="0" bIns="0" anchor="t" anchorCtr="0">
              <a:spAutoFit/>
            </a:bodyPr>
            <a:lstStyle/>
            <a:p>
              <a:pPr algn="l"/>
              <a:r>
                <a:rPr lang="zh-CN" sz="975" dirty="0">
                  <a:solidFill>
                    <a:srgbClr val="6B7280"/>
                  </a:solidFill>
                  <a:latin typeface="Arial" panose="020B0604020202020204"/>
                  <a:ea typeface="微软雅黑" panose="020B0503020204020204" charset="-122"/>
                  <a:cs typeface="Arial" panose="020B0604020202020204"/>
                </a:rPr>
                <a:t>文化数字化战略推动馆藏资源线上化、</a:t>
              </a:r>
              <a:endParaRPr lang="zh-CN" sz="975" dirty="0">
                <a:solidFill>
                  <a:srgbClr val="6B7280"/>
                </a:solidFill>
                <a:latin typeface="Arial" panose="020B0604020202020204"/>
                <a:ea typeface="微软雅黑" panose="020B0503020204020204" charset="-122"/>
                <a:cs typeface="Arial" panose="020B0604020202020204"/>
              </a:endParaRPr>
            </a:p>
            <a:p>
              <a:pPr algn="l"/>
              <a:r>
                <a:rPr lang="zh-CN" sz="975" dirty="0">
                  <a:solidFill>
                    <a:srgbClr val="6B7280"/>
                  </a:solidFill>
                  <a:latin typeface="Arial" panose="020B0604020202020204"/>
                  <a:ea typeface="微软雅黑" panose="020B0503020204020204" charset="-122"/>
                  <a:cs typeface="Arial" panose="020B0604020202020204"/>
                </a:rPr>
                <a:t>沉浸式展示和智慧文旅服务。</a:t>
              </a:r>
              <a:endParaRPr lang="zh-CN" sz="975" dirty="0">
                <a:solidFill>
                  <a:srgbClr val="6B7280"/>
                </a:solidFill>
                <a:latin typeface="Arial" panose="020B0604020202020204"/>
                <a:ea typeface="微软雅黑" panose="020B0503020204020204" charset="-122"/>
                <a:cs typeface="Arial" panose="020B0604020202020204"/>
              </a:endParaRPr>
            </a:p>
          </p:txBody>
        </p:sp>
        <p:sp>
          <p:nvSpPr>
            <p:cNvPr id="15" name="Rectangle 15"/>
            <p:cNvSpPr/>
            <p:nvPr/>
          </p:nvSpPr>
          <p:spPr>
            <a:xfrm>
              <a:off x="4333875" y="1285875"/>
              <a:ext cx="3524250" cy="762000"/>
            </a:xfrm>
            <a:prstGeom prst="roundRect">
              <a:avLst>
                <a:gd name="adj" fmla="val 10000"/>
              </a:avLst>
            </a:prstGeom>
            <a:solidFill>
              <a:srgbClr val="FFFFFF"/>
            </a:solidFill>
            <a:ln w="9525">
              <a:solidFill>
                <a:srgbClr val="D1D5DB"/>
              </a:solidFill>
            </a:ln>
            <a:effectLst>
              <a:outerShdw blurRad="76200" dist="19050" dir="5400000" algn="ctr" rotWithShape="0">
                <a:srgbClr val="0F172A">
                  <a:alpha val="4500"/>
                </a:srgbClr>
              </a:outerShdw>
            </a:effectLst>
          </p:spPr>
        </p:sp>
        <p:sp>
          <p:nvSpPr>
            <p:cNvPr id="16" name="Rectangle 16"/>
            <p:cNvSpPr/>
            <p:nvPr/>
          </p:nvSpPr>
          <p:spPr>
            <a:xfrm>
              <a:off x="4333875" y="1285875"/>
              <a:ext cx="38100" cy="762000"/>
            </a:xfrm>
            <a:prstGeom prst="roundRect">
              <a:avLst>
                <a:gd name="adj" fmla="val 50000"/>
              </a:avLst>
            </a:prstGeom>
            <a:solidFill>
              <a:srgbClr val="1A3A5C"/>
            </a:solidFill>
            <a:ln>
              <a:noFill/>
            </a:ln>
          </p:spPr>
        </p:sp>
        <p:grpSp>
          <p:nvGrpSpPr>
            <p:cNvPr id="19" name="Group 19"/>
            <p:cNvGrpSpPr/>
            <p:nvPr/>
          </p:nvGrpSpPr>
          <p:grpSpPr>
            <a:xfrm>
              <a:off x="4573538" y="1560524"/>
              <a:ext cx="226064" cy="150207"/>
              <a:chOff x="4573538" y="1560524"/>
              <a:chExt cx="226064" cy="150207"/>
            </a:xfrm>
          </p:grpSpPr>
          <p:sp>
            <p:nvSpPr>
              <p:cNvPr id="17" name="Freeform 17"/>
              <p:cNvSpPr/>
              <p:nvPr/>
            </p:nvSpPr>
            <p:spPr>
              <a:xfrm>
                <a:off x="4600575" y="1574006"/>
                <a:ext cx="92869" cy="92869"/>
              </a:xfrm>
              <a:custGeom>
                <a:avLst/>
                <a:gdLst/>
                <a:ahLst/>
                <a:cxnLst/>
                <a:rect l="l" t="t" r="r" b="b"/>
                <a:pathLst>
                  <a:path w="92869" h="92869">
                    <a:moveTo>
                      <a:pt x="92869" y="46434"/>
                    </a:moveTo>
                    <a:cubicBezTo>
                      <a:pt x="92869" y="72079"/>
                      <a:pt x="72079" y="92869"/>
                      <a:pt x="46434" y="92869"/>
                    </a:cubicBezTo>
                    <a:cubicBezTo>
                      <a:pt x="20789" y="92869"/>
                      <a:pt x="0" y="72079"/>
                      <a:pt x="0" y="46434"/>
                    </a:cubicBezTo>
                    <a:cubicBezTo>
                      <a:pt x="0" y="20789"/>
                      <a:pt x="20789" y="0"/>
                      <a:pt x="46434" y="0"/>
                    </a:cubicBezTo>
                    <a:cubicBezTo>
                      <a:pt x="72079" y="0"/>
                      <a:pt x="92869" y="20789"/>
                      <a:pt x="92869" y="46434"/>
                    </a:cubicBezTo>
                    <a:close/>
                  </a:path>
                </a:pathLst>
              </a:custGeom>
              <a:solidFill>
                <a:srgbClr val="1A3A5C">
                  <a:alpha val="20000"/>
                </a:srgbClr>
              </a:solidFill>
              <a:ln>
                <a:noFill/>
              </a:ln>
            </p:spPr>
          </p:sp>
          <p:sp>
            <p:nvSpPr>
              <p:cNvPr id="18" name="Freeform 18"/>
              <p:cNvSpPr/>
              <p:nvPr/>
            </p:nvSpPr>
            <p:spPr>
              <a:xfrm>
                <a:off x="4573538" y="1560524"/>
                <a:ext cx="226064" cy="150207"/>
              </a:xfrm>
              <a:custGeom>
                <a:avLst/>
                <a:gdLst/>
                <a:ahLst/>
                <a:cxnLst/>
                <a:rect l="l" t="t" r="r" b="b"/>
                <a:pathLst>
                  <a:path w="226064" h="150207">
                    <a:moveTo>
                      <a:pt x="103162" y="104493"/>
                    </a:moveTo>
                    <a:cubicBezTo>
                      <a:pt x="122821" y="91406"/>
                      <a:pt x="131592" y="66990"/>
                      <a:pt x="124755" y="44385"/>
                    </a:cubicBezTo>
                    <a:cubicBezTo>
                      <a:pt x="117919" y="21780"/>
                      <a:pt x="97088" y="6317"/>
                      <a:pt x="73471" y="6317"/>
                    </a:cubicBezTo>
                    <a:cubicBezTo>
                      <a:pt x="49855" y="6317"/>
                      <a:pt x="29024" y="21780"/>
                      <a:pt x="22187" y="44385"/>
                    </a:cubicBezTo>
                    <a:cubicBezTo>
                      <a:pt x="15351" y="66990"/>
                      <a:pt x="24122" y="91406"/>
                      <a:pt x="43780" y="104493"/>
                    </a:cubicBezTo>
                    <a:cubicBezTo>
                      <a:pt x="26461" y="110877"/>
                      <a:pt x="11670" y="122689"/>
                      <a:pt x="1614" y="138167"/>
                    </a:cubicBezTo>
                    <a:cubicBezTo>
                      <a:pt x="176" y="140305"/>
                      <a:pt x="0" y="143052"/>
                      <a:pt x="1154" y="145355"/>
                    </a:cubicBezTo>
                    <a:cubicBezTo>
                      <a:pt x="2308" y="147659"/>
                      <a:pt x="4614" y="149162"/>
                      <a:pt x="7187" y="149290"/>
                    </a:cubicBezTo>
                    <a:cubicBezTo>
                      <a:pt x="9760" y="149418"/>
                      <a:pt x="12203" y="148150"/>
                      <a:pt x="13580" y="145972"/>
                    </a:cubicBezTo>
                    <a:cubicBezTo>
                      <a:pt x="26758" y="125703"/>
                      <a:pt x="49295" y="113474"/>
                      <a:pt x="73471" y="113474"/>
                    </a:cubicBezTo>
                    <a:cubicBezTo>
                      <a:pt x="97648" y="113474"/>
                      <a:pt x="120184" y="125703"/>
                      <a:pt x="133363" y="145972"/>
                    </a:cubicBezTo>
                    <a:cubicBezTo>
                      <a:pt x="135543" y="149212"/>
                      <a:pt x="139921" y="150101"/>
                      <a:pt x="143192" y="147967"/>
                    </a:cubicBezTo>
                    <a:cubicBezTo>
                      <a:pt x="146464" y="145834"/>
                      <a:pt x="147415" y="141469"/>
                      <a:pt x="145328" y="138167"/>
                    </a:cubicBezTo>
                    <a:cubicBezTo>
                      <a:pt x="135273" y="122689"/>
                      <a:pt x="120482" y="110877"/>
                      <a:pt x="103162" y="104493"/>
                    </a:cubicBezTo>
                    <a:close/>
                    <a:moveTo>
                      <a:pt x="34181" y="59916"/>
                    </a:moveTo>
                    <a:cubicBezTo>
                      <a:pt x="34181" y="38217"/>
                      <a:pt x="51772" y="20626"/>
                      <a:pt x="73471" y="20626"/>
                    </a:cubicBezTo>
                    <a:cubicBezTo>
                      <a:pt x="95171" y="20626"/>
                      <a:pt x="112762" y="38217"/>
                      <a:pt x="112762" y="59916"/>
                    </a:cubicBezTo>
                    <a:cubicBezTo>
                      <a:pt x="112762" y="81616"/>
                      <a:pt x="95171" y="99207"/>
                      <a:pt x="73471" y="99207"/>
                    </a:cubicBezTo>
                    <a:cubicBezTo>
                      <a:pt x="51782" y="99182"/>
                      <a:pt x="34205" y="81606"/>
                      <a:pt x="34181" y="59916"/>
                    </a:cubicBezTo>
                    <a:close/>
                    <a:moveTo>
                      <a:pt x="221829" y="148052"/>
                    </a:moveTo>
                    <a:cubicBezTo>
                      <a:pt x="218525" y="150207"/>
                      <a:pt x="214099" y="149276"/>
                      <a:pt x="211944" y="145972"/>
                    </a:cubicBezTo>
                    <a:cubicBezTo>
                      <a:pt x="198780" y="125689"/>
                      <a:pt x="176232" y="113462"/>
                      <a:pt x="152052" y="113494"/>
                    </a:cubicBezTo>
                    <a:cubicBezTo>
                      <a:pt x="148107" y="113494"/>
                      <a:pt x="144909" y="110296"/>
                      <a:pt x="144909" y="106351"/>
                    </a:cubicBezTo>
                    <a:cubicBezTo>
                      <a:pt x="144909" y="102405"/>
                      <a:pt x="148107" y="99207"/>
                      <a:pt x="152052" y="99207"/>
                    </a:cubicBezTo>
                    <a:cubicBezTo>
                      <a:pt x="167876" y="99192"/>
                      <a:pt x="182147" y="89686"/>
                      <a:pt x="188258" y="75090"/>
                    </a:cubicBezTo>
                    <a:cubicBezTo>
                      <a:pt x="194369" y="60493"/>
                      <a:pt x="191127" y="43655"/>
                      <a:pt x="180034" y="32371"/>
                    </a:cubicBezTo>
                    <a:cubicBezTo>
                      <a:pt x="168940" y="21087"/>
                      <a:pt x="152160" y="17559"/>
                      <a:pt x="137461" y="23421"/>
                    </a:cubicBezTo>
                    <a:cubicBezTo>
                      <a:pt x="135076" y="24452"/>
                      <a:pt x="132318" y="24106"/>
                      <a:pt x="130261" y="22518"/>
                    </a:cubicBezTo>
                    <a:cubicBezTo>
                      <a:pt x="128204" y="20929"/>
                      <a:pt x="127171" y="18349"/>
                      <a:pt x="127566" y="15780"/>
                    </a:cubicBezTo>
                    <a:cubicBezTo>
                      <a:pt x="127960" y="13211"/>
                      <a:pt x="129718" y="11059"/>
                      <a:pt x="132157" y="10160"/>
                    </a:cubicBezTo>
                    <a:cubicBezTo>
                      <a:pt x="157633" y="0"/>
                      <a:pt x="186668" y="10720"/>
                      <a:pt x="199430" y="34997"/>
                    </a:cubicBezTo>
                    <a:cubicBezTo>
                      <a:pt x="212191" y="59275"/>
                      <a:pt x="204558" y="89270"/>
                      <a:pt x="181744" y="104493"/>
                    </a:cubicBezTo>
                    <a:cubicBezTo>
                      <a:pt x="199063" y="110877"/>
                      <a:pt x="213854" y="122689"/>
                      <a:pt x="223910" y="138167"/>
                    </a:cubicBezTo>
                    <a:cubicBezTo>
                      <a:pt x="226064" y="141472"/>
                      <a:pt x="225133" y="145897"/>
                      <a:pt x="221829" y="148052"/>
                    </a:cubicBezTo>
                    <a:close/>
                  </a:path>
                </a:pathLst>
              </a:custGeom>
              <a:solidFill>
                <a:srgbClr val="1A3A5C"/>
              </a:solidFill>
              <a:ln>
                <a:noFill/>
              </a:ln>
            </p:spPr>
          </p:sp>
        </p:grpSp>
        <p:sp>
          <p:nvSpPr>
            <p:cNvPr id="20" name="TextBox 20"/>
            <p:cNvSpPr txBox="1"/>
            <p:nvPr/>
          </p:nvSpPr>
          <p:spPr>
            <a:xfrm>
              <a:off x="4890135" y="1470660"/>
              <a:ext cx="766572" cy="243840"/>
            </a:xfrm>
            <a:prstGeom prst="rect">
              <a:avLst/>
            </a:prstGeom>
            <a:noFill/>
            <a:ln>
              <a:noFill/>
            </a:ln>
          </p:spPr>
          <p:txBody>
            <a:bodyPr wrap="none" lIns="0" tIns="0" rIns="0" bIns="0" anchor="t" anchorCtr="0">
              <a:spAutoFit/>
            </a:bodyPr>
            <a:lstStyle/>
            <a:p>
              <a:pPr algn="l"/>
              <a:r>
                <a:rPr lang="zh-CN" sz="1200" b="1" dirty="0">
                  <a:solidFill>
                    <a:srgbClr val="1A1A2E"/>
                  </a:solidFill>
                  <a:latin typeface="Arial" panose="020B0604020202020204"/>
                  <a:ea typeface="微软雅黑" panose="020B0503020204020204" charset="-122"/>
                  <a:cs typeface="Arial" panose="020B0604020202020204"/>
                </a:rPr>
                <a:t>民生改善</a:t>
              </a:r>
              <a:endParaRPr lang="zh-CN" sz="1200" b="1" dirty="0">
                <a:solidFill>
                  <a:srgbClr val="1A1A2E"/>
                </a:solidFill>
                <a:latin typeface="Arial" panose="020B0604020202020204"/>
                <a:ea typeface="微软雅黑" panose="020B0503020204020204" charset="-122"/>
                <a:cs typeface="Arial" panose="020B0604020202020204"/>
              </a:endParaRPr>
            </a:p>
          </p:txBody>
        </p:sp>
        <p:sp>
          <p:nvSpPr>
            <p:cNvPr id="21" name="TextBox 21"/>
            <p:cNvSpPr txBox="1"/>
            <p:nvPr/>
          </p:nvSpPr>
          <p:spPr>
            <a:xfrm>
              <a:off x="4892992" y="1704499"/>
              <a:ext cx="2738120" cy="300990"/>
            </a:xfrm>
            <a:prstGeom prst="rect">
              <a:avLst/>
            </a:prstGeom>
            <a:noFill/>
            <a:ln>
              <a:noFill/>
            </a:ln>
          </p:spPr>
          <p:txBody>
            <a:bodyPr wrap="none" lIns="0" tIns="0" rIns="0" bIns="0" anchor="t" anchorCtr="0">
              <a:spAutoFit/>
            </a:bodyPr>
            <a:lstStyle/>
            <a:p>
              <a:pPr algn="l"/>
              <a:r>
                <a:rPr lang="zh-CN" sz="975" dirty="0">
                  <a:solidFill>
                    <a:srgbClr val="6B7280"/>
                  </a:solidFill>
                  <a:latin typeface="Arial" panose="020B0604020202020204"/>
                  <a:ea typeface="微软雅黑" panose="020B0503020204020204" charset="-122"/>
                  <a:cs typeface="Arial" panose="020B0604020202020204"/>
                </a:rPr>
                <a:t>博物馆数量增长意味着公共文化服务覆盖面扩大，</a:t>
              </a:r>
              <a:endParaRPr lang="zh-CN" sz="975" dirty="0">
                <a:solidFill>
                  <a:srgbClr val="6B7280"/>
                </a:solidFill>
                <a:latin typeface="Arial" panose="020B0604020202020204"/>
                <a:ea typeface="微软雅黑" panose="020B0503020204020204" charset="-122"/>
                <a:cs typeface="Arial" panose="020B0604020202020204"/>
              </a:endParaRPr>
            </a:p>
            <a:p>
              <a:pPr algn="l"/>
              <a:r>
                <a:rPr lang="zh-CN" sz="975" dirty="0">
                  <a:solidFill>
                    <a:srgbClr val="6B7280"/>
                  </a:solidFill>
                  <a:latin typeface="Arial" panose="020B0604020202020204"/>
                  <a:ea typeface="微软雅黑" panose="020B0503020204020204" charset="-122"/>
                  <a:cs typeface="Arial" panose="020B0604020202020204"/>
                </a:rPr>
                <a:t>也形成周边消费场景。</a:t>
              </a:r>
              <a:endParaRPr lang="zh-CN" sz="975" dirty="0">
                <a:solidFill>
                  <a:srgbClr val="6B7280"/>
                </a:solidFill>
                <a:latin typeface="Arial" panose="020B0604020202020204"/>
                <a:ea typeface="微软雅黑" panose="020B0503020204020204" charset="-122"/>
                <a:cs typeface="Arial" panose="020B0604020202020204"/>
              </a:endParaRPr>
            </a:p>
          </p:txBody>
        </p:sp>
        <p:sp>
          <p:nvSpPr>
            <p:cNvPr id="22" name="Rectangle 22"/>
            <p:cNvSpPr/>
            <p:nvPr/>
          </p:nvSpPr>
          <p:spPr>
            <a:xfrm>
              <a:off x="8096250" y="1285875"/>
              <a:ext cx="3524250" cy="762000"/>
            </a:xfrm>
            <a:prstGeom prst="roundRect">
              <a:avLst>
                <a:gd name="adj" fmla="val 10000"/>
              </a:avLst>
            </a:prstGeom>
            <a:solidFill>
              <a:srgbClr val="FFFFFF"/>
            </a:solidFill>
            <a:ln w="9525">
              <a:solidFill>
                <a:srgbClr val="D1D5DB"/>
              </a:solidFill>
            </a:ln>
            <a:effectLst>
              <a:outerShdw blurRad="76200" dist="19050" dir="5400000" algn="ctr" rotWithShape="0">
                <a:srgbClr val="0F172A">
                  <a:alpha val="4500"/>
                </a:srgbClr>
              </a:outerShdw>
            </a:effectLst>
          </p:spPr>
        </p:sp>
        <p:sp>
          <p:nvSpPr>
            <p:cNvPr id="23" name="Rectangle 23"/>
            <p:cNvSpPr/>
            <p:nvPr/>
          </p:nvSpPr>
          <p:spPr>
            <a:xfrm>
              <a:off x="8096250" y="1285875"/>
              <a:ext cx="38100" cy="762000"/>
            </a:xfrm>
            <a:prstGeom prst="roundRect">
              <a:avLst>
                <a:gd name="adj" fmla="val 50000"/>
              </a:avLst>
            </a:prstGeom>
            <a:solidFill>
              <a:srgbClr val="1A3A5C"/>
            </a:solidFill>
            <a:ln>
              <a:noFill/>
            </a:ln>
          </p:spPr>
        </p:sp>
        <p:grpSp>
          <p:nvGrpSpPr>
            <p:cNvPr id="26" name="Group 26"/>
            <p:cNvGrpSpPr/>
            <p:nvPr/>
          </p:nvGrpSpPr>
          <p:grpSpPr>
            <a:xfrm>
              <a:off x="8370094" y="1545431"/>
              <a:ext cx="157162" cy="185738"/>
              <a:chOff x="8370094" y="1545431"/>
              <a:chExt cx="157162" cy="185738"/>
            </a:xfrm>
          </p:grpSpPr>
          <p:sp>
            <p:nvSpPr>
              <p:cNvPr id="24" name="Freeform 24"/>
              <p:cNvSpPr/>
              <p:nvPr/>
            </p:nvSpPr>
            <p:spPr>
              <a:xfrm>
                <a:off x="8405812" y="1581150"/>
                <a:ext cx="85725" cy="42862"/>
              </a:xfrm>
              <a:custGeom>
                <a:avLst/>
                <a:gdLst/>
                <a:ahLst/>
                <a:cxnLst/>
                <a:rect l="l" t="t" r="r" b="b"/>
                <a:pathLst>
                  <a:path w="85725" h="42862">
                    <a:moveTo>
                      <a:pt x="85725" y="0"/>
                    </a:moveTo>
                    <a:lnTo>
                      <a:pt x="85725" y="42862"/>
                    </a:lnTo>
                    <a:lnTo>
                      <a:pt x="0" y="42862"/>
                    </a:lnTo>
                    <a:lnTo>
                      <a:pt x="0" y="0"/>
                    </a:lnTo>
                    <a:close/>
                  </a:path>
                </a:pathLst>
              </a:custGeom>
              <a:solidFill>
                <a:srgbClr val="1A3A5C">
                  <a:alpha val="20000"/>
                </a:srgbClr>
              </a:solidFill>
              <a:ln>
                <a:noFill/>
              </a:ln>
            </p:spPr>
          </p:sp>
          <p:sp>
            <p:nvSpPr>
              <p:cNvPr id="25" name="Freeform 25"/>
              <p:cNvSpPr/>
              <p:nvPr/>
            </p:nvSpPr>
            <p:spPr>
              <a:xfrm>
                <a:off x="8370094" y="1545431"/>
                <a:ext cx="157162" cy="185738"/>
              </a:xfrm>
              <a:custGeom>
                <a:avLst/>
                <a:gdLst/>
                <a:ahLst/>
                <a:cxnLst/>
                <a:rect l="l" t="t" r="r" b="b"/>
                <a:pathLst>
                  <a:path w="157162" h="185738">
                    <a:moveTo>
                      <a:pt x="35719" y="85725"/>
                    </a:moveTo>
                    <a:lnTo>
                      <a:pt x="121444" y="85725"/>
                    </a:lnTo>
                    <a:cubicBezTo>
                      <a:pt x="125389" y="85725"/>
                      <a:pt x="128588" y="82527"/>
                      <a:pt x="128588" y="78581"/>
                    </a:cubicBezTo>
                    <a:lnTo>
                      <a:pt x="128588" y="35719"/>
                    </a:lnTo>
                    <a:cubicBezTo>
                      <a:pt x="128588" y="31773"/>
                      <a:pt x="125389" y="28575"/>
                      <a:pt x="121444" y="28575"/>
                    </a:cubicBezTo>
                    <a:lnTo>
                      <a:pt x="35719" y="28575"/>
                    </a:lnTo>
                    <a:cubicBezTo>
                      <a:pt x="31773" y="28575"/>
                      <a:pt x="28575" y="31773"/>
                      <a:pt x="28575" y="35719"/>
                    </a:cubicBezTo>
                    <a:lnTo>
                      <a:pt x="28575" y="78581"/>
                    </a:lnTo>
                    <a:cubicBezTo>
                      <a:pt x="28575" y="82527"/>
                      <a:pt x="31773" y="85725"/>
                      <a:pt x="35719" y="85725"/>
                    </a:cubicBezTo>
                    <a:close/>
                    <a:moveTo>
                      <a:pt x="42862" y="42862"/>
                    </a:moveTo>
                    <a:lnTo>
                      <a:pt x="114300" y="42862"/>
                    </a:lnTo>
                    <a:lnTo>
                      <a:pt x="114300" y="71438"/>
                    </a:lnTo>
                    <a:lnTo>
                      <a:pt x="42862" y="71438"/>
                    </a:lnTo>
                    <a:close/>
                    <a:moveTo>
                      <a:pt x="142875" y="0"/>
                    </a:moveTo>
                    <a:lnTo>
                      <a:pt x="14288" y="0"/>
                    </a:lnTo>
                    <a:cubicBezTo>
                      <a:pt x="6397" y="0"/>
                      <a:pt x="0" y="6397"/>
                      <a:pt x="0" y="14288"/>
                    </a:cubicBezTo>
                    <a:lnTo>
                      <a:pt x="0" y="171450"/>
                    </a:lnTo>
                    <a:cubicBezTo>
                      <a:pt x="0" y="179341"/>
                      <a:pt x="6397" y="185738"/>
                      <a:pt x="14288" y="185738"/>
                    </a:cubicBezTo>
                    <a:lnTo>
                      <a:pt x="142875" y="185738"/>
                    </a:lnTo>
                    <a:cubicBezTo>
                      <a:pt x="150766" y="185738"/>
                      <a:pt x="157162" y="179341"/>
                      <a:pt x="157162" y="171450"/>
                    </a:cubicBezTo>
                    <a:lnTo>
                      <a:pt x="157162" y="14288"/>
                    </a:lnTo>
                    <a:cubicBezTo>
                      <a:pt x="157162" y="6397"/>
                      <a:pt x="150766" y="0"/>
                      <a:pt x="142875" y="0"/>
                    </a:cubicBezTo>
                    <a:close/>
                    <a:moveTo>
                      <a:pt x="142875" y="171450"/>
                    </a:moveTo>
                    <a:lnTo>
                      <a:pt x="14288" y="171450"/>
                    </a:lnTo>
                    <a:lnTo>
                      <a:pt x="14288" y="14288"/>
                    </a:lnTo>
                    <a:lnTo>
                      <a:pt x="142875" y="14288"/>
                    </a:lnTo>
                    <a:close/>
                    <a:moveTo>
                      <a:pt x="53578" y="110728"/>
                    </a:moveTo>
                    <a:cubicBezTo>
                      <a:pt x="53578" y="116646"/>
                      <a:pt x="48781" y="121444"/>
                      <a:pt x="42862" y="121444"/>
                    </a:cubicBezTo>
                    <a:cubicBezTo>
                      <a:pt x="36944" y="121444"/>
                      <a:pt x="32147" y="116646"/>
                      <a:pt x="32147" y="110728"/>
                    </a:cubicBezTo>
                    <a:cubicBezTo>
                      <a:pt x="32147" y="104810"/>
                      <a:pt x="36944" y="100012"/>
                      <a:pt x="42862" y="100012"/>
                    </a:cubicBezTo>
                    <a:cubicBezTo>
                      <a:pt x="48781" y="100012"/>
                      <a:pt x="53578" y="104810"/>
                      <a:pt x="53578" y="110728"/>
                    </a:cubicBezTo>
                    <a:close/>
                    <a:moveTo>
                      <a:pt x="89297" y="110728"/>
                    </a:moveTo>
                    <a:cubicBezTo>
                      <a:pt x="89297" y="116646"/>
                      <a:pt x="84499" y="121444"/>
                      <a:pt x="78581" y="121444"/>
                    </a:cubicBezTo>
                    <a:cubicBezTo>
                      <a:pt x="72663" y="121444"/>
                      <a:pt x="67866" y="116646"/>
                      <a:pt x="67866" y="110728"/>
                    </a:cubicBezTo>
                    <a:cubicBezTo>
                      <a:pt x="67866" y="104810"/>
                      <a:pt x="72663" y="100012"/>
                      <a:pt x="78581" y="100012"/>
                    </a:cubicBezTo>
                    <a:cubicBezTo>
                      <a:pt x="84499" y="100012"/>
                      <a:pt x="89297" y="104810"/>
                      <a:pt x="89297" y="110728"/>
                    </a:cubicBezTo>
                    <a:close/>
                    <a:moveTo>
                      <a:pt x="125016" y="110728"/>
                    </a:moveTo>
                    <a:cubicBezTo>
                      <a:pt x="125016" y="116646"/>
                      <a:pt x="120218" y="121444"/>
                      <a:pt x="114300" y="121444"/>
                    </a:cubicBezTo>
                    <a:cubicBezTo>
                      <a:pt x="108382" y="121444"/>
                      <a:pt x="103584" y="116646"/>
                      <a:pt x="103584" y="110728"/>
                    </a:cubicBezTo>
                    <a:cubicBezTo>
                      <a:pt x="103584" y="104810"/>
                      <a:pt x="108382" y="100012"/>
                      <a:pt x="114300" y="100012"/>
                    </a:cubicBezTo>
                    <a:cubicBezTo>
                      <a:pt x="120218" y="100012"/>
                      <a:pt x="125016" y="104810"/>
                      <a:pt x="125016" y="110728"/>
                    </a:cubicBezTo>
                    <a:close/>
                    <a:moveTo>
                      <a:pt x="53578" y="146447"/>
                    </a:moveTo>
                    <a:cubicBezTo>
                      <a:pt x="53578" y="152365"/>
                      <a:pt x="48781" y="157162"/>
                      <a:pt x="42862" y="157162"/>
                    </a:cubicBezTo>
                    <a:cubicBezTo>
                      <a:pt x="36944" y="157162"/>
                      <a:pt x="32147" y="152365"/>
                      <a:pt x="32147" y="146447"/>
                    </a:cubicBezTo>
                    <a:cubicBezTo>
                      <a:pt x="32147" y="140529"/>
                      <a:pt x="36944" y="135731"/>
                      <a:pt x="42862" y="135731"/>
                    </a:cubicBezTo>
                    <a:cubicBezTo>
                      <a:pt x="48781" y="135731"/>
                      <a:pt x="53578" y="140529"/>
                      <a:pt x="53578" y="146447"/>
                    </a:cubicBezTo>
                    <a:close/>
                    <a:moveTo>
                      <a:pt x="89297" y="146447"/>
                    </a:moveTo>
                    <a:cubicBezTo>
                      <a:pt x="89297" y="152365"/>
                      <a:pt x="84499" y="157162"/>
                      <a:pt x="78581" y="157162"/>
                    </a:cubicBezTo>
                    <a:cubicBezTo>
                      <a:pt x="72663" y="157162"/>
                      <a:pt x="67866" y="152365"/>
                      <a:pt x="67866" y="146447"/>
                    </a:cubicBezTo>
                    <a:cubicBezTo>
                      <a:pt x="67866" y="140529"/>
                      <a:pt x="72663" y="135731"/>
                      <a:pt x="78581" y="135731"/>
                    </a:cubicBezTo>
                    <a:cubicBezTo>
                      <a:pt x="84499" y="135731"/>
                      <a:pt x="89297" y="140529"/>
                      <a:pt x="89297" y="146447"/>
                    </a:cubicBezTo>
                    <a:close/>
                    <a:moveTo>
                      <a:pt x="125016" y="146447"/>
                    </a:moveTo>
                    <a:cubicBezTo>
                      <a:pt x="125016" y="152365"/>
                      <a:pt x="120218" y="157162"/>
                      <a:pt x="114300" y="157162"/>
                    </a:cubicBezTo>
                    <a:cubicBezTo>
                      <a:pt x="108382" y="157162"/>
                      <a:pt x="103584" y="152365"/>
                      <a:pt x="103584" y="146447"/>
                    </a:cubicBezTo>
                    <a:cubicBezTo>
                      <a:pt x="103584" y="140529"/>
                      <a:pt x="108382" y="135731"/>
                      <a:pt x="114300" y="135731"/>
                    </a:cubicBezTo>
                    <a:cubicBezTo>
                      <a:pt x="120218" y="135731"/>
                      <a:pt x="125016" y="140529"/>
                      <a:pt x="125016" y="146447"/>
                    </a:cubicBezTo>
                    <a:close/>
                  </a:path>
                </a:pathLst>
              </a:custGeom>
              <a:solidFill>
                <a:srgbClr val="1A3A5C"/>
              </a:solidFill>
              <a:ln>
                <a:noFill/>
              </a:ln>
            </p:spPr>
          </p:sp>
        </p:grpSp>
        <p:sp>
          <p:nvSpPr>
            <p:cNvPr id="27" name="TextBox 27"/>
            <p:cNvSpPr txBox="1"/>
            <p:nvPr/>
          </p:nvSpPr>
          <p:spPr>
            <a:xfrm>
              <a:off x="8652510" y="1470660"/>
              <a:ext cx="1134618" cy="243840"/>
            </a:xfrm>
            <a:prstGeom prst="rect">
              <a:avLst/>
            </a:prstGeom>
            <a:noFill/>
            <a:ln>
              <a:noFill/>
            </a:ln>
          </p:spPr>
          <p:txBody>
            <a:bodyPr wrap="none" lIns="0" tIns="0" rIns="0" bIns="0" anchor="t" anchorCtr="0">
              <a:spAutoFit/>
            </a:bodyPr>
            <a:lstStyle/>
            <a:p>
              <a:pPr algn="l"/>
              <a:r>
                <a:rPr lang="zh-CN" sz="1200" b="1" dirty="0">
                  <a:solidFill>
                    <a:srgbClr val="1A1A2E"/>
                  </a:solidFill>
                  <a:latin typeface="Arial" panose="020B0604020202020204"/>
                  <a:ea typeface="微软雅黑" panose="020B0503020204020204" charset="-122"/>
                  <a:cs typeface="Arial" panose="020B0604020202020204"/>
                </a:rPr>
                <a:t>数值方法适配</a:t>
              </a:r>
              <a:endParaRPr lang="zh-CN" sz="1200" b="1" dirty="0">
                <a:solidFill>
                  <a:srgbClr val="1A1A2E"/>
                </a:solidFill>
                <a:latin typeface="Arial" panose="020B0604020202020204"/>
                <a:ea typeface="微软雅黑" panose="020B0503020204020204" charset="-122"/>
                <a:cs typeface="Arial" panose="020B0604020202020204"/>
              </a:endParaRPr>
            </a:p>
          </p:txBody>
        </p:sp>
        <p:sp>
          <p:nvSpPr>
            <p:cNvPr id="28" name="TextBox 28"/>
            <p:cNvSpPr txBox="1"/>
            <p:nvPr/>
          </p:nvSpPr>
          <p:spPr>
            <a:xfrm>
              <a:off x="8655368" y="1704499"/>
              <a:ext cx="2364740" cy="300990"/>
            </a:xfrm>
            <a:prstGeom prst="rect">
              <a:avLst/>
            </a:prstGeom>
            <a:noFill/>
            <a:ln>
              <a:noFill/>
            </a:ln>
          </p:spPr>
          <p:txBody>
            <a:bodyPr wrap="none" lIns="0" tIns="0" rIns="0" bIns="0" anchor="t" anchorCtr="0">
              <a:spAutoFit/>
            </a:bodyPr>
            <a:lstStyle/>
            <a:p>
              <a:pPr algn="l"/>
              <a:r>
                <a:rPr lang="zh-CN" sz="975" dirty="0">
                  <a:solidFill>
                    <a:srgbClr val="6B7280"/>
                  </a:solidFill>
                  <a:latin typeface="Arial" panose="020B0604020202020204"/>
                  <a:ea typeface="微软雅黑" panose="020B0503020204020204" charset="-122"/>
                  <a:cs typeface="Arial" panose="020B0604020202020204"/>
                </a:rPr>
                <a:t>年度序列具有趋势、冲击和恢复三类特征，</a:t>
              </a:r>
              <a:endParaRPr lang="zh-CN" sz="975" dirty="0">
                <a:solidFill>
                  <a:srgbClr val="6B7280"/>
                </a:solidFill>
                <a:latin typeface="Arial" panose="020B0604020202020204"/>
                <a:ea typeface="微软雅黑" panose="020B0503020204020204" charset="-122"/>
                <a:cs typeface="Arial" panose="020B0604020202020204"/>
              </a:endParaRPr>
            </a:p>
            <a:p>
              <a:pPr algn="l"/>
              <a:r>
                <a:rPr lang="zh-CN" sz="975" dirty="0">
                  <a:solidFill>
                    <a:srgbClr val="6B7280"/>
                  </a:solidFill>
                  <a:latin typeface="Arial" panose="020B0604020202020204"/>
                  <a:ea typeface="微软雅黑" panose="020B0503020204020204" charset="-122"/>
                  <a:cs typeface="Arial" panose="020B0604020202020204"/>
                </a:rPr>
                <a:t>适合微分、拟合与相关性分析。</a:t>
              </a:r>
              <a:endParaRPr lang="zh-CN" sz="975" dirty="0">
                <a:solidFill>
                  <a:srgbClr val="6B7280"/>
                </a:solidFill>
                <a:latin typeface="Arial" panose="020B0604020202020204"/>
                <a:ea typeface="微软雅黑" panose="020B0503020204020204" charset="-122"/>
                <a:cs typeface="Arial" panose="020B0604020202020204"/>
              </a:endParaRPr>
            </a:p>
          </p:txBody>
        </p:sp>
      </p:grpSp>
      <p:grpSp>
        <p:nvGrpSpPr>
          <p:cNvPr id="46" name="Group 46"/>
          <p:cNvGrpSpPr/>
          <p:nvPr/>
        </p:nvGrpSpPr>
        <p:grpSpPr>
          <a:xfrm>
            <a:off x="571500" y="2667000"/>
            <a:ext cx="11049000" cy="1238250"/>
            <a:chOff x="571500" y="2667000"/>
            <a:chExt cx="11049000" cy="1238250"/>
          </a:xfrm>
        </p:grpSpPr>
        <p:sp>
          <p:nvSpPr>
            <p:cNvPr id="30" name="Rectangle 30"/>
            <p:cNvSpPr/>
            <p:nvPr/>
          </p:nvSpPr>
          <p:spPr>
            <a:xfrm>
              <a:off x="571500" y="2667000"/>
              <a:ext cx="3238500" cy="1238250"/>
            </a:xfrm>
            <a:prstGeom prst="roundRect">
              <a:avLst>
                <a:gd name="adj" fmla="val 7692"/>
              </a:avLst>
            </a:prstGeom>
            <a:solidFill>
              <a:srgbClr val="1A3A5C"/>
            </a:solidFill>
            <a:ln>
              <a:noFill/>
            </a:ln>
            <a:effectLst>
              <a:outerShdw blurRad="76200" dist="19050" dir="5400000" algn="ctr" rotWithShape="0">
                <a:srgbClr val="0F172A">
                  <a:alpha val="4500"/>
                </a:srgbClr>
              </a:outerShdw>
            </a:effectLst>
          </p:spPr>
        </p:sp>
        <p:sp>
          <p:nvSpPr>
            <p:cNvPr id="31" name="TextBox 31"/>
            <p:cNvSpPr txBox="1"/>
            <p:nvPr/>
          </p:nvSpPr>
          <p:spPr>
            <a:xfrm>
              <a:off x="1790248" y="2917508"/>
              <a:ext cx="801005"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panose="020B0604020202020204"/>
                  <a:ea typeface="微软雅黑" panose="020B0503020204020204" charset="-122"/>
                  <a:cs typeface="Arial" panose="020B0604020202020204"/>
                </a:rPr>
                <a:t>供给层</a:t>
              </a:r>
              <a:endParaRPr lang="zh-CN" sz="1650" b="1" dirty="0">
                <a:solidFill>
                  <a:srgbClr val="FFFFFF"/>
                </a:solidFill>
                <a:latin typeface="Arial" panose="020B0604020202020204"/>
                <a:ea typeface="微软雅黑" panose="020B0503020204020204" charset="-122"/>
                <a:cs typeface="Arial" panose="020B0604020202020204"/>
              </a:endParaRPr>
            </a:p>
          </p:txBody>
        </p:sp>
        <p:sp>
          <p:nvSpPr>
            <p:cNvPr id="32" name="TextBox 32"/>
            <p:cNvSpPr txBox="1"/>
            <p:nvPr/>
          </p:nvSpPr>
          <p:spPr>
            <a:xfrm>
              <a:off x="1562100" y="3251835"/>
              <a:ext cx="1257300" cy="243840"/>
            </a:xfrm>
            <a:prstGeom prst="rect">
              <a:avLst/>
            </a:prstGeom>
            <a:noFill/>
            <a:ln>
              <a:noFill/>
            </a:ln>
          </p:spPr>
          <p:txBody>
            <a:bodyPr wrap="none" lIns="0" tIns="0" rIns="0" bIns="0" anchor="t" anchorCtr="0">
              <a:spAutoFit/>
            </a:bodyPr>
            <a:lstStyle/>
            <a:p>
              <a:pPr algn="ctr"/>
              <a:r>
                <a:rPr lang="zh-CN" sz="1200" dirty="0">
                  <a:solidFill>
                    <a:srgbClr val="F0F4F8"/>
                  </a:solidFill>
                  <a:latin typeface="Arial" panose="020B0604020202020204"/>
                  <a:ea typeface="微软雅黑" panose="020B0503020204020204" charset="-122"/>
                  <a:cs typeface="Arial" panose="020B0604020202020204"/>
                </a:rPr>
                <a:t>博物馆数量增长</a:t>
              </a:r>
              <a:endParaRPr lang="zh-CN" sz="1200" dirty="0">
                <a:solidFill>
                  <a:srgbClr val="F0F4F8"/>
                </a:solidFill>
                <a:latin typeface="Arial" panose="020B0604020202020204"/>
                <a:ea typeface="微软雅黑" panose="020B0503020204020204" charset="-122"/>
                <a:cs typeface="Arial" panose="020B0604020202020204"/>
              </a:endParaRPr>
            </a:p>
          </p:txBody>
        </p:sp>
        <p:sp>
          <p:nvSpPr>
            <p:cNvPr id="33" name="TextBox 33"/>
            <p:cNvSpPr txBox="1"/>
            <p:nvPr/>
          </p:nvSpPr>
          <p:spPr>
            <a:xfrm>
              <a:off x="1257300" y="3506152"/>
              <a:ext cx="1866900" cy="213360"/>
            </a:xfrm>
            <a:prstGeom prst="rect">
              <a:avLst/>
            </a:prstGeom>
            <a:noFill/>
            <a:ln>
              <a:noFill/>
            </a:ln>
          </p:spPr>
          <p:txBody>
            <a:bodyPr wrap="none" lIns="0" tIns="0" rIns="0" bIns="0" anchor="t" anchorCtr="0">
              <a:spAutoFit/>
            </a:bodyPr>
            <a:lstStyle/>
            <a:p>
              <a:pPr algn="ctr"/>
              <a:r>
                <a:rPr lang="zh-CN" sz="1050" dirty="0">
                  <a:solidFill>
                    <a:srgbClr val="D1D5DB"/>
                  </a:solidFill>
                  <a:latin typeface="Arial" panose="020B0604020202020204"/>
                  <a:ea typeface="微软雅黑" panose="020B0503020204020204" charset="-122"/>
                  <a:cs typeface="Arial" panose="020B0604020202020204"/>
                </a:rPr>
                <a:t>公共文化设施供给规模扩张</a:t>
              </a:r>
              <a:endParaRPr lang="zh-CN" sz="1050" dirty="0">
                <a:solidFill>
                  <a:srgbClr val="D1D5DB"/>
                </a:solidFill>
                <a:latin typeface="Arial" panose="020B0604020202020204"/>
                <a:ea typeface="微软雅黑" panose="020B0503020204020204" charset="-122"/>
                <a:cs typeface="Arial" panose="020B0604020202020204"/>
              </a:endParaRPr>
            </a:p>
          </p:txBody>
        </p:sp>
        <p:sp>
          <p:nvSpPr>
            <p:cNvPr id="34" name="Line 34"/>
            <p:cNvSpPr/>
            <p:nvPr/>
          </p:nvSpPr>
          <p:spPr>
            <a:xfrm>
              <a:off x="3810000" y="3286125"/>
              <a:ext cx="666750" cy="1"/>
            </a:xfrm>
            <a:prstGeom prst="line">
              <a:avLst/>
            </a:prstGeom>
            <a:noFill/>
            <a:ln w="28575">
              <a:solidFill>
                <a:srgbClr val="1A3A5C"/>
              </a:solidFill>
              <a:tailEnd type="triangle" w="lg" len="lg"/>
            </a:ln>
          </p:spPr>
        </p:sp>
        <p:sp>
          <p:nvSpPr>
            <p:cNvPr id="35" name="TextBox 35"/>
            <p:cNvSpPr txBox="1"/>
            <p:nvPr/>
          </p:nvSpPr>
          <p:spPr>
            <a:xfrm>
              <a:off x="4077529" y="3061335"/>
              <a:ext cx="131693" cy="243840"/>
            </a:xfrm>
            <a:prstGeom prst="rect">
              <a:avLst/>
            </a:prstGeom>
            <a:noFill/>
            <a:ln>
              <a:noFill/>
            </a:ln>
          </p:spPr>
          <p:txBody>
            <a:bodyPr wrap="none" lIns="0" tIns="0" rIns="0" bIns="0" anchor="t" anchorCtr="0">
              <a:spAutoFit/>
            </a:bodyPr>
            <a:lstStyle/>
            <a:p>
              <a:pPr algn="ctr"/>
              <a:r>
                <a:rPr lang="zh-CN" sz="1200" b="1" dirty="0">
                  <a:solidFill>
                    <a:srgbClr val="C8963E"/>
                  </a:solidFill>
                  <a:latin typeface="Arial" panose="020B0604020202020204"/>
                  <a:ea typeface="微软雅黑" panose="020B0503020204020204" charset="-122"/>
                  <a:cs typeface="Arial" panose="020B0604020202020204"/>
                </a:rPr>
                <a:t>→</a:t>
              </a:r>
              <a:endParaRPr lang="zh-CN" sz="1200" b="1" dirty="0">
                <a:solidFill>
                  <a:srgbClr val="C8963E"/>
                </a:solidFill>
                <a:latin typeface="Arial" panose="020B0604020202020204"/>
                <a:ea typeface="微软雅黑" panose="020B0503020204020204" charset="-122"/>
                <a:cs typeface="Arial" panose="020B0604020202020204"/>
              </a:endParaRPr>
            </a:p>
          </p:txBody>
        </p:sp>
        <p:sp>
          <p:nvSpPr>
            <p:cNvPr id="36" name="Rectangle 36"/>
            <p:cNvSpPr/>
            <p:nvPr/>
          </p:nvSpPr>
          <p:spPr>
            <a:xfrm>
              <a:off x="4524375" y="2667000"/>
              <a:ext cx="3143250" cy="1238250"/>
            </a:xfrm>
            <a:prstGeom prst="roundRect">
              <a:avLst>
                <a:gd name="adj" fmla="val 7692"/>
              </a:avLst>
            </a:prstGeom>
            <a:solidFill>
              <a:srgbClr val="2E6B8F"/>
            </a:solidFill>
            <a:ln>
              <a:noFill/>
            </a:ln>
            <a:effectLst>
              <a:outerShdw blurRad="76200" dist="19050" dir="5400000" algn="ctr" rotWithShape="0">
                <a:srgbClr val="0F172A">
                  <a:alpha val="4500"/>
                </a:srgbClr>
              </a:outerShdw>
            </a:effectLst>
          </p:spPr>
        </p:sp>
        <p:sp>
          <p:nvSpPr>
            <p:cNvPr id="37" name="TextBox 37"/>
            <p:cNvSpPr txBox="1"/>
            <p:nvPr/>
          </p:nvSpPr>
          <p:spPr>
            <a:xfrm>
              <a:off x="5315950" y="2917508"/>
              <a:ext cx="1560100"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panose="020B0604020202020204"/>
                  <a:ea typeface="微软雅黑" panose="020B0503020204020204" charset="-122"/>
                  <a:cs typeface="Arial" panose="020B0604020202020204"/>
                </a:rPr>
                <a:t>数字化连接层</a:t>
              </a:r>
              <a:endParaRPr lang="zh-CN" sz="1650" b="1" dirty="0">
                <a:solidFill>
                  <a:srgbClr val="FFFFFF"/>
                </a:solidFill>
                <a:latin typeface="Arial" panose="020B0604020202020204"/>
                <a:ea typeface="微软雅黑" panose="020B0503020204020204" charset="-122"/>
                <a:cs typeface="Arial" panose="020B0604020202020204"/>
              </a:endParaRPr>
            </a:p>
          </p:txBody>
        </p:sp>
        <p:sp>
          <p:nvSpPr>
            <p:cNvPr id="38" name="TextBox 38"/>
            <p:cNvSpPr txBox="1"/>
            <p:nvPr/>
          </p:nvSpPr>
          <p:spPr>
            <a:xfrm>
              <a:off x="5077396" y="3251835"/>
              <a:ext cx="2037207" cy="243840"/>
            </a:xfrm>
            <a:prstGeom prst="rect">
              <a:avLst/>
            </a:prstGeom>
            <a:noFill/>
            <a:ln>
              <a:noFill/>
            </a:ln>
          </p:spPr>
          <p:txBody>
            <a:bodyPr wrap="none" lIns="0" tIns="0" rIns="0" bIns="0" anchor="t" anchorCtr="0">
              <a:spAutoFit/>
            </a:bodyPr>
            <a:lstStyle/>
            <a:p>
              <a:pPr algn="ctr"/>
              <a:r>
                <a:rPr lang="zh-CN" sz="1200" dirty="0">
                  <a:solidFill>
                    <a:srgbClr val="F0F4F8"/>
                  </a:solidFill>
                  <a:latin typeface="Arial" panose="020B0604020202020204"/>
                  <a:ea typeface="微软雅黑" panose="020B0503020204020204" charset="-122"/>
                  <a:cs typeface="Arial" panose="020B0604020202020204"/>
                </a:rPr>
                <a:t>预约 / 导览 / 展陈 / 文创</a:t>
              </a:r>
              <a:endParaRPr lang="zh-CN" sz="1200" dirty="0">
                <a:solidFill>
                  <a:srgbClr val="F0F4F8"/>
                </a:solidFill>
                <a:latin typeface="Arial" panose="020B0604020202020204"/>
                <a:ea typeface="微软雅黑" panose="020B0503020204020204" charset="-122"/>
                <a:cs typeface="Arial" panose="020B0604020202020204"/>
              </a:endParaRPr>
            </a:p>
          </p:txBody>
        </p:sp>
        <p:sp>
          <p:nvSpPr>
            <p:cNvPr id="39" name="TextBox 39"/>
            <p:cNvSpPr txBox="1"/>
            <p:nvPr/>
          </p:nvSpPr>
          <p:spPr>
            <a:xfrm>
              <a:off x="5085874" y="3506152"/>
              <a:ext cx="2020252" cy="213360"/>
            </a:xfrm>
            <a:prstGeom prst="rect">
              <a:avLst/>
            </a:prstGeom>
            <a:noFill/>
            <a:ln>
              <a:noFill/>
            </a:ln>
          </p:spPr>
          <p:txBody>
            <a:bodyPr wrap="none" lIns="0" tIns="0" rIns="0" bIns="0" anchor="t" anchorCtr="0">
              <a:spAutoFit/>
            </a:bodyPr>
            <a:lstStyle/>
            <a:p>
              <a:pPr algn="ctr"/>
              <a:r>
                <a:rPr lang="zh-CN" sz="1050" dirty="0">
                  <a:solidFill>
                    <a:srgbClr val="D1D5DB"/>
                  </a:solidFill>
                  <a:latin typeface="Arial" panose="020B0604020202020204"/>
                  <a:ea typeface="微软雅黑" panose="020B0503020204020204" charset="-122"/>
                  <a:cs typeface="Arial" panose="020B0604020202020204"/>
                </a:rPr>
                <a:t>数字技术提升文化服务可及性</a:t>
              </a:r>
              <a:endParaRPr lang="zh-CN" sz="1050" dirty="0">
                <a:solidFill>
                  <a:srgbClr val="D1D5DB"/>
                </a:solidFill>
                <a:latin typeface="Arial" panose="020B0604020202020204"/>
                <a:ea typeface="微软雅黑" panose="020B0503020204020204" charset="-122"/>
                <a:cs typeface="Arial" panose="020B0604020202020204"/>
              </a:endParaRPr>
            </a:p>
          </p:txBody>
        </p:sp>
        <p:sp>
          <p:nvSpPr>
            <p:cNvPr id="40" name="Line 40"/>
            <p:cNvSpPr/>
            <p:nvPr/>
          </p:nvSpPr>
          <p:spPr>
            <a:xfrm>
              <a:off x="7667625" y="3286125"/>
              <a:ext cx="666750" cy="1"/>
            </a:xfrm>
            <a:prstGeom prst="line">
              <a:avLst/>
            </a:prstGeom>
            <a:noFill/>
            <a:ln w="28575">
              <a:solidFill>
                <a:srgbClr val="1A3A5C"/>
              </a:solidFill>
              <a:tailEnd type="triangle" w="lg" len="lg"/>
            </a:ln>
          </p:spPr>
        </p:sp>
        <p:sp>
          <p:nvSpPr>
            <p:cNvPr id="41" name="TextBox 41"/>
            <p:cNvSpPr txBox="1"/>
            <p:nvPr/>
          </p:nvSpPr>
          <p:spPr>
            <a:xfrm>
              <a:off x="7935154" y="3061335"/>
              <a:ext cx="131693" cy="243840"/>
            </a:xfrm>
            <a:prstGeom prst="rect">
              <a:avLst/>
            </a:prstGeom>
            <a:noFill/>
            <a:ln>
              <a:noFill/>
            </a:ln>
          </p:spPr>
          <p:txBody>
            <a:bodyPr wrap="none" lIns="0" tIns="0" rIns="0" bIns="0" anchor="t" anchorCtr="0">
              <a:spAutoFit/>
            </a:bodyPr>
            <a:lstStyle/>
            <a:p>
              <a:pPr algn="ctr"/>
              <a:r>
                <a:rPr lang="zh-CN" sz="1200" b="1" dirty="0">
                  <a:solidFill>
                    <a:srgbClr val="C8963E"/>
                  </a:solidFill>
                  <a:latin typeface="Arial" panose="020B0604020202020204"/>
                  <a:ea typeface="微软雅黑" panose="020B0503020204020204" charset="-122"/>
                  <a:cs typeface="Arial" panose="020B0604020202020204"/>
                </a:rPr>
                <a:t>→</a:t>
              </a:r>
              <a:endParaRPr lang="zh-CN" sz="1200" b="1" dirty="0">
                <a:solidFill>
                  <a:srgbClr val="C8963E"/>
                </a:solidFill>
                <a:latin typeface="Arial" panose="020B0604020202020204"/>
                <a:ea typeface="微软雅黑" panose="020B0503020204020204" charset="-122"/>
                <a:cs typeface="Arial" panose="020B0604020202020204"/>
              </a:endParaRPr>
            </a:p>
          </p:txBody>
        </p:sp>
        <p:sp>
          <p:nvSpPr>
            <p:cNvPr id="42" name="Rectangle 42"/>
            <p:cNvSpPr/>
            <p:nvPr/>
          </p:nvSpPr>
          <p:spPr>
            <a:xfrm>
              <a:off x="8382000" y="2667000"/>
              <a:ext cx="3238500" cy="1238250"/>
            </a:xfrm>
            <a:prstGeom prst="roundRect">
              <a:avLst>
                <a:gd name="adj" fmla="val 7692"/>
              </a:avLst>
            </a:prstGeom>
            <a:solidFill>
              <a:srgbClr val="C8963E"/>
            </a:solidFill>
            <a:ln>
              <a:noFill/>
            </a:ln>
            <a:effectLst>
              <a:outerShdw blurRad="76200" dist="19050" dir="5400000" algn="ctr" rotWithShape="0">
                <a:srgbClr val="0F172A">
                  <a:alpha val="4500"/>
                </a:srgbClr>
              </a:outerShdw>
            </a:effectLst>
          </p:spPr>
        </p:sp>
        <p:sp>
          <p:nvSpPr>
            <p:cNvPr id="43" name="TextBox 43"/>
            <p:cNvSpPr txBox="1"/>
            <p:nvPr/>
          </p:nvSpPr>
          <p:spPr>
            <a:xfrm>
              <a:off x="9600748" y="2917508"/>
              <a:ext cx="801005"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panose="020B0604020202020204"/>
                  <a:ea typeface="微软雅黑" panose="020B0503020204020204" charset="-122"/>
                  <a:cs typeface="Arial" panose="020B0604020202020204"/>
                </a:rPr>
                <a:t>转化层</a:t>
              </a:r>
              <a:endParaRPr lang="zh-CN" sz="1650" b="1" dirty="0">
                <a:solidFill>
                  <a:srgbClr val="FFFFFF"/>
                </a:solidFill>
                <a:latin typeface="Arial" panose="020B0604020202020204"/>
                <a:ea typeface="微软雅黑" panose="020B0503020204020204" charset="-122"/>
                <a:cs typeface="Arial" panose="020B0604020202020204"/>
              </a:endParaRPr>
            </a:p>
          </p:txBody>
        </p:sp>
        <p:sp>
          <p:nvSpPr>
            <p:cNvPr id="44" name="TextBox 44"/>
            <p:cNvSpPr txBox="1"/>
            <p:nvPr/>
          </p:nvSpPr>
          <p:spPr>
            <a:xfrm>
              <a:off x="9184196" y="3251835"/>
              <a:ext cx="1634109" cy="243840"/>
            </a:xfrm>
            <a:prstGeom prst="rect">
              <a:avLst/>
            </a:prstGeom>
            <a:noFill/>
            <a:ln>
              <a:noFill/>
            </a:ln>
          </p:spPr>
          <p:txBody>
            <a:bodyPr wrap="none" lIns="0" tIns="0" rIns="0" bIns="0" anchor="t" anchorCtr="0">
              <a:spAutoFit/>
            </a:bodyPr>
            <a:lstStyle/>
            <a:p>
              <a:pPr algn="ctr"/>
              <a:r>
                <a:rPr lang="zh-CN" sz="1200" dirty="0">
                  <a:solidFill>
                    <a:srgbClr val="F0F4F8"/>
                  </a:solidFill>
                  <a:latin typeface="Arial" panose="020B0604020202020204"/>
                  <a:ea typeface="微软雅黑" panose="020B0503020204020204" charset="-122"/>
                  <a:cs typeface="Arial" panose="020B0604020202020204"/>
                </a:rPr>
                <a:t>游客恢复 + 消费支出</a:t>
              </a:r>
              <a:endParaRPr lang="zh-CN" sz="1200" dirty="0">
                <a:solidFill>
                  <a:srgbClr val="F0F4F8"/>
                </a:solidFill>
                <a:latin typeface="Arial" panose="020B0604020202020204"/>
                <a:ea typeface="微软雅黑" panose="020B0503020204020204" charset="-122"/>
                <a:cs typeface="Arial" panose="020B0604020202020204"/>
              </a:endParaRPr>
            </a:p>
          </p:txBody>
        </p:sp>
        <p:sp>
          <p:nvSpPr>
            <p:cNvPr id="45" name="TextBox 45"/>
            <p:cNvSpPr txBox="1"/>
            <p:nvPr/>
          </p:nvSpPr>
          <p:spPr>
            <a:xfrm>
              <a:off x="8914448" y="3506152"/>
              <a:ext cx="2173605" cy="213360"/>
            </a:xfrm>
            <a:prstGeom prst="rect">
              <a:avLst/>
            </a:prstGeom>
            <a:noFill/>
            <a:ln>
              <a:noFill/>
            </a:ln>
          </p:spPr>
          <p:txBody>
            <a:bodyPr wrap="none" lIns="0" tIns="0" rIns="0" bIns="0" anchor="t" anchorCtr="0">
              <a:spAutoFit/>
            </a:bodyPr>
            <a:lstStyle/>
            <a:p>
              <a:pPr algn="ctr"/>
              <a:r>
                <a:rPr lang="zh-CN" sz="1050" dirty="0">
                  <a:solidFill>
                    <a:srgbClr val="D1D5DB"/>
                  </a:solidFill>
                  <a:latin typeface="Arial" panose="020B0604020202020204"/>
                  <a:ea typeface="微软雅黑" panose="020B0503020204020204" charset="-122"/>
                  <a:cs typeface="Arial" panose="020B0604020202020204"/>
                </a:rPr>
                <a:t>文化供给向文旅消费的经济转化</a:t>
              </a:r>
              <a:endParaRPr lang="zh-CN" sz="1050" dirty="0">
                <a:solidFill>
                  <a:srgbClr val="D1D5DB"/>
                </a:solidFill>
                <a:latin typeface="Arial" panose="020B0604020202020204"/>
                <a:ea typeface="微软雅黑" panose="020B0503020204020204" charset="-122"/>
                <a:cs typeface="Arial" panose="020B0604020202020204"/>
              </a:endParaRPr>
            </a:p>
          </p:txBody>
        </p:sp>
      </p:grpSp>
      <p:grpSp>
        <p:nvGrpSpPr>
          <p:cNvPr id="57" name="Group 57"/>
          <p:cNvGrpSpPr/>
          <p:nvPr/>
        </p:nvGrpSpPr>
        <p:grpSpPr>
          <a:xfrm>
            <a:off x="571500" y="4572000"/>
            <a:ext cx="11049000" cy="533400"/>
            <a:chOff x="571500" y="4572000"/>
            <a:chExt cx="11049000" cy="533400"/>
          </a:xfrm>
        </p:grpSpPr>
        <p:sp>
          <p:nvSpPr>
            <p:cNvPr id="52" name="Rectangle 52"/>
            <p:cNvSpPr/>
            <p:nvPr/>
          </p:nvSpPr>
          <p:spPr>
            <a:xfrm>
              <a:off x="571500" y="4572000"/>
              <a:ext cx="11049000" cy="533400"/>
            </a:xfrm>
            <a:prstGeom prst="roundRect">
              <a:avLst>
                <a:gd name="adj" fmla="val 17857"/>
              </a:avLst>
            </a:prstGeom>
            <a:solidFill>
              <a:srgbClr val="FFFFFF"/>
            </a:solidFill>
            <a:ln w="19050">
              <a:solidFill>
                <a:srgbClr val="C8963E"/>
              </a:solidFill>
            </a:ln>
            <a:effectLst>
              <a:outerShdw blurRad="76200" dist="19050" dir="5400000" algn="ctr" rotWithShape="0">
                <a:srgbClr val="0F172A">
                  <a:alpha val="4500"/>
                </a:srgbClr>
              </a:outerShdw>
            </a:effectLst>
          </p:spPr>
        </p:sp>
        <p:grpSp>
          <p:nvGrpSpPr>
            <p:cNvPr id="55" name="Group 55"/>
            <p:cNvGrpSpPr/>
            <p:nvPr/>
          </p:nvGrpSpPr>
          <p:grpSpPr>
            <a:xfrm>
              <a:off x="940362" y="4804852"/>
              <a:ext cx="157457" cy="200535"/>
              <a:chOff x="940362" y="4804852"/>
              <a:chExt cx="157457" cy="200535"/>
            </a:xfrm>
          </p:grpSpPr>
          <p:sp>
            <p:nvSpPr>
              <p:cNvPr id="53" name="Freeform 53"/>
              <p:cNvSpPr/>
              <p:nvPr/>
            </p:nvSpPr>
            <p:spPr>
              <a:xfrm>
                <a:off x="947523" y="4812042"/>
                <a:ext cx="143109" cy="157627"/>
              </a:xfrm>
              <a:custGeom>
                <a:avLst/>
                <a:gdLst/>
                <a:ahLst/>
                <a:cxnLst/>
                <a:rect l="l" t="t" r="r" b="b"/>
                <a:pathLst>
                  <a:path w="143109" h="157627">
                    <a:moveTo>
                      <a:pt x="143089" y="71902"/>
                    </a:moveTo>
                    <a:cubicBezTo>
                      <a:pt x="143109" y="93835"/>
                      <a:pt x="133034" y="114556"/>
                      <a:pt x="115773" y="128087"/>
                    </a:cubicBezTo>
                    <a:cubicBezTo>
                      <a:pt x="110502" y="132173"/>
                      <a:pt x="107403" y="138456"/>
                      <a:pt x="107371" y="145125"/>
                    </a:cubicBezTo>
                    <a:lnTo>
                      <a:pt x="107371" y="150483"/>
                    </a:lnTo>
                    <a:cubicBezTo>
                      <a:pt x="107371" y="154429"/>
                      <a:pt x="104172" y="157627"/>
                      <a:pt x="100227" y="157627"/>
                    </a:cubicBezTo>
                    <a:lnTo>
                      <a:pt x="43077" y="157627"/>
                    </a:lnTo>
                    <a:cubicBezTo>
                      <a:pt x="39131" y="157627"/>
                      <a:pt x="35933" y="154429"/>
                      <a:pt x="35933" y="150483"/>
                    </a:cubicBezTo>
                    <a:lnTo>
                      <a:pt x="35933" y="145125"/>
                    </a:lnTo>
                    <a:cubicBezTo>
                      <a:pt x="35926" y="138493"/>
                      <a:pt x="32862" y="132233"/>
                      <a:pt x="27628" y="128159"/>
                    </a:cubicBezTo>
                    <a:cubicBezTo>
                      <a:pt x="10423" y="114718"/>
                      <a:pt x="321" y="94137"/>
                      <a:pt x="214" y="72304"/>
                    </a:cubicBezTo>
                    <a:cubicBezTo>
                      <a:pt x="0" y="33585"/>
                      <a:pt x="31218" y="1357"/>
                      <a:pt x="69928" y="464"/>
                    </a:cubicBezTo>
                    <a:cubicBezTo>
                      <a:pt x="89172" y="0"/>
                      <a:pt x="107788" y="7321"/>
                      <a:pt x="121560" y="20769"/>
                    </a:cubicBezTo>
                    <a:cubicBezTo>
                      <a:pt x="135332" y="34217"/>
                      <a:pt x="143095" y="52653"/>
                      <a:pt x="143089" y="71902"/>
                    </a:cubicBezTo>
                    <a:close/>
                  </a:path>
                </a:pathLst>
              </a:custGeom>
              <a:solidFill>
                <a:srgbClr val="C8963E">
                  <a:alpha val="20000"/>
                </a:srgbClr>
              </a:solidFill>
              <a:ln>
                <a:noFill/>
              </a:ln>
            </p:spPr>
          </p:sp>
          <p:sp>
            <p:nvSpPr>
              <p:cNvPr id="54" name="Freeform 54"/>
              <p:cNvSpPr/>
              <p:nvPr/>
            </p:nvSpPr>
            <p:spPr>
              <a:xfrm>
                <a:off x="940362" y="4804852"/>
                <a:ext cx="157457" cy="200535"/>
              </a:xfrm>
              <a:custGeom>
                <a:avLst/>
                <a:gdLst/>
                <a:ahLst/>
                <a:cxnLst/>
                <a:rect l="l" t="t" r="r" b="b"/>
                <a:pathLst>
                  <a:path w="157457" h="200535">
                    <a:moveTo>
                      <a:pt x="121676" y="193391"/>
                    </a:moveTo>
                    <a:cubicBezTo>
                      <a:pt x="121676" y="197337"/>
                      <a:pt x="118478" y="200535"/>
                      <a:pt x="114532" y="200535"/>
                    </a:cubicBezTo>
                    <a:lnTo>
                      <a:pt x="43095" y="200535"/>
                    </a:lnTo>
                    <a:cubicBezTo>
                      <a:pt x="39149" y="200535"/>
                      <a:pt x="35951" y="197337"/>
                      <a:pt x="35951" y="193391"/>
                    </a:cubicBezTo>
                    <a:cubicBezTo>
                      <a:pt x="35951" y="189446"/>
                      <a:pt x="39149" y="186248"/>
                      <a:pt x="43095" y="186248"/>
                    </a:cubicBezTo>
                    <a:lnTo>
                      <a:pt x="114532" y="186248"/>
                    </a:lnTo>
                    <a:cubicBezTo>
                      <a:pt x="118478" y="186248"/>
                      <a:pt x="121676" y="189446"/>
                      <a:pt x="121676" y="193391"/>
                    </a:cubicBezTo>
                    <a:close/>
                    <a:moveTo>
                      <a:pt x="157395" y="79091"/>
                    </a:moveTo>
                    <a:cubicBezTo>
                      <a:pt x="157457" y="103224"/>
                      <a:pt x="146370" y="126034"/>
                      <a:pt x="127355" y="140894"/>
                    </a:cubicBezTo>
                    <a:cubicBezTo>
                      <a:pt x="123800" y="143619"/>
                      <a:pt x="121703" y="147835"/>
                      <a:pt x="121676" y="152315"/>
                    </a:cubicBezTo>
                    <a:lnTo>
                      <a:pt x="121676" y="157673"/>
                    </a:lnTo>
                    <a:cubicBezTo>
                      <a:pt x="121676" y="165563"/>
                      <a:pt x="115279" y="171960"/>
                      <a:pt x="107388" y="171960"/>
                    </a:cubicBezTo>
                    <a:lnTo>
                      <a:pt x="50238" y="171960"/>
                    </a:lnTo>
                    <a:cubicBezTo>
                      <a:pt x="42348" y="171960"/>
                      <a:pt x="35951" y="165563"/>
                      <a:pt x="35951" y="157673"/>
                    </a:cubicBezTo>
                    <a:lnTo>
                      <a:pt x="35951" y="152315"/>
                    </a:lnTo>
                    <a:cubicBezTo>
                      <a:pt x="35948" y="147888"/>
                      <a:pt x="33893" y="143713"/>
                      <a:pt x="30388" y="141010"/>
                    </a:cubicBezTo>
                    <a:cubicBezTo>
                      <a:pt x="11422" y="126239"/>
                      <a:pt x="302" y="103568"/>
                      <a:pt x="232" y="79529"/>
                    </a:cubicBezTo>
                    <a:cubicBezTo>
                      <a:pt x="0" y="36970"/>
                      <a:pt x="34397" y="1528"/>
                      <a:pt x="76920" y="510"/>
                    </a:cubicBezTo>
                    <a:cubicBezTo>
                      <a:pt x="98087" y="0"/>
                      <a:pt x="118565" y="8053"/>
                      <a:pt x="133714" y="22846"/>
                    </a:cubicBezTo>
                    <a:cubicBezTo>
                      <a:pt x="148862" y="37638"/>
                      <a:pt x="157401" y="57918"/>
                      <a:pt x="157395" y="79091"/>
                    </a:cubicBezTo>
                    <a:close/>
                    <a:moveTo>
                      <a:pt x="143107" y="79091"/>
                    </a:moveTo>
                    <a:cubicBezTo>
                      <a:pt x="143112" y="61767"/>
                      <a:pt x="136126" y="45174"/>
                      <a:pt x="123730" y="33071"/>
                    </a:cubicBezTo>
                    <a:cubicBezTo>
                      <a:pt x="111334" y="20967"/>
                      <a:pt x="94579" y="14379"/>
                      <a:pt x="77260" y="14798"/>
                    </a:cubicBezTo>
                    <a:cubicBezTo>
                      <a:pt x="42434" y="15619"/>
                      <a:pt x="14332" y="44614"/>
                      <a:pt x="14520" y="79440"/>
                    </a:cubicBezTo>
                    <a:cubicBezTo>
                      <a:pt x="14586" y="99100"/>
                      <a:pt x="23687" y="117638"/>
                      <a:pt x="39201" y="129714"/>
                    </a:cubicBezTo>
                    <a:cubicBezTo>
                      <a:pt x="46176" y="135136"/>
                      <a:pt x="50251" y="143480"/>
                      <a:pt x="50238" y="152315"/>
                    </a:cubicBezTo>
                    <a:lnTo>
                      <a:pt x="50238" y="157673"/>
                    </a:lnTo>
                    <a:lnTo>
                      <a:pt x="107388" y="157673"/>
                    </a:lnTo>
                    <a:lnTo>
                      <a:pt x="107388" y="152315"/>
                    </a:lnTo>
                    <a:cubicBezTo>
                      <a:pt x="107409" y="143455"/>
                      <a:pt x="111518" y="135101"/>
                      <a:pt x="118524" y="129678"/>
                    </a:cubicBezTo>
                    <a:cubicBezTo>
                      <a:pt x="134088" y="117515"/>
                      <a:pt x="143161" y="98844"/>
                      <a:pt x="143107" y="79091"/>
                    </a:cubicBezTo>
                    <a:close/>
                    <a:moveTo>
                      <a:pt x="128721" y="70751"/>
                    </a:moveTo>
                    <a:cubicBezTo>
                      <a:pt x="124928" y="49559"/>
                      <a:pt x="108337" y="32973"/>
                      <a:pt x="87145" y="29183"/>
                    </a:cubicBezTo>
                    <a:cubicBezTo>
                      <a:pt x="83254" y="28527"/>
                      <a:pt x="79568" y="31150"/>
                      <a:pt x="78912" y="35041"/>
                    </a:cubicBezTo>
                    <a:cubicBezTo>
                      <a:pt x="78256" y="38932"/>
                      <a:pt x="80878" y="42618"/>
                      <a:pt x="84770" y="43274"/>
                    </a:cubicBezTo>
                    <a:cubicBezTo>
                      <a:pt x="99566" y="45766"/>
                      <a:pt x="112121" y="58321"/>
                      <a:pt x="114630" y="73144"/>
                    </a:cubicBezTo>
                    <a:cubicBezTo>
                      <a:pt x="115214" y="76580"/>
                      <a:pt x="118191" y="79093"/>
                      <a:pt x="121676" y="79091"/>
                    </a:cubicBezTo>
                    <a:cubicBezTo>
                      <a:pt x="122080" y="79089"/>
                      <a:pt x="122483" y="79056"/>
                      <a:pt x="122881" y="78993"/>
                    </a:cubicBezTo>
                    <a:cubicBezTo>
                      <a:pt x="126770" y="78329"/>
                      <a:pt x="129384" y="74640"/>
                      <a:pt x="128721" y="70751"/>
                    </a:cubicBezTo>
                    <a:close/>
                  </a:path>
                </a:pathLst>
              </a:custGeom>
              <a:solidFill>
                <a:srgbClr val="C8963E"/>
              </a:solidFill>
              <a:ln>
                <a:noFill/>
              </a:ln>
            </p:spPr>
          </p:sp>
        </p:grpSp>
        <p:sp>
          <p:nvSpPr>
            <p:cNvPr id="56" name="TextBox 56"/>
            <p:cNvSpPr txBox="1"/>
            <p:nvPr/>
          </p:nvSpPr>
          <p:spPr>
            <a:xfrm>
              <a:off x="1221105" y="4759642"/>
              <a:ext cx="7901273" cy="274320"/>
            </a:xfrm>
            <a:prstGeom prst="rect">
              <a:avLst/>
            </a:prstGeom>
            <a:noFill/>
            <a:ln>
              <a:noFill/>
            </a:ln>
          </p:spPr>
          <p:txBody>
            <a:bodyPr wrap="none" lIns="0" tIns="0" rIns="0" bIns="0" anchor="t" anchorCtr="0">
              <a:spAutoFit/>
            </a:bodyPr>
            <a:lstStyle/>
            <a:p>
              <a:pPr algn="l"/>
              <a:r>
                <a:rPr lang="zh-CN" sz="1350" b="1" dirty="0">
                  <a:solidFill>
                    <a:srgbClr val="1A3A5C"/>
                  </a:solidFill>
                  <a:latin typeface="Arial" panose="020B0604020202020204"/>
                  <a:ea typeface="微软雅黑" panose="020B0503020204020204" charset="-122"/>
                  <a:cs typeface="Arial" panose="020B0604020202020204"/>
                </a:rPr>
                <a:t>本报告的问题：数字经济背景下，文化供给扩张能否重新转化为游客恢复和文旅消费？</a:t>
              </a:r>
              <a:endParaRPr lang="zh-CN" sz="1350" b="1" dirty="0">
                <a:solidFill>
                  <a:srgbClr val="1A3A5C"/>
                </a:solidFill>
                <a:latin typeface="Arial" panose="020B0604020202020204"/>
                <a:ea typeface="微软雅黑" panose="020B0503020204020204" charset="-122"/>
                <a:cs typeface="Arial" panose="020B0604020202020204"/>
              </a:endParaRPr>
            </a:p>
          </p:txBody>
        </p:sp>
      </p:grpSp>
      <p:grpSp>
        <p:nvGrpSpPr>
          <p:cNvPr id="60" name="Group 60"/>
          <p:cNvGrpSpPr/>
          <p:nvPr/>
        </p:nvGrpSpPr>
        <p:grpSpPr>
          <a:xfrm>
            <a:off x="560070" y="6522720"/>
            <a:ext cx="11070908" cy="182880"/>
            <a:chOff x="560070" y="6522720"/>
            <a:chExt cx="11070908" cy="182880"/>
          </a:xfrm>
        </p:grpSpPr>
        <p:sp>
          <p:nvSpPr>
            <p:cNvPr id="58" name="TextBox 58"/>
            <p:cNvSpPr txBox="1"/>
            <p:nvPr/>
          </p:nvSpPr>
          <p:spPr>
            <a:xfrm>
              <a:off x="560070" y="6522720"/>
              <a:ext cx="3328702" cy="182880"/>
            </a:xfrm>
            <a:prstGeom prst="rect">
              <a:avLst/>
            </a:prstGeom>
            <a:noFill/>
            <a:ln>
              <a:noFill/>
            </a:ln>
          </p:spPr>
          <p:txBody>
            <a:bodyPr wrap="none" lIns="0" tIns="0" rIns="0" bIns="0" anchor="t" anchorCtr="0">
              <a:spAutoFit/>
            </a:bodyPr>
            <a:lstStyle/>
            <a:p>
              <a:pPr algn="l"/>
              <a:r>
                <a:rPr lang="zh-CN" sz="900" dirty="0">
                  <a:solidFill>
                    <a:srgbClr val="9CA3AF"/>
                  </a:solidFill>
                  <a:latin typeface="Arial" panose="020B0604020202020204"/>
                  <a:ea typeface="微软雅黑" panose="020B0503020204020204" charset="-122"/>
                  <a:cs typeface="Arial" panose="020B0604020202020204"/>
                </a:rPr>
                <a:t>Source: 国家统计局国家数据、中国统计年鉴；团队计算</a:t>
              </a:r>
              <a:endParaRPr lang="zh-CN" sz="900" dirty="0">
                <a:solidFill>
                  <a:srgbClr val="9CA3AF"/>
                </a:solidFill>
                <a:latin typeface="Arial" panose="020B0604020202020204"/>
                <a:ea typeface="微软雅黑" panose="020B0503020204020204" charset="-122"/>
                <a:cs typeface="Arial" panose="020B0604020202020204"/>
              </a:endParaRPr>
            </a:p>
          </p:txBody>
        </p:sp>
        <p:sp>
          <p:nvSpPr>
            <p:cNvPr id="59" name="TextBox 59"/>
            <p:cNvSpPr txBox="1"/>
            <p:nvPr/>
          </p:nvSpPr>
          <p:spPr>
            <a:xfrm>
              <a:off x="11236500" y="6530816"/>
              <a:ext cx="394478"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panose="020B0604020202020204"/>
                  <a:ea typeface="微软雅黑" panose="020B0503020204020204" charset="-122"/>
                  <a:cs typeface="Arial" panose="020B0604020202020204"/>
                </a:rPr>
                <a:t>02 / 12</a:t>
              </a:r>
              <a:endParaRPr lang="zh-CN" sz="825" dirty="0">
                <a:solidFill>
                  <a:srgbClr val="9CA3AF"/>
                </a:solidFill>
                <a:latin typeface="Arial" panose="020B0604020202020204"/>
                <a:ea typeface="微软雅黑" panose="020B0503020204020204" charset="-122"/>
                <a:cs typeface="Arial" panose="020B0604020202020204"/>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400"/>
                                        <p:tgtEl>
                                          <p:spTgt spid="29"/>
                                        </p:tgtEl>
                                      </p:cBhvr>
                                    </p:animEffect>
                                  </p:childTnLst>
                                </p:cTn>
                              </p:par>
                            </p:childTnLst>
                          </p:cTn>
                        </p:par>
                        <p:par>
                          <p:cTn id="8" fill="hold">
                            <p:stCondLst>
                              <p:cond delay="500"/>
                            </p:stCondLst>
                            <p:childTnLst>
                              <p:par>
                                <p:cTn id="9" presetID="5" presetClass="entr" presetSubtype="5" fill="hold" nodeType="afterEffect">
                                  <p:stCondLst>
                                    <p:cond delay="0"/>
                                  </p:stCondLst>
                                  <p:childTnLst>
                                    <p:set>
                                      <p:cBhvr>
                                        <p:cTn id="10" dur="1" fill="hold">
                                          <p:stCondLst>
                                            <p:cond delay="0"/>
                                          </p:stCondLst>
                                        </p:cTn>
                                        <p:tgtEl>
                                          <p:spTgt spid="46"/>
                                        </p:tgtEl>
                                        <p:attrNameLst>
                                          <p:attrName>style.visibility</p:attrName>
                                        </p:attrNameLst>
                                      </p:cBhvr>
                                      <p:to>
                                        <p:strVal val="visible"/>
                                      </p:to>
                                    </p:set>
                                    <p:animEffect transition="in" filter="checkerboard(across)">
                                      <p:cBhvr>
                                        <p:cTn id="11" dur="400"/>
                                        <p:tgtEl>
                                          <p:spTgt spid="46"/>
                                        </p:tgtEl>
                                      </p:cBhvr>
                                    </p:animEffect>
                                  </p:childTnLst>
                                </p:cTn>
                              </p:par>
                            </p:childTnLst>
                          </p:cTn>
                        </p:par>
                        <p:par>
                          <p:cTn id="12" fill="hold">
                            <p:stCondLst>
                              <p:cond delay="1000"/>
                            </p:stCondLst>
                            <p:childTnLst>
                              <p:par>
                                <p:cTn id="13" presetID="2" presetClass="entr" presetSubtype="4" fill="hold" nodeType="afterEffect">
                                  <p:stCondLst>
                                    <p:cond delay="0"/>
                                  </p:stCondLst>
                                  <p:childTnLst>
                                    <p:set>
                                      <p:cBhvr>
                                        <p:cTn id="14" dur="1" fill="hold">
                                          <p:stCondLst>
                                            <p:cond delay="0"/>
                                          </p:stCondLst>
                                        </p:cTn>
                                        <p:tgtEl>
                                          <p:spTgt spid="57"/>
                                        </p:tgtEl>
                                        <p:attrNameLst>
                                          <p:attrName>style.visibility</p:attrName>
                                        </p:attrNameLst>
                                      </p:cBhvr>
                                      <p:to>
                                        <p:strVal val="visible"/>
                                      </p:to>
                                    </p:set>
                                    <p:animEffect transition="in" filter="slide(fromBottom)">
                                      <p:cBhvr>
                                        <p:cTn id="15" dur="4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46" grpId="0"/>
      <p:bldP spid="5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A"/>
          </a:solidFill>
          <a:ln>
            <a:noFill/>
          </a:ln>
        </p:spPr>
      </p:sp>
      <p:grpSp>
        <p:nvGrpSpPr>
          <p:cNvPr id="6" name="Group 6"/>
          <p:cNvGrpSpPr/>
          <p:nvPr/>
        </p:nvGrpSpPr>
        <p:grpSpPr>
          <a:xfrm>
            <a:off x="571500" y="280988"/>
            <a:ext cx="8109156" cy="561974"/>
            <a:chOff x="571500" y="280988"/>
            <a:chExt cx="8109156" cy="561974"/>
          </a:xfrm>
        </p:grpSpPr>
        <p:sp>
          <p:nvSpPr>
            <p:cNvPr id="3" name="Rectangle 3"/>
            <p:cNvSpPr/>
            <p:nvPr/>
          </p:nvSpPr>
          <p:spPr>
            <a:xfrm>
              <a:off x="571500" y="285750"/>
              <a:ext cx="38100" cy="342900"/>
            </a:xfrm>
            <a:prstGeom prst="rect">
              <a:avLst/>
            </a:prstGeom>
            <a:solidFill>
              <a:srgbClr val="1A3A5C"/>
            </a:solidFill>
            <a:ln>
              <a:noFill/>
            </a:ln>
          </p:spPr>
        </p:sp>
        <p:sp>
          <p:nvSpPr>
            <p:cNvPr id="4" name="TextBox 4"/>
            <p:cNvSpPr txBox="1"/>
            <p:nvPr/>
          </p:nvSpPr>
          <p:spPr>
            <a:xfrm>
              <a:off x="733425" y="280988"/>
              <a:ext cx="7751612" cy="457200"/>
            </a:xfrm>
            <a:prstGeom prst="rect">
              <a:avLst/>
            </a:prstGeom>
            <a:noFill/>
            <a:ln>
              <a:noFill/>
            </a:ln>
          </p:spPr>
          <p:txBody>
            <a:bodyPr wrap="none" lIns="0" tIns="0" rIns="0" bIns="0" anchor="t" anchorCtr="0">
              <a:spAutoFit/>
            </a:bodyPr>
            <a:lstStyle/>
            <a:p>
              <a:pPr algn="l"/>
              <a:r>
                <a:rPr lang="zh-CN" sz="2250" b="1" dirty="0">
                  <a:solidFill>
                    <a:srgbClr val="1A3A5C"/>
                  </a:solidFill>
                  <a:latin typeface="Georgia" panose="02040502050405020303"/>
                  <a:ea typeface="楷体" panose="02010609060101010101" charset="-122"/>
                  <a:cs typeface="Georgia" panose="02040502050405020303"/>
                </a:rPr>
                <a:t>数据来源与指标口径：构造 2014-2023 年离散点集</a:t>
              </a:r>
              <a:endParaRPr lang="zh-CN" sz="2250" b="1" dirty="0">
                <a:solidFill>
                  <a:srgbClr val="1A3A5C"/>
                </a:solidFill>
                <a:latin typeface="Georgia" panose="02040502050405020303"/>
                <a:ea typeface="楷体" panose="02010609060101010101" charset="-122"/>
                <a:cs typeface="Georgia" panose="02040502050405020303"/>
              </a:endParaRPr>
            </a:p>
          </p:txBody>
        </p:sp>
        <p:sp>
          <p:nvSpPr>
            <p:cNvPr id="5" name="TextBox 5"/>
            <p:cNvSpPr txBox="1"/>
            <p:nvPr/>
          </p:nvSpPr>
          <p:spPr>
            <a:xfrm>
              <a:off x="748665" y="629602"/>
              <a:ext cx="7931991"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panose="020B0604020202020204"/>
                  <a:ea typeface="微软雅黑" panose="020B0503020204020204" charset="-122"/>
                  <a:cs typeface="Arial" panose="020B0604020202020204"/>
                </a:rPr>
                <a:t>所有指标统一为年度全国数据；旅游指标来自国家统计局公开年鉴/数据平台，博物馆数按全国备案博物馆口径整理。</a:t>
              </a:r>
              <a:endParaRPr lang="zh-CN" sz="1050" dirty="0">
                <a:solidFill>
                  <a:srgbClr val="6B7280"/>
                </a:solidFill>
                <a:latin typeface="Arial" panose="020B0604020202020204"/>
                <a:ea typeface="微软雅黑" panose="020B0503020204020204" charset="-122"/>
                <a:cs typeface="Arial" panose="020B0604020202020204"/>
              </a:endParaRPr>
            </a:p>
          </p:txBody>
        </p:sp>
      </p:grpSp>
      <p:grpSp>
        <p:nvGrpSpPr>
          <p:cNvPr id="36" name="Group 36"/>
          <p:cNvGrpSpPr/>
          <p:nvPr/>
        </p:nvGrpSpPr>
        <p:grpSpPr>
          <a:xfrm>
            <a:off x="571500" y="1095375"/>
            <a:ext cx="11049000" cy="2571750"/>
            <a:chOff x="571500" y="1095375"/>
            <a:chExt cx="11049000" cy="2571750"/>
          </a:xfrm>
        </p:grpSpPr>
        <p:sp>
          <p:nvSpPr>
            <p:cNvPr id="7" name="Rectangle 7"/>
            <p:cNvSpPr/>
            <p:nvPr/>
          </p:nvSpPr>
          <p:spPr>
            <a:xfrm>
              <a:off x="571500" y="1095375"/>
              <a:ext cx="11049000" cy="2571750"/>
            </a:xfrm>
            <a:prstGeom prst="roundRect">
              <a:avLst>
                <a:gd name="adj" fmla="val 2222"/>
              </a:avLst>
            </a:prstGeom>
            <a:solidFill>
              <a:srgbClr val="FFFFFF"/>
            </a:solidFill>
            <a:ln w="14288">
              <a:solidFill>
                <a:srgbClr val="D1D5DB"/>
              </a:solidFill>
            </a:ln>
            <a:effectLst>
              <a:outerShdw blurRad="76200" dist="19050" dir="5400000" algn="ctr" rotWithShape="0">
                <a:srgbClr val="0F172A">
                  <a:alpha val="3750"/>
                </a:srgbClr>
              </a:outerShdw>
            </a:effectLst>
          </p:spPr>
        </p:sp>
        <p:sp>
          <p:nvSpPr>
            <p:cNvPr id="8" name="Rectangle 8"/>
            <p:cNvSpPr/>
            <p:nvPr/>
          </p:nvSpPr>
          <p:spPr>
            <a:xfrm>
              <a:off x="571500" y="1095375"/>
              <a:ext cx="11049000" cy="457200"/>
            </a:xfrm>
            <a:prstGeom prst="roundRect">
              <a:avLst>
                <a:gd name="adj" fmla="val 12500"/>
              </a:avLst>
            </a:prstGeom>
            <a:solidFill>
              <a:srgbClr val="1A3A5C"/>
            </a:solidFill>
            <a:ln>
              <a:noFill/>
            </a:ln>
          </p:spPr>
        </p:sp>
        <p:sp>
          <p:nvSpPr>
            <p:cNvPr id="9" name="Rectangle 9"/>
            <p:cNvSpPr/>
            <p:nvPr/>
          </p:nvSpPr>
          <p:spPr>
            <a:xfrm>
              <a:off x="571500" y="1323975"/>
              <a:ext cx="11049000" cy="228600"/>
            </a:xfrm>
            <a:prstGeom prst="rect">
              <a:avLst/>
            </a:prstGeom>
            <a:solidFill>
              <a:srgbClr val="1A3A5C"/>
            </a:solidFill>
            <a:ln>
              <a:noFill/>
            </a:ln>
          </p:spPr>
        </p:sp>
        <p:sp>
          <p:nvSpPr>
            <p:cNvPr id="10" name="TextBox 10"/>
            <p:cNvSpPr txBox="1"/>
            <p:nvPr/>
          </p:nvSpPr>
          <p:spPr>
            <a:xfrm>
              <a:off x="748665" y="1267778"/>
              <a:ext cx="348710"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Arial" panose="020B0604020202020204"/>
                  <a:ea typeface="微软雅黑" panose="020B0503020204020204" charset="-122"/>
                  <a:cs typeface="Arial" panose="020B0604020202020204"/>
                </a:rPr>
                <a:t>指标</a:t>
              </a:r>
              <a:endParaRPr lang="zh-CN" sz="1050" b="1" dirty="0">
                <a:solidFill>
                  <a:srgbClr val="FFFFFF"/>
                </a:solidFill>
                <a:latin typeface="Arial" panose="020B0604020202020204"/>
                <a:ea typeface="微软雅黑" panose="020B0503020204020204" charset="-122"/>
                <a:cs typeface="Arial" panose="020B0604020202020204"/>
              </a:endParaRPr>
            </a:p>
          </p:txBody>
        </p:sp>
        <p:sp>
          <p:nvSpPr>
            <p:cNvPr id="11" name="TextBox 11"/>
            <p:cNvSpPr txBox="1"/>
            <p:nvPr/>
          </p:nvSpPr>
          <p:spPr>
            <a:xfrm>
              <a:off x="2463165" y="1267778"/>
              <a:ext cx="348710"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Arial" panose="020B0604020202020204"/>
                  <a:ea typeface="微软雅黑" panose="020B0503020204020204" charset="-122"/>
                  <a:cs typeface="Arial" panose="020B0604020202020204"/>
                </a:rPr>
                <a:t>单位</a:t>
              </a:r>
              <a:endParaRPr lang="zh-CN" sz="1050" b="1" dirty="0">
                <a:solidFill>
                  <a:srgbClr val="FFFFFF"/>
                </a:solidFill>
                <a:latin typeface="Arial" panose="020B0604020202020204"/>
                <a:ea typeface="微软雅黑" panose="020B0503020204020204" charset="-122"/>
                <a:cs typeface="Arial" panose="020B0604020202020204"/>
              </a:endParaRPr>
            </a:p>
          </p:txBody>
        </p:sp>
        <p:sp>
          <p:nvSpPr>
            <p:cNvPr id="12" name="TextBox 12"/>
            <p:cNvSpPr txBox="1"/>
            <p:nvPr/>
          </p:nvSpPr>
          <p:spPr>
            <a:xfrm>
              <a:off x="3701415" y="1267778"/>
              <a:ext cx="670750"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Arial" panose="020B0604020202020204"/>
                  <a:ea typeface="微软雅黑" panose="020B0503020204020204" charset="-122"/>
                  <a:cs typeface="Arial" panose="020B0604020202020204"/>
                </a:rPr>
                <a:t>社会含义</a:t>
              </a:r>
              <a:endParaRPr lang="zh-CN" sz="1050" b="1" dirty="0">
                <a:solidFill>
                  <a:srgbClr val="FFFFFF"/>
                </a:solidFill>
                <a:latin typeface="Arial" panose="020B0604020202020204"/>
                <a:ea typeface="微软雅黑" panose="020B0503020204020204" charset="-122"/>
                <a:cs typeface="Arial" panose="020B0604020202020204"/>
              </a:endParaRPr>
            </a:p>
          </p:txBody>
        </p:sp>
        <p:sp>
          <p:nvSpPr>
            <p:cNvPr id="13" name="TextBox 13"/>
            <p:cNvSpPr txBox="1"/>
            <p:nvPr/>
          </p:nvSpPr>
          <p:spPr>
            <a:xfrm>
              <a:off x="8368665" y="1267778"/>
              <a:ext cx="670750"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Arial" panose="020B0604020202020204"/>
                  <a:ea typeface="微软雅黑" panose="020B0503020204020204" charset="-122"/>
                  <a:cs typeface="Arial" panose="020B0604020202020204"/>
                </a:rPr>
                <a:t>处理链路</a:t>
              </a:r>
              <a:endParaRPr lang="zh-CN" sz="1050" b="1" dirty="0">
                <a:solidFill>
                  <a:srgbClr val="FFFFFF"/>
                </a:solidFill>
                <a:latin typeface="Arial" panose="020B0604020202020204"/>
                <a:ea typeface="微软雅黑" panose="020B0503020204020204" charset="-122"/>
                <a:cs typeface="Arial" panose="020B0604020202020204"/>
              </a:endParaRPr>
            </a:p>
          </p:txBody>
        </p:sp>
        <p:sp>
          <p:nvSpPr>
            <p:cNvPr id="14" name="TextBox 14"/>
            <p:cNvSpPr txBox="1"/>
            <p:nvPr/>
          </p:nvSpPr>
          <p:spPr>
            <a:xfrm>
              <a:off x="10808875" y="1267778"/>
              <a:ext cx="348710" cy="213360"/>
            </a:xfrm>
            <a:prstGeom prst="rect">
              <a:avLst/>
            </a:prstGeom>
            <a:noFill/>
            <a:ln>
              <a:noFill/>
            </a:ln>
          </p:spPr>
          <p:txBody>
            <a:bodyPr wrap="none" lIns="0" tIns="0" rIns="0" bIns="0" anchor="t" anchorCtr="0">
              <a:spAutoFit/>
            </a:bodyPr>
            <a:lstStyle/>
            <a:p>
              <a:pPr algn="r"/>
              <a:r>
                <a:rPr lang="zh-CN" sz="1050" b="1" dirty="0">
                  <a:solidFill>
                    <a:srgbClr val="FFFFFF"/>
                  </a:solidFill>
                  <a:latin typeface="Arial" panose="020B0604020202020204"/>
                  <a:ea typeface="微软雅黑" panose="020B0503020204020204" charset="-122"/>
                  <a:cs typeface="Arial" panose="020B0604020202020204"/>
                </a:rPr>
                <a:t>序号</a:t>
              </a:r>
              <a:endParaRPr lang="zh-CN" sz="1050" b="1" dirty="0">
                <a:solidFill>
                  <a:srgbClr val="FFFFFF"/>
                </a:solidFill>
                <a:latin typeface="Arial" panose="020B0604020202020204"/>
                <a:ea typeface="微软雅黑" panose="020B0503020204020204" charset="-122"/>
                <a:cs typeface="Arial" panose="020B0604020202020204"/>
              </a:endParaRPr>
            </a:p>
          </p:txBody>
        </p:sp>
        <p:sp>
          <p:nvSpPr>
            <p:cNvPr id="15" name="Line 15"/>
            <p:cNvSpPr/>
            <p:nvPr/>
          </p:nvSpPr>
          <p:spPr>
            <a:xfrm>
              <a:off x="571500" y="1552575"/>
              <a:ext cx="11049000" cy="9525"/>
            </a:xfrm>
            <a:custGeom>
              <a:avLst/>
              <a:gdLst/>
              <a:ahLst/>
              <a:cxnLst/>
              <a:rect l="l" t="t" r="r" b="b"/>
              <a:pathLst>
                <a:path w="11049000" h="9525">
                  <a:moveTo>
                    <a:pt x="0" y="0"/>
                  </a:moveTo>
                  <a:lnTo>
                    <a:pt x="11049000" y="0"/>
                  </a:lnTo>
                </a:path>
              </a:pathLst>
            </a:custGeom>
            <a:noFill/>
            <a:ln w="9525">
              <a:solidFill>
                <a:srgbClr val="D1D5DB"/>
              </a:solidFill>
            </a:ln>
          </p:spPr>
        </p:sp>
        <p:sp>
          <p:nvSpPr>
            <p:cNvPr id="16" name="Rectangle 16"/>
            <p:cNvSpPr/>
            <p:nvPr/>
          </p:nvSpPr>
          <p:spPr>
            <a:xfrm>
              <a:off x="571500" y="1552575"/>
              <a:ext cx="11049000" cy="704850"/>
            </a:xfrm>
            <a:prstGeom prst="rect">
              <a:avLst/>
            </a:prstGeom>
            <a:solidFill>
              <a:srgbClr val="FAFAFA"/>
            </a:solidFill>
            <a:ln>
              <a:noFill/>
            </a:ln>
          </p:spPr>
        </p:sp>
        <p:sp>
          <p:nvSpPr>
            <p:cNvPr id="17" name="TextBox 17"/>
            <p:cNvSpPr txBox="1"/>
            <p:nvPr/>
          </p:nvSpPr>
          <p:spPr>
            <a:xfrm>
              <a:off x="746760" y="1651635"/>
              <a:ext cx="950595" cy="243840"/>
            </a:xfrm>
            <a:prstGeom prst="rect">
              <a:avLst/>
            </a:prstGeom>
            <a:noFill/>
            <a:ln>
              <a:noFill/>
            </a:ln>
          </p:spPr>
          <p:txBody>
            <a:bodyPr wrap="none" lIns="0" tIns="0" rIns="0" bIns="0" anchor="t" anchorCtr="0">
              <a:spAutoFit/>
            </a:bodyPr>
            <a:lstStyle/>
            <a:p>
              <a:pPr algn="l"/>
              <a:r>
                <a:rPr lang="zh-CN" sz="1200" b="1" dirty="0">
                  <a:solidFill>
                    <a:srgbClr val="1A3A5C"/>
                  </a:solidFill>
                  <a:latin typeface="Arial" panose="020B0604020202020204"/>
                  <a:ea typeface="微软雅黑" panose="020B0503020204020204" charset="-122"/>
                  <a:cs typeface="Arial" panose="020B0604020202020204"/>
                </a:rPr>
                <a:t>博物馆数量</a:t>
              </a:r>
              <a:endParaRPr lang="zh-CN" sz="1200" b="1" dirty="0">
                <a:solidFill>
                  <a:srgbClr val="1A3A5C"/>
                </a:solidFill>
                <a:latin typeface="Arial" panose="020B0604020202020204"/>
                <a:ea typeface="微软雅黑" panose="020B0503020204020204" charset="-122"/>
                <a:cs typeface="Arial" panose="020B0604020202020204"/>
              </a:endParaRPr>
            </a:p>
          </p:txBody>
        </p:sp>
        <p:sp>
          <p:nvSpPr>
            <p:cNvPr id="18" name="TextBox 18"/>
            <p:cNvSpPr txBox="1"/>
            <p:nvPr/>
          </p:nvSpPr>
          <p:spPr>
            <a:xfrm>
              <a:off x="2462212" y="1659731"/>
              <a:ext cx="192881" cy="228600"/>
            </a:xfrm>
            <a:prstGeom prst="rect">
              <a:avLst/>
            </a:prstGeom>
            <a:noFill/>
            <a:ln>
              <a:noFill/>
            </a:ln>
          </p:spPr>
          <p:txBody>
            <a:bodyPr wrap="none" lIns="0" tIns="0" rIns="0" bIns="0" anchor="t" anchorCtr="0">
              <a:spAutoFit/>
            </a:bodyPr>
            <a:lstStyle/>
            <a:p>
              <a:pPr algn="l"/>
              <a:r>
                <a:rPr lang="zh-CN" sz="1125" dirty="0">
                  <a:solidFill>
                    <a:srgbClr val="1A1A2E"/>
                  </a:solidFill>
                  <a:latin typeface="Arial" panose="020B0604020202020204"/>
                  <a:ea typeface="微软雅黑" panose="020B0503020204020204" charset="-122"/>
                  <a:cs typeface="Arial" panose="020B0604020202020204"/>
                </a:rPr>
                <a:t>个</a:t>
              </a:r>
              <a:endParaRPr lang="zh-CN" sz="1125" dirty="0">
                <a:solidFill>
                  <a:srgbClr val="1A1A2E"/>
                </a:solidFill>
                <a:latin typeface="Arial" panose="020B0604020202020204"/>
                <a:ea typeface="微软雅黑" panose="020B0503020204020204" charset="-122"/>
                <a:cs typeface="Arial" panose="020B0604020202020204"/>
              </a:endParaRPr>
            </a:p>
          </p:txBody>
        </p:sp>
        <p:sp>
          <p:nvSpPr>
            <p:cNvPr id="19" name="TextBox 19"/>
            <p:cNvSpPr txBox="1"/>
            <p:nvPr/>
          </p:nvSpPr>
          <p:spPr>
            <a:xfrm>
              <a:off x="3701415" y="1667828"/>
              <a:ext cx="4167188"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panose="020B0604020202020204"/>
                  <a:ea typeface="微软雅黑" panose="020B0503020204020204" charset="-122"/>
                  <a:cs typeface="Arial" panose="020B0604020202020204"/>
                </a:rPr>
                <a:t>公共文化设施供给规模，反映文化服务基础和文旅场景扩张。</a:t>
              </a:r>
              <a:endParaRPr lang="zh-CN" sz="1050" dirty="0">
                <a:solidFill>
                  <a:srgbClr val="6B7280"/>
                </a:solidFill>
                <a:latin typeface="Arial" panose="020B0604020202020204"/>
                <a:ea typeface="微软雅黑" panose="020B0503020204020204" charset="-122"/>
                <a:cs typeface="Arial" panose="020B0604020202020204"/>
              </a:endParaRPr>
            </a:p>
          </p:txBody>
        </p:sp>
        <p:sp>
          <p:nvSpPr>
            <p:cNvPr id="20" name="TextBox 20"/>
            <p:cNvSpPr txBox="1"/>
            <p:nvPr/>
          </p:nvSpPr>
          <p:spPr>
            <a:xfrm>
              <a:off x="8368665" y="1667828"/>
              <a:ext cx="1100137" cy="213360"/>
            </a:xfrm>
            <a:prstGeom prst="rect">
              <a:avLst/>
            </a:prstGeom>
            <a:noFill/>
            <a:ln>
              <a:noFill/>
            </a:ln>
          </p:spPr>
          <p:txBody>
            <a:bodyPr wrap="none" lIns="0" tIns="0" rIns="0" bIns="0" anchor="t" anchorCtr="0">
              <a:spAutoFit/>
            </a:bodyPr>
            <a:lstStyle/>
            <a:p>
              <a:pPr algn="l"/>
              <a:r>
                <a:rPr lang="zh-CN" sz="1050" dirty="0">
                  <a:solidFill>
                    <a:srgbClr val="2E6B8F"/>
                  </a:solidFill>
                  <a:latin typeface="Arial" panose="020B0604020202020204"/>
                  <a:ea typeface="微软雅黑" panose="020B0503020204020204" charset="-122"/>
                  <a:cs typeface="Arial" panose="020B0604020202020204"/>
                </a:rPr>
                <a:t>统一年度与单位</a:t>
              </a:r>
              <a:endParaRPr lang="zh-CN" sz="1050" dirty="0">
                <a:solidFill>
                  <a:srgbClr val="2E6B8F"/>
                </a:solidFill>
                <a:latin typeface="Arial" panose="020B0604020202020204"/>
                <a:ea typeface="微软雅黑" panose="020B0503020204020204" charset="-122"/>
                <a:cs typeface="Arial" panose="020B0604020202020204"/>
              </a:endParaRPr>
            </a:p>
          </p:txBody>
        </p:sp>
        <p:sp>
          <p:nvSpPr>
            <p:cNvPr id="21" name="TextBox 21"/>
            <p:cNvSpPr txBox="1"/>
            <p:nvPr/>
          </p:nvSpPr>
          <p:spPr>
            <a:xfrm>
              <a:off x="11160247" y="1635442"/>
              <a:ext cx="96398" cy="274320"/>
            </a:xfrm>
            <a:prstGeom prst="rect">
              <a:avLst/>
            </a:prstGeom>
            <a:noFill/>
            <a:ln>
              <a:noFill/>
            </a:ln>
          </p:spPr>
          <p:txBody>
            <a:bodyPr wrap="none" lIns="0" tIns="0" rIns="0" bIns="0" anchor="t" anchorCtr="0">
              <a:spAutoFit/>
            </a:bodyPr>
            <a:lstStyle/>
            <a:p>
              <a:pPr algn="r"/>
              <a:r>
                <a:rPr lang="zh-CN" sz="1350" b="1" dirty="0">
                  <a:solidFill>
                    <a:srgbClr val="1A3A5C"/>
                  </a:solidFill>
                  <a:latin typeface="Arial" panose="020B0604020202020204"/>
                  <a:ea typeface="微软雅黑" panose="020B0503020204020204" charset="-122"/>
                  <a:cs typeface="Arial" panose="020B0604020202020204"/>
                </a:rPr>
                <a:t>1</a:t>
              </a:r>
              <a:endParaRPr lang="zh-CN" sz="1350" b="1" dirty="0">
                <a:solidFill>
                  <a:srgbClr val="1A3A5C"/>
                </a:solidFill>
                <a:latin typeface="Arial" panose="020B0604020202020204"/>
                <a:ea typeface="微软雅黑" panose="020B0503020204020204" charset="-122"/>
                <a:cs typeface="Arial" panose="020B0604020202020204"/>
              </a:endParaRPr>
            </a:p>
          </p:txBody>
        </p:sp>
        <p:sp>
          <p:nvSpPr>
            <p:cNvPr id="22" name="Line 22"/>
            <p:cNvSpPr/>
            <p:nvPr/>
          </p:nvSpPr>
          <p:spPr>
            <a:xfrm>
              <a:off x="571500" y="2257425"/>
              <a:ext cx="11049000" cy="9525"/>
            </a:xfrm>
            <a:custGeom>
              <a:avLst/>
              <a:gdLst/>
              <a:ahLst/>
              <a:cxnLst/>
              <a:rect l="l" t="t" r="r" b="b"/>
              <a:pathLst>
                <a:path w="11049000" h="9525">
                  <a:moveTo>
                    <a:pt x="0" y="0"/>
                  </a:moveTo>
                  <a:lnTo>
                    <a:pt x="11049000" y="0"/>
                  </a:lnTo>
                </a:path>
              </a:pathLst>
            </a:custGeom>
            <a:noFill/>
            <a:ln w="9525">
              <a:solidFill>
                <a:srgbClr val="E2E8F0"/>
              </a:solidFill>
            </a:ln>
          </p:spPr>
        </p:sp>
        <p:sp>
          <p:nvSpPr>
            <p:cNvPr id="23" name="Rectangle 23"/>
            <p:cNvSpPr/>
            <p:nvPr/>
          </p:nvSpPr>
          <p:spPr>
            <a:xfrm>
              <a:off x="571500" y="2257425"/>
              <a:ext cx="11049000" cy="704850"/>
            </a:xfrm>
            <a:prstGeom prst="rect">
              <a:avLst/>
            </a:prstGeom>
            <a:solidFill>
              <a:srgbClr val="FFFFFF"/>
            </a:solidFill>
            <a:ln>
              <a:noFill/>
            </a:ln>
          </p:spPr>
        </p:sp>
        <p:sp>
          <p:nvSpPr>
            <p:cNvPr id="24" name="TextBox 24"/>
            <p:cNvSpPr txBox="1"/>
            <p:nvPr/>
          </p:nvSpPr>
          <p:spPr>
            <a:xfrm>
              <a:off x="746760" y="2356485"/>
              <a:ext cx="766572" cy="243840"/>
            </a:xfrm>
            <a:prstGeom prst="rect">
              <a:avLst/>
            </a:prstGeom>
            <a:noFill/>
            <a:ln>
              <a:noFill/>
            </a:ln>
          </p:spPr>
          <p:txBody>
            <a:bodyPr wrap="none" lIns="0" tIns="0" rIns="0" bIns="0" anchor="t" anchorCtr="0">
              <a:spAutoFit/>
            </a:bodyPr>
            <a:lstStyle/>
            <a:p>
              <a:pPr algn="l"/>
              <a:r>
                <a:rPr lang="zh-CN" sz="1200" b="1" dirty="0">
                  <a:solidFill>
                    <a:srgbClr val="1A3A5C"/>
                  </a:solidFill>
                  <a:latin typeface="Arial" panose="020B0604020202020204"/>
                  <a:ea typeface="微软雅黑" panose="020B0503020204020204" charset="-122"/>
                  <a:cs typeface="Arial" panose="020B0604020202020204"/>
                </a:rPr>
                <a:t>国内游客</a:t>
              </a:r>
              <a:endParaRPr lang="zh-CN" sz="1200" b="1" dirty="0">
                <a:solidFill>
                  <a:srgbClr val="1A3A5C"/>
                </a:solidFill>
                <a:latin typeface="Arial" panose="020B0604020202020204"/>
                <a:ea typeface="微软雅黑" panose="020B0503020204020204" charset="-122"/>
                <a:cs typeface="Arial" panose="020B0604020202020204"/>
              </a:endParaRPr>
            </a:p>
          </p:txBody>
        </p:sp>
        <p:sp>
          <p:nvSpPr>
            <p:cNvPr id="25" name="TextBox 25"/>
            <p:cNvSpPr txBox="1"/>
            <p:nvPr/>
          </p:nvSpPr>
          <p:spPr>
            <a:xfrm>
              <a:off x="2462212" y="2364581"/>
              <a:ext cx="685800" cy="228600"/>
            </a:xfrm>
            <a:prstGeom prst="rect">
              <a:avLst/>
            </a:prstGeom>
            <a:noFill/>
            <a:ln>
              <a:noFill/>
            </a:ln>
          </p:spPr>
          <p:txBody>
            <a:bodyPr wrap="none" lIns="0" tIns="0" rIns="0" bIns="0" anchor="t" anchorCtr="0">
              <a:spAutoFit/>
            </a:bodyPr>
            <a:lstStyle/>
            <a:p>
              <a:pPr algn="l"/>
              <a:r>
                <a:rPr lang="zh-CN" sz="1125" dirty="0">
                  <a:solidFill>
                    <a:srgbClr val="1A1A2E"/>
                  </a:solidFill>
                  <a:latin typeface="Arial" panose="020B0604020202020204"/>
                  <a:ea typeface="微软雅黑" panose="020B0503020204020204" charset="-122"/>
                  <a:cs typeface="Arial" panose="020B0604020202020204"/>
                </a:rPr>
                <a:t>百万人次</a:t>
              </a:r>
              <a:endParaRPr lang="zh-CN" sz="1125" dirty="0">
                <a:solidFill>
                  <a:srgbClr val="1A1A2E"/>
                </a:solidFill>
                <a:latin typeface="Arial" panose="020B0604020202020204"/>
                <a:ea typeface="微软雅黑" panose="020B0503020204020204" charset="-122"/>
                <a:cs typeface="Arial" panose="020B0604020202020204"/>
              </a:endParaRPr>
            </a:p>
          </p:txBody>
        </p:sp>
        <p:sp>
          <p:nvSpPr>
            <p:cNvPr id="26" name="TextBox 26"/>
            <p:cNvSpPr txBox="1"/>
            <p:nvPr/>
          </p:nvSpPr>
          <p:spPr>
            <a:xfrm>
              <a:off x="3701415" y="2372678"/>
              <a:ext cx="4627245"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panose="020B0604020202020204"/>
                  <a:ea typeface="微软雅黑" panose="020B0503020204020204" charset="-122"/>
                  <a:cs typeface="Arial" panose="020B0604020202020204"/>
                </a:rPr>
                <a:t>文旅需求侧规模，受居民出行意愿、交通条件和公共卫生冲击影响。</a:t>
              </a:r>
              <a:endParaRPr lang="zh-CN" sz="1050" dirty="0">
                <a:solidFill>
                  <a:srgbClr val="6B7280"/>
                </a:solidFill>
                <a:latin typeface="Arial" panose="020B0604020202020204"/>
                <a:ea typeface="微软雅黑" panose="020B0503020204020204" charset="-122"/>
                <a:cs typeface="Arial" panose="020B0604020202020204"/>
              </a:endParaRPr>
            </a:p>
          </p:txBody>
        </p:sp>
        <p:sp>
          <p:nvSpPr>
            <p:cNvPr id="27" name="TextBox 27"/>
            <p:cNvSpPr txBox="1"/>
            <p:nvPr/>
          </p:nvSpPr>
          <p:spPr>
            <a:xfrm>
              <a:off x="8368665" y="2372678"/>
              <a:ext cx="1222820" cy="213360"/>
            </a:xfrm>
            <a:prstGeom prst="rect">
              <a:avLst/>
            </a:prstGeom>
            <a:noFill/>
            <a:ln>
              <a:noFill/>
            </a:ln>
          </p:spPr>
          <p:txBody>
            <a:bodyPr wrap="none" lIns="0" tIns="0" rIns="0" bIns="0" anchor="t" anchorCtr="0">
              <a:spAutoFit/>
            </a:bodyPr>
            <a:lstStyle/>
            <a:p>
              <a:pPr algn="l"/>
              <a:r>
                <a:rPr lang="zh-CN" sz="1050" dirty="0">
                  <a:solidFill>
                    <a:srgbClr val="2E6B8F"/>
                  </a:solidFill>
                  <a:latin typeface="Arial" panose="020B0604020202020204"/>
                  <a:ea typeface="微软雅黑" panose="020B0503020204020204" charset="-122"/>
                  <a:cs typeface="Arial" panose="020B0604020202020204"/>
                </a:rPr>
                <a:t>标注 2020 年冲击</a:t>
              </a:r>
              <a:endParaRPr lang="zh-CN" sz="1050" dirty="0">
                <a:solidFill>
                  <a:srgbClr val="2E6B8F"/>
                </a:solidFill>
                <a:latin typeface="Arial" panose="020B0604020202020204"/>
                <a:ea typeface="微软雅黑" panose="020B0503020204020204" charset="-122"/>
                <a:cs typeface="Arial" panose="020B0604020202020204"/>
              </a:endParaRPr>
            </a:p>
          </p:txBody>
        </p:sp>
        <p:sp>
          <p:nvSpPr>
            <p:cNvPr id="28" name="TextBox 28"/>
            <p:cNvSpPr txBox="1"/>
            <p:nvPr/>
          </p:nvSpPr>
          <p:spPr>
            <a:xfrm>
              <a:off x="11108491" y="2340292"/>
              <a:ext cx="148154" cy="274320"/>
            </a:xfrm>
            <a:prstGeom prst="rect">
              <a:avLst/>
            </a:prstGeom>
            <a:noFill/>
            <a:ln>
              <a:noFill/>
            </a:ln>
          </p:spPr>
          <p:txBody>
            <a:bodyPr wrap="none" lIns="0" tIns="0" rIns="0" bIns="0" anchor="t" anchorCtr="0">
              <a:spAutoFit/>
            </a:bodyPr>
            <a:lstStyle/>
            <a:p>
              <a:pPr algn="r"/>
              <a:r>
                <a:rPr lang="zh-CN" sz="1350" b="1" dirty="0">
                  <a:solidFill>
                    <a:srgbClr val="1A3A5C"/>
                  </a:solidFill>
                  <a:latin typeface="Arial" panose="020B0604020202020204"/>
                  <a:ea typeface="微软雅黑" panose="020B0503020204020204" charset="-122"/>
                  <a:cs typeface="Arial" panose="020B0604020202020204"/>
                </a:rPr>
                <a:t>2</a:t>
              </a:r>
              <a:endParaRPr lang="zh-CN" sz="1350" b="1" dirty="0">
                <a:solidFill>
                  <a:srgbClr val="1A3A5C"/>
                </a:solidFill>
                <a:latin typeface="Arial" panose="020B0604020202020204"/>
                <a:ea typeface="微软雅黑" panose="020B0503020204020204" charset="-122"/>
                <a:cs typeface="Arial" panose="020B0604020202020204"/>
              </a:endParaRPr>
            </a:p>
          </p:txBody>
        </p:sp>
        <p:sp>
          <p:nvSpPr>
            <p:cNvPr id="29" name="Line 29"/>
            <p:cNvSpPr/>
            <p:nvPr/>
          </p:nvSpPr>
          <p:spPr>
            <a:xfrm>
              <a:off x="571500" y="2962275"/>
              <a:ext cx="11049000" cy="9525"/>
            </a:xfrm>
            <a:custGeom>
              <a:avLst/>
              <a:gdLst/>
              <a:ahLst/>
              <a:cxnLst/>
              <a:rect l="l" t="t" r="r" b="b"/>
              <a:pathLst>
                <a:path w="11049000" h="9525">
                  <a:moveTo>
                    <a:pt x="0" y="0"/>
                  </a:moveTo>
                  <a:lnTo>
                    <a:pt x="11049000" y="0"/>
                  </a:lnTo>
                </a:path>
              </a:pathLst>
            </a:custGeom>
            <a:noFill/>
            <a:ln w="9525">
              <a:solidFill>
                <a:srgbClr val="E2E8F0"/>
              </a:solidFill>
            </a:ln>
          </p:spPr>
        </p:sp>
        <p:sp>
          <p:nvSpPr>
            <p:cNvPr id="30" name="Rectangle 30"/>
            <p:cNvSpPr/>
            <p:nvPr/>
          </p:nvSpPr>
          <p:spPr>
            <a:xfrm>
              <a:off x="571500" y="2962275"/>
              <a:ext cx="11049000" cy="704850"/>
            </a:xfrm>
            <a:prstGeom prst="rect">
              <a:avLst/>
            </a:prstGeom>
            <a:solidFill>
              <a:srgbClr val="FAFAFA"/>
            </a:solidFill>
            <a:ln>
              <a:noFill/>
            </a:ln>
          </p:spPr>
        </p:sp>
        <p:sp>
          <p:nvSpPr>
            <p:cNvPr id="31" name="TextBox 31"/>
            <p:cNvSpPr txBox="1"/>
            <p:nvPr/>
          </p:nvSpPr>
          <p:spPr>
            <a:xfrm>
              <a:off x="746760" y="3061335"/>
              <a:ext cx="1318641" cy="243840"/>
            </a:xfrm>
            <a:prstGeom prst="rect">
              <a:avLst/>
            </a:prstGeom>
            <a:noFill/>
            <a:ln>
              <a:noFill/>
            </a:ln>
          </p:spPr>
          <p:txBody>
            <a:bodyPr wrap="none" lIns="0" tIns="0" rIns="0" bIns="0" anchor="t" anchorCtr="0">
              <a:spAutoFit/>
            </a:bodyPr>
            <a:lstStyle/>
            <a:p>
              <a:pPr algn="l"/>
              <a:r>
                <a:rPr lang="zh-CN" sz="1200" b="1" dirty="0">
                  <a:solidFill>
                    <a:srgbClr val="1A3A5C"/>
                  </a:solidFill>
                  <a:latin typeface="Arial" panose="020B0604020202020204"/>
                  <a:ea typeface="微软雅黑" panose="020B0503020204020204" charset="-122"/>
                  <a:cs typeface="Arial" panose="020B0604020202020204"/>
                </a:rPr>
                <a:t>国内旅游总花费</a:t>
              </a:r>
              <a:endParaRPr lang="zh-CN" sz="1200" b="1" dirty="0">
                <a:solidFill>
                  <a:srgbClr val="1A3A5C"/>
                </a:solidFill>
                <a:latin typeface="Arial" panose="020B0604020202020204"/>
                <a:ea typeface="微软雅黑" panose="020B0503020204020204" charset="-122"/>
                <a:cs typeface="Arial" panose="020B0604020202020204"/>
              </a:endParaRPr>
            </a:p>
          </p:txBody>
        </p:sp>
        <p:sp>
          <p:nvSpPr>
            <p:cNvPr id="32" name="TextBox 32"/>
            <p:cNvSpPr txBox="1"/>
            <p:nvPr/>
          </p:nvSpPr>
          <p:spPr>
            <a:xfrm>
              <a:off x="2462212" y="3069431"/>
              <a:ext cx="357188" cy="228600"/>
            </a:xfrm>
            <a:prstGeom prst="rect">
              <a:avLst/>
            </a:prstGeom>
            <a:noFill/>
            <a:ln>
              <a:noFill/>
            </a:ln>
          </p:spPr>
          <p:txBody>
            <a:bodyPr wrap="none" lIns="0" tIns="0" rIns="0" bIns="0" anchor="t" anchorCtr="0">
              <a:spAutoFit/>
            </a:bodyPr>
            <a:lstStyle/>
            <a:p>
              <a:pPr algn="l"/>
              <a:r>
                <a:rPr lang="zh-CN" sz="1125" dirty="0">
                  <a:solidFill>
                    <a:srgbClr val="1A1A2E"/>
                  </a:solidFill>
                  <a:latin typeface="Arial" panose="020B0604020202020204"/>
                  <a:ea typeface="微软雅黑" panose="020B0503020204020204" charset="-122"/>
                  <a:cs typeface="Arial" panose="020B0604020202020204"/>
                </a:rPr>
                <a:t>亿元</a:t>
              </a:r>
              <a:endParaRPr lang="zh-CN" sz="1125" dirty="0">
                <a:solidFill>
                  <a:srgbClr val="1A1A2E"/>
                </a:solidFill>
                <a:latin typeface="Arial" panose="020B0604020202020204"/>
                <a:ea typeface="微软雅黑" panose="020B0503020204020204" charset="-122"/>
                <a:cs typeface="Arial" panose="020B0604020202020204"/>
              </a:endParaRPr>
            </a:p>
          </p:txBody>
        </p:sp>
        <p:sp>
          <p:nvSpPr>
            <p:cNvPr id="33" name="TextBox 33"/>
            <p:cNvSpPr txBox="1"/>
            <p:nvPr/>
          </p:nvSpPr>
          <p:spPr>
            <a:xfrm>
              <a:off x="3701415" y="3077528"/>
              <a:ext cx="3860482"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panose="020B0604020202020204"/>
                  <a:ea typeface="微软雅黑" panose="020B0503020204020204" charset="-122"/>
                  <a:cs typeface="Arial" panose="020B0604020202020204"/>
                </a:rPr>
                <a:t>文旅消费强度，体现需求恢复是否能够转化为经济活动。</a:t>
              </a:r>
              <a:endParaRPr lang="zh-CN" sz="1050" dirty="0">
                <a:solidFill>
                  <a:srgbClr val="6B7280"/>
                </a:solidFill>
                <a:latin typeface="Arial" panose="020B0604020202020204"/>
                <a:ea typeface="微软雅黑" panose="020B0503020204020204" charset="-122"/>
                <a:cs typeface="Arial" panose="020B0604020202020204"/>
              </a:endParaRPr>
            </a:p>
          </p:txBody>
        </p:sp>
        <p:sp>
          <p:nvSpPr>
            <p:cNvPr id="34" name="TextBox 34"/>
            <p:cNvSpPr txBox="1"/>
            <p:nvPr/>
          </p:nvSpPr>
          <p:spPr>
            <a:xfrm>
              <a:off x="8368665" y="3077528"/>
              <a:ext cx="1100137" cy="213360"/>
            </a:xfrm>
            <a:prstGeom prst="rect">
              <a:avLst/>
            </a:prstGeom>
            <a:noFill/>
            <a:ln>
              <a:noFill/>
            </a:ln>
          </p:spPr>
          <p:txBody>
            <a:bodyPr wrap="none" lIns="0" tIns="0" rIns="0" bIns="0" anchor="t" anchorCtr="0">
              <a:spAutoFit/>
            </a:bodyPr>
            <a:lstStyle/>
            <a:p>
              <a:pPr algn="l"/>
              <a:r>
                <a:rPr lang="zh-CN" sz="1050" dirty="0">
                  <a:solidFill>
                    <a:srgbClr val="2E6B8F"/>
                  </a:solidFill>
                  <a:latin typeface="Arial" panose="020B0604020202020204"/>
                  <a:ea typeface="微软雅黑" panose="020B0503020204020204" charset="-122"/>
                  <a:cs typeface="Arial" panose="020B0604020202020204"/>
                </a:rPr>
                <a:t>形成可计算序列</a:t>
              </a:r>
              <a:endParaRPr lang="zh-CN" sz="1050" dirty="0">
                <a:solidFill>
                  <a:srgbClr val="2E6B8F"/>
                </a:solidFill>
                <a:latin typeface="Arial" panose="020B0604020202020204"/>
                <a:ea typeface="微软雅黑" panose="020B0503020204020204" charset="-122"/>
                <a:cs typeface="Arial" panose="020B0604020202020204"/>
              </a:endParaRPr>
            </a:p>
          </p:txBody>
        </p:sp>
        <p:sp>
          <p:nvSpPr>
            <p:cNvPr id="35" name="TextBox 35"/>
            <p:cNvSpPr txBox="1"/>
            <p:nvPr/>
          </p:nvSpPr>
          <p:spPr>
            <a:xfrm>
              <a:off x="11108491" y="3045142"/>
              <a:ext cx="148154" cy="274320"/>
            </a:xfrm>
            <a:prstGeom prst="rect">
              <a:avLst/>
            </a:prstGeom>
            <a:noFill/>
            <a:ln>
              <a:noFill/>
            </a:ln>
          </p:spPr>
          <p:txBody>
            <a:bodyPr wrap="none" lIns="0" tIns="0" rIns="0" bIns="0" anchor="t" anchorCtr="0">
              <a:spAutoFit/>
            </a:bodyPr>
            <a:lstStyle/>
            <a:p>
              <a:pPr algn="r"/>
              <a:r>
                <a:rPr lang="zh-CN" sz="1350" b="1" dirty="0">
                  <a:solidFill>
                    <a:srgbClr val="1A3A5C"/>
                  </a:solidFill>
                  <a:latin typeface="Arial" panose="020B0604020202020204"/>
                  <a:ea typeface="微软雅黑" panose="020B0503020204020204" charset="-122"/>
                  <a:cs typeface="Arial" panose="020B0604020202020204"/>
                </a:rPr>
                <a:t>3</a:t>
              </a:r>
              <a:endParaRPr lang="zh-CN" sz="1350" b="1" dirty="0">
                <a:solidFill>
                  <a:srgbClr val="1A3A5C"/>
                </a:solidFill>
                <a:latin typeface="Arial" panose="020B0604020202020204"/>
                <a:ea typeface="微软雅黑" panose="020B0503020204020204" charset="-122"/>
                <a:cs typeface="Arial" panose="020B0604020202020204"/>
              </a:endParaRPr>
            </a:p>
          </p:txBody>
        </p:sp>
      </p:grpSp>
      <p:grpSp>
        <p:nvGrpSpPr>
          <p:cNvPr id="43" name="Group 43"/>
          <p:cNvGrpSpPr/>
          <p:nvPr/>
        </p:nvGrpSpPr>
        <p:grpSpPr>
          <a:xfrm>
            <a:off x="571500" y="3812540"/>
            <a:ext cx="11049000" cy="457200"/>
            <a:chOff x="571500" y="3905250"/>
            <a:chExt cx="11049000" cy="457200"/>
          </a:xfrm>
        </p:grpSpPr>
        <p:sp>
          <p:nvSpPr>
            <p:cNvPr id="37" name="Rectangle 37"/>
            <p:cNvSpPr/>
            <p:nvPr/>
          </p:nvSpPr>
          <p:spPr>
            <a:xfrm>
              <a:off x="571500" y="3905250"/>
              <a:ext cx="11049000" cy="457200"/>
            </a:xfrm>
            <a:prstGeom prst="roundRect">
              <a:avLst>
                <a:gd name="adj" fmla="val 12500"/>
              </a:avLst>
            </a:prstGeom>
            <a:solidFill>
              <a:srgbClr val="F0F4F8"/>
            </a:solidFill>
            <a:ln>
              <a:noFill/>
            </a:ln>
          </p:spPr>
        </p:sp>
        <p:grpSp>
          <p:nvGrpSpPr>
            <p:cNvPr id="40" name="Group 40"/>
            <p:cNvGrpSpPr/>
            <p:nvPr/>
          </p:nvGrpSpPr>
          <p:grpSpPr>
            <a:xfrm>
              <a:off x="845344" y="4167175"/>
              <a:ext cx="119062" cy="142901"/>
              <a:chOff x="845344" y="4167175"/>
              <a:chExt cx="119062" cy="142901"/>
            </a:xfrm>
          </p:grpSpPr>
          <p:sp>
            <p:nvSpPr>
              <p:cNvPr id="38" name="Freeform 38"/>
              <p:cNvSpPr/>
              <p:nvPr/>
            </p:nvSpPr>
            <p:spPr>
              <a:xfrm>
                <a:off x="863203" y="4173141"/>
                <a:ext cx="83344" cy="130969"/>
              </a:xfrm>
              <a:custGeom>
                <a:avLst/>
                <a:gdLst/>
                <a:ahLst/>
                <a:cxnLst/>
                <a:rect l="l" t="t" r="r" b="b"/>
                <a:pathLst>
                  <a:path w="83344" h="130969">
                    <a:moveTo>
                      <a:pt x="83344" y="5953"/>
                    </a:moveTo>
                    <a:lnTo>
                      <a:pt x="83344" y="125016"/>
                    </a:lnTo>
                    <a:cubicBezTo>
                      <a:pt x="83344" y="128303"/>
                      <a:pt x="80678" y="130969"/>
                      <a:pt x="77391" y="130969"/>
                    </a:cubicBezTo>
                    <a:lnTo>
                      <a:pt x="5953" y="130969"/>
                    </a:lnTo>
                    <a:cubicBezTo>
                      <a:pt x="2665" y="130969"/>
                      <a:pt x="0" y="128303"/>
                      <a:pt x="0" y="125016"/>
                    </a:cubicBezTo>
                    <a:lnTo>
                      <a:pt x="0" y="5953"/>
                    </a:lnTo>
                    <a:cubicBezTo>
                      <a:pt x="0" y="2665"/>
                      <a:pt x="2665" y="0"/>
                      <a:pt x="5953" y="0"/>
                    </a:cubicBezTo>
                    <a:lnTo>
                      <a:pt x="77391" y="0"/>
                    </a:lnTo>
                    <a:cubicBezTo>
                      <a:pt x="80678" y="0"/>
                      <a:pt x="83344" y="2665"/>
                      <a:pt x="83344" y="5953"/>
                    </a:cubicBezTo>
                    <a:close/>
                  </a:path>
                </a:pathLst>
              </a:custGeom>
              <a:solidFill>
                <a:srgbClr val="1A3A5C">
                  <a:alpha val="20000"/>
                </a:srgbClr>
              </a:solidFill>
              <a:ln>
                <a:noFill/>
              </a:ln>
            </p:spPr>
          </p:sp>
          <p:sp>
            <p:nvSpPr>
              <p:cNvPr id="39" name="Freeform 39"/>
              <p:cNvSpPr/>
              <p:nvPr/>
            </p:nvSpPr>
            <p:spPr>
              <a:xfrm>
                <a:off x="845344" y="4167175"/>
                <a:ext cx="119062" cy="142901"/>
              </a:xfrm>
              <a:custGeom>
                <a:avLst/>
                <a:gdLst/>
                <a:ahLst/>
                <a:cxnLst/>
                <a:rect l="l" t="t" r="r" b="b"/>
                <a:pathLst>
                  <a:path w="119062" h="142901">
                    <a:moveTo>
                      <a:pt x="119062" y="5966"/>
                    </a:moveTo>
                    <a:cubicBezTo>
                      <a:pt x="119062" y="9254"/>
                      <a:pt x="116397" y="11919"/>
                      <a:pt x="113109" y="11919"/>
                    </a:cubicBezTo>
                    <a:lnTo>
                      <a:pt x="91313" y="11919"/>
                    </a:lnTo>
                    <a:cubicBezTo>
                      <a:pt x="82680" y="11917"/>
                      <a:pt x="75280" y="18091"/>
                      <a:pt x="73737" y="26586"/>
                    </a:cubicBezTo>
                    <a:lnTo>
                      <a:pt x="66668" y="65497"/>
                    </a:lnTo>
                    <a:lnTo>
                      <a:pt x="101203" y="65497"/>
                    </a:lnTo>
                    <a:cubicBezTo>
                      <a:pt x="104491" y="65497"/>
                      <a:pt x="107156" y="68163"/>
                      <a:pt x="107156" y="71450"/>
                    </a:cubicBezTo>
                    <a:cubicBezTo>
                      <a:pt x="107156" y="74738"/>
                      <a:pt x="104491" y="77404"/>
                      <a:pt x="101203" y="77404"/>
                    </a:cubicBezTo>
                    <a:lnTo>
                      <a:pt x="64502" y="77404"/>
                    </a:lnTo>
                    <a:lnTo>
                      <a:pt x="57061" y="118450"/>
                    </a:lnTo>
                    <a:cubicBezTo>
                      <a:pt x="54484" y="132612"/>
                      <a:pt x="42143" y="142901"/>
                      <a:pt x="27749" y="142888"/>
                    </a:cubicBezTo>
                    <a:lnTo>
                      <a:pt x="5953" y="142888"/>
                    </a:lnTo>
                    <a:cubicBezTo>
                      <a:pt x="2665" y="142888"/>
                      <a:pt x="0" y="140223"/>
                      <a:pt x="0" y="136935"/>
                    </a:cubicBezTo>
                    <a:cubicBezTo>
                      <a:pt x="0" y="133647"/>
                      <a:pt x="2665" y="130982"/>
                      <a:pt x="5953" y="130982"/>
                    </a:cubicBezTo>
                    <a:lnTo>
                      <a:pt x="27749" y="130982"/>
                    </a:lnTo>
                    <a:cubicBezTo>
                      <a:pt x="36383" y="130984"/>
                      <a:pt x="43782" y="124810"/>
                      <a:pt x="45326" y="116315"/>
                    </a:cubicBezTo>
                    <a:lnTo>
                      <a:pt x="52395" y="77404"/>
                    </a:lnTo>
                    <a:lnTo>
                      <a:pt x="17859" y="77404"/>
                    </a:lnTo>
                    <a:cubicBezTo>
                      <a:pt x="14572" y="77404"/>
                      <a:pt x="11906" y="74738"/>
                      <a:pt x="11906" y="71450"/>
                    </a:cubicBezTo>
                    <a:cubicBezTo>
                      <a:pt x="11906" y="68163"/>
                      <a:pt x="14572" y="65497"/>
                      <a:pt x="17859" y="65497"/>
                    </a:cubicBezTo>
                    <a:lnTo>
                      <a:pt x="54560" y="65497"/>
                    </a:lnTo>
                    <a:lnTo>
                      <a:pt x="62002" y="24451"/>
                    </a:lnTo>
                    <a:cubicBezTo>
                      <a:pt x="64578" y="10289"/>
                      <a:pt x="76919" y="0"/>
                      <a:pt x="91313" y="13"/>
                    </a:cubicBezTo>
                    <a:lnTo>
                      <a:pt x="113109" y="13"/>
                    </a:lnTo>
                    <a:cubicBezTo>
                      <a:pt x="116397" y="13"/>
                      <a:pt x="119062" y="2678"/>
                      <a:pt x="119062" y="5966"/>
                    </a:cubicBezTo>
                    <a:close/>
                  </a:path>
                </a:pathLst>
              </a:custGeom>
              <a:solidFill>
                <a:srgbClr val="1A3A5C"/>
              </a:solidFill>
              <a:ln>
                <a:noFill/>
              </a:ln>
            </p:spPr>
          </p:sp>
        </p:grpSp>
        <p:sp>
          <p:nvSpPr>
            <p:cNvPr id="41" name="TextBox 41"/>
            <p:cNvSpPr txBox="1"/>
            <p:nvPr/>
          </p:nvSpPr>
          <p:spPr>
            <a:xfrm>
              <a:off x="1082040" y="4077652"/>
              <a:ext cx="831771" cy="213360"/>
            </a:xfrm>
            <a:prstGeom prst="rect">
              <a:avLst/>
            </a:prstGeom>
            <a:noFill/>
            <a:ln>
              <a:noFill/>
            </a:ln>
          </p:spPr>
          <p:txBody>
            <a:bodyPr wrap="none" lIns="0" tIns="0" rIns="0" bIns="0" anchor="t" anchorCtr="0">
              <a:spAutoFit/>
            </a:bodyPr>
            <a:lstStyle/>
            <a:p>
              <a:pPr algn="l"/>
              <a:r>
                <a:rPr lang="zh-CN" sz="1050" b="1" dirty="0">
                  <a:solidFill>
                    <a:srgbClr val="1A3A5C"/>
                  </a:solidFill>
                  <a:latin typeface="Arial" panose="020B0604020202020204"/>
                  <a:ea typeface="微软雅黑" panose="020B0503020204020204" charset="-122"/>
                  <a:cs typeface="Arial" panose="020B0604020202020204"/>
                </a:rPr>
                <a:t>建模选择：</a:t>
              </a:r>
              <a:endParaRPr lang="zh-CN" sz="1050" b="1" dirty="0">
                <a:solidFill>
                  <a:srgbClr val="1A3A5C"/>
                </a:solidFill>
                <a:latin typeface="Arial" panose="020B0604020202020204"/>
                <a:ea typeface="微软雅黑" panose="020B0503020204020204" charset="-122"/>
                <a:cs typeface="Arial" panose="020B0604020202020204"/>
              </a:endParaRPr>
            </a:p>
          </p:txBody>
        </p:sp>
        <p:sp>
          <p:nvSpPr>
            <p:cNvPr id="42" name="TextBox 42"/>
            <p:cNvSpPr txBox="1"/>
            <p:nvPr/>
          </p:nvSpPr>
          <p:spPr>
            <a:xfrm>
              <a:off x="2177415" y="4077652"/>
              <a:ext cx="5547360"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panose="020B0604020202020204"/>
                  <a:ea typeface="微软雅黑" panose="020B0503020204020204" charset="-122"/>
                  <a:cs typeface="Arial" panose="020B0604020202020204"/>
                </a:rPr>
                <a:t>对年度离散点直接做数值微分和拟合，不人为插入月度数据，避免制造虚假精度。</a:t>
              </a:r>
              <a:endParaRPr lang="zh-CN" sz="1050" dirty="0">
                <a:solidFill>
                  <a:srgbClr val="6B7280"/>
                </a:solidFill>
                <a:latin typeface="Arial" panose="020B0604020202020204"/>
                <a:ea typeface="微软雅黑" panose="020B0503020204020204" charset="-122"/>
                <a:cs typeface="Arial" panose="020B0604020202020204"/>
              </a:endParaRPr>
            </a:p>
          </p:txBody>
        </p:sp>
      </p:grpSp>
      <p:grpSp>
        <p:nvGrpSpPr>
          <p:cNvPr id="46" name="Group 46"/>
          <p:cNvGrpSpPr/>
          <p:nvPr/>
        </p:nvGrpSpPr>
        <p:grpSpPr>
          <a:xfrm>
            <a:off x="560070" y="6522720"/>
            <a:ext cx="11070908" cy="182880"/>
            <a:chOff x="560070" y="6522720"/>
            <a:chExt cx="11070908" cy="182880"/>
          </a:xfrm>
        </p:grpSpPr>
        <p:sp>
          <p:nvSpPr>
            <p:cNvPr id="44" name="TextBox 44"/>
            <p:cNvSpPr txBox="1"/>
            <p:nvPr/>
          </p:nvSpPr>
          <p:spPr>
            <a:xfrm>
              <a:off x="560070" y="6522720"/>
              <a:ext cx="3328702" cy="182880"/>
            </a:xfrm>
            <a:prstGeom prst="rect">
              <a:avLst/>
            </a:prstGeom>
            <a:noFill/>
            <a:ln>
              <a:noFill/>
            </a:ln>
          </p:spPr>
          <p:txBody>
            <a:bodyPr wrap="none" lIns="0" tIns="0" rIns="0" bIns="0" anchor="t" anchorCtr="0">
              <a:spAutoFit/>
            </a:bodyPr>
            <a:lstStyle/>
            <a:p>
              <a:pPr algn="l"/>
              <a:r>
                <a:rPr lang="zh-CN" sz="900" dirty="0">
                  <a:solidFill>
                    <a:srgbClr val="9CA3AF"/>
                  </a:solidFill>
                  <a:latin typeface="Arial" panose="020B0604020202020204"/>
                  <a:ea typeface="微软雅黑" panose="020B0503020204020204" charset="-122"/>
                  <a:cs typeface="Arial" panose="020B0604020202020204"/>
                </a:rPr>
                <a:t>Source: 国家统计局国家数据、中国统计年鉴；团队整理</a:t>
              </a:r>
              <a:endParaRPr lang="zh-CN" sz="900" dirty="0">
                <a:solidFill>
                  <a:srgbClr val="9CA3AF"/>
                </a:solidFill>
                <a:latin typeface="Arial" panose="020B0604020202020204"/>
                <a:ea typeface="微软雅黑" panose="020B0503020204020204" charset="-122"/>
                <a:cs typeface="Arial" panose="020B0604020202020204"/>
              </a:endParaRPr>
            </a:p>
          </p:txBody>
        </p:sp>
        <p:sp>
          <p:nvSpPr>
            <p:cNvPr id="45" name="TextBox 45"/>
            <p:cNvSpPr txBox="1"/>
            <p:nvPr/>
          </p:nvSpPr>
          <p:spPr>
            <a:xfrm>
              <a:off x="11236500" y="6530816"/>
              <a:ext cx="394478"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panose="020B0604020202020204"/>
                  <a:ea typeface="微软雅黑" panose="020B0503020204020204" charset="-122"/>
                  <a:cs typeface="Arial" panose="020B0604020202020204"/>
                </a:rPr>
                <a:t>03 / 12</a:t>
              </a:r>
              <a:endParaRPr lang="zh-CN" sz="825" dirty="0">
                <a:solidFill>
                  <a:srgbClr val="9CA3AF"/>
                </a:solidFill>
                <a:latin typeface="Arial" panose="020B0604020202020204"/>
                <a:ea typeface="微软雅黑" panose="020B0503020204020204" charset="-122"/>
                <a:cs typeface="Arial" panose="020B0604020202020204"/>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400"/>
                                        <p:tgtEl>
                                          <p:spTgt spid="36"/>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43"/>
                                        </p:tgtEl>
                                        <p:attrNameLst>
                                          <p:attrName>style.visibility</p:attrName>
                                        </p:attrNameLst>
                                      </p:cBhvr>
                                      <p:to>
                                        <p:strVal val="visible"/>
                                      </p:to>
                                    </p:set>
                                    <p:animEffect transition="in" filter="slide(fromLeft)">
                                      <p:cBhvr>
                                        <p:cTn id="11" dur="4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A"/>
          </a:solidFill>
          <a:ln>
            <a:noFill/>
          </a:ln>
        </p:spPr>
      </p:sp>
      <p:grpSp>
        <p:nvGrpSpPr>
          <p:cNvPr id="6" name="Group 6"/>
          <p:cNvGrpSpPr/>
          <p:nvPr/>
        </p:nvGrpSpPr>
        <p:grpSpPr>
          <a:xfrm>
            <a:off x="571500" y="280988"/>
            <a:ext cx="6774894" cy="561974"/>
            <a:chOff x="571500" y="280988"/>
            <a:chExt cx="6774894" cy="561974"/>
          </a:xfrm>
        </p:grpSpPr>
        <p:sp>
          <p:nvSpPr>
            <p:cNvPr id="3" name="Rectangle 3"/>
            <p:cNvSpPr/>
            <p:nvPr/>
          </p:nvSpPr>
          <p:spPr>
            <a:xfrm>
              <a:off x="571500" y="285750"/>
              <a:ext cx="38100" cy="342900"/>
            </a:xfrm>
            <a:prstGeom prst="rect">
              <a:avLst/>
            </a:prstGeom>
            <a:solidFill>
              <a:srgbClr val="1A3A5C"/>
            </a:solidFill>
            <a:ln>
              <a:noFill/>
            </a:ln>
          </p:spPr>
        </p:sp>
        <p:sp>
          <p:nvSpPr>
            <p:cNvPr id="4" name="TextBox 4"/>
            <p:cNvSpPr txBox="1"/>
            <p:nvPr/>
          </p:nvSpPr>
          <p:spPr>
            <a:xfrm>
              <a:off x="733425" y="280988"/>
              <a:ext cx="6612969" cy="457200"/>
            </a:xfrm>
            <a:prstGeom prst="rect">
              <a:avLst/>
            </a:prstGeom>
            <a:noFill/>
            <a:ln>
              <a:noFill/>
            </a:ln>
          </p:spPr>
          <p:txBody>
            <a:bodyPr wrap="none" lIns="0" tIns="0" rIns="0" bIns="0" anchor="t" anchorCtr="0">
              <a:spAutoFit/>
            </a:bodyPr>
            <a:lstStyle/>
            <a:p>
              <a:pPr algn="l"/>
              <a:r>
                <a:rPr lang="zh-CN" sz="2250" b="1" dirty="0">
                  <a:solidFill>
                    <a:srgbClr val="1A3A5C"/>
                  </a:solidFill>
                  <a:latin typeface="Georgia" panose="02040502050405020303"/>
                  <a:ea typeface="楷体" panose="02010609060101010101" charset="-122"/>
                  <a:cs typeface="Georgia" panose="02040502050405020303"/>
                </a:rPr>
                <a:t>原始数据表：三个指标形成可计算时间序列</a:t>
              </a:r>
              <a:endParaRPr lang="zh-CN" sz="2250" b="1" dirty="0">
                <a:solidFill>
                  <a:srgbClr val="1A3A5C"/>
                </a:solidFill>
                <a:latin typeface="Georgia" panose="02040502050405020303"/>
                <a:ea typeface="楷体" panose="02010609060101010101" charset="-122"/>
                <a:cs typeface="Georgia" panose="02040502050405020303"/>
              </a:endParaRPr>
            </a:p>
          </p:txBody>
        </p:sp>
        <p:sp>
          <p:nvSpPr>
            <p:cNvPr id="5" name="TextBox 5"/>
            <p:cNvSpPr txBox="1"/>
            <p:nvPr/>
          </p:nvSpPr>
          <p:spPr>
            <a:xfrm>
              <a:off x="748665" y="629602"/>
              <a:ext cx="6505813"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panose="020B0604020202020204"/>
                  <a:ea typeface="微软雅黑" panose="020B0503020204020204" charset="-122"/>
                  <a:cs typeface="Arial" panose="020B0604020202020204"/>
                </a:rPr>
                <a:t>2014-2023 年共 10 个年度点，既包含平稳增长阶段，也包含 2020 年后的外生冲击和恢复阶段。</a:t>
              </a:r>
              <a:endParaRPr lang="zh-CN" sz="1050" dirty="0">
                <a:solidFill>
                  <a:srgbClr val="6B7280"/>
                </a:solidFill>
                <a:latin typeface="Arial" panose="020B0604020202020204"/>
                <a:ea typeface="微软雅黑" panose="020B0503020204020204" charset="-122"/>
                <a:cs typeface="Arial" panose="020B0604020202020204"/>
              </a:endParaRPr>
            </a:p>
          </p:txBody>
        </p:sp>
      </p:grpSp>
      <p:grpSp>
        <p:nvGrpSpPr>
          <p:cNvPr id="94" name="Group 94"/>
          <p:cNvGrpSpPr/>
          <p:nvPr/>
        </p:nvGrpSpPr>
        <p:grpSpPr>
          <a:xfrm>
            <a:off x="571500" y="1047750"/>
            <a:ext cx="11049000" cy="4476750"/>
            <a:chOff x="571500" y="1047750"/>
            <a:chExt cx="11049000" cy="4476750"/>
          </a:xfrm>
        </p:grpSpPr>
        <p:sp>
          <p:nvSpPr>
            <p:cNvPr id="7" name="Rectangle 7"/>
            <p:cNvSpPr/>
            <p:nvPr/>
          </p:nvSpPr>
          <p:spPr>
            <a:xfrm>
              <a:off x="571500" y="1047750"/>
              <a:ext cx="11049000" cy="4476750"/>
            </a:xfrm>
            <a:prstGeom prst="roundRect">
              <a:avLst>
                <a:gd name="adj" fmla="val 1277"/>
              </a:avLst>
            </a:prstGeom>
            <a:solidFill>
              <a:srgbClr val="FFFFFF"/>
            </a:solidFill>
            <a:ln w="14288">
              <a:solidFill>
                <a:srgbClr val="D1D5DB"/>
              </a:solidFill>
            </a:ln>
            <a:effectLst>
              <a:outerShdw blurRad="57150" dist="9525" dir="5400000" algn="ctr" rotWithShape="0">
                <a:srgbClr val="0F172A">
                  <a:alpha val="4500"/>
                </a:srgbClr>
              </a:outerShdw>
            </a:effectLst>
          </p:spPr>
        </p:sp>
        <p:sp>
          <p:nvSpPr>
            <p:cNvPr id="8" name="Rectangle 8"/>
            <p:cNvSpPr/>
            <p:nvPr/>
          </p:nvSpPr>
          <p:spPr>
            <a:xfrm>
              <a:off x="571500" y="1047750"/>
              <a:ext cx="11049000" cy="419100"/>
            </a:xfrm>
            <a:prstGeom prst="roundRect">
              <a:avLst>
                <a:gd name="adj" fmla="val 13636"/>
              </a:avLst>
            </a:prstGeom>
            <a:solidFill>
              <a:srgbClr val="1A3A5C"/>
            </a:solidFill>
            <a:ln>
              <a:noFill/>
            </a:ln>
          </p:spPr>
        </p:sp>
        <p:sp>
          <p:nvSpPr>
            <p:cNvPr id="9" name="Rectangle 9"/>
            <p:cNvSpPr/>
            <p:nvPr/>
          </p:nvSpPr>
          <p:spPr>
            <a:xfrm>
              <a:off x="571500" y="1257300"/>
              <a:ext cx="11049000" cy="209550"/>
            </a:xfrm>
            <a:prstGeom prst="rect">
              <a:avLst/>
            </a:prstGeom>
            <a:solidFill>
              <a:srgbClr val="1A3A5C"/>
            </a:solidFill>
            <a:ln>
              <a:noFill/>
            </a:ln>
          </p:spPr>
        </p:sp>
        <p:sp>
          <p:nvSpPr>
            <p:cNvPr id="10" name="TextBox 10"/>
            <p:cNvSpPr txBox="1"/>
            <p:nvPr/>
          </p:nvSpPr>
          <p:spPr>
            <a:xfrm>
              <a:off x="1171599" y="1199674"/>
              <a:ext cx="323802"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panose="020B0604020202020204"/>
                  <a:ea typeface="微软雅黑" panose="020B0503020204020204" charset="-122"/>
                  <a:cs typeface="Arial" panose="020B0604020202020204"/>
                </a:rPr>
                <a:t>年份</a:t>
              </a:r>
              <a:endParaRPr lang="zh-CN" sz="975" b="1" dirty="0">
                <a:solidFill>
                  <a:srgbClr val="FFFFFF"/>
                </a:solidFill>
                <a:latin typeface="Arial" panose="020B0604020202020204"/>
                <a:ea typeface="微软雅黑" panose="020B0503020204020204" charset="-122"/>
                <a:cs typeface="Arial" panose="020B0604020202020204"/>
              </a:endParaRPr>
            </a:p>
          </p:txBody>
        </p:sp>
        <p:sp>
          <p:nvSpPr>
            <p:cNvPr id="11" name="TextBox 11"/>
            <p:cNvSpPr txBox="1"/>
            <p:nvPr/>
          </p:nvSpPr>
          <p:spPr>
            <a:xfrm>
              <a:off x="3009043" y="1199674"/>
              <a:ext cx="1220914"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panose="020B0604020202020204"/>
                  <a:ea typeface="微软雅黑" panose="020B0503020204020204" charset="-122"/>
                  <a:cs typeface="Arial" panose="020B0604020202020204"/>
                </a:rPr>
                <a:t>博物馆数量（个）</a:t>
              </a:r>
              <a:endParaRPr lang="zh-CN" sz="975" b="1" dirty="0">
                <a:solidFill>
                  <a:srgbClr val="FFFFFF"/>
                </a:solidFill>
                <a:latin typeface="Arial" panose="020B0604020202020204"/>
                <a:ea typeface="微软雅黑" panose="020B0503020204020204" charset="-122"/>
                <a:cs typeface="Arial" panose="020B0604020202020204"/>
              </a:endParaRPr>
            </a:p>
          </p:txBody>
        </p:sp>
        <p:sp>
          <p:nvSpPr>
            <p:cNvPr id="12" name="TextBox 12"/>
            <p:cNvSpPr txBox="1"/>
            <p:nvPr/>
          </p:nvSpPr>
          <p:spPr>
            <a:xfrm>
              <a:off x="5526524" y="1199674"/>
              <a:ext cx="1519952"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panose="020B0604020202020204"/>
                  <a:ea typeface="微软雅黑" panose="020B0503020204020204" charset="-122"/>
                  <a:cs typeface="Arial" panose="020B0604020202020204"/>
                </a:rPr>
                <a:t>国内游客（百万人次）</a:t>
              </a:r>
              <a:endParaRPr lang="zh-CN" sz="975" b="1" dirty="0">
                <a:solidFill>
                  <a:srgbClr val="FFFFFF"/>
                </a:solidFill>
                <a:latin typeface="Arial" panose="020B0604020202020204"/>
                <a:ea typeface="微软雅黑" panose="020B0503020204020204" charset="-122"/>
                <a:cs typeface="Arial" panose="020B0604020202020204"/>
              </a:endParaRPr>
            </a:p>
          </p:txBody>
        </p:sp>
        <p:sp>
          <p:nvSpPr>
            <p:cNvPr id="13" name="TextBox 13"/>
            <p:cNvSpPr txBox="1"/>
            <p:nvPr/>
          </p:nvSpPr>
          <p:spPr>
            <a:xfrm>
              <a:off x="8268283" y="1199674"/>
              <a:ext cx="1370433"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panose="020B0604020202020204"/>
                  <a:ea typeface="微软雅黑" panose="020B0503020204020204" charset="-122"/>
                  <a:cs typeface="Arial" panose="020B0604020202020204"/>
                </a:rPr>
                <a:t>旅游总花费（亿元）</a:t>
              </a:r>
              <a:endParaRPr lang="zh-CN" sz="975" b="1" dirty="0">
                <a:solidFill>
                  <a:srgbClr val="FFFFFF"/>
                </a:solidFill>
                <a:latin typeface="Arial" panose="020B0604020202020204"/>
                <a:ea typeface="微软雅黑" panose="020B0503020204020204" charset="-122"/>
                <a:cs typeface="Arial" panose="020B0604020202020204"/>
              </a:endParaRPr>
            </a:p>
          </p:txBody>
        </p:sp>
        <p:sp>
          <p:nvSpPr>
            <p:cNvPr id="14" name="TextBox 14"/>
            <p:cNvSpPr txBox="1"/>
            <p:nvPr/>
          </p:nvSpPr>
          <p:spPr>
            <a:xfrm>
              <a:off x="10696599" y="1199674"/>
              <a:ext cx="323802"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panose="020B0604020202020204"/>
                  <a:ea typeface="微软雅黑" panose="020B0503020204020204" charset="-122"/>
                  <a:cs typeface="Arial" panose="020B0604020202020204"/>
                </a:rPr>
                <a:t>阶段</a:t>
              </a:r>
              <a:endParaRPr lang="zh-CN" sz="975" b="1" dirty="0">
                <a:solidFill>
                  <a:srgbClr val="FFFFFF"/>
                </a:solidFill>
                <a:latin typeface="Arial" panose="020B0604020202020204"/>
                <a:ea typeface="微软雅黑" panose="020B0503020204020204" charset="-122"/>
                <a:cs typeface="Arial" panose="020B0604020202020204"/>
              </a:endParaRPr>
            </a:p>
          </p:txBody>
        </p:sp>
        <p:sp>
          <p:nvSpPr>
            <p:cNvPr id="15" name="Line 15"/>
            <p:cNvSpPr/>
            <p:nvPr/>
          </p:nvSpPr>
          <p:spPr>
            <a:xfrm>
              <a:off x="2095500" y="1047750"/>
              <a:ext cx="9525" cy="4476750"/>
            </a:xfrm>
            <a:custGeom>
              <a:avLst/>
              <a:gdLst/>
              <a:ahLst/>
              <a:cxnLst/>
              <a:rect l="l" t="t" r="r" b="b"/>
              <a:pathLst>
                <a:path w="9525" h="4476750">
                  <a:moveTo>
                    <a:pt x="0" y="0"/>
                  </a:moveTo>
                  <a:lnTo>
                    <a:pt x="0" y="4476750"/>
                  </a:lnTo>
                </a:path>
              </a:pathLst>
            </a:custGeom>
            <a:noFill/>
            <a:ln w="9525">
              <a:solidFill>
                <a:srgbClr val="D1D5DB"/>
              </a:solidFill>
            </a:ln>
          </p:spPr>
        </p:sp>
        <p:sp>
          <p:nvSpPr>
            <p:cNvPr id="16" name="Line 16"/>
            <p:cNvSpPr/>
            <p:nvPr/>
          </p:nvSpPr>
          <p:spPr>
            <a:xfrm>
              <a:off x="5143500" y="1047750"/>
              <a:ext cx="9525" cy="4476750"/>
            </a:xfrm>
            <a:custGeom>
              <a:avLst/>
              <a:gdLst/>
              <a:ahLst/>
              <a:cxnLst/>
              <a:rect l="l" t="t" r="r" b="b"/>
              <a:pathLst>
                <a:path w="9525" h="4476750">
                  <a:moveTo>
                    <a:pt x="0" y="0"/>
                  </a:moveTo>
                  <a:lnTo>
                    <a:pt x="0" y="4476750"/>
                  </a:lnTo>
                </a:path>
              </a:pathLst>
            </a:custGeom>
            <a:noFill/>
            <a:ln w="9525">
              <a:solidFill>
                <a:srgbClr val="D1D5DB"/>
              </a:solidFill>
            </a:ln>
          </p:spPr>
        </p:sp>
        <p:sp>
          <p:nvSpPr>
            <p:cNvPr id="17" name="Line 17"/>
            <p:cNvSpPr/>
            <p:nvPr/>
          </p:nvSpPr>
          <p:spPr>
            <a:xfrm>
              <a:off x="7620000" y="1047750"/>
              <a:ext cx="9525" cy="4476750"/>
            </a:xfrm>
            <a:custGeom>
              <a:avLst/>
              <a:gdLst/>
              <a:ahLst/>
              <a:cxnLst/>
              <a:rect l="l" t="t" r="r" b="b"/>
              <a:pathLst>
                <a:path w="9525" h="4476750">
                  <a:moveTo>
                    <a:pt x="0" y="0"/>
                  </a:moveTo>
                  <a:lnTo>
                    <a:pt x="0" y="4476750"/>
                  </a:lnTo>
                </a:path>
              </a:pathLst>
            </a:custGeom>
            <a:noFill/>
            <a:ln w="9525">
              <a:solidFill>
                <a:srgbClr val="D1D5DB"/>
              </a:solidFill>
            </a:ln>
          </p:spPr>
        </p:sp>
        <p:sp>
          <p:nvSpPr>
            <p:cNvPr id="18" name="Line 18"/>
            <p:cNvSpPr/>
            <p:nvPr/>
          </p:nvSpPr>
          <p:spPr>
            <a:xfrm>
              <a:off x="10287000" y="1047750"/>
              <a:ext cx="9525" cy="4476750"/>
            </a:xfrm>
            <a:custGeom>
              <a:avLst/>
              <a:gdLst/>
              <a:ahLst/>
              <a:cxnLst/>
              <a:rect l="l" t="t" r="r" b="b"/>
              <a:pathLst>
                <a:path w="9525" h="4476750">
                  <a:moveTo>
                    <a:pt x="0" y="0"/>
                  </a:moveTo>
                  <a:lnTo>
                    <a:pt x="0" y="4476750"/>
                  </a:lnTo>
                </a:path>
              </a:pathLst>
            </a:custGeom>
            <a:noFill/>
            <a:ln w="9525">
              <a:solidFill>
                <a:srgbClr val="D1D5DB"/>
              </a:solidFill>
            </a:ln>
          </p:spPr>
        </p:sp>
        <p:sp>
          <p:nvSpPr>
            <p:cNvPr id="19" name="Line 19"/>
            <p:cNvSpPr/>
            <p:nvPr/>
          </p:nvSpPr>
          <p:spPr>
            <a:xfrm>
              <a:off x="571500" y="1466850"/>
              <a:ext cx="11049000" cy="9525"/>
            </a:xfrm>
            <a:custGeom>
              <a:avLst/>
              <a:gdLst/>
              <a:ahLst/>
              <a:cxnLst/>
              <a:rect l="l" t="t" r="r" b="b"/>
              <a:pathLst>
                <a:path w="11049000" h="9525">
                  <a:moveTo>
                    <a:pt x="0" y="0"/>
                  </a:moveTo>
                  <a:lnTo>
                    <a:pt x="11049000" y="0"/>
                  </a:lnTo>
                </a:path>
              </a:pathLst>
            </a:custGeom>
            <a:noFill/>
            <a:ln w="4762">
              <a:solidFill>
                <a:srgbClr val="E2E8F0"/>
              </a:solidFill>
            </a:ln>
          </p:spPr>
        </p:sp>
        <p:sp>
          <p:nvSpPr>
            <p:cNvPr id="20" name="TextBox 20"/>
            <p:cNvSpPr txBox="1"/>
            <p:nvPr/>
          </p:nvSpPr>
          <p:spPr>
            <a:xfrm>
              <a:off x="1151004" y="1574006"/>
              <a:ext cx="364992" cy="228600"/>
            </a:xfrm>
            <a:prstGeom prst="rect">
              <a:avLst/>
            </a:prstGeom>
            <a:noFill/>
            <a:ln>
              <a:noFill/>
            </a:ln>
          </p:spPr>
          <p:txBody>
            <a:bodyPr wrap="none" lIns="0" tIns="0" rIns="0" bIns="0" anchor="t" anchorCtr="0">
              <a:spAutoFit/>
            </a:bodyPr>
            <a:lstStyle/>
            <a:p>
              <a:pPr algn="ctr"/>
              <a:r>
                <a:rPr lang="zh-CN" sz="1125" b="1" dirty="0">
                  <a:solidFill>
                    <a:srgbClr val="1A3A5C"/>
                  </a:solidFill>
                  <a:latin typeface="Arial" panose="020B0604020202020204"/>
                  <a:ea typeface="微软雅黑" panose="020B0503020204020204" charset="-122"/>
                  <a:cs typeface="Arial" panose="020B0604020202020204"/>
                </a:rPr>
                <a:t>2014</a:t>
              </a:r>
              <a:endParaRPr lang="zh-CN" sz="1125" b="1" dirty="0">
                <a:solidFill>
                  <a:srgbClr val="1A3A5C"/>
                </a:solidFill>
                <a:latin typeface="Arial" panose="020B0604020202020204"/>
                <a:ea typeface="微软雅黑" panose="020B0503020204020204" charset="-122"/>
                <a:cs typeface="Arial" panose="020B0604020202020204"/>
              </a:endParaRPr>
            </a:p>
          </p:txBody>
        </p:sp>
        <p:sp>
          <p:nvSpPr>
            <p:cNvPr id="21" name="TextBox 21"/>
            <p:cNvSpPr txBox="1"/>
            <p:nvPr/>
          </p:nvSpPr>
          <p:spPr>
            <a:xfrm>
              <a:off x="3379291" y="1574006"/>
              <a:ext cx="480417"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panose="020B0604020202020204"/>
                  <a:ea typeface="微软雅黑" panose="020B0503020204020204" charset="-122"/>
                  <a:cs typeface="Arial" panose="020B0604020202020204"/>
                </a:rPr>
                <a:t>3,658</a:t>
              </a:r>
              <a:endParaRPr lang="zh-CN" sz="1125" dirty="0">
                <a:solidFill>
                  <a:srgbClr val="1A1A2E"/>
                </a:solidFill>
                <a:latin typeface="Arial" panose="020B0604020202020204"/>
                <a:ea typeface="微软雅黑" panose="020B0503020204020204" charset="-122"/>
                <a:cs typeface="Arial" panose="020B0604020202020204"/>
              </a:endParaRPr>
            </a:p>
          </p:txBody>
        </p:sp>
        <p:sp>
          <p:nvSpPr>
            <p:cNvPr id="22" name="TextBox 22"/>
            <p:cNvSpPr txBox="1"/>
            <p:nvPr/>
          </p:nvSpPr>
          <p:spPr>
            <a:xfrm>
              <a:off x="6087368" y="1574006"/>
              <a:ext cx="398264"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panose="020B0604020202020204"/>
                  <a:ea typeface="微软雅黑" panose="020B0503020204020204" charset="-122"/>
                  <a:cs typeface="Arial" panose="020B0604020202020204"/>
                </a:rPr>
                <a:t>3,611</a:t>
              </a:r>
              <a:endParaRPr lang="zh-CN" sz="1125" dirty="0">
                <a:solidFill>
                  <a:srgbClr val="1A1A2E"/>
                </a:solidFill>
                <a:latin typeface="Arial" panose="020B0604020202020204"/>
                <a:ea typeface="微软雅黑" panose="020B0503020204020204" charset="-122"/>
                <a:cs typeface="Arial" panose="020B0604020202020204"/>
              </a:endParaRPr>
            </a:p>
          </p:txBody>
        </p:sp>
        <p:sp>
          <p:nvSpPr>
            <p:cNvPr id="23" name="TextBox 23"/>
            <p:cNvSpPr txBox="1"/>
            <p:nvPr/>
          </p:nvSpPr>
          <p:spPr>
            <a:xfrm>
              <a:off x="8618815" y="1574006"/>
              <a:ext cx="669369"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panose="020B0604020202020204"/>
                  <a:ea typeface="微软雅黑" panose="020B0503020204020204" charset="-122"/>
                  <a:cs typeface="Arial" panose="020B0604020202020204"/>
                </a:rPr>
                <a:t>30,311.9</a:t>
              </a:r>
              <a:endParaRPr lang="zh-CN" sz="1125" dirty="0">
                <a:solidFill>
                  <a:srgbClr val="1A1A2E"/>
                </a:solidFill>
                <a:latin typeface="Arial" panose="020B0604020202020204"/>
                <a:ea typeface="微软雅黑" panose="020B0503020204020204" charset="-122"/>
                <a:cs typeface="Arial" panose="020B0604020202020204"/>
              </a:endParaRPr>
            </a:p>
          </p:txBody>
        </p:sp>
        <p:sp>
          <p:nvSpPr>
            <p:cNvPr id="24" name="Rectangle 24"/>
            <p:cNvSpPr/>
            <p:nvPr/>
          </p:nvSpPr>
          <p:spPr>
            <a:xfrm>
              <a:off x="10429875" y="1571625"/>
              <a:ext cx="571500" cy="209550"/>
            </a:xfrm>
            <a:prstGeom prst="roundRect">
              <a:avLst>
                <a:gd name="adj" fmla="val 18182"/>
              </a:avLst>
            </a:prstGeom>
            <a:solidFill>
              <a:srgbClr val="2E7D32">
                <a:alpha val="12000"/>
              </a:srgbClr>
            </a:solidFill>
            <a:ln>
              <a:noFill/>
            </a:ln>
          </p:spPr>
        </p:sp>
        <p:sp>
          <p:nvSpPr>
            <p:cNvPr id="25" name="TextBox 25"/>
            <p:cNvSpPr txBox="1"/>
            <p:nvPr/>
          </p:nvSpPr>
          <p:spPr>
            <a:xfrm>
              <a:off x="10621839" y="1609249"/>
              <a:ext cx="473321" cy="198120"/>
            </a:xfrm>
            <a:prstGeom prst="rect">
              <a:avLst/>
            </a:prstGeom>
            <a:noFill/>
            <a:ln>
              <a:noFill/>
            </a:ln>
          </p:spPr>
          <p:txBody>
            <a:bodyPr wrap="none" lIns="0" tIns="0" rIns="0" bIns="0" anchor="t" anchorCtr="0">
              <a:spAutoFit/>
            </a:bodyPr>
            <a:lstStyle/>
            <a:p>
              <a:pPr algn="ctr"/>
              <a:r>
                <a:rPr lang="zh-CN" sz="975" b="1" dirty="0">
                  <a:solidFill>
                    <a:srgbClr val="2E7D32"/>
                  </a:solidFill>
                  <a:latin typeface="Arial" panose="020B0604020202020204"/>
                  <a:ea typeface="微软雅黑" panose="020B0503020204020204" charset="-122"/>
                  <a:cs typeface="Arial" panose="020B0604020202020204"/>
                </a:rPr>
                <a:t>增长期</a:t>
              </a:r>
              <a:endParaRPr lang="zh-CN" sz="975" b="1" dirty="0">
                <a:solidFill>
                  <a:srgbClr val="2E7D32"/>
                </a:solidFill>
                <a:latin typeface="Arial" panose="020B0604020202020204"/>
                <a:ea typeface="微软雅黑" panose="020B0503020204020204" charset="-122"/>
                <a:cs typeface="Arial" panose="020B0604020202020204"/>
              </a:endParaRPr>
            </a:p>
          </p:txBody>
        </p:sp>
        <p:sp>
          <p:nvSpPr>
            <p:cNvPr id="26" name="Line 26"/>
            <p:cNvSpPr/>
            <p:nvPr/>
          </p:nvSpPr>
          <p:spPr>
            <a:xfrm>
              <a:off x="571500" y="1866900"/>
              <a:ext cx="11049000" cy="9525"/>
            </a:xfrm>
            <a:custGeom>
              <a:avLst/>
              <a:gdLst/>
              <a:ahLst/>
              <a:cxnLst/>
              <a:rect l="l" t="t" r="r" b="b"/>
              <a:pathLst>
                <a:path w="11049000" h="9525">
                  <a:moveTo>
                    <a:pt x="0" y="0"/>
                  </a:moveTo>
                  <a:lnTo>
                    <a:pt x="11049000" y="0"/>
                  </a:lnTo>
                </a:path>
              </a:pathLst>
            </a:custGeom>
            <a:noFill/>
            <a:ln w="4762">
              <a:solidFill>
                <a:srgbClr val="E2E8F0"/>
              </a:solidFill>
            </a:ln>
          </p:spPr>
        </p:sp>
        <p:sp>
          <p:nvSpPr>
            <p:cNvPr id="27" name="Rectangle 27"/>
            <p:cNvSpPr/>
            <p:nvPr/>
          </p:nvSpPr>
          <p:spPr>
            <a:xfrm>
              <a:off x="571500" y="1866900"/>
              <a:ext cx="11049000" cy="400050"/>
            </a:xfrm>
            <a:prstGeom prst="rect">
              <a:avLst/>
            </a:prstGeom>
            <a:solidFill>
              <a:srgbClr val="F0F4F8">
                <a:alpha val="50000"/>
              </a:srgbClr>
            </a:solidFill>
            <a:ln>
              <a:noFill/>
            </a:ln>
          </p:spPr>
        </p:sp>
        <p:sp>
          <p:nvSpPr>
            <p:cNvPr id="28" name="TextBox 28"/>
            <p:cNvSpPr txBox="1"/>
            <p:nvPr/>
          </p:nvSpPr>
          <p:spPr>
            <a:xfrm>
              <a:off x="1151004" y="1974056"/>
              <a:ext cx="364992" cy="228600"/>
            </a:xfrm>
            <a:prstGeom prst="rect">
              <a:avLst/>
            </a:prstGeom>
            <a:noFill/>
            <a:ln>
              <a:noFill/>
            </a:ln>
          </p:spPr>
          <p:txBody>
            <a:bodyPr wrap="none" lIns="0" tIns="0" rIns="0" bIns="0" anchor="t" anchorCtr="0">
              <a:spAutoFit/>
            </a:bodyPr>
            <a:lstStyle/>
            <a:p>
              <a:pPr algn="ctr"/>
              <a:r>
                <a:rPr lang="zh-CN" sz="1125" b="1" dirty="0">
                  <a:solidFill>
                    <a:srgbClr val="1A3A5C"/>
                  </a:solidFill>
                  <a:latin typeface="Arial" panose="020B0604020202020204"/>
                  <a:ea typeface="微软雅黑" panose="020B0503020204020204" charset="-122"/>
                  <a:cs typeface="Arial" panose="020B0604020202020204"/>
                </a:rPr>
                <a:t>2015</a:t>
              </a:r>
              <a:endParaRPr lang="zh-CN" sz="1125" b="1" dirty="0">
                <a:solidFill>
                  <a:srgbClr val="1A3A5C"/>
                </a:solidFill>
                <a:latin typeface="Arial" panose="020B0604020202020204"/>
                <a:ea typeface="微软雅黑" panose="020B0503020204020204" charset="-122"/>
                <a:cs typeface="Arial" panose="020B0604020202020204"/>
              </a:endParaRPr>
            </a:p>
          </p:txBody>
        </p:sp>
        <p:sp>
          <p:nvSpPr>
            <p:cNvPr id="29" name="TextBox 29"/>
            <p:cNvSpPr txBox="1"/>
            <p:nvPr/>
          </p:nvSpPr>
          <p:spPr>
            <a:xfrm>
              <a:off x="3379291" y="1974056"/>
              <a:ext cx="480417"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panose="020B0604020202020204"/>
                  <a:ea typeface="微软雅黑" panose="020B0503020204020204" charset="-122"/>
                  <a:cs typeface="Arial" panose="020B0604020202020204"/>
                </a:rPr>
                <a:t>3,852</a:t>
              </a:r>
              <a:endParaRPr lang="zh-CN" sz="1125" dirty="0">
                <a:solidFill>
                  <a:srgbClr val="1A1A2E"/>
                </a:solidFill>
                <a:latin typeface="Arial" panose="020B0604020202020204"/>
                <a:ea typeface="微软雅黑" panose="020B0503020204020204" charset="-122"/>
                <a:cs typeface="Arial" panose="020B0604020202020204"/>
              </a:endParaRPr>
            </a:p>
          </p:txBody>
        </p:sp>
        <p:sp>
          <p:nvSpPr>
            <p:cNvPr id="30" name="TextBox 30"/>
            <p:cNvSpPr txBox="1"/>
            <p:nvPr/>
          </p:nvSpPr>
          <p:spPr>
            <a:xfrm>
              <a:off x="6046291" y="1974056"/>
              <a:ext cx="480417"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panose="020B0604020202020204"/>
                  <a:ea typeface="微软雅黑" panose="020B0503020204020204" charset="-122"/>
                  <a:cs typeface="Arial" panose="020B0604020202020204"/>
                </a:rPr>
                <a:t>4,000</a:t>
              </a:r>
              <a:endParaRPr lang="zh-CN" sz="1125" dirty="0">
                <a:solidFill>
                  <a:srgbClr val="1A1A2E"/>
                </a:solidFill>
                <a:latin typeface="Arial" panose="020B0604020202020204"/>
                <a:ea typeface="微软雅黑" panose="020B0503020204020204" charset="-122"/>
                <a:cs typeface="Arial" panose="020B0604020202020204"/>
              </a:endParaRPr>
            </a:p>
          </p:txBody>
        </p:sp>
        <p:sp>
          <p:nvSpPr>
            <p:cNvPr id="31" name="TextBox 31"/>
            <p:cNvSpPr txBox="1"/>
            <p:nvPr/>
          </p:nvSpPr>
          <p:spPr>
            <a:xfrm>
              <a:off x="8618815" y="1974056"/>
              <a:ext cx="669369"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panose="020B0604020202020204"/>
                  <a:ea typeface="微软雅黑" panose="020B0503020204020204" charset="-122"/>
                  <a:cs typeface="Arial" panose="020B0604020202020204"/>
                </a:rPr>
                <a:t>34,195.1</a:t>
              </a:r>
              <a:endParaRPr lang="zh-CN" sz="1125" dirty="0">
                <a:solidFill>
                  <a:srgbClr val="1A1A2E"/>
                </a:solidFill>
                <a:latin typeface="Arial" panose="020B0604020202020204"/>
                <a:ea typeface="微软雅黑" panose="020B0503020204020204" charset="-122"/>
                <a:cs typeface="Arial" panose="020B0604020202020204"/>
              </a:endParaRPr>
            </a:p>
          </p:txBody>
        </p:sp>
        <p:sp>
          <p:nvSpPr>
            <p:cNvPr id="32" name="Rectangle 32"/>
            <p:cNvSpPr/>
            <p:nvPr/>
          </p:nvSpPr>
          <p:spPr>
            <a:xfrm>
              <a:off x="10429875" y="1971675"/>
              <a:ext cx="571500" cy="209550"/>
            </a:xfrm>
            <a:prstGeom prst="roundRect">
              <a:avLst>
                <a:gd name="adj" fmla="val 18182"/>
              </a:avLst>
            </a:prstGeom>
            <a:solidFill>
              <a:srgbClr val="2E7D32">
                <a:alpha val="12000"/>
              </a:srgbClr>
            </a:solidFill>
            <a:ln>
              <a:noFill/>
            </a:ln>
          </p:spPr>
        </p:sp>
        <p:sp>
          <p:nvSpPr>
            <p:cNvPr id="33" name="TextBox 33"/>
            <p:cNvSpPr txBox="1"/>
            <p:nvPr/>
          </p:nvSpPr>
          <p:spPr>
            <a:xfrm>
              <a:off x="10621839" y="2009299"/>
              <a:ext cx="473321" cy="198120"/>
            </a:xfrm>
            <a:prstGeom prst="rect">
              <a:avLst/>
            </a:prstGeom>
            <a:noFill/>
            <a:ln>
              <a:noFill/>
            </a:ln>
          </p:spPr>
          <p:txBody>
            <a:bodyPr wrap="none" lIns="0" tIns="0" rIns="0" bIns="0" anchor="t" anchorCtr="0">
              <a:spAutoFit/>
            </a:bodyPr>
            <a:lstStyle/>
            <a:p>
              <a:pPr algn="ctr"/>
              <a:r>
                <a:rPr lang="zh-CN" sz="975" b="1" dirty="0">
                  <a:solidFill>
                    <a:srgbClr val="2E7D32"/>
                  </a:solidFill>
                  <a:latin typeface="Arial" panose="020B0604020202020204"/>
                  <a:ea typeface="微软雅黑" panose="020B0503020204020204" charset="-122"/>
                  <a:cs typeface="Arial" panose="020B0604020202020204"/>
                </a:rPr>
                <a:t>增长期</a:t>
              </a:r>
              <a:endParaRPr lang="zh-CN" sz="975" b="1" dirty="0">
                <a:solidFill>
                  <a:srgbClr val="2E7D32"/>
                </a:solidFill>
                <a:latin typeface="Arial" panose="020B0604020202020204"/>
                <a:ea typeface="微软雅黑" panose="020B0503020204020204" charset="-122"/>
                <a:cs typeface="Arial" panose="020B0604020202020204"/>
              </a:endParaRPr>
            </a:p>
          </p:txBody>
        </p:sp>
        <p:sp>
          <p:nvSpPr>
            <p:cNvPr id="34" name="Line 34"/>
            <p:cNvSpPr/>
            <p:nvPr/>
          </p:nvSpPr>
          <p:spPr>
            <a:xfrm>
              <a:off x="571500" y="2266950"/>
              <a:ext cx="11049000" cy="9525"/>
            </a:xfrm>
            <a:custGeom>
              <a:avLst/>
              <a:gdLst/>
              <a:ahLst/>
              <a:cxnLst/>
              <a:rect l="l" t="t" r="r" b="b"/>
              <a:pathLst>
                <a:path w="11049000" h="9525">
                  <a:moveTo>
                    <a:pt x="0" y="0"/>
                  </a:moveTo>
                  <a:lnTo>
                    <a:pt x="11049000" y="0"/>
                  </a:lnTo>
                </a:path>
              </a:pathLst>
            </a:custGeom>
            <a:noFill/>
            <a:ln w="4762">
              <a:solidFill>
                <a:srgbClr val="E2E8F0"/>
              </a:solidFill>
            </a:ln>
          </p:spPr>
        </p:sp>
        <p:sp>
          <p:nvSpPr>
            <p:cNvPr id="35" name="TextBox 35"/>
            <p:cNvSpPr txBox="1"/>
            <p:nvPr/>
          </p:nvSpPr>
          <p:spPr>
            <a:xfrm>
              <a:off x="1151004" y="2374106"/>
              <a:ext cx="364992" cy="228600"/>
            </a:xfrm>
            <a:prstGeom prst="rect">
              <a:avLst/>
            </a:prstGeom>
            <a:noFill/>
            <a:ln>
              <a:noFill/>
            </a:ln>
          </p:spPr>
          <p:txBody>
            <a:bodyPr wrap="none" lIns="0" tIns="0" rIns="0" bIns="0" anchor="t" anchorCtr="0">
              <a:spAutoFit/>
            </a:bodyPr>
            <a:lstStyle/>
            <a:p>
              <a:pPr algn="ctr"/>
              <a:r>
                <a:rPr lang="zh-CN" sz="1125" b="1" dirty="0">
                  <a:solidFill>
                    <a:srgbClr val="1A3A5C"/>
                  </a:solidFill>
                  <a:latin typeface="Arial" panose="020B0604020202020204"/>
                  <a:ea typeface="微软雅黑" panose="020B0503020204020204" charset="-122"/>
                  <a:cs typeface="Arial" panose="020B0604020202020204"/>
                </a:rPr>
                <a:t>2016</a:t>
              </a:r>
              <a:endParaRPr lang="zh-CN" sz="1125" b="1" dirty="0">
                <a:solidFill>
                  <a:srgbClr val="1A3A5C"/>
                </a:solidFill>
                <a:latin typeface="Arial" panose="020B0604020202020204"/>
                <a:ea typeface="微软雅黑" panose="020B0503020204020204" charset="-122"/>
                <a:cs typeface="Arial" panose="020B0604020202020204"/>
              </a:endParaRPr>
            </a:p>
          </p:txBody>
        </p:sp>
        <p:sp>
          <p:nvSpPr>
            <p:cNvPr id="36" name="TextBox 36"/>
            <p:cNvSpPr txBox="1"/>
            <p:nvPr/>
          </p:nvSpPr>
          <p:spPr>
            <a:xfrm>
              <a:off x="3399830" y="2374106"/>
              <a:ext cx="439341"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panose="020B0604020202020204"/>
                  <a:ea typeface="微软雅黑" panose="020B0503020204020204" charset="-122"/>
                  <a:cs typeface="Arial" panose="020B0604020202020204"/>
                </a:rPr>
                <a:t>4,109</a:t>
              </a:r>
              <a:endParaRPr lang="zh-CN" sz="1125" dirty="0">
                <a:solidFill>
                  <a:srgbClr val="1A1A2E"/>
                </a:solidFill>
                <a:latin typeface="Arial" panose="020B0604020202020204"/>
                <a:ea typeface="微软雅黑" panose="020B0503020204020204" charset="-122"/>
                <a:cs typeface="Arial" panose="020B0604020202020204"/>
              </a:endParaRPr>
            </a:p>
          </p:txBody>
        </p:sp>
        <p:sp>
          <p:nvSpPr>
            <p:cNvPr id="37" name="TextBox 37"/>
            <p:cNvSpPr txBox="1"/>
            <p:nvPr/>
          </p:nvSpPr>
          <p:spPr>
            <a:xfrm>
              <a:off x="6046291" y="2374106"/>
              <a:ext cx="480417"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panose="020B0604020202020204"/>
                  <a:ea typeface="微软雅黑" panose="020B0503020204020204" charset="-122"/>
                  <a:cs typeface="Arial" panose="020B0604020202020204"/>
                </a:rPr>
                <a:t>4,440</a:t>
              </a:r>
              <a:endParaRPr lang="zh-CN" sz="1125" dirty="0">
                <a:solidFill>
                  <a:srgbClr val="1A1A2E"/>
                </a:solidFill>
                <a:latin typeface="Arial" panose="020B0604020202020204"/>
                <a:ea typeface="微软雅黑" panose="020B0503020204020204" charset="-122"/>
                <a:cs typeface="Arial" panose="020B0604020202020204"/>
              </a:endParaRPr>
            </a:p>
          </p:txBody>
        </p:sp>
        <p:sp>
          <p:nvSpPr>
            <p:cNvPr id="38" name="TextBox 38"/>
            <p:cNvSpPr txBox="1"/>
            <p:nvPr/>
          </p:nvSpPr>
          <p:spPr>
            <a:xfrm>
              <a:off x="8577739" y="2374106"/>
              <a:ext cx="751522"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panose="020B0604020202020204"/>
                  <a:ea typeface="微软雅黑" panose="020B0503020204020204" charset="-122"/>
                  <a:cs typeface="Arial" panose="020B0604020202020204"/>
                </a:rPr>
                <a:t>39,390.0</a:t>
              </a:r>
              <a:endParaRPr lang="zh-CN" sz="1125" dirty="0">
                <a:solidFill>
                  <a:srgbClr val="1A1A2E"/>
                </a:solidFill>
                <a:latin typeface="Arial" panose="020B0604020202020204"/>
                <a:ea typeface="微软雅黑" panose="020B0503020204020204" charset="-122"/>
                <a:cs typeface="Arial" panose="020B0604020202020204"/>
              </a:endParaRPr>
            </a:p>
          </p:txBody>
        </p:sp>
        <p:sp>
          <p:nvSpPr>
            <p:cNvPr id="39" name="Rectangle 39"/>
            <p:cNvSpPr/>
            <p:nvPr/>
          </p:nvSpPr>
          <p:spPr>
            <a:xfrm>
              <a:off x="10429875" y="2371725"/>
              <a:ext cx="571500" cy="209550"/>
            </a:xfrm>
            <a:prstGeom prst="roundRect">
              <a:avLst>
                <a:gd name="adj" fmla="val 18182"/>
              </a:avLst>
            </a:prstGeom>
            <a:solidFill>
              <a:srgbClr val="2E7D32">
                <a:alpha val="12000"/>
              </a:srgbClr>
            </a:solidFill>
            <a:ln>
              <a:noFill/>
            </a:ln>
          </p:spPr>
        </p:sp>
        <p:sp>
          <p:nvSpPr>
            <p:cNvPr id="40" name="TextBox 40"/>
            <p:cNvSpPr txBox="1"/>
            <p:nvPr/>
          </p:nvSpPr>
          <p:spPr>
            <a:xfrm>
              <a:off x="10621839" y="2409349"/>
              <a:ext cx="473321" cy="198120"/>
            </a:xfrm>
            <a:prstGeom prst="rect">
              <a:avLst/>
            </a:prstGeom>
            <a:noFill/>
            <a:ln>
              <a:noFill/>
            </a:ln>
          </p:spPr>
          <p:txBody>
            <a:bodyPr wrap="none" lIns="0" tIns="0" rIns="0" bIns="0" anchor="t" anchorCtr="0">
              <a:spAutoFit/>
            </a:bodyPr>
            <a:lstStyle/>
            <a:p>
              <a:pPr algn="ctr"/>
              <a:r>
                <a:rPr lang="zh-CN" sz="975" b="1" dirty="0">
                  <a:solidFill>
                    <a:srgbClr val="2E7D32"/>
                  </a:solidFill>
                  <a:latin typeface="Arial" panose="020B0604020202020204"/>
                  <a:ea typeface="微软雅黑" panose="020B0503020204020204" charset="-122"/>
                  <a:cs typeface="Arial" panose="020B0604020202020204"/>
                </a:rPr>
                <a:t>增长期</a:t>
              </a:r>
              <a:endParaRPr lang="zh-CN" sz="975" b="1" dirty="0">
                <a:solidFill>
                  <a:srgbClr val="2E7D32"/>
                </a:solidFill>
                <a:latin typeface="Arial" panose="020B0604020202020204"/>
                <a:ea typeface="微软雅黑" panose="020B0503020204020204" charset="-122"/>
                <a:cs typeface="Arial" panose="020B0604020202020204"/>
              </a:endParaRPr>
            </a:p>
          </p:txBody>
        </p:sp>
        <p:sp>
          <p:nvSpPr>
            <p:cNvPr id="41" name="Line 41"/>
            <p:cNvSpPr/>
            <p:nvPr/>
          </p:nvSpPr>
          <p:spPr>
            <a:xfrm>
              <a:off x="571500" y="2667000"/>
              <a:ext cx="11049000" cy="9525"/>
            </a:xfrm>
            <a:custGeom>
              <a:avLst/>
              <a:gdLst/>
              <a:ahLst/>
              <a:cxnLst/>
              <a:rect l="l" t="t" r="r" b="b"/>
              <a:pathLst>
                <a:path w="11049000" h="9525">
                  <a:moveTo>
                    <a:pt x="0" y="0"/>
                  </a:moveTo>
                  <a:lnTo>
                    <a:pt x="11049000" y="0"/>
                  </a:lnTo>
                </a:path>
              </a:pathLst>
            </a:custGeom>
            <a:noFill/>
            <a:ln w="4762">
              <a:solidFill>
                <a:srgbClr val="E2E8F0"/>
              </a:solidFill>
            </a:ln>
          </p:spPr>
        </p:sp>
        <p:sp>
          <p:nvSpPr>
            <p:cNvPr id="42" name="Rectangle 42"/>
            <p:cNvSpPr/>
            <p:nvPr/>
          </p:nvSpPr>
          <p:spPr>
            <a:xfrm>
              <a:off x="571500" y="2667000"/>
              <a:ext cx="11049000" cy="400050"/>
            </a:xfrm>
            <a:prstGeom prst="rect">
              <a:avLst/>
            </a:prstGeom>
            <a:solidFill>
              <a:srgbClr val="F0F4F8">
                <a:alpha val="50000"/>
              </a:srgbClr>
            </a:solidFill>
            <a:ln>
              <a:noFill/>
            </a:ln>
          </p:spPr>
        </p:sp>
        <p:sp>
          <p:nvSpPr>
            <p:cNvPr id="43" name="TextBox 43"/>
            <p:cNvSpPr txBox="1"/>
            <p:nvPr/>
          </p:nvSpPr>
          <p:spPr>
            <a:xfrm>
              <a:off x="1151004" y="2774156"/>
              <a:ext cx="364992" cy="228600"/>
            </a:xfrm>
            <a:prstGeom prst="rect">
              <a:avLst/>
            </a:prstGeom>
            <a:noFill/>
            <a:ln>
              <a:noFill/>
            </a:ln>
          </p:spPr>
          <p:txBody>
            <a:bodyPr wrap="none" lIns="0" tIns="0" rIns="0" bIns="0" anchor="t" anchorCtr="0">
              <a:spAutoFit/>
            </a:bodyPr>
            <a:lstStyle/>
            <a:p>
              <a:pPr algn="ctr"/>
              <a:r>
                <a:rPr lang="zh-CN" sz="1125" b="1" dirty="0">
                  <a:solidFill>
                    <a:srgbClr val="1A3A5C"/>
                  </a:solidFill>
                  <a:latin typeface="Arial" panose="020B0604020202020204"/>
                  <a:ea typeface="微软雅黑" panose="020B0503020204020204" charset="-122"/>
                  <a:cs typeface="Arial" panose="020B0604020202020204"/>
                </a:rPr>
                <a:t>2017</a:t>
              </a:r>
              <a:endParaRPr lang="zh-CN" sz="1125" b="1" dirty="0">
                <a:solidFill>
                  <a:srgbClr val="1A3A5C"/>
                </a:solidFill>
                <a:latin typeface="Arial" panose="020B0604020202020204"/>
                <a:ea typeface="微软雅黑" panose="020B0503020204020204" charset="-122"/>
                <a:cs typeface="Arial" panose="020B0604020202020204"/>
              </a:endParaRPr>
            </a:p>
          </p:txBody>
        </p:sp>
        <p:sp>
          <p:nvSpPr>
            <p:cNvPr id="44" name="TextBox 44"/>
            <p:cNvSpPr txBox="1"/>
            <p:nvPr/>
          </p:nvSpPr>
          <p:spPr>
            <a:xfrm>
              <a:off x="3399830" y="2774156"/>
              <a:ext cx="439341"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panose="020B0604020202020204"/>
                  <a:ea typeface="微软雅黑" panose="020B0503020204020204" charset="-122"/>
                  <a:cs typeface="Arial" panose="020B0604020202020204"/>
                </a:rPr>
                <a:t>4,721</a:t>
              </a:r>
              <a:endParaRPr lang="zh-CN" sz="1125" dirty="0">
                <a:solidFill>
                  <a:srgbClr val="1A1A2E"/>
                </a:solidFill>
                <a:latin typeface="Arial" panose="020B0604020202020204"/>
                <a:ea typeface="微软雅黑" panose="020B0503020204020204" charset="-122"/>
                <a:cs typeface="Arial" panose="020B0604020202020204"/>
              </a:endParaRPr>
            </a:p>
          </p:txBody>
        </p:sp>
        <p:sp>
          <p:nvSpPr>
            <p:cNvPr id="45" name="TextBox 45"/>
            <p:cNvSpPr txBox="1"/>
            <p:nvPr/>
          </p:nvSpPr>
          <p:spPr>
            <a:xfrm>
              <a:off x="6066830" y="2774156"/>
              <a:ext cx="439341"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panose="020B0604020202020204"/>
                  <a:ea typeface="微软雅黑" panose="020B0503020204020204" charset="-122"/>
                  <a:cs typeface="Arial" panose="020B0604020202020204"/>
                </a:rPr>
                <a:t>5,001</a:t>
              </a:r>
              <a:endParaRPr lang="zh-CN" sz="1125" dirty="0">
                <a:solidFill>
                  <a:srgbClr val="1A1A2E"/>
                </a:solidFill>
                <a:latin typeface="Arial" panose="020B0604020202020204"/>
                <a:ea typeface="微软雅黑" panose="020B0503020204020204" charset="-122"/>
                <a:cs typeface="Arial" panose="020B0604020202020204"/>
              </a:endParaRPr>
            </a:p>
          </p:txBody>
        </p:sp>
        <p:sp>
          <p:nvSpPr>
            <p:cNvPr id="46" name="TextBox 46"/>
            <p:cNvSpPr txBox="1"/>
            <p:nvPr/>
          </p:nvSpPr>
          <p:spPr>
            <a:xfrm>
              <a:off x="8577739" y="2774156"/>
              <a:ext cx="751522"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panose="020B0604020202020204"/>
                  <a:ea typeface="微软雅黑" panose="020B0503020204020204" charset="-122"/>
                  <a:cs typeface="Arial" panose="020B0604020202020204"/>
                </a:rPr>
                <a:t>45,660.9</a:t>
              </a:r>
              <a:endParaRPr lang="zh-CN" sz="1125" dirty="0">
                <a:solidFill>
                  <a:srgbClr val="1A1A2E"/>
                </a:solidFill>
                <a:latin typeface="Arial" panose="020B0604020202020204"/>
                <a:ea typeface="微软雅黑" panose="020B0503020204020204" charset="-122"/>
                <a:cs typeface="Arial" panose="020B0604020202020204"/>
              </a:endParaRPr>
            </a:p>
          </p:txBody>
        </p:sp>
        <p:sp>
          <p:nvSpPr>
            <p:cNvPr id="47" name="Rectangle 47"/>
            <p:cNvSpPr/>
            <p:nvPr/>
          </p:nvSpPr>
          <p:spPr>
            <a:xfrm>
              <a:off x="10429875" y="2771775"/>
              <a:ext cx="571500" cy="209550"/>
            </a:xfrm>
            <a:prstGeom prst="roundRect">
              <a:avLst>
                <a:gd name="adj" fmla="val 18182"/>
              </a:avLst>
            </a:prstGeom>
            <a:solidFill>
              <a:srgbClr val="2E7D32">
                <a:alpha val="12000"/>
              </a:srgbClr>
            </a:solidFill>
            <a:ln>
              <a:noFill/>
            </a:ln>
          </p:spPr>
        </p:sp>
        <p:sp>
          <p:nvSpPr>
            <p:cNvPr id="48" name="TextBox 48"/>
            <p:cNvSpPr txBox="1"/>
            <p:nvPr/>
          </p:nvSpPr>
          <p:spPr>
            <a:xfrm>
              <a:off x="10621839" y="2809399"/>
              <a:ext cx="473321" cy="198120"/>
            </a:xfrm>
            <a:prstGeom prst="rect">
              <a:avLst/>
            </a:prstGeom>
            <a:noFill/>
            <a:ln>
              <a:noFill/>
            </a:ln>
          </p:spPr>
          <p:txBody>
            <a:bodyPr wrap="none" lIns="0" tIns="0" rIns="0" bIns="0" anchor="t" anchorCtr="0">
              <a:spAutoFit/>
            </a:bodyPr>
            <a:lstStyle/>
            <a:p>
              <a:pPr algn="ctr"/>
              <a:r>
                <a:rPr lang="zh-CN" sz="975" b="1" dirty="0">
                  <a:solidFill>
                    <a:srgbClr val="2E7D32"/>
                  </a:solidFill>
                  <a:latin typeface="Arial" panose="020B0604020202020204"/>
                  <a:ea typeface="微软雅黑" panose="020B0503020204020204" charset="-122"/>
                  <a:cs typeface="Arial" panose="020B0604020202020204"/>
                </a:rPr>
                <a:t>增长期</a:t>
              </a:r>
              <a:endParaRPr lang="zh-CN" sz="975" b="1" dirty="0">
                <a:solidFill>
                  <a:srgbClr val="2E7D32"/>
                </a:solidFill>
                <a:latin typeface="Arial" panose="020B0604020202020204"/>
                <a:ea typeface="微软雅黑" panose="020B0503020204020204" charset="-122"/>
                <a:cs typeface="Arial" panose="020B0604020202020204"/>
              </a:endParaRPr>
            </a:p>
          </p:txBody>
        </p:sp>
        <p:sp>
          <p:nvSpPr>
            <p:cNvPr id="49" name="Line 49"/>
            <p:cNvSpPr/>
            <p:nvPr/>
          </p:nvSpPr>
          <p:spPr>
            <a:xfrm>
              <a:off x="571500" y="3067050"/>
              <a:ext cx="11049000" cy="9525"/>
            </a:xfrm>
            <a:custGeom>
              <a:avLst/>
              <a:gdLst/>
              <a:ahLst/>
              <a:cxnLst/>
              <a:rect l="l" t="t" r="r" b="b"/>
              <a:pathLst>
                <a:path w="11049000" h="9525">
                  <a:moveTo>
                    <a:pt x="0" y="0"/>
                  </a:moveTo>
                  <a:lnTo>
                    <a:pt x="11049000" y="0"/>
                  </a:lnTo>
                </a:path>
              </a:pathLst>
            </a:custGeom>
            <a:noFill/>
            <a:ln w="4762">
              <a:solidFill>
                <a:srgbClr val="E2E8F0"/>
              </a:solidFill>
            </a:ln>
          </p:spPr>
        </p:sp>
        <p:sp>
          <p:nvSpPr>
            <p:cNvPr id="50" name="TextBox 50"/>
            <p:cNvSpPr txBox="1"/>
            <p:nvPr/>
          </p:nvSpPr>
          <p:spPr>
            <a:xfrm>
              <a:off x="1151004" y="3174206"/>
              <a:ext cx="364992" cy="228600"/>
            </a:xfrm>
            <a:prstGeom prst="rect">
              <a:avLst/>
            </a:prstGeom>
            <a:noFill/>
            <a:ln>
              <a:noFill/>
            </a:ln>
          </p:spPr>
          <p:txBody>
            <a:bodyPr wrap="none" lIns="0" tIns="0" rIns="0" bIns="0" anchor="t" anchorCtr="0">
              <a:spAutoFit/>
            </a:bodyPr>
            <a:lstStyle/>
            <a:p>
              <a:pPr algn="ctr"/>
              <a:r>
                <a:rPr lang="zh-CN" sz="1125" b="1" dirty="0">
                  <a:solidFill>
                    <a:srgbClr val="1A3A5C"/>
                  </a:solidFill>
                  <a:latin typeface="Arial" panose="020B0604020202020204"/>
                  <a:ea typeface="微软雅黑" panose="020B0503020204020204" charset="-122"/>
                  <a:cs typeface="Arial" panose="020B0604020202020204"/>
                </a:rPr>
                <a:t>2018</a:t>
              </a:r>
              <a:endParaRPr lang="zh-CN" sz="1125" b="1" dirty="0">
                <a:solidFill>
                  <a:srgbClr val="1A3A5C"/>
                </a:solidFill>
                <a:latin typeface="Arial" panose="020B0604020202020204"/>
                <a:ea typeface="微软雅黑" panose="020B0503020204020204" charset="-122"/>
                <a:cs typeface="Arial" panose="020B0604020202020204"/>
              </a:endParaRPr>
            </a:p>
          </p:txBody>
        </p:sp>
        <p:sp>
          <p:nvSpPr>
            <p:cNvPr id="51" name="TextBox 51"/>
            <p:cNvSpPr txBox="1"/>
            <p:nvPr/>
          </p:nvSpPr>
          <p:spPr>
            <a:xfrm>
              <a:off x="3399830" y="3174206"/>
              <a:ext cx="439341"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panose="020B0604020202020204"/>
                  <a:ea typeface="微软雅黑" panose="020B0503020204020204" charset="-122"/>
                  <a:cs typeface="Arial" panose="020B0604020202020204"/>
                </a:rPr>
                <a:t>4,918</a:t>
              </a:r>
              <a:endParaRPr lang="zh-CN" sz="1125" dirty="0">
                <a:solidFill>
                  <a:srgbClr val="1A1A2E"/>
                </a:solidFill>
                <a:latin typeface="Arial" panose="020B0604020202020204"/>
                <a:ea typeface="微软雅黑" panose="020B0503020204020204" charset="-122"/>
                <a:cs typeface="Arial" panose="020B0604020202020204"/>
              </a:endParaRPr>
            </a:p>
          </p:txBody>
        </p:sp>
        <p:sp>
          <p:nvSpPr>
            <p:cNvPr id="52" name="TextBox 52"/>
            <p:cNvSpPr txBox="1"/>
            <p:nvPr/>
          </p:nvSpPr>
          <p:spPr>
            <a:xfrm>
              <a:off x="6046291" y="3174206"/>
              <a:ext cx="480417"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panose="020B0604020202020204"/>
                  <a:ea typeface="微软雅黑" panose="020B0503020204020204" charset="-122"/>
                  <a:cs typeface="Arial" panose="020B0604020202020204"/>
                </a:rPr>
                <a:t>5,539</a:t>
              </a:r>
              <a:endParaRPr lang="zh-CN" sz="1125" dirty="0">
                <a:solidFill>
                  <a:srgbClr val="1A1A2E"/>
                </a:solidFill>
                <a:latin typeface="Arial" panose="020B0604020202020204"/>
                <a:ea typeface="微软雅黑" panose="020B0503020204020204" charset="-122"/>
                <a:cs typeface="Arial" panose="020B0604020202020204"/>
              </a:endParaRPr>
            </a:p>
          </p:txBody>
        </p:sp>
        <p:sp>
          <p:nvSpPr>
            <p:cNvPr id="53" name="TextBox 53"/>
            <p:cNvSpPr txBox="1"/>
            <p:nvPr/>
          </p:nvSpPr>
          <p:spPr>
            <a:xfrm>
              <a:off x="8598277" y="3174206"/>
              <a:ext cx="710446"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panose="020B0604020202020204"/>
                  <a:ea typeface="微软雅黑" panose="020B0503020204020204" charset="-122"/>
                  <a:cs typeface="Arial" panose="020B0604020202020204"/>
                </a:rPr>
                <a:t>51,278.3</a:t>
              </a:r>
              <a:endParaRPr lang="zh-CN" sz="1125" dirty="0">
                <a:solidFill>
                  <a:srgbClr val="1A1A2E"/>
                </a:solidFill>
                <a:latin typeface="Arial" panose="020B0604020202020204"/>
                <a:ea typeface="微软雅黑" panose="020B0503020204020204" charset="-122"/>
                <a:cs typeface="Arial" panose="020B0604020202020204"/>
              </a:endParaRPr>
            </a:p>
          </p:txBody>
        </p:sp>
        <p:sp>
          <p:nvSpPr>
            <p:cNvPr id="54" name="Rectangle 54"/>
            <p:cNvSpPr/>
            <p:nvPr/>
          </p:nvSpPr>
          <p:spPr>
            <a:xfrm>
              <a:off x="10429875" y="3171825"/>
              <a:ext cx="571500" cy="209550"/>
            </a:xfrm>
            <a:prstGeom prst="roundRect">
              <a:avLst>
                <a:gd name="adj" fmla="val 18182"/>
              </a:avLst>
            </a:prstGeom>
            <a:solidFill>
              <a:srgbClr val="2E7D32">
                <a:alpha val="12000"/>
              </a:srgbClr>
            </a:solidFill>
            <a:ln>
              <a:noFill/>
            </a:ln>
          </p:spPr>
        </p:sp>
        <p:sp>
          <p:nvSpPr>
            <p:cNvPr id="55" name="TextBox 55"/>
            <p:cNvSpPr txBox="1"/>
            <p:nvPr/>
          </p:nvSpPr>
          <p:spPr>
            <a:xfrm>
              <a:off x="10621839" y="3209449"/>
              <a:ext cx="473321" cy="198120"/>
            </a:xfrm>
            <a:prstGeom prst="rect">
              <a:avLst/>
            </a:prstGeom>
            <a:noFill/>
            <a:ln>
              <a:noFill/>
            </a:ln>
          </p:spPr>
          <p:txBody>
            <a:bodyPr wrap="none" lIns="0" tIns="0" rIns="0" bIns="0" anchor="t" anchorCtr="0">
              <a:spAutoFit/>
            </a:bodyPr>
            <a:lstStyle/>
            <a:p>
              <a:pPr algn="ctr"/>
              <a:r>
                <a:rPr lang="zh-CN" sz="975" b="1" dirty="0">
                  <a:solidFill>
                    <a:srgbClr val="2E7D32"/>
                  </a:solidFill>
                  <a:latin typeface="Arial" panose="020B0604020202020204"/>
                  <a:ea typeface="微软雅黑" panose="020B0503020204020204" charset="-122"/>
                  <a:cs typeface="Arial" panose="020B0604020202020204"/>
                </a:rPr>
                <a:t>增长期</a:t>
              </a:r>
              <a:endParaRPr lang="zh-CN" sz="975" b="1" dirty="0">
                <a:solidFill>
                  <a:srgbClr val="2E7D32"/>
                </a:solidFill>
                <a:latin typeface="Arial" panose="020B0604020202020204"/>
                <a:ea typeface="微软雅黑" panose="020B0503020204020204" charset="-122"/>
                <a:cs typeface="Arial" panose="020B0604020202020204"/>
              </a:endParaRPr>
            </a:p>
          </p:txBody>
        </p:sp>
        <p:sp>
          <p:nvSpPr>
            <p:cNvPr id="56" name="Line 56"/>
            <p:cNvSpPr/>
            <p:nvPr/>
          </p:nvSpPr>
          <p:spPr>
            <a:xfrm>
              <a:off x="571500" y="3467100"/>
              <a:ext cx="11049000" cy="9525"/>
            </a:xfrm>
            <a:custGeom>
              <a:avLst/>
              <a:gdLst/>
              <a:ahLst/>
              <a:cxnLst/>
              <a:rect l="l" t="t" r="r" b="b"/>
              <a:pathLst>
                <a:path w="11049000" h="9525">
                  <a:moveTo>
                    <a:pt x="0" y="0"/>
                  </a:moveTo>
                  <a:lnTo>
                    <a:pt x="11049000" y="0"/>
                  </a:lnTo>
                </a:path>
              </a:pathLst>
            </a:custGeom>
            <a:noFill/>
            <a:ln w="4762">
              <a:solidFill>
                <a:srgbClr val="E2E8F0"/>
              </a:solidFill>
            </a:ln>
          </p:spPr>
        </p:sp>
        <p:sp>
          <p:nvSpPr>
            <p:cNvPr id="57" name="Rectangle 57"/>
            <p:cNvSpPr/>
            <p:nvPr/>
          </p:nvSpPr>
          <p:spPr>
            <a:xfrm>
              <a:off x="571500" y="3467100"/>
              <a:ext cx="11049000" cy="400050"/>
            </a:xfrm>
            <a:prstGeom prst="rect">
              <a:avLst/>
            </a:prstGeom>
            <a:solidFill>
              <a:srgbClr val="F0F4F8">
                <a:alpha val="50000"/>
              </a:srgbClr>
            </a:solidFill>
            <a:ln>
              <a:noFill/>
            </a:ln>
          </p:spPr>
        </p:sp>
        <p:sp>
          <p:nvSpPr>
            <p:cNvPr id="58" name="TextBox 58"/>
            <p:cNvSpPr txBox="1"/>
            <p:nvPr/>
          </p:nvSpPr>
          <p:spPr>
            <a:xfrm>
              <a:off x="1151004" y="3574256"/>
              <a:ext cx="364992" cy="228600"/>
            </a:xfrm>
            <a:prstGeom prst="rect">
              <a:avLst/>
            </a:prstGeom>
            <a:noFill/>
            <a:ln>
              <a:noFill/>
            </a:ln>
          </p:spPr>
          <p:txBody>
            <a:bodyPr wrap="none" lIns="0" tIns="0" rIns="0" bIns="0" anchor="t" anchorCtr="0">
              <a:spAutoFit/>
            </a:bodyPr>
            <a:lstStyle/>
            <a:p>
              <a:pPr algn="ctr"/>
              <a:r>
                <a:rPr lang="zh-CN" sz="1125" b="1" dirty="0">
                  <a:solidFill>
                    <a:srgbClr val="1A3A5C"/>
                  </a:solidFill>
                  <a:latin typeface="Arial" panose="020B0604020202020204"/>
                  <a:ea typeface="微软雅黑" panose="020B0503020204020204" charset="-122"/>
                  <a:cs typeface="Arial" panose="020B0604020202020204"/>
                </a:rPr>
                <a:t>2019</a:t>
              </a:r>
              <a:endParaRPr lang="zh-CN" sz="1125" b="1" dirty="0">
                <a:solidFill>
                  <a:srgbClr val="1A3A5C"/>
                </a:solidFill>
                <a:latin typeface="Arial" panose="020B0604020202020204"/>
                <a:ea typeface="微软雅黑" panose="020B0503020204020204" charset="-122"/>
                <a:cs typeface="Arial" panose="020B0604020202020204"/>
              </a:endParaRPr>
            </a:p>
          </p:txBody>
        </p:sp>
        <p:sp>
          <p:nvSpPr>
            <p:cNvPr id="59" name="TextBox 59"/>
            <p:cNvSpPr txBox="1"/>
            <p:nvPr/>
          </p:nvSpPr>
          <p:spPr>
            <a:xfrm>
              <a:off x="3399830" y="3574256"/>
              <a:ext cx="439341"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panose="020B0604020202020204"/>
                  <a:ea typeface="微软雅黑" panose="020B0503020204020204" charset="-122"/>
                  <a:cs typeface="Arial" panose="020B0604020202020204"/>
                </a:rPr>
                <a:t>5,132</a:t>
              </a:r>
              <a:endParaRPr lang="zh-CN" sz="1125" dirty="0">
                <a:solidFill>
                  <a:srgbClr val="1A1A2E"/>
                </a:solidFill>
                <a:latin typeface="Arial" panose="020B0604020202020204"/>
                <a:ea typeface="微软雅黑" panose="020B0503020204020204" charset="-122"/>
                <a:cs typeface="Arial" panose="020B0604020202020204"/>
              </a:endParaRPr>
            </a:p>
          </p:txBody>
        </p:sp>
        <p:sp>
          <p:nvSpPr>
            <p:cNvPr id="60" name="TextBox 60"/>
            <p:cNvSpPr txBox="1"/>
            <p:nvPr/>
          </p:nvSpPr>
          <p:spPr>
            <a:xfrm>
              <a:off x="6046291" y="3574256"/>
              <a:ext cx="480417"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panose="020B0604020202020204"/>
                  <a:ea typeface="微软雅黑" panose="020B0503020204020204" charset="-122"/>
                  <a:cs typeface="Arial" panose="020B0604020202020204"/>
                </a:rPr>
                <a:t>6,006</a:t>
              </a:r>
              <a:endParaRPr lang="zh-CN" sz="1125" dirty="0">
                <a:solidFill>
                  <a:srgbClr val="1A1A2E"/>
                </a:solidFill>
                <a:latin typeface="Arial" panose="020B0604020202020204"/>
                <a:ea typeface="微软雅黑" panose="020B0503020204020204" charset="-122"/>
                <a:cs typeface="Arial" panose="020B0604020202020204"/>
              </a:endParaRPr>
            </a:p>
          </p:txBody>
        </p:sp>
        <p:sp>
          <p:nvSpPr>
            <p:cNvPr id="61" name="TextBox 61"/>
            <p:cNvSpPr txBox="1"/>
            <p:nvPr/>
          </p:nvSpPr>
          <p:spPr>
            <a:xfrm>
              <a:off x="8598277" y="3574256"/>
              <a:ext cx="710446"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panose="020B0604020202020204"/>
                  <a:ea typeface="微软雅黑" panose="020B0503020204020204" charset="-122"/>
                  <a:cs typeface="Arial" panose="020B0604020202020204"/>
                </a:rPr>
                <a:t>57,251.0</a:t>
              </a:r>
              <a:endParaRPr lang="zh-CN" sz="1125" dirty="0">
                <a:solidFill>
                  <a:srgbClr val="1A1A2E"/>
                </a:solidFill>
                <a:latin typeface="Arial" panose="020B0604020202020204"/>
                <a:ea typeface="微软雅黑" panose="020B0503020204020204" charset="-122"/>
                <a:cs typeface="Arial" panose="020B0604020202020204"/>
              </a:endParaRPr>
            </a:p>
          </p:txBody>
        </p:sp>
        <p:sp>
          <p:nvSpPr>
            <p:cNvPr id="62" name="Rectangle 62"/>
            <p:cNvSpPr/>
            <p:nvPr/>
          </p:nvSpPr>
          <p:spPr>
            <a:xfrm>
              <a:off x="10429875" y="3571875"/>
              <a:ext cx="571500" cy="209550"/>
            </a:xfrm>
            <a:prstGeom prst="roundRect">
              <a:avLst>
                <a:gd name="adj" fmla="val 18182"/>
              </a:avLst>
            </a:prstGeom>
            <a:solidFill>
              <a:srgbClr val="1A3A5C">
                <a:alpha val="12000"/>
              </a:srgbClr>
            </a:solidFill>
            <a:ln>
              <a:noFill/>
            </a:ln>
          </p:spPr>
        </p:sp>
        <p:sp>
          <p:nvSpPr>
            <p:cNvPr id="63" name="TextBox 63"/>
            <p:cNvSpPr txBox="1"/>
            <p:nvPr/>
          </p:nvSpPr>
          <p:spPr>
            <a:xfrm>
              <a:off x="10696599" y="3609499"/>
              <a:ext cx="323802" cy="198120"/>
            </a:xfrm>
            <a:prstGeom prst="rect">
              <a:avLst/>
            </a:prstGeom>
            <a:noFill/>
            <a:ln>
              <a:noFill/>
            </a:ln>
          </p:spPr>
          <p:txBody>
            <a:bodyPr wrap="none" lIns="0" tIns="0" rIns="0" bIns="0" anchor="t" anchorCtr="0">
              <a:spAutoFit/>
            </a:bodyPr>
            <a:lstStyle/>
            <a:p>
              <a:pPr algn="ctr"/>
              <a:r>
                <a:rPr lang="zh-CN" sz="975" b="1" dirty="0">
                  <a:solidFill>
                    <a:srgbClr val="1A3A5C"/>
                  </a:solidFill>
                  <a:latin typeface="Arial" panose="020B0604020202020204"/>
                  <a:ea typeface="微软雅黑" panose="020B0503020204020204" charset="-122"/>
                  <a:cs typeface="Arial" panose="020B0604020202020204"/>
                </a:rPr>
                <a:t>高点</a:t>
              </a:r>
              <a:endParaRPr lang="zh-CN" sz="975" b="1" dirty="0">
                <a:solidFill>
                  <a:srgbClr val="1A3A5C"/>
                </a:solidFill>
                <a:latin typeface="Arial" panose="020B0604020202020204"/>
                <a:ea typeface="微软雅黑" panose="020B0503020204020204" charset="-122"/>
                <a:cs typeface="Arial" panose="020B0604020202020204"/>
              </a:endParaRPr>
            </a:p>
          </p:txBody>
        </p:sp>
        <p:sp>
          <p:nvSpPr>
            <p:cNvPr id="64" name="Line 64"/>
            <p:cNvSpPr/>
            <p:nvPr/>
          </p:nvSpPr>
          <p:spPr>
            <a:xfrm>
              <a:off x="571500" y="3867150"/>
              <a:ext cx="11049000" cy="9525"/>
            </a:xfrm>
            <a:custGeom>
              <a:avLst/>
              <a:gdLst/>
              <a:ahLst/>
              <a:cxnLst/>
              <a:rect l="l" t="t" r="r" b="b"/>
              <a:pathLst>
                <a:path w="11049000" h="9525">
                  <a:moveTo>
                    <a:pt x="0" y="0"/>
                  </a:moveTo>
                  <a:lnTo>
                    <a:pt x="11049000" y="0"/>
                  </a:lnTo>
                </a:path>
              </a:pathLst>
            </a:custGeom>
            <a:noFill/>
            <a:ln w="4762">
              <a:solidFill>
                <a:srgbClr val="E2E8F0"/>
              </a:solidFill>
            </a:ln>
          </p:spPr>
        </p:sp>
        <p:sp>
          <p:nvSpPr>
            <p:cNvPr id="65" name="Rectangle 65"/>
            <p:cNvSpPr/>
            <p:nvPr/>
          </p:nvSpPr>
          <p:spPr>
            <a:xfrm>
              <a:off x="571500" y="3867150"/>
              <a:ext cx="11049000" cy="400050"/>
            </a:xfrm>
            <a:prstGeom prst="rect">
              <a:avLst/>
            </a:prstGeom>
            <a:solidFill>
              <a:srgbClr val="C62828">
                <a:alpha val="6000"/>
              </a:srgbClr>
            </a:solidFill>
            <a:ln>
              <a:noFill/>
            </a:ln>
          </p:spPr>
        </p:sp>
        <p:sp>
          <p:nvSpPr>
            <p:cNvPr id="66" name="TextBox 66"/>
            <p:cNvSpPr txBox="1"/>
            <p:nvPr/>
          </p:nvSpPr>
          <p:spPr>
            <a:xfrm>
              <a:off x="1129439" y="3974306"/>
              <a:ext cx="408122" cy="228600"/>
            </a:xfrm>
            <a:prstGeom prst="rect">
              <a:avLst/>
            </a:prstGeom>
            <a:noFill/>
            <a:ln>
              <a:noFill/>
            </a:ln>
          </p:spPr>
          <p:txBody>
            <a:bodyPr wrap="none" lIns="0" tIns="0" rIns="0" bIns="0" anchor="t" anchorCtr="0">
              <a:spAutoFit/>
            </a:bodyPr>
            <a:lstStyle/>
            <a:p>
              <a:pPr algn="ctr"/>
              <a:r>
                <a:rPr lang="zh-CN" sz="1125" b="1" dirty="0">
                  <a:solidFill>
                    <a:srgbClr val="C62828"/>
                  </a:solidFill>
                  <a:latin typeface="Arial" panose="020B0604020202020204"/>
                  <a:ea typeface="微软雅黑" panose="020B0503020204020204" charset="-122"/>
                  <a:cs typeface="Arial" panose="020B0604020202020204"/>
                </a:rPr>
                <a:t>2020</a:t>
              </a:r>
              <a:endParaRPr lang="zh-CN" sz="1125" b="1" dirty="0">
                <a:solidFill>
                  <a:srgbClr val="C62828"/>
                </a:solidFill>
                <a:latin typeface="Arial" panose="020B0604020202020204"/>
                <a:ea typeface="微软雅黑" panose="020B0503020204020204" charset="-122"/>
                <a:cs typeface="Arial" panose="020B0604020202020204"/>
              </a:endParaRPr>
            </a:p>
          </p:txBody>
        </p:sp>
        <p:sp>
          <p:nvSpPr>
            <p:cNvPr id="67" name="TextBox 67"/>
            <p:cNvSpPr txBox="1"/>
            <p:nvPr/>
          </p:nvSpPr>
          <p:spPr>
            <a:xfrm>
              <a:off x="3379291" y="3974306"/>
              <a:ext cx="480417"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panose="020B0604020202020204"/>
                  <a:ea typeface="微软雅黑" panose="020B0503020204020204" charset="-122"/>
                  <a:cs typeface="Arial" panose="020B0604020202020204"/>
                </a:rPr>
                <a:t>5,446</a:t>
              </a:r>
              <a:endParaRPr lang="zh-CN" sz="1125" dirty="0">
                <a:solidFill>
                  <a:srgbClr val="1A1A2E"/>
                </a:solidFill>
                <a:latin typeface="Arial" panose="020B0604020202020204"/>
                <a:ea typeface="微软雅黑" panose="020B0503020204020204" charset="-122"/>
                <a:cs typeface="Arial" panose="020B0604020202020204"/>
              </a:endParaRPr>
            </a:p>
          </p:txBody>
        </p:sp>
        <p:sp>
          <p:nvSpPr>
            <p:cNvPr id="68" name="TextBox 68"/>
            <p:cNvSpPr txBox="1"/>
            <p:nvPr/>
          </p:nvSpPr>
          <p:spPr>
            <a:xfrm>
              <a:off x="6034995" y="3974306"/>
              <a:ext cx="503009" cy="228600"/>
            </a:xfrm>
            <a:prstGeom prst="rect">
              <a:avLst/>
            </a:prstGeom>
            <a:noFill/>
            <a:ln>
              <a:noFill/>
            </a:ln>
          </p:spPr>
          <p:txBody>
            <a:bodyPr wrap="none" lIns="0" tIns="0" rIns="0" bIns="0" anchor="t" anchorCtr="0">
              <a:spAutoFit/>
            </a:bodyPr>
            <a:lstStyle/>
            <a:p>
              <a:pPr algn="ctr"/>
              <a:r>
                <a:rPr lang="zh-CN" sz="1125" b="1" dirty="0">
                  <a:solidFill>
                    <a:srgbClr val="C62828"/>
                  </a:solidFill>
                  <a:latin typeface="Arial" panose="020B0604020202020204"/>
                  <a:ea typeface="微软雅黑" panose="020B0503020204020204" charset="-122"/>
                  <a:cs typeface="Arial" panose="020B0604020202020204"/>
                </a:rPr>
                <a:t>2,879</a:t>
              </a:r>
              <a:endParaRPr lang="zh-CN" sz="1125" b="1" dirty="0">
                <a:solidFill>
                  <a:srgbClr val="C62828"/>
                </a:solidFill>
                <a:latin typeface="Arial" panose="020B0604020202020204"/>
                <a:ea typeface="微软雅黑" panose="020B0503020204020204" charset="-122"/>
                <a:cs typeface="Arial" panose="020B0604020202020204"/>
              </a:endParaRPr>
            </a:p>
          </p:txBody>
        </p:sp>
        <p:sp>
          <p:nvSpPr>
            <p:cNvPr id="69" name="TextBox 69"/>
            <p:cNvSpPr txBox="1"/>
            <p:nvPr/>
          </p:nvSpPr>
          <p:spPr>
            <a:xfrm>
              <a:off x="8559665" y="3974306"/>
              <a:ext cx="787670" cy="228600"/>
            </a:xfrm>
            <a:prstGeom prst="rect">
              <a:avLst/>
            </a:prstGeom>
            <a:noFill/>
            <a:ln>
              <a:noFill/>
            </a:ln>
          </p:spPr>
          <p:txBody>
            <a:bodyPr wrap="none" lIns="0" tIns="0" rIns="0" bIns="0" anchor="t" anchorCtr="0">
              <a:spAutoFit/>
            </a:bodyPr>
            <a:lstStyle/>
            <a:p>
              <a:pPr algn="ctr"/>
              <a:r>
                <a:rPr lang="zh-CN" sz="1125" b="1" dirty="0">
                  <a:solidFill>
                    <a:srgbClr val="C62828"/>
                  </a:solidFill>
                  <a:latin typeface="Arial" panose="020B0604020202020204"/>
                  <a:ea typeface="微软雅黑" panose="020B0503020204020204" charset="-122"/>
                  <a:cs typeface="Arial" panose="020B0604020202020204"/>
                </a:rPr>
                <a:t>22,286.3</a:t>
              </a:r>
              <a:endParaRPr lang="zh-CN" sz="1125" b="1" dirty="0">
                <a:solidFill>
                  <a:srgbClr val="C62828"/>
                </a:solidFill>
                <a:latin typeface="Arial" panose="020B0604020202020204"/>
                <a:ea typeface="微软雅黑" panose="020B0503020204020204" charset="-122"/>
                <a:cs typeface="Arial" panose="020B0604020202020204"/>
              </a:endParaRPr>
            </a:p>
          </p:txBody>
        </p:sp>
        <p:sp>
          <p:nvSpPr>
            <p:cNvPr id="70" name="Rectangle 70"/>
            <p:cNvSpPr/>
            <p:nvPr/>
          </p:nvSpPr>
          <p:spPr>
            <a:xfrm>
              <a:off x="10429875" y="3971925"/>
              <a:ext cx="571500" cy="209550"/>
            </a:xfrm>
            <a:prstGeom prst="roundRect">
              <a:avLst>
                <a:gd name="adj" fmla="val 18182"/>
              </a:avLst>
            </a:prstGeom>
            <a:solidFill>
              <a:srgbClr val="C62828">
                <a:alpha val="12000"/>
              </a:srgbClr>
            </a:solidFill>
            <a:ln>
              <a:noFill/>
            </a:ln>
          </p:spPr>
        </p:sp>
        <p:sp>
          <p:nvSpPr>
            <p:cNvPr id="71" name="TextBox 71"/>
            <p:cNvSpPr txBox="1"/>
            <p:nvPr/>
          </p:nvSpPr>
          <p:spPr>
            <a:xfrm>
              <a:off x="10696599" y="4009549"/>
              <a:ext cx="323802" cy="198120"/>
            </a:xfrm>
            <a:prstGeom prst="rect">
              <a:avLst/>
            </a:prstGeom>
            <a:noFill/>
            <a:ln>
              <a:noFill/>
            </a:ln>
          </p:spPr>
          <p:txBody>
            <a:bodyPr wrap="none" lIns="0" tIns="0" rIns="0" bIns="0" anchor="t" anchorCtr="0">
              <a:spAutoFit/>
            </a:bodyPr>
            <a:lstStyle/>
            <a:p>
              <a:pPr algn="ctr"/>
              <a:r>
                <a:rPr lang="zh-CN" sz="975" b="1" dirty="0">
                  <a:solidFill>
                    <a:srgbClr val="C62828"/>
                  </a:solidFill>
                  <a:latin typeface="Arial" panose="020B0604020202020204"/>
                  <a:ea typeface="微软雅黑" panose="020B0503020204020204" charset="-122"/>
                  <a:cs typeface="Arial" panose="020B0604020202020204"/>
                </a:rPr>
                <a:t>冲击</a:t>
              </a:r>
              <a:endParaRPr lang="zh-CN" sz="975" b="1" dirty="0">
                <a:solidFill>
                  <a:srgbClr val="C62828"/>
                </a:solidFill>
                <a:latin typeface="Arial" panose="020B0604020202020204"/>
                <a:ea typeface="微软雅黑" panose="020B0503020204020204" charset="-122"/>
                <a:cs typeface="Arial" panose="020B0604020202020204"/>
              </a:endParaRPr>
            </a:p>
          </p:txBody>
        </p:sp>
        <p:sp>
          <p:nvSpPr>
            <p:cNvPr id="72" name="Line 72"/>
            <p:cNvSpPr/>
            <p:nvPr/>
          </p:nvSpPr>
          <p:spPr>
            <a:xfrm>
              <a:off x="571500" y="4267200"/>
              <a:ext cx="11049000" cy="9525"/>
            </a:xfrm>
            <a:custGeom>
              <a:avLst/>
              <a:gdLst/>
              <a:ahLst/>
              <a:cxnLst/>
              <a:rect l="l" t="t" r="r" b="b"/>
              <a:pathLst>
                <a:path w="11049000" h="9525">
                  <a:moveTo>
                    <a:pt x="0" y="0"/>
                  </a:moveTo>
                  <a:lnTo>
                    <a:pt x="11049000" y="0"/>
                  </a:lnTo>
                </a:path>
              </a:pathLst>
            </a:custGeom>
            <a:noFill/>
            <a:ln w="4762">
              <a:solidFill>
                <a:srgbClr val="E2E8F0"/>
              </a:solidFill>
            </a:ln>
          </p:spPr>
        </p:sp>
        <p:sp>
          <p:nvSpPr>
            <p:cNvPr id="73" name="TextBox 73"/>
            <p:cNvSpPr txBox="1"/>
            <p:nvPr/>
          </p:nvSpPr>
          <p:spPr>
            <a:xfrm>
              <a:off x="1151004" y="4374356"/>
              <a:ext cx="364992" cy="228600"/>
            </a:xfrm>
            <a:prstGeom prst="rect">
              <a:avLst/>
            </a:prstGeom>
            <a:noFill/>
            <a:ln>
              <a:noFill/>
            </a:ln>
          </p:spPr>
          <p:txBody>
            <a:bodyPr wrap="none" lIns="0" tIns="0" rIns="0" bIns="0" anchor="t" anchorCtr="0">
              <a:spAutoFit/>
            </a:bodyPr>
            <a:lstStyle/>
            <a:p>
              <a:pPr algn="ctr"/>
              <a:r>
                <a:rPr lang="zh-CN" sz="1125" b="1" dirty="0">
                  <a:solidFill>
                    <a:srgbClr val="1A3A5C"/>
                  </a:solidFill>
                  <a:latin typeface="Arial" panose="020B0604020202020204"/>
                  <a:ea typeface="微软雅黑" panose="020B0503020204020204" charset="-122"/>
                  <a:cs typeface="Arial" panose="020B0604020202020204"/>
                </a:rPr>
                <a:t>2021</a:t>
              </a:r>
              <a:endParaRPr lang="zh-CN" sz="1125" b="1" dirty="0">
                <a:solidFill>
                  <a:srgbClr val="1A3A5C"/>
                </a:solidFill>
                <a:latin typeface="Arial" panose="020B0604020202020204"/>
                <a:ea typeface="微软雅黑" panose="020B0503020204020204" charset="-122"/>
                <a:cs typeface="Arial" panose="020B0604020202020204"/>
              </a:endParaRPr>
            </a:p>
          </p:txBody>
        </p:sp>
        <p:sp>
          <p:nvSpPr>
            <p:cNvPr id="74" name="TextBox 74"/>
            <p:cNvSpPr txBox="1"/>
            <p:nvPr/>
          </p:nvSpPr>
          <p:spPr>
            <a:xfrm>
              <a:off x="3379291" y="4374356"/>
              <a:ext cx="480417"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panose="020B0604020202020204"/>
                  <a:ea typeface="微软雅黑" panose="020B0503020204020204" charset="-122"/>
                  <a:cs typeface="Arial" panose="020B0604020202020204"/>
                </a:rPr>
                <a:t>5,772</a:t>
              </a:r>
              <a:endParaRPr lang="zh-CN" sz="1125" dirty="0">
                <a:solidFill>
                  <a:srgbClr val="1A1A2E"/>
                </a:solidFill>
                <a:latin typeface="Arial" panose="020B0604020202020204"/>
                <a:ea typeface="微软雅黑" panose="020B0503020204020204" charset="-122"/>
                <a:cs typeface="Arial" panose="020B0604020202020204"/>
              </a:endParaRPr>
            </a:p>
          </p:txBody>
        </p:sp>
        <p:sp>
          <p:nvSpPr>
            <p:cNvPr id="75" name="TextBox 75"/>
            <p:cNvSpPr txBox="1"/>
            <p:nvPr/>
          </p:nvSpPr>
          <p:spPr>
            <a:xfrm>
              <a:off x="6046291" y="4374356"/>
              <a:ext cx="480417"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panose="020B0604020202020204"/>
                  <a:ea typeface="微软雅黑" panose="020B0503020204020204" charset="-122"/>
                  <a:cs typeface="Arial" panose="020B0604020202020204"/>
                </a:rPr>
                <a:t>3,246</a:t>
              </a:r>
              <a:endParaRPr lang="zh-CN" sz="1125" dirty="0">
                <a:solidFill>
                  <a:srgbClr val="1A1A2E"/>
                </a:solidFill>
                <a:latin typeface="Arial" panose="020B0604020202020204"/>
                <a:ea typeface="微软雅黑" panose="020B0503020204020204" charset="-122"/>
                <a:cs typeface="Arial" panose="020B0604020202020204"/>
              </a:endParaRPr>
            </a:p>
          </p:txBody>
        </p:sp>
        <p:sp>
          <p:nvSpPr>
            <p:cNvPr id="76" name="TextBox 76"/>
            <p:cNvSpPr txBox="1"/>
            <p:nvPr/>
          </p:nvSpPr>
          <p:spPr>
            <a:xfrm>
              <a:off x="8618815" y="4374356"/>
              <a:ext cx="669369"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panose="020B0604020202020204"/>
                  <a:ea typeface="微软雅黑" panose="020B0503020204020204" charset="-122"/>
                  <a:cs typeface="Arial" panose="020B0604020202020204"/>
                </a:rPr>
                <a:t>29,191.0</a:t>
              </a:r>
              <a:endParaRPr lang="zh-CN" sz="1125" dirty="0">
                <a:solidFill>
                  <a:srgbClr val="1A1A2E"/>
                </a:solidFill>
                <a:latin typeface="Arial" panose="020B0604020202020204"/>
                <a:ea typeface="微软雅黑" panose="020B0503020204020204" charset="-122"/>
                <a:cs typeface="Arial" panose="020B0604020202020204"/>
              </a:endParaRPr>
            </a:p>
          </p:txBody>
        </p:sp>
        <p:sp>
          <p:nvSpPr>
            <p:cNvPr id="77" name="Rectangle 77"/>
            <p:cNvSpPr/>
            <p:nvPr/>
          </p:nvSpPr>
          <p:spPr>
            <a:xfrm>
              <a:off x="10429875" y="4371975"/>
              <a:ext cx="571500" cy="209550"/>
            </a:xfrm>
            <a:prstGeom prst="roundRect">
              <a:avLst>
                <a:gd name="adj" fmla="val 18182"/>
              </a:avLst>
            </a:prstGeom>
            <a:solidFill>
              <a:srgbClr val="C8963E">
                <a:alpha val="12000"/>
              </a:srgbClr>
            </a:solidFill>
            <a:ln>
              <a:noFill/>
            </a:ln>
          </p:spPr>
        </p:sp>
        <p:sp>
          <p:nvSpPr>
            <p:cNvPr id="78" name="TextBox 78"/>
            <p:cNvSpPr txBox="1"/>
            <p:nvPr/>
          </p:nvSpPr>
          <p:spPr>
            <a:xfrm>
              <a:off x="10696599" y="4409599"/>
              <a:ext cx="323802" cy="198120"/>
            </a:xfrm>
            <a:prstGeom prst="rect">
              <a:avLst/>
            </a:prstGeom>
            <a:noFill/>
            <a:ln>
              <a:noFill/>
            </a:ln>
          </p:spPr>
          <p:txBody>
            <a:bodyPr wrap="none" lIns="0" tIns="0" rIns="0" bIns="0" anchor="t" anchorCtr="0">
              <a:spAutoFit/>
            </a:bodyPr>
            <a:lstStyle/>
            <a:p>
              <a:pPr algn="ctr"/>
              <a:r>
                <a:rPr lang="zh-CN" sz="975" b="1" dirty="0">
                  <a:solidFill>
                    <a:srgbClr val="C8963E"/>
                  </a:solidFill>
                  <a:latin typeface="Arial" panose="020B0604020202020204"/>
                  <a:ea typeface="微软雅黑" panose="020B0503020204020204" charset="-122"/>
                  <a:cs typeface="Arial" panose="020B0604020202020204"/>
                </a:rPr>
                <a:t>修复</a:t>
              </a:r>
              <a:endParaRPr lang="zh-CN" sz="975" b="1" dirty="0">
                <a:solidFill>
                  <a:srgbClr val="C8963E"/>
                </a:solidFill>
                <a:latin typeface="Arial" panose="020B0604020202020204"/>
                <a:ea typeface="微软雅黑" panose="020B0503020204020204" charset="-122"/>
                <a:cs typeface="Arial" panose="020B0604020202020204"/>
              </a:endParaRPr>
            </a:p>
          </p:txBody>
        </p:sp>
        <p:sp>
          <p:nvSpPr>
            <p:cNvPr id="79" name="Line 79"/>
            <p:cNvSpPr/>
            <p:nvPr/>
          </p:nvSpPr>
          <p:spPr>
            <a:xfrm>
              <a:off x="571500" y="4667250"/>
              <a:ext cx="11049000" cy="9525"/>
            </a:xfrm>
            <a:custGeom>
              <a:avLst/>
              <a:gdLst/>
              <a:ahLst/>
              <a:cxnLst/>
              <a:rect l="l" t="t" r="r" b="b"/>
              <a:pathLst>
                <a:path w="11049000" h="9525">
                  <a:moveTo>
                    <a:pt x="0" y="0"/>
                  </a:moveTo>
                  <a:lnTo>
                    <a:pt x="11049000" y="0"/>
                  </a:lnTo>
                </a:path>
              </a:pathLst>
            </a:custGeom>
            <a:noFill/>
            <a:ln w="4762">
              <a:solidFill>
                <a:srgbClr val="E2E8F0"/>
              </a:solidFill>
            </a:ln>
          </p:spPr>
        </p:sp>
        <p:sp>
          <p:nvSpPr>
            <p:cNvPr id="80" name="Rectangle 80"/>
            <p:cNvSpPr/>
            <p:nvPr/>
          </p:nvSpPr>
          <p:spPr>
            <a:xfrm>
              <a:off x="571500" y="4667250"/>
              <a:ext cx="11049000" cy="400050"/>
            </a:xfrm>
            <a:prstGeom prst="rect">
              <a:avLst/>
            </a:prstGeom>
            <a:solidFill>
              <a:srgbClr val="F0F4F8">
                <a:alpha val="50000"/>
              </a:srgbClr>
            </a:solidFill>
            <a:ln>
              <a:noFill/>
            </a:ln>
          </p:spPr>
        </p:sp>
        <p:sp>
          <p:nvSpPr>
            <p:cNvPr id="81" name="TextBox 81"/>
            <p:cNvSpPr txBox="1"/>
            <p:nvPr/>
          </p:nvSpPr>
          <p:spPr>
            <a:xfrm>
              <a:off x="1129439" y="4774406"/>
              <a:ext cx="408122" cy="228600"/>
            </a:xfrm>
            <a:prstGeom prst="rect">
              <a:avLst/>
            </a:prstGeom>
            <a:noFill/>
            <a:ln>
              <a:noFill/>
            </a:ln>
          </p:spPr>
          <p:txBody>
            <a:bodyPr wrap="none" lIns="0" tIns="0" rIns="0" bIns="0" anchor="t" anchorCtr="0">
              <a:spAutoFit/>
            </a:bodyPr>
            <a:lstStyle/>
            <a:p>
              <a:pPr algn="ctr"/>
              <a:r>
                <a:rPr lang="zh-CN" sz="1125" b="1" dirty="0">
                  <a:solidFill>
                    <a:srgbClr val="1A3A5C"/>
                  </a:solidFill>
                  <a:latin typeface="Arial" panose="020B0604020202020204"/>
                  <a:ea typeface="微软雅黑" panose="020B0503020204020204" charset="-122"/>
                  <a:cs typeface="Arial" panose="020B0604020202020204"/>
                </a:rPr>
                <a:t>2022</a:t>
              </a:r>
              <a:endParaRPr lang="zh-CN" sz="1125" b="1" dirty="0">
                <a:solidFill>
                  <a:srgbClr val="1A3A5C"/>
                </a:solidFill>
                <a:latin typeface="Arial" panose="020B0604020202020204"/>
                <a:ea typeface="微软雅黑" panose="020B0503020204020204" charset="-122"/>
                <a:cs typeface="Arial" panose="020B0604020202020204"/>
              </a:endParaRPr>
            </a:p>
          </p:txBody>
        </p:sp>
        <p:sp>
          <p:nvSpPr>
            <p:cNvPr id="82" name="TextBox 82"/>
            <p:cNvSpPr txBox="1"/>
            <p:nvPr/>
          </p:nvSpPr>
          <p:spPr>
            <a:xfrm>
              <a:off x="3379291" y="4774406"/>
              <a:ext cx="480417"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panose="020B0604020202020204"/>
                  <a:ea typeface="微软雅黑" panose="020B0503020204020204" charset="-122"/>
                  <a:cs typeface="Arial" panose="020B0604020202020204"/>
                </a:rPr>
                <a:t>6,565</a:t>
              </a:r>
              <a:endParaRPr lang="zh-CN" sz="1125" dirty="0">
                <a:solidFill>
                  <a:srgbClr val="1A1A2E"/>
                </a:solidFill>
                <a:latin typeface="Arial" panose="020B0604020202020204"/>
                <a:ea typeface="微软雅黑" panose="020B0503020204020204" charset="-122"/>
                <a:cs typeface="Arial" panose="020B0604020202020204"/>
              </a:endParaRPr>
            </a:p>
          </p:txBody>
        </p:sp>
        <p:sp>
          <p:nvSpPr>
            <p:cNvPr id="83" name="TextBox 83"/>
            <p:cNvSpPr txBox="1"/>
            <p:nvPr/>
          </p:nvSpPr>
          <p:spPr>
            <a:xfrm>
              <a:off x="6046291" y="4774406"/>
              <a:ext cx="480417"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panose="020B0604020202020204"/>
                  <a:ea typeface="微软雅黑" panose="020B0503020204020204" charset="-122"/>
                  <a:cs typeface="Arial" panose="020B0604020202020204"/>
                </a:rPr>
                <a:t>2,530</a:t>
              </a:r>
              <a:endParaRPr lang="zh-CN" sz="1125" dirty="0">
                <a:solidFill>
                  <a:srgbClr val="1A1A2E"/>
                </a:solidFill>
                <a:latin typeface="Arial" panose="020B0604020202020204"/>
                <a:ea typeface="微软雅黑" panose="020B0503020204020204" charset="-122"/>
                <a:cs typeface="Arial" panose="020B0604020202020204"/>
              </a:endParaRPr>
            </a:p>
          </p:txBody>
        </p:sp>
        <p:sp>
          <p:nvSpPr>
            <p:cNvPr id="84" name="TextBox 84"/>
            <p:cNvSpPr txBox="1"/>
            <p:nvPr/>
          </p:nvSpPr>
          <p:spPr>
            <a:xfrm>
              <a:off x="8577739" y="4774406"/>
              <a:ext cx="751522" cy="228600"/>
            </a:xfrm>
            <a:prstGeom prst="rect">
              <a:avLst/>
            </a:prstGeom>
            <a:noFill/>
            <a:ln>
              <a:noFill/>
            </a:ln>
          </p:spPr>
          <p:txBody>
            <a:bodyPr wrap="none" lIns="0" tIns="0" rIns="0" bIns="0" anchor="t" anchorCtr="0">
              <a:spAutoFit/>
            </a:bodyPr>
            <a:lstStyle/>
            <a:p>
              <a:pPr algn="ctr"/>
              <a:r>
                <a:rPr lang="zh-CN" sz="1125" dirty="0">
                  <a:solidFill>
                    <a:srgbClr val="1A1A2E"/>
                  </a:solidFill>
                  <a:latin typeface="Arial" panose="020B0604020202020204"/>
                  <a:ea typeface="微软雅黑" panose="020B0503020204020204" charset="-122"/>
                  <a:cs typeface="Arial" panose="020B0604020202020204"/>
                </a:rPr>
                <a:t>20,444.0</a:t>
              </a:r>
              <a:endParaRPr lang="zh-CN" sz="1125" dirty="0">
                <a:solidFill>
                  <a:srgbClr val="1A1A2E"/>
                </a:solidFill>
                <a:latin typeface="Arial" panose="020B0604020202020204"/>
                <a:ea typeface="微软雅黑" panose="020B0503020204020204" charset="-122"/>
                <a:cs typeface="Arial" panose="020B0604020202020204"/>
              </a:endParaRPr>
            </a:p>
          </p:txBody>
        </p:sp>
        <p:sp>
          <p:nvSpPr>
            <p:cNvPr id="85" name="Rectangle 85"/>
            <p:cNvSpPr/>
            <p:nvPr/>
          </p:nvSpPr>
          <p:spPr>
            <a:xfrm>
              <a:off x="10429875" y="4772025"/>
              <a:ext cx="571500" cy="209550"/>
            </a:xfrm>
            <a:prstGeom prst="roundRect">
              <a:avLst>
                <a:gd name="adj" fmla="val 18182"/>
              </a:avLst>
            </a:prstGeom>
            <a:solidFill>
              <a:srgbClr val="6B7280">
                <a:alpha val="12000"/>
              </a:srgbClr>
            </a:solidFill>
            <a:ln>
              <a:noFill/>
            </a:ln>
          </p:spPr>
        </p:sp>
        <p:sp>
          <p:nvSpPr>
            <p:cNvPr id="86" name="TextBox 86"/>
            <p:cNvSpPr txBox="1"/>
            <p:nvPr/>
          </p:nvSpPr>
          <p:spPr>
            <a:xfrm>
              <a:off x="10696599" y="4809649"/>
              <a:ext cx="323802" cy="198120"/>
            </a:xfrm>
            <a:prstGeom prst="rect">
              <a:avLst/>
            </a:prstGeom>
            <a:noFill/>
            <a:ln>
              <a:noFill/>
            </a:ln>
          </p:spPr>
          <p:txBody>
            <a:bodyPr wrap="none" lIns="0" tIns="0" rIns="0" bIns="0" anchor="t" anchorCtr="0">
              <a:spAutoFit/>
            </a:bodyPr>
            <a:lstStyle/>
            <a:p>
              <a:pPr algn="ctr"/>
              <a:r>
                <a:rPr lang="zh-CN" sz="975" b="1" dirty="0">
                  <a:solidFill>
                    <a:srgbClr val="6B7280"/>
                  </a:solidFill>
                  <a:latin typeface="Arial" panose="020B0604020202020204"/>
                  <a:ea typeface="微软雅黑" panose="020B0503020204020204" charset="-122"/>
                  <a:cs typeface="Arial" panose="020B0604020202020204"/>
                </a:rPr>
                <a:t>波动</a:t>
              </a:r>
              <a:endParaRPr lang="zh-CN" sz="975" b="1" dirty="0">
                <a:solidFill>
                  <a:srgbClr val="6B7280"/>
                </a:solidFill>
                <a:latin typeface="Arial" panose="020B0604020202020204"/>
                <a:ea typeface="微软雅黑" panose="020B0503020204020204" charset="-122"/>
                <a:cs typeface="Arial" panose="020B0604020202020204"/>
              </a:endParaRPr>
            </a:p>
          </p:txBody>
        </p:sp>
        <p:sp>
          <p:nvSpPr>
            <p:cNvPr id="87" name="Line 87"/>
            <p:cNvSpPr/>
            <p:nvPr/>
          </p:nvSpPr>
          <p:spPr>
            <a:xfrm>
              <a:off x="571500" y="5067300"/>
              <a:ext cx="11049000" cy="9525"/>
            </a:xfrm>
            <a:custGeom>
              <a:avLst/>
              <a:gdLst/>
              <a:ahLst/>
              <a:cxnLst/>
              <a:rect l="l" t="t" r="r" b="b"/>
              <a:pathLst>
                <a:path w="11049000" h="9525">
                  <a:moveTo>
                    <a:pt x="0" y="0"/>
                  </a:moveTo>
                  <a:lnTo>
                    <a:pt x="11049000" y="0"/>
                  </a:lnTo>
                </a:path>
              </a:pathLst>
            </a:custGeom>
            <a:noFill/>
            <a:ln w="14288">
              <a:solidFill>
                <a:srgbClr val="CBD5E1"/>
              </a:solidFill>
            </a:ln>
          </p:spPr>
        </p:sp>
        <p:sp>
          <p:nvSpPr>
            <p:cNvPr id="88" name="TextBox 88"/>
            <p:cNvSpPr txBox="1"/>
            <p:nvPr/>
          </p:nvSpPr>
          <p:spPr>
            <a:xfrm>
              <a:off x="1129439" y="5174456"/>
              <a:ext cx="408122" cy="228600"/>
            </a:xfrm>
            <a:prstGeom prst="rect">
              <a:avLst/>
            </a:prstGeom>
            <a:noFill/>
            <a:ln>
              <a:noFill/>
            </a:ln>
          </p:spPr>
          <p:txBody>
            <a:bodyPr wrap="none" lIns="0" tIns="0" rIns="0" bIns="0" anchor="t" anchorCtr="0">
              <a:spAutoFit/>
            </a:bodyPr>
            <a:lstStyle/>
            <a:p>
              <a:pPr algn="ctr"/>
              <a:r>
                <a:rPr lang="zh-CN" sz="1125" b="1" dirty="0">
                  <a:solidFill>
                    <a:srgbClr val="1A3A5C"/>
                  </a:solidFill>
                  <a:latin typeface="Arial" panose="020B0604020202020204"/>
                  <a:ea typeface="微软雅黑" panose="020B0503020204020204" charset="-122"/>
                  <a:cs typeface="Arial" panose="020B0604020202020204"/>
                </a:rPr>
                <a:t>2023</a:t>
              </a:r>
              <a:endParaRPr lang="zh-CN" sz="1125" b="1" dirty="0">
                <a:solidFill>
                  <a:srgbClr val="1A3A5C"/>
                </a:solidFill>
                <a:latin typeface="Arial" panose="020B0604020202020204"/>
                <a:ea typeface="微软雅黑" panose="020B0503020204020204" charset="-122"/>
                <a:cs typeface="Arial" panose="020B0604020202020204"/>
              </a:endParaRPr>
            </a:p>
          </p:txBody>
        </p:sp>
        <p:sp>
          <p:nvSpPr>
            <p:cNvPr id="89" name="TextBox 89"/>
            <p:cNvSpPr txBox="1"/>
            <p:nvPr/>
          </p:nvSpPr>
          <p:spPr>
            <a:xfrm>
              <a:off x="3367995" y="5174456"/>
              <a:ext cx="503009" cy="228600"/>
            </a:xfrm>
            <a:prstGeom prst="rect">
              <a:avLst/>
            </a:prstGeom>
            <a:noFill/>
            <a:ln>
              <a:noFill/>
            </a:ln>
          </p:spPr>
          <p:txBody>
            <a:bodyPr wrap="none" lIns="0" tIns="0" rIns="0" bIns="0" anchor="t" anchorCtr="0">
              <a:spAutoFit/>
            </a:bodyPr>
            <a:lstStyle/>
            <a:p>
              <a:pPr algn="ctr"/>
              <a:r>
                <a:rPr lang="zh-CN" sz="1125" b="1" dirty="0">
                  <a:solidFill>
                    <a:srgbClr val="2E6B8F"/>
                  </a:solidFill>
                  <a:latin typeface="Arial" panose="020B0604020202020204"/>
                  <a:ea typeface="微软雅黑" panose="020B0503020204020204" charset="-122"/>
                  <a:cs typeface="Arial" panose="020B0604020202020204"/>
                </a:rPr>
                <a:t>6,833</a:t>
              </a:r>
              <a:endParaRPr lang="zh-CN" sz="1125" b="1" dirty="0">
                <a:solidFill>
                  <a:srgbClr val="2E6B8F"/>
                </a:solidFill>
                <a:latin typeface="Arial" panose="020B0604020202020204"/>
                <a:ea typeface="微软雅黑" panose="020B0503020204020204" charset="-122"/>
                <a:cs typeface="Arial" panose="020B0604020202020204"/>
              </a:endParaRPr>
            </a:p>
          </p:txBody>
        </p:sp>
        <p:sp>
          <p:nvSpPr>
            <p:cNvPr id="90" name="TextBox 90"/>
            <p:cNvSpPr txBox="1"/>
            <p:nvPr/>
          </p:nvSpPr>
          <p:spPr>
            <a:xfrm>
              <a:off x="6056561" y="5174456"/>
              <a:ext cx="459879" cy="228600"/>
            </a:xfrm>
            <a:prstGeom prst="rect">
              <a:avLst/>
            </a:prstGeom>
            <a:noFill/>
            <a:ln>
              <a:noFill/>
            </a:ln>
          </p:spPr>
          <p:txBody>
            <a:bodyPr wrap="none" lIns="0" tIns="0" rIns="0" bIns="0" anchor="t" anchorCtr="0">
              <a:spAutoFit/>
            </a:bodyPr>
            <a:lstStyle/>
            <a:p>
              <a:pPr algn="ctr"/>
              <a:r>
                <a:rPr lang="zh-CN" sz="1125" b="1" dirty="0">
                  <a:solidFill>
                    <a:srgbClr val="2E6B8F"/>
                  </a:solidFill>
                  <a:latin typeface="Arial" panose="020B0604020202020204"/>
                  <a:ea typeface="微软雅黑" panose="020B0503020204020204" charset="-122"/>
                  <a:cs typeface="Arial" panose="020B0604020202020204"/>
                </a:rPr>
                <a:t>4,891</a:t>
              </a:r>
              <a:endParaRPr lang="zh-CN" sz="1125" b="1" dirty="0">
                <a:solidFill>
                  <a:srgbClr val="2E6B8F"/>
                </a:solidFill>
                <a:latin typeface="Arial" panose="020B0604020202020204"/>
                <a:ea typeface="微软雅黑" panose="020B0503020204020204" charset="-122"/>
                <a:cs typeface="Arial" panose="020B0604020202020204"/>
              </a:endParaRPr>
            </a:p>
          </p:txBody>
        </p:sp>
        <p:sp>
          <p:nvSpPr>
            <p:cNvPr id="91" name="TextBox 91"/>
            <p:cNvSpPr txBox="1"/>
            <p:nvPr/>
          </p:nvSpPr>
          <p:spPr>
            <a:xfrm>
              <a:off x="8602795" y="5174456"/>
              <a:ext cx="701409" cy="228600"/>
            </a:xfrm>
            <a:prstGeom prst="rect">
              <a:avLst/>
            </a:prstGeom>
            <a:noFill/>
            <a:ln>
              <a:noFill/>
            </a:ln>
          </p:spPr>
          <p:txBody>
            <a:bodyPr wrap="none" lIns="0" tIns="0" rIns="0" bIns="0" anchor="t" anchorCtr="0">
              <a:spAutoFit/>
            </a:bodyPr>
            <a:lstStyle/>
            <a:p>
              <a:pPr algn="ctr"/>
              <a:r>
                <a:rPr lang="zh-CN" sz="1125" b="1" dirty="0">
                  <a:solidFill>
                    <a:srgbClr val="2E6B8F"/>
                  </a:solidFill>
                  <a:latin typeface="Arial" panose="020B0604020202020204"/>
                  <a:ea typeface="微软雅黑" panose="020B0503020204020204" charset="-122"/>
                  <a:cs typeface="Arial" panose="020B0604020202020204"/>
                </a:rPr>
                <a:t>49,133.1</a:t>
              </a:r>
              <a:endParaRPr lang="zh-CN" sz="1125" b="1" dirty="0">
                <a:solidFill>
                  <a:srgbClr val="2E6B8F"/>
                </a:solidFill>
                <a:latin typeface="Arial" panose="020B0604020202020204"/>
                <a:ea typeface="微软雅黑" panose="020B0503020204020204" charset="-122"/>
                <a:cs typeface="Arial" panose="020B0604020202020204"/>
              </a:endParaRPr>
            </a:p>
          </p:txBody>
        </p:sp>
        <p:sp>
          <p:nvSpPr>
            <p:cNvPr id="92" name="Rectangle 92"/>
            <p:cNvSpPr/>
            <p:nvPr/>
          </p:nvSpPr>
          <p:spPr>
            <a:xfrm>
              <a:off x="10429875" y="5172075"/>
              <a:ext cx="571500" cy="209550"/>
            </a:xfrm>
            <a:prstGeom prst="roundRect">
              <a:avLst>
                <a:gd name="adj" fmla="val 18182"/>
              </a:avLst>
            </a:prstGeom>
            <a:solidFill>
              <a:srgbClr val="2E6B8F">
                <a:alpha val="12000"/>
              </a:srgbClr>
            </a:solidFill>
            <a:ln>
              <a:noFill/>
            </a:ln>
          </p:spPr>
        </p:sp>
        <p:sp>
          <p:nvSpPr>
            <p:cNvPr id="93" name="TextBox 93"/>
            <p:cNvSpPr txBox="1"/>
            <p:nvPr/>
          </p:nvSpPr>
          <p:spPr>
            <a:xfrm>
              <a:off x="10696599" y="5209699"/>
              <a:ext cx="323802" cy="198120"/>
            </a:xfrm>
            <a:prstGeom prst="rect">
              <a:avLst/>
            </a:prstGeom>
            <a:noFill/>
            <a:ln>
              <a:noFill/>
            </a:ln>
          </p:spPr>
          <p:txBody>
            <a:bodyPr wrap="none" lIns="0" tIns="0" rIns="0" bIns="0" anchor="t" anchorCtr="0">
              <a:spAutoFit/>
            </a:bodyPr>
            <a:lstStyle/>
            <a:p>
              <a:pPr algn="ctr"/>
              <a:r>
                <a:rPr lang="zh-CN" sz="975" b="1" dirty="0">
                  <a:solidFill>
                    <a:srgbClr val="2E6B8F"/>
                  </a:solidFill>
                  <a:latin typeface="Arial" panose="020B0604020202020204"/>
                  <a:ea typeface="微软雅黑" panose="020B0503020204020204" charset="-122"/>
                  <a:cs typeface="Arial" panose="020B0604020202020204"/>
                </a:rPr>
                <a:t>恢复</a:t>
              </a:r>
              <a:endParaRPr lang="zh-CN" sz="975" b="1" dirty="0">
                <a:solidFill>
                  <a:srgbClr val="2E6B8F"/>
                </a:solidFill>
                <a:latin typeface="Arial" panose="020B0604020202020204"/>
                <a:ea typeface="微软雅黑" panose="020B0503020204020204" charset="-122"/>
                <a:cs typeface="Arial" panose="020B0604020202020204"/>
              </a:endParaRPr>
            </a:p>
          </p:txBody>
        </p:sp>
      </p:grpSp>
      <p:grpSp>
        <p:nvGrpSpPr>
          <p:cNvPr id="98" name="Group 98"/>
          <p:cNvGrpSpPr/>
          <p:nvPr/>
        </p:nvGrpSpPr>
        <p:grpSpPr>
          <a:xfrm>
            <a:off x="560070" y="5713095"/>
            <a:ext cx="11070908" cy="992505"/>
            <a:chOff x="560070" y="5713095"/>
            <a:chExt cx="11070908" cy="992505"/>
          </a:xfrm>
        </p:grpSpPr>
        <p:sp>
          <p:nvSpPr>
            <p:cNvPr id="95" name="TextBox 95"/>
            <p:cNvSpPr txBox="1"/>
            <p:nvPr/>
          </p:nvSpPr>
          <p:spPr>
            <a:xfrm>
              <a:off x="560070" y="5713095"/>
              <a:ext cx="5017770"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panose="020B0604020202020204"/>
                  <a:ea typeface="微软雅黑" panose="020B0503020204020204" charset="-122"/>
                  <a:cs typeface="Arial" panose="020B0604020202020204"/>
                </a:rPr>
                <a:t>注：旅游总花费单位为亿元，国内游客单位为百万人次；小数来自统计年鉴原始数值。</a:t>
              </a:r>
              <a:endParaRPr lang="zh-CN" sz="900" dirty="0">
                <a:solidFill>
                  <a:srgbClr val="6B7280"/>
                </a:solidFill>
                <a:latin typeface="Arial" panose="020B0604020202020204"/>
                <a:ea typeface="微软雅黑" panose="020B0503020204020204" charset="-122"/>
                <a:cs typeface="Arial" panose="020B0604020202020204"/>
              </a:endParaRPr>
            </a:p>
          </p:txBody>
        </p:sp>
        <p:sp>
          <p:nvSpPr>
            <p:cNvPr id="96" name="TextBox 96"/>
            <p:cNvSpPr txBox="1"/>
            <p:nvPr/>
          </p:nvSpPr>
          <p:spPr>
            <a:xfrm>
              <a:off x="560070" y="6522720"/>
              <a:ext cx="3328702" cy="182880"/>
            </a:xfrm>
            <a:prstGeom prst="rect">
              <a:avLst/>
            </a:prstGeom>
            <a:noFill/>
            <a:ln>
              <a:noFill/>
            </a:ln>
          </p:spPr>
          <p:txBody>
            <a:bodyPr wrap="none" lIns="0" tIns="0" rIns="0" bIns="0" anchor="t" anchorCtr="0">
              <a:spAutoFit/>
            </a:bodyPr>
            <a:lstStyle/>
            <a:p>
              <a:pPr algn="l"/>
              <a:r>
                <a:rPr lang="zh-CN" sz="900" dirty="0">
                  <a:solidFill>
                    <a:srgbClr val="9CA3AF"/>
                  </a:solidFill>
                  <a:latin typeface="Arial" panose="020B0604020202020204"/>
                  <a:ea typeface="微软雅黑" panose="020B0503020204020204" charset="-122"/>
                  <a:cs typeface="Arial" panose="020B0604020202020204"/>
                </a:rPr>
                <a:t>Source: 国家统计局国家数据、中国统计年鉴；团队整理</a:t>
              </a:r>
              <a:endParaRPr lang="zh-CN" sz="900" dirty="0">
                <a:solidFill>
                  <a:srgbClr val="9CA3AF"/>
                </a:solidFill>
                <a:latin typeface="Arial" panose="020B0604020202020204"/>
                <a:ea typeface="微软雅黑" panose="020B0503020204020204" charset="-122"/>
                <a:cs typeface="Arial" panose="020B0604020202020204"/>
              </a:endParaRPr>
            </a:p>
          </p:txBody>
        </p:sp>
        <p:sp>
          <p:nvSpPr>
            <p:cNvPr id="97" name="TextBox 97"/>
            <p:cNvSpPr txBox="1"/>
            <p:nvPr/>
          </p:nvSpPr>
          <p:spPr>
            <a:xfrm>
              <a:off x="11236500" y="6530816"/>
              <a:ext cx="394478"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panose="020B0604020202020204"/>
                  <a:ea typeface="微软雅黑" panose="020B0503020204020204" charset="-122"/>
                  <a:cs typeface="Arial" panose="020B0604020202020204"/>
                </a:rPr>
                <a:t>04 / 12</a:t>
              </a:r>
              <a:endParaRPr lang="zh-CN" sz="825" dirty="0">
                <a:solidFill>
                  <a:srgbClr val="9CA3AF"/>
                </a:solidFill>
                <a:latin typeface="Arial" panose="020B0604020202020204"/>
                <a:ea typeface="微软雅黑" panose="020B0503020204020204" charset="-122"/>
                <a:cs typeface="Arial" panose="020B0604020202020204"/>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4"/>
                                        </p:tgtEl>
                                        <p:attrNameLst>
                                          <p:attrName>style.visibility</p:attrName>
                                        </p:attrNameLst>
                                      </p:cBhvr>
                                      <p:to>
                                        <p:strVal val="visible"/>
                                      </p:to>
                                    </p:set>
                                    <p:animEffect transition="in" filter="fade">
                                      <p:cBhvr>
                                        <p:cTn id="7" dur="400"/>
                                        <p:tgtEl>
                                          <p:spTgt spid="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A"/>
          </a:solidFill>
          <a:ln>
            <a:noFill/>
          </a:ln>
        </p:spPr>
      </p:sp>
      <p:grpSp>
        <p:nvGrpSpPr>
          <p:cNvPr id="6" name="Group 6"/>
          <p:cNvGrpSpPr/>
          <p:nvPr/>
        </p:nvGrpSpPr>
        <p:grpSpPr>
          <a:xfrm>
            <a:off x="571500" y="280988"/>
            <a:ext cx="5739765" cy="581024"/>
            <a:chOff x="571500" y="280988"/>
            <a:chExt cx="5739765" cy="581024"/>
          </a:xfrm>
        </p:grpSpPr>
        <p:sp>
          <p:nvSpPr>
            <p:cNvPr id="3" name="Rectangle 3"/>
            <p:cNvSpPr/>
            <p:nvPr/>
          </p:nvSpPr>
          <p:spPr>
            <a:xfrm>
              <a:off x="571500" y="285750"/>
              <a:ext cx="38100" cy="342900"/>
            </a:xfrm>
            <a:prstGeom prst="rect">
              <a:avLst/>
            </a:prstGeom>
            <a:solidFill>
              <a:srgbClr val="1A3A5C"/>
            </a:solidFill>
            <a:ln>
              <a:noFill/>
            </a:ln>
          </p:spPr>
        </p:sp>
        <p:sp>
          <p:nvSpPr>
            <p:cNvPr id="4" name="TextBox 4"/>
            <p:cNvSpPr txBox="1"/>
            <p:nvPr/>
          </p:nvSpPr>
          <p:spPr>
            <a:xfrm>
              <a:off x="733425" y="280988"/>
              <a:ext cx="5577840" cy="457200"/>
            </a:xfrm>
            <a:prstGeom prst="rect">
              <a:avLst/>
            </a:prstGeom>
            <a:noFill/>
            <a:ln>
              <a:noFill/>
            </a:ln>
          </p:spPr>
          <p:txBody>
            <a:bodyPr wrap="none" lIns="0" tIns="0" rIns="0" bIns="0" anchor="t" anchorCtr="0">
              <a:spAutoFit/>
            </a:bodyPr>
            <a:lstStyle/>
            <a:p>
              <a:pPr algn="l"/>
              <a:r>
                <a:rPr lang="zh-CN" sz="2250" b="1" dirty="0">
                  <a:solidFill>
                    <a:srgbClr val="1A3A5C"/>
                  </a:solidFill>
                  <a:latin typeface="Georgia" panose="02040502050405020303"/>
                  <a:ea typeface="楷体" panose="02010609060101010101" charset="-122"/>
                  <a:cs typeface="Georgia" panose="02040502050405020303"/>
                </a:rPr>
                <a:t>数据处理：从原始指标到可计算特征</a:t>
              </a:r>
              <a:endParaRPr lang="zh-CN" sz="2250" b="1" dirty="0">
                <a:solidFill>
                  <a:srgbClr val="1A3A5C"/>
                </a:solidFill>
                <a:latin typeface="Georgia" panose="02040502050405020303"/>
                <a:ea typeface="楷体" panose="02010609060101010101" charset="-122"/>
                <a:cs typeface="Georgia" panose="02040502050405020303"/>
              </a:endParaRPr>
            </a:p>
          </p:txBody>
        </p:sp>
        <p:sp>
          <p:nvSpPr>
            <p:cNvPr id="5" name="TextBox 5"/>
            <p:cNvSpPr txBox="1"/>
            <p:nvPr/>
          </p:nvSpPr>
          <p:spPr>
            <a:xfrm>
              <a:off x="748665" y="648652"/>
              <a:ext cx="5547360"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panose="020B0604020202020204"/>
                  <a:ea typeface="微软雅黑" panose="020B0503020204020204" charset="-122"/>
                  <a:cs typeface="Arial" panose="020B0604020202020204"/>
                </a:rPr>
                <a:t>原始数据虽少，但可通过口径统一、指数化和转化效率指标形成可计算时间序列。</a:t>
              </a:r>
              <a:endParaRPr lang="zh-CN" sz="1050" dirty="0">
                <a:solidFill>
                  <a:srgbClr val="6B7280"/>
                </a:solidFill>
                <a:latin typeface="Arial" panose="020B0604020202020204"/>
                <a:ea typeface="微软雅黑" panose="020B0503020204020204" charset="-122"/>
                <a:cs typeface="Arial" panose="020B0604020202020204"/>
              </a:endParaRPr>
            </a:p>
          </p:txBody>
        </p:sp>
      </p:grpSp>
      <p:grpSp>
        <p:nvGrpSpPr>
          <p:cNvPr id="36" name="Group 36"/>
          <p:cNvGrpSpPr/>
          <p:nvPr/>
        </p:nvGrpSpPr>
        <p:grpSpPr>
          <a:xfrm>
            <a:off x="571500" y="1095375"/>
            <a:ext cx="10858500" cy="762000"/>
            <a:chOff x="571500" y="1095375"/>
            <a:chExt cx="10858500" cy="762000"/>
          </a:xfrm>
        </p:grpSpPr>
        <p:sp>
          <p:nvSpPr>
            <p:cNvPr id="7" name="Rectangle 7"/>
            <p:cNvSpPr/>
            <p:nvPr/>
          </p:nvSpPr>
          <p:spPr>
            <a:xfrm>
              <a:off x="571500" y="1095375"/>
              <a:ext cx="1905000" cy="762000"/>
            </a:xfrm>
            <a:prstGeom prst="roundRect">
              <a:avLst>
                <a:gd name="adj" fmla="val 10000"/>
              </a:avLst>
            </a:prstGeom>
            <a:solidFill>
              <a:srgbClr val="FFFFFF"/>
            </a:solidFill>
            <a:ln w="9525">
              <a:solidFill>
                <a:srgbClr val="D1D5DB"/>
              </a:solidFill>
            </a:ln>
            <a:effectLst>
              <a:outerShdw blurRad="57150" dist="19050" dir="5400000" algn="ctr" rotWithShape="0">
                <a:srgbClr val="0F172A">
                  <a:alpha val="4500"/>
                </a:srgbClr>
              </a:outerShdw>
            </a:effectLst>
          </p:spPr>
        </p:sp>
        <p:sp>
          <p:nvSpPr>
            <p:cNvPr id="8" name="Ellipse 8"/>
            <p:cNvSpPr/>
            <p:nvPr/>
          </p:nvSpPr>
          <p:spPr>
            <a:xfrm>
              <a:off x="809625" y="1285875"/>
              <a:ext cx="381000" cy="381000"/>
            </a:xfrm>
            <a:prstGeom prst="ellipse">
              <a:avLst/>
            </a:prstGeom>
            <a:solidFill>
              <a:srgbClr val="1A3A5C"/>
            </a:solidFill>
            <a:ln>
              <a:noFill/>
            </a:ln>
          </p:spPr>
        </p:sp>
        <p:sp>
          <p:nvSpPr>
            <p:cNvPr id="9" name="TextBox 9"/>
            <p:cNvSpPr txBox="1"/>
            <p:nvPr/>
          </p:nvSpPr>
          <p:spPr>
            <a:xfrm>
              <a:off x="957282" y="1403985"/>
              <a:ext cx="85687"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panose="020B0604020202020204"/>
                  <a:ea typeface="微软雅黑" panose="020B0503020204020204" charset="-122"/>
                  <a:cs typeface="Arial" panose="020B0604020202020204"/>
                </a:rPr>
                <a:t>1</a:t>
              </a:r>
              <a:endParaRPr lang="zh-CN" sz="1200" b="1" dirty="0">
                <a:solidFill>
                  <a:srgbClr val="FFFFFF"/>
                </a:solidFill>
                <a:latin typeface="Arial" panose="020B0604020202020204"/>
                <a:ea typeface="微软雅黑" panose="020B0503020204020204" charset="-122"/>
                <a:cs typeface="Arial" panose="020B0604020202020204"/>
              </a:endParaRPr>
            </a:p>
          </p:txBody>
        </p:sp>
        <p:sp>
          <p:nvSpPr>
            <p:cNvPr id="10" name="TextBox 10"/>
            <p:cNvSpPr txBox="1"/>
            <p:nvPr/>
          </p:nvSpPr>
          <p:spPr>
            <a:xfrm>
              <a:off x="1319212" y="1316831"/>
              <a:ext cx="718661" cy="228600"/>
            </a:xfrm>
            <a:prstGeom prst="rect">
              <a:avLst/>
            </a:prstGeom>
            <a:noFill/>
            <a:ln>
              <a:noFill/>
            </a:ln>
          </p:spPr>
          <p:txBody>
            <a:bodyPr wrap="none" lIns="0" tIns="0" rIns="0" bIns="0" anchor="t" anchorCtr="0">
              <a:spAutoFit/>
            </a:bodyPr>
            <a:lstStyle/>
            <a:p>
              <a:pPr algn="l"/>
              <a:r>
                <a:rPr lang="zh-CN" sz="1125" b="1" dirty="0">
                  <a:solidFill>
                    <a:srgbClr val="1A1A2E"/>
                  </a:solidFill>
                  <a:latin typeface="Arial" panose="020B0604020202020204"/>
                  <a:ea typeface="微软雅黑" panose="020B0503020204020204" charset="-122"/>
                  <a:cs typeface="Arial" panose="020B0604020202020204"/>
                </a:rPr>
                <a:t>统一口径</a:t>
              </a:r>
              <a:endParaRPr lang="zh-CN" sz="1125" b="1" dirty="0">
                <a:solidFill>
                  <a:srgbClr val="1A1A2E"/>
                </a:solidFill>
                <a:latin typeface="Arial" panose="020B0604020202020204"/>
                <a:ea typeface="微软雅黑" panose="020B0503020204020204" charset="-122"/>
                <a:cs typeface="Arial" panose="020B0604020202020204"/>
              </a:endParaRPr>
            </a:p>
          </p:txBody>
        </p:sp>
        <p:sp>
          <p:nvSpPr>
            <p:cNvPr id="11" name="TextBox 11"/>
            <p:cNvSpPr txBox="1"/>
            <p:nvPr/>
          </p:nvSpPr>
          <p:spPr>
            <a:xfrm>
              <a:off x="1322070" y="1531620"/>
              <a:ext cx="1205865"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panose="020B0604020202020204"/>
                  <a:ea typeface="微软雅黑" panose="020B0503020204020204" charset="-122"/>
                  <a:cs typeface="Arial" panose="020B0604020202020204"/>
                </a:rPr>
                <a:t>年份对齐；统一单位</a:t>
              </a:r>
              <a:endParaRPr lang="zh-CN" sz="900" dirty="0">
                <a:solidFill>
                  <a:srgbClr val="6B7280"/>
                </a:solidFill>
                <a:latin typeface="Arial" panose="020B0604020202020204"/>
                <a:ea typeface="微软雅黑" panose="020B0503020204020204" charset="-122"/>
                <a:cs typeface="Arial" panose="020B0604020202020204"/>
              </a:endParaRPr>
            </a:p>
          </p:txBody>
        </p:sp>
        <p:sp>
          <p:nvSpPr>
            <p:cNvPr id="12" name="Line 12"/>
            <p:cNvSpPr/>
            <p:nvPr/>
          </p:nvSpPr>
          <p:spPr>
            <a:xfrm>
              <a:off x="2476500" y="1476375"/>
              <a:ext cx="285750" cy="1"/>
            </a:xfrm>
            <a:prstGeom prst="line">
              <a:avLst/>
            </a:prstGeom>
            <a:noFill/>
            <a:ln w="19050">
              <a:solidFill>
                <a:srgbClr val="9CA3AF"/>
              </a:solidFill>
              <a:tailEnd type="triangle" w="lg" len="lg"/>
            </a:ln>
          </p:spPr>
        </p:sp>
        <p:sp>
          <p:nvSpPr>
            <p:cNvPr id="13" name="Rectangle 13"/>
            <p:cNvSpPr/>
            <p:nvPr/>
          </p:nvSpPr>
          <p:spPr>
            <a:xfrm>
              <a:off x="2809875" y="1095375"/>
              <a:ext cx="1905000" cy="762000"/>
            </a:xfrm>
            <a:prstGeom prst="roundRect">
              <a:avLst>
                <a:gd name="adj" fmla="val 10000"/>
              </a:avLst>
            </a:prstGeom>
            <a:solidFill>
              <a:srgbClr val="FFFFFF"/>
            </a:solidFill>
            <a:ln w="9525">
              <a:solidFill>
                <a:srgbClr val="D1D5DB"/>
              </a:solidFill>
            </a:ln>
            <a:effectLst>
              <a:outerShdw blurRad="57150" dist="19050" dir="5400000" algn="ctr" rotWithShape="0">
                <a:srgbClr val="0F172A">
                  <a:alpha val="4500"/>
                </a:srgbClr>
              </a:outerShdw>
            </a:effectLst>
          </p:spPr>
        </p:sp>
        <p:sp>
          <p:nvSpPr>
            <p:cNvPr id="14" name="Ellipse 14"/>
            <p:cNvSpPr/>
            <p:nvPr/>
          </p:nvSpPr>
          <p:spPr>
            <a:xfrm>
              <a:off x="3048000" y="1285875"/>
              <a:ext cx="381000" cy="381000"/>
            </a:xfrm>
            <a:prstGeom prst="ellipse">
              <a:avLst/>
            </a:prstGeom>
            <a:solidFill>
              <a:srgbClr val="2E6B8F"/>
            </a:solidFill>
            <a:ln>
              <a:noFill/>
            </a:ln>
          </p:spPr>
        </p:sp>
        <p:sp>
          <p:nvSpPr>
            <p:cNvPr id="15" name="TextBox 15"/>
            <p:cNvSpPr txBox="1"/>
            <p:nvPr/>
          </p:nvSpPr>
          <p:spPr>
            <a:xfrm>
              <a:off x="3172654" y="1403985"/>
              <a:ext cx="131693"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panose="020B0604020202020204"/>
                  <a:ea typeface="微软雅黑" panose="020B0503020204020204" charset="-122"/>
                  <a:cs typeface="Arial" panose="020B0604020202020204"/>
                </a:rPr>
                <a:t>2</a:t>
              </a:r>
              <a:endParaRPr lang="zh-CN" sz="1200" b="1" dirty="0">
                <a:solidFill>
                  <a:srgbClr val="FFFFFF"/>
                </a:solidFill>
                <a:latin typeface="Arial" panose="020B0604020202020204"/>
                <a:ea typeface="微软雅黑" panose="020B0503020204020204" charset="-122"/>
                <a:cs typeface="Arial" panose="020B0604020202020204"/>
              </a:endParaRPr>
            </a:p>
          </p:txBody>
        </p:sp>
        <p:sp>
          <p:nvSpPr>
            <p:cNvPr id="16" name="TextBox 16"/>
            <p:cNvSpPr txBox="1"/>
            <p:nvPr/>
          </p:nvSpPr>
          <p:spPr>
            <a:xfrm>
              <a:off x="3557588" y="1316831"/>
              <a:ext cx="546140" cy="228600"/>
            </a:xfrm>
            <a:prstGeom prst="rect">
              <a:avLst/>
            </a:prstGeom>
            <a:noFill/>
            <a:ln>
              <a:noFill/>
            </a:ln>
          </p:spPr>
          <p:txBody>
            <a:bodyPr wrap="none" lIns="0" tIns="0" rIns="0" bIns="0" anchor="t" anchorCtr="0">
              <a:spAutoFit/>
            </a:bodyPr>
            <a:lstStyle/>
            <a:p>
              <a:pPr algn="l"/>
              <a:r>
                <a:rPr lang="zh-CN" sz="1125" b="1" dirty="0">
                  <a:solidFill>
                    <a:srgbClr val="1A1A2E"/>
                  </a:solidFill>
                  <a:latin typeface="Arial" panose="020B0604020202020204"/>
                  <a:ea typeface="微软雅黑" panose="020B0503020204020204" charset="-122"/>
                  <a:cs typeface="Arial" panose="020B0604020202020204"/>
                </a:rPr>
                <a:t>指数化</a:t>
              </a:r>
              <a:endParaRPr lang="zh-CN" sz="1125" b="1" dirty="0">
                <a:solidFill>
                  <a:srgbClr val="1A1A2E"/>
                </a:solidFill>
                <a:latin typeface="Arial" panose="020B0604020202020204"/>
                <a:ea typeface="微软雅黑" panose="020B0503020204020204" charset="-122"/>
                <a:cs typeface="Arial" panose="020B0604020202020204"/>
              </a:endParaRPr>
            </a:p>
          </p:txBody>
        </p:sp>
        <p:sp>
          <p:nvSpPr>
            <p:cNvPr id="17" name="TextBox 17"/>
            <p:cNvSpPr txBox="1"/>
            <p:nvPr/>
          </p:nvSpPr>
          <p:spPr>
            <a:xfrm>
              <a:off x="3560445" y="1531620"/>
              <a:ext cx="1154430" cy="276860"/>
            </a:xfrm>
            <a:prstGeom prst="rect">
              <a:avLst/>
            </a:prstGeom>
            <a:noFill/>
            <a:ln>
              <a:noFill/>
            </a:ln>
          </p:spPr>
          <p:txBody>
            <a:bodyPr wrap="square" lIns="0" tIns="0" rIns="0" bIns="0" anchor="t" anchorCtr="0">
              <a:spAutoFit/>
            </a:bodyPr>
            <a:lstStyle/>
            <a:p>
              <a:pPr algn="l"/>
              <a:r>
                <a:rPr lang="zh-CN" sz="900" dirty="0">
                  <a:solidFill>
                    <a:srgbClr val="6B7280"/>
                  </a:solidFill>
                  <a:latin typeface="Arial" panose="020B0604020202020204"/>
                  <a:ea typeface="微软雅黑" panose="020B0503020204020204" charset="-122"/>
                  <a:cs typeface="Arial" panose="020B0604020202020204"/>
                </a:rPr>
                <a:t>2014=100；同尺度比较</a:t>
              </a:r>
              <a:endParaRPr lang="zh-CN" sz="900" dirty="0">
                <a:solidFill>
                  <a:srgbClr val="6B7280"/>
                </a:solidFill>
                <a:latin typeface="Arial" panose="020B0604020202020204"/>
                <a:ea typeface="微软雅黑" panose="020B0503020204020204" charset="-122"/>
                <a:cs typeface="Arial" panose="020B0604020202020204"/>
              </a:endParaRPr>
            </a:p>
          </p:txBody>
        </p:sp>
        <p:sp>
          <p:nvSpPr>
            <p:cNvPr id="18" name="Line 18"/>
            <p:cNvSpPr/>
            <p:nvPr/>
          </p:nvSpPr>
          <p:spPr>
            <a:xfrm>
              <a:off x="4714875" y="1476375"/>
              <a:ext cx="285750" cy="1"/>
            </a:xfrm>
            <a:prstGeom prst="line">
              <a:avLst/>
            </a:prstGeom>
            <a:noFill/>
            <a:ln w="19050">
              <a:solidFill>
                <a:srgbClr val="9CA3AF"/>
              </a:solidFill>
              <a:tailEnd type="triangle" w="lg" len="lg"/>
            </a:ln>
          </p:spPr>
        </p:sp>
        <p:sp>
          <p:nvSpPr>
            <p:cNvPr id="19" name="Rectangle 19"/>
            <p:cNvSpPr/>
            <p:nvPr/>
          </p:nvSpPr>
          <p:spPr>
            <a:xfrm>
              <a:off x="5048250" y="1095375"/>
              <a:ext cx="1905000" cy="762000"/>
            </a:xfrm>
            <a:prstGeom prst="roundRect">
              <a:avLst>
                <a:gd name="adj" fmla="val 10000"/>
              </a:avLst>
            </a:prstGeom>
            <a:solidFill>
              <a:srgbClr val="FFFFFF"/>
            </a:solidFill>
            <a:ln w="9525">
              <a:solidFill>
                <a:srgbClr val="D1D5DB"/>
              </a:solidFill>
            </a:ln>
            <a:effectLst>
              <a:outerShdw blurRad="57150" dist="19050" dir="5400000" algn="ctr" rotWithShape="0">
                <a:srgbClr val="0F172A">
                  <a:alpha val="4500"/>
                </a:srgbClr>
              </a:outerShdw>
            </a:effectLst>
          </p:spPr>
        </p:sp>
        <p:sp>
          <p:nvSpPr>
            <p:cNvPr id="20" name="Ellipse 20"/>
            <p:cNvSpPr/>
            <p:nvPr/>
          </p:nvSpPr>
          <p:spPr>
            <a:xfrm>
              <a:off x="5286375" y="1285875"/>
              <a:ext cx="381000" cy="381000"/>
            </a:xfrm>
            <a:prstGeom prst="ellipse">
              <a:avLst/>
            </a:prstGeom>
            <a:solidFill>
              <a:srgbClr val="C8963E"/>
            </a:solidFill>
            <a:ln>
              <a:noFill/>
            </a:ln>
          </p:spPr>
        </p:sp>
        <p:sp>
          <p:nvSpPr>
            <p:cNvPr id="21" name="TextBox 21"/>
            <p:cNvSpPr txBox="1"/>
            <p:nvPr/>
          </p:nvSpPr>
          <p:spPr>
            <a:xfrm>
              <a:off x="5411029" y="1403985"/>
              <a:ext cx="131693"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panose="020B0604020202020204"/>
                  <a:ea typeface="微软雅黑" panose="020B0503020204020204" charset="-122"/>
                  <a:cs typeface="Arial" panose="020B0604020202020204"/>
                </a:rPr>
                <a:t>3</a:t>
              </a:r>
              <a:endParaRPr lang="zh-CN" sz="1200" b="1" dirty="0">
                <a:solidFill>
                  <a:srgbClr val="FFFFFF"/>
                </a:solidFill>
                <a:latin typeface="Arial" panose="020B0604020202020204"/>
                <a:ea typeface="微软雅黑" panose="020B0503020204020204" charset="-122"/>
                <a:cs typeface="Arial" panose="020B0604020202020204"/>
              </a:endParaRPr>
            </a:p>
          </p:txBody>
        </p:sp>
        <p:sp>
          <p:nvSpPr>
            <p:cNvPr id="22" name="TextBox 22"/>
            <p:cNvSpPr txBox="1"/>
            <p:nvPr/>
          </p:nvSpPr>
          <p:spPr>
            <a:xfrm>
              <a:off x="5795962" y="1316831"/>
              <a:ext cx="718661" cy="228600"/>
            </a:xfrm>
            <a:prstGeom prst="rect">
              <a:avLst/>
            </a:prstGeom>
            <a:noFill/>
            <a:ln>
              <a:noFill/>
            </a:ln>
          </p:spPr>
          <p:txBody>
            <a:bodyPr wrap="none" lIns="0" tIns="0" rIns="0" bIns="0" anchor="t" anchorCtr="0">
              <a:spAutoFit/>
            </a:bodyPr>
            <a:lstStyle/>
            <a:p>
              <a:pPr algn="l"/>
              <a:r>
                <a:rPr lang="zh-CN" sz="1125" b="1" dirty="0">
                  <a:solidFill>
                    <a:srgbClr val="1A1A2E"/>
                  </a:solidFill>
                  <a:latin typeface="Arial" panose="020B0604020202020204"/>
                  <a:ea typeface="微软雅黑" panose="020B0503020204020204" charset="-122"/>
                  <a:cs typeface="Arial" panose="020B0604020202020204"/>
                </a:rPr>
                <a:t>转化指标</a:t>
              </a:r>
              <a:endParaRPr lang="zh-CN" sz="1125" b="1" dirty="0">
                <a:solidFill>
                  <a:srgbClr val="1A1A2E"/>
                </a:solidFill>
                <a:latin typeface="Arial" panose="020B0604020202020204"/>
                <a:ea typeface="微软雅黑" panose="020B0503020204020204" charset="-122"/>
                <a:cs typeface="Arial" panose="020B0604020202020204"/>
              </a:endParaRPr>
            </a:p>
          </p:txBody>
        </p:sp>
        <p:sp>
          <p:nvSpPr>
            <p:cNvPr id="23" name="TextBox 23"/>
            <p:cNvSpPr txBox="1"/>
            <p:nvPr/>
          </p:nvSpPr>
          <p:spPr>
            <a:xfrm>
              <a:off x="5798820" y="1531620"/>
              <a:ext cx="1205865"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panose="020B0604020202020204"/>
                  <a:ea typeface="微软雅黑" panose="020B0503020204020204" charset="-122"/>
                  <a:cs typeface="Arial" panose="020B0604020202020204"/>
                </a:rPr>
                <a:t>单馆游客；人均消费</a:t>
              </a:r>
              <a:endParaRPr lang="zh-CN" sz="900" dirty="0">
                <a:solidFill>
                  <a:srgbClr val="6B7280"/>
                </a:solidFill>
                <a:latin typeface="Arial" panose="020B0604020202020204"/>
                <a:ea typeface="微软雅黑" panose="020B0503020204020204" charset="-122"/>
                <a:cs typeface="Arial" panose="020B0604020202020204"/>
              </a:endParaRPr>
            </a:p>
          </p:txBody>
        </p:sp>
        <p:sp>
          <p:nvSpPr>
            <p:cNvPr id="24" name="Line 24"/>
            <p:cNvSpPr/>
            <p:nvPr/>
          </p:nvSpPr>
          <p:spPr>
            <a:xfrm>
              <a:off x="6953250" y="1476375"/>
              <a:ext cx="285750" cy="1"/>
            </a:xfrm>
            <a:prstGeom prst="line">
              <a:avLst/>
            </a:prstGeom>
            <a:noFill/>
            <a:ln w="19050">
              <a:solidFill>
                <a:srgbClr val="9CA3AF"/>
              </a:solidFill>
              <a:tailEnd type="triangle" w="lg" len="lg"/>
            </a:ln>
          </p:spPr>
        </p:sp>
        <p:sp>
          <p:nvSpPr>
            <p:cNvPr id="25" name="Rectangle 25"/>
            <p:cNvSpPr/>
            <p:nvPr/>
          </p:nvSpPr>
          <p:spPr>
            <a:xfrm>
              <a:off x="7286625" y="1095375"/>
              <a:ext cx="1905000" cy="762000"/>
            </a:xfrm>
            <a:prstGeom prst="roundRect">
              <a:avLst>
                <a:gd name="adj" fmla="val 10000"/>
              </a:avLst>
            </a:prstGeom>
            <a:solidFill>
              <a:srgbClr val="FFFFFF"/>
            </a:solidFill>
            <a:ln w="9525">
              <a:solidFill>
                <a:srgbClr val="D1D5DB"/>
              </a:solidFill>
            </a:ln>
            <a:effectLst>
              <a:outerShdw blurRad="57150" dist="19050" dir="5400000" algn="ctr" rotWithShape="0">
                <a:srgbClr val="0F172A">
                  <a:alpha val="4500"/>
                </a:srgbClr>
              </a:outerShdw>
            </a:effectLst>
          </p:spPr>
        </p:sp>
        <p:sp>
          <p:nvSpPr>
            <p:cNvPr id="26" name="Ellipse 26"/>
            <p:cNvSpPr/>
            <p:nvPr/>
          </p:nvSpPr>
          <p:spPr>
            <a:xfrm>
              <a:off x="7524750" y="1285875"/>
              <a:ext cx="381000" cy="381000"/>
            </a:xfrm>
            <a:prstGeom prst="ellipse">
              <a:avLst/>
            </a:prstGeom>
            <a:solidFill>
              <a:srgbClr val="1A3A5C"/>
            </a:solidFill>
            <a:ln>
              <a:noFill/>
            </a:ln>
          </p:spPr>
        </p:sp>
        <p:sp>
          <p:nvSpPr>
            <p:cNvPr id="27" name="TextBox 27"/>
            <p:cNvSpPr txBox="1"/>
            <p:nvPr/>
          </p:nvSpPr>
          <p:spPr>
            <a:xfrm>
              <a:off x="7649404" y="1403985"/>
              <a:ext cx="131693"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panose="020B0604020202020204"/>
                  <a:ea typeface="微软雅黑" panose="020B0503020204020204" charset="-122"/>
                  <a:cs typeface="Arial" panose="020B0604020202020204"/>
                </a:rPr>
                <a:t>4</a:t>
              </a:r>
              <a:endParaRPr lang="zh-CN" sz="1200" b="1" dirty="0">
                <a:solidFill>
                  <a:srgbClr val="FFFFFF"/>
                </a:solidFill>
                <a:latin typeface="Arial" panose="020B0604020202020204"/>
                <a:ea typeface="微软雅黑" panose="020B0503020204020204" charset="-122"/>
                <a:cs typeface="Arial" panose="020B0604020202020204"/>
              </a:endParaRPr>
            </a:p>
          </p:txBody>
        </p:sp>
        <p:sp>
          <p:nvSpPr>
            <p:cNvPr id="28" name="TextBox 28"/>
            <p:cNvSpPr txBox="1"/>
            <p:nvPr/>
          </p:nvSpPr>
          <p:spPr>
            <a:xfrm>
              <a:off x="8034338" y="1316831"/>
              <a:ext cx="718661" cy="228600"/>
            </a:xfrm>
            <a:prstGeom prst="rect">
              <a:avLst/>
            </a:prstGeom>
            <a:noFill/>
            <a:ln>
              <a:noFill/>
            </a:ln>
          </p:spPr>
          <p:txBody>
            <a:bodyPr wrap="none" lIns="0" tIns="0" rIns="0" bIns="0" anchor="t" anchorCtr="0">
              <a:spAutoFit/>
            </a:bodyPr>
            <a:lstStyle/>
            <a:p>
              <a:pPr algn="l"/>
              <a:r>
                <a:rPr lang="zh-CN" sz="1125" b="1" dirty="0">
                  <a:solidFill>
                    <a:srgbClr val="1A1A2E"/>
                  </a:solidFill>
                  <a:latin typeface="Arial" panose="020B0604020202020204"/>
                  <a:ea typeface="微软雅黑" panose="020B0503020204020204" charset="-122"/>
                  <a:cs typeface="Arial" panose="020B0604020202020204"/>
                </a:rPr>
                <a:t>阶段标注</a:t>
              </a:r>
              <a:endParaRPr lang="zh-CN" sz="1125" b="1" dirty="0">
                <a:solidFill>
                  <a:srgbClr val="1A1A2E"/>
                </a:solidFill>
                <a:latin typeface="Arial" panose="020B0604020202020204"/>
                <a:ea typeface="微软雅黑" panose="020B0503020204020204" charset="-122"/>
                <a:cs typeface="Arial" panose="020B0604020202020204"/>
              </a:endParaRPr>
            </a:p>
          </p:txBody>
        </p:sp>
        <p:sp>
          <p:nvSpPr>
            <p:cNvPr id="29" name="TextBox 29"/>
            <p:cNvSpPr txBox="1"/>
            <p:nvPr/>
          </p:nvSpPr>
          <p:spPr>
            <a:xfrm>
              <a:off x="8037195" y="1531620"/>
              <a:ext cx="1212850" cy="276860"/>
            </a:xfrm>
            <a:prstGeom prst="rect">
              <a:avLst/>
            </a:prstGeom>
            <a:noFill/>
            <a:ln>
              <a:noFill/>
            </a:ln>
          </p:spPr>
          <p:txBody>
            <a:bodyPr wrap="square" lIns="0" tIns="0" rIns="0" bIns="0" anchor="t" anchorCtr="0">
              <a:spAutoFit/>
            </a:bodyPr>
            <a:lstStyle/>
            <a:p>
              <a:pPr algn="l"/>
              <a:r>
                <a:rPr lang="zh-CN" sz="900" dirty="0">
                  <a:solidFill>
                    <a:srgbClr val="6B7280"/>
                  </a:solidFill>
                  <a:latin typeface="Arial" panose="020B0604020202020204"/>
                  <a:ea typeface="微软雅黑" panose="020B0503020204020204" charset="-122"/>
                  <a:cs typeface="Arial" panose="020B0604020202020204"/>
                </a:rPr>
                <a:t>增长、冲击、修复、恢复</a:t>
              </a:r>
              <a:endParaRPr lang="zh-CN" sz="900" dirty="0">
                <a:solidFill>
                  <a:srgbClr val="6B7280"/>
                </a:solidFill>
                <a:latin typeface="Arial" panose="020B0604020202020204"/>
                <a:ea typeface="微软雅黑" panose="020B0503020204020204" charset="-122"/>
                <a:cs typeface="Arial" panose="020B0604020202020204"/>
              </a:endParaRPr>
            </a:p>
          </p:txBody>
        </p:sp>
        <p:sp>
          <p:nvSpPr>
            <p:cNvPr id="30" name="Line 30"/>
            <p:cNvSpPr/>
            <p:nvPr/>
          </p:nvSpPr>
          <p:spPr>
            <a:xfrm>
              <a:off x="9191625" y="1476375"/>
              <a:ext cx="285750" cy="1"/>
            </a:xfrm>
            <a:prstGeom prst="line">
              <a:avLst/>
            </a:prstGeom>
            <a:noFill/>
            <a:ln w="19050">
              <a:solidFill>
                <a:srgbClr val="9CA3AF"/>
              </a:solidFill>
              <a:tailEnd type="triangle" w="lg" len="lg"/>
            </a:ln>
          </p:spPr>
        </p:sp>
        <p:sp>
          <p:nvSpPr>
            <p:cNvPr id="31" name="Rectangle 31"/>
            <p:cNvSpPr/>
            <p:nvPr/>
          </p:nvSpPr>
          <p:spPr>
            <a:xfrm>
              <a:off x="9525000" y="1095375"/>
              <a:ext cx="1905000" cy="762000"/>
            </a:xfrm>
            <a:prstGeom prst="roundRect">
              <a:avLst>
                <a:gd name="adj" fmla="val 10000"/>
              </a:avLst>
            </a:prstGeom>
            <a:solidFill>
              <a:srgbClr val="FFFFFF"/>
            </a:solidFill>
            <a:ln w="9525">
              <a:solidFill>
                <a:srgbClr val="D1D5DB"/>
              </a:solidFill>
            </a:ln>
            <a:effectLst>
              <a:outerShdw blurRad="57150" dist="19050" dir="5400000" algn="ctr" rotWithShape="0">
                <a:srgbClr val="0F172A">
                  <a:alpha val="4500"/>
                </a:srgbClr>
              </a:outerShdw>
            </a:effectLst>
          </p:spPr>
        </p:sp>
        <p:sp>
          <p:nvSpPr>
            <p:cNvPr id="32" name="Ellipse 32"/>
            <p:cNvSpPr/>
            <p:nvPr/>
          </p:nvSpPr>
          <p:spPr>
            <a:xfrm>
              <a:off x="9763125" y="1285875"/>
              <a:ext cx="381000" cy="381000"/>
            </a:xfrm>
            <a:prstGeom prst="ellipse">
              <a:avLst/>
            </a:prstGeom>
            <a:solidFill>
              <a:srgbClr val="2E7D32"/>
            </a:solidFill>
            <a:ln>
              <a:noFill/>
            </a:ln>
          </p:spPr>
        </p:sp>
        <p:sp>
          <p:nvSpPr>
            <p:cNvPr id="33" name="TextBox 33"/>
            <p:cNvSpPr txBox="1"/>
            <p:nvPr/>
          </p:nvSpPr>
          <p:spPr>
            <a:xfrm>
              <a:off x="9887779" y="1403985"/>
              <a:ext cx="131693"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Arial" panose="020B0604020202020204"/>
                  <a:ea typeface="微软雅黑" panose="020B0503020204020204" charset="-122"/>
                  <a:cs typeface="Arial" panose="020B0604020202020204"/>
                </a:rPr>
                <a:t>5</a:t>
              </a:r>
              <a:endParaRPr lang="zh-CN" sz="1200" b="1" dirty="0">
                <a:solidFill>
                  <a:srgbClr val="FFFFFF"/>
                </a:solidFill>
                <a:latin typeface="Arial" panose="020B0604020202020204"/>
                <a:ea typeface="微软雅黑" panose="020B0503020204020204" charset="-122"/>
                <a:cs typeface="Arial" panose="020B0604020202020204"/>
              </a:endParaRPr>
            </a:p>
          </p:txBody>
        </p:sp>
        <p:sp>
          <p:nvSpPr>
            <p:cNvPr id="34" name="TextBox 34"/>
            <p:cNvSpPr txBox="1"/>
            <p:nvPr/>
          </p:nvSpPr>
          <p:spPr>
            <a:xfrm>
              <a:off x="10272712" y="1316831"/>
              <a:ext cx="718661" cy="228600"/>
            </a:xfrm>
            <a:prstGeom prst="rect">
              <a:avLst/>
            </a:prstGeom>
            <a:noFill/>
            <a:ln>
              <a:noFill/>
            </a:ln>
          </p:spPr>
          <p:txBody>
            <a:bodyPr wrap="none" lIns="0" tIns="0" rIns="0" bIns="0" anchor="t" anchorCtr="0">
              <a:spAutoFit/>
            </a:bodyPr>
            <a:lstStyle/>
            <a:p>
              <a:pPr algn="l"/>
              <a:r>
                <a:rPr lang="zh-CN" sz="1125" b="1" dirty="0">
                  <a:solidFill>
                    <a:srgbClr val="1A1A2E"/>
                  </a:solidFill>
                  <a:latin typeface="Arial" panose="020B0604020202020204"/>
                  <a:ea typeface="微软雅黑" panose="020B0503020204020204" charset="-122"/>
                  <a:cs typeface="Arial" panose="020B0604020202020204"/>
                </a:rPr>
                <a:t>模型输入</a:t>
              </a:r>
              <a:endParaRPr lang="zh-CN" sz="1125" b="1" dirty="0">
                <a:solidFill>
                  <a:srgbClr val="1A1A2E"/>
                </a:solidFill>
                <a:latin typeface="Arial" panose="020B0604020202020204"/>
                <a:ea typeface="微软雅黑" panose="020B0503020204020204" charset="-122"/>
                <a:cs typeface="Arial" panose="020B0604020202020204"/>
              </a:endParaRPr>
            </a:p>
          </p:txBody>
        </p:sp>
        <p:sp>
          <p:nvSpPr>
            <p:cNvPr id="35" name="TextBox 35"/>
            <p:cNvSpPr txBox="1"/>
            <p:nvPr/>
          </p:nvSpPr>
          <p:spPr>
            <a:xfrm>
              <a:off x="10275570" y="1531620"/>
              <a:ext cx="1113853"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panose="020B0604020202020204"/>
                  <a:ea typeface="微软雅黑" panose="020B0503020204020204" charset="-122"/>
                  <a:cs typeface="Arial" panose="020B0604020202020204"/>
                </a:rPr>
                <a:t>差分 / 拟合 / 缺口</a:t>
              </a:r>
              <a:endParaRPr lang="zh-CN" sz="900" dirty="0">
                <a:solidFill>
                  <a:srgbClr val="6B7280"/>
                </a:solidFill>
                <a:latin typeface="Arial" panose="020B0604020202020204"/>
                <a:ea typeface="微软雅黑" panose="020B0503020204020204" charset="-122"/>
                <a:cs typeface="Arial" panose="020B0604020202020204"/>
              </a:endParaRPr>
            </a:p>
          </p:txBody>
        </p:sp>
      </p:grpSp>
      <p:grpSp>
        <p:nvGrpSpPr>
          <p:cNvPr id="65" name="Group 65"/>
          <p:cNvGrpSpPr/>
          <p:nvPr/>
        </p:nvGrpSpPr>
        <p:grpSpPr>
          <a:xfrm>
            <a:off x="558165" y="2315528"/>
            <a:ext cx="11062335" cy="1542097"/>
            <a:chOff x="558165" y="2315528"/>
            <a:chExt cx="11062335" cy="1542097"/>
          </a:xfrm>
        </p:grpSpPr>
        <p:sp>
          <p:nvSpPr>
            <p:cNvPr id="37" name="TextBox 37"/>
            <p:cNvSpPr txBox="1"/>
            <p:nvPr/>
          </p:nvSpPr>
          <p:spPr>
            <a:xfrm>
              <a:off x="558165" y="2315528"/>
              <a:ext cx="992791" cy="213360"/>
            </a:xfrm>
            <a:prstGeom prst="rect">
              <a:avLst/>
            </a:prstGeom>
            <a:noFill/>
            <a:ln>
              <a:noFill/>
            </a:ln>
          </p:spPr>
          <p:txBody>
            <a:bodyPr wrap="none" lIns="0" tIns="0" rIns="0" bIns="0" anchor="t" anchorCtr="0">
              <a:spAutoFit/>
            </a:bodyPr>
            <a:lstStyle/>
            <a:p>
              <a:pPr algn="l"/>
              <a:r>
                <a:rPr lang="zh-CN" sz="1050" b="1" dirty="0">
                  <a:solidFill>
                    <a:srgbClr val="6B7280"/>
                  </a:solidFill>
                  <a:latin typeface="Arial" panose="020B0604020202020204"/>
                  <a:ea typeface="微软雅黑" panose="020B0503020204020204" charset="-122"/>
                  <a:cs typeface="Arial" panose="020B0604020202020204"/>
                </a:rPr>
                <a:t>派生指标示例</a:t>
              </a:r>
              <a:endParaRPr lang="zh-CN" sz="1050" b="1" dirty="0">
                <a:solidFill>
                  <a:srgbClr val="6B7280"/>
                </a:solidFill>
                <a:latin typeface="Arial" panose="020B0604020202020204"/>
                <a:ea typeface="微软雅黑" panose="020B0503020204020204" charset="-122"/>
                <a:cs typeface="Arial" panose="020B0604020202020204"/>
              </a:endParaRPr>
            </a:p>
          </p:txBody>
        </p:sp>
        <p:sp>
          <p:nvSpPr>
            <p:cNvPr id="38" name="Rectangle 38"/>
            <p:cNvSpPr/>
            <p:nvPr/>
          </p:nvSpPr>
          <p:spPr>
            <a:xfrm>
              <a:off x="571500" y="2619375"/>
              <a:ext cx="3524250" cy="1238250"/>
            </a:xfrm>
            <a:prstGeom prst="roundRect">
              <a:avLst>
                <a:gd name="adj" fmla="val 6154"/>
              </a:avLst>
            </a:prstGeom>
            <a:solidFill>
              <a:srgbClr val="FFFFFF"/>
            </a:solidFill>
            <a:ln w="9525">
              <a:solidFill>
                <a:srgbClr val="D1D5DB"/>
              </a:solidFill>
            </a:ln>
            <a:effectLst>
              <a:outerShdw blurRad="57150" dist="19050" dir="5400000" algn="ctr" rotWithShape="0">
                <a:srgbClr val="0F172A">
                  <a:alpha val="4500"/>
                </a:srgbClr>
              </a:outerShdw>
            </a:effectLst>
          </p:spPr>
        </p:sp>
        <p:sp>
          <p:nvSpPr>
            <p:cNvPr id="39" name="Rectangle 39"/>
            <p:cNvSpPr/>
            <p:nvPr/>
          </p:nvSpPr>
          <p:spPr>
            <a:xfrm>
              <a:off x="571500" y="2619375"/>
              <a:ext cx="38100" cy="1238250"/>
            </a:xfrm>
            <a:prstGeom prst="roundRect">
              <a:avLst>
                <a:gd name="adj" fmla="val 50000"/>
              </a:avLst>
            </a:prstGeom>
            <a:solidFill>
              <a:srgbClr val="1A3A5C"/>
            </a:solidFill>
            <a:ln>
              <a:noFill/>
            </a:ln>
          </p:spPr>
        </p:sp>
        <p:grpSp>
          <p:nvGrpSpPr>
            <p:cNvPr id="42" name="Group 42"/>
            <p:cNvGrpSpPr/>
            <p:nvPr/>
          </p:nvGrpSpPr>
          <p:grpSpPr>
            <a:xfrm>
              <a:off x="811163" y="2941649"/>
              <a:ext cx="226064" cy="150207"/>
              <a:chOff x="811163" y="2941649"/>
              <a:chExt cx="226064" cy="150207"/>
            </a:xfrm>
          </p:grpSpPr>
          <p:sp>
            <p:nvSpPr>
              <p:cNvPr id="40" name="Freeform 40"/>
              <p:cNvSpPr/>
              <p:nvPr/>
            </p:nvSpPr>
            <p:spPr>
              <a:xfrm>
                <a:off x="838200" y="2955131"/>
                <a:ext cx="92869" cy="92869"/>
              </a:xfrm>
              <a:custGeom>
                <a:avLst/>
                <a:gdLst/>
                <a:ahLst/>
                <a:cxnLst/>
                <a:rect l="l" t="t" r="r" b="b"/>
                <a:pathLst>
                  <a:path w="92869" h="92869">
                    <a:moveTo>
                      <a:pt x="92869" y="46434"/>
                    </a:moveTo>
                    <a:cubicBezTo>
                      <a:pt x="92869" y="72079"/>
                      <a:pt x="72079" y="92869"/>
                      <a:pt x="46434" y="92869"/>
                    </a:cubicBezTo>
                    <a:cubicBezTo>
                      <a:pt x="20789" y="92869"/>
                      <a:pt x="0" y="72079"/>
                      <a:pt x="0" y="46434"/>
                    </a:cubicBezTo>
                    <a:cubicBezTo>
                      <a:pt x="0" y="20789"/>
                      <a:pt x="20789" y="0"/>
                      <a:pt x="46434" y="0"/>
                    </a:cubicBezTo>
                    <a:cubicBezTo>
                      <a:pt x="72079" y="0"/>
                      <a:pt x="92869" y="20789"/>
                      <a:pt x="92869" y="46434"/>
                    </a:cubicBezTo>
                    <a:close/>
                  </a:path>
                </a:pathLst>
              </a:custGeom>
              <a:solidFill>
                <a:srgbClr val="1A3A5C">
                  <a:alpha val="20000"/>
                </a:srgbClr>
              </a:solidFill>
              <a:ln>
                <a:noFill/>
              </a:ln>
            </p:spPr>
          </p:sp>
          <p:sp>
            <p:nvSpPr>
              <p:cNvPr id="41" name="Freeform 41"/>
              <p:cNvSpPr/>
              <p:nvPr/>
            </p:nvSpPr>
            <p:spPr>
              <a:xfrm>
                <a:off x="811163" y="2941649"/>
                <a:ext cx="226064" cy="150207"/>
              </a:xfrm>
              <a:custGeom>
                <a:avLst/>
                <a:gdLst/>
                <a:ahLst/>
                <a:cxnLst/>
                <a:rect l="l" t="t" r="r" b="b"/>
                <a:pathLst>
                  <a:path w="226064" h="150207">
                    <a:moveTo>
                      <a:pt x="103162" y="104493"/>
                    </a:moveTo>
                    <a:cubicBezTo>
                      <a:pt x="122821" y="91406"/>
                      <a:pt x="131592" y="66990"/>
                      <a:pt x="124755" y="44385"/>
                    </a:cubicBezTo>
                    <a:cubicBezTo>
                      <a:pt x="117919" y="21780"/>
                      <a:pt x="97088" y="6317"/>
                      <a:pt x="73471" y="6317"/>
                    </a:cubicBezTo>
                    <a:cubicBezTo>
                      <a:pt x="49855" y="6317"/>
                      <a:pt x="29024" y="21780"/>
                      <a:pt x="22187" y="44385"/>
                    </a:cubicBezTo>
                    <a:cubicBezTo>
                      <a:pt x="15351" y="66990"/>
                      <a:pt x="24122" y="91406"/>
                      <a:pt x="43780" y="104493"/>
                    </a:cubicBezTo>
                    <a:cubicBezTo>
                      <a:pt x="26461" y="110877"/>
                      <a:pt x="11670" y="122689"/>
                      <a:pt x="1614" y="138167"/>
                    </a:cubicBezTo>
                    <a:cubicBezTo>
                      <a:pt x="176" y="140305"/>
                      <a:pt x="0" y="143052"/>
                      <a:pt x="1154" y="145355"/>
                    </a:cubicBezTo>
                    <a:cubicBezTo>
                      <a:pt x="2308" y="147659"/>
                      <a:pt x="4614" y="149162"/>
                      <a:pt x="7187" y="149290"/>
                    </a:cubicBezTo>
                    <a:cubicBezTo>
                      <a:pt x="9760" y="149418"/>
                      <a:pt x="12203" y="148150"/>
                      <a:pt x="13580" y="145972"/>
                    </a:cubicBezTo>
                    <a:cubicBezTo>
                      <a:pt x="26758" y="125703"/>
                      <a:pt x="49295" y="113474"/>
                      <a:pt x="73471" y="113474"/>
                    </a:cubicBezTo>
                    <a:cubicBezTo>
                      <a:pt x="97648" y="113474"/>
                      <a:pt x="120184" y="125703"/>
                      <a:pt x="133363" y="145972"/>
                    </a:cubicBezTo>
                    <a:cubicBezTo>
                      <a:pt x="135543" y="149212"/>
                      <a:pt x="139921" y="150101"/>
                      <a:pt x="143192" y="147967"/>
                    </a:cubicBezTo>
                    <a:cubicBezTo>
                      <a:pt x="146464" y="145834"/>
                      <a:pt x="147415" y="141469"/>
                      <a:pt x="145328" y="138167"/>
                    </a:cubicBezTo>
                    <a:cubicBezTo>
                      <a:pt x="135273" y="122689"/>
                      <a:pt x="120482" y="110877"/>
                      <a:pt x="103162" y="104493"/>
                    </a:cubicBezTo>
                    <a:close/>
                    <a:moveTo>
                      <a:pt x="34181" y="59916"/>
                    </a:moveTo>
                    <a:cubicBezTo>
                      <a:pt x="34181" y="38217"/>
                      <a:pt x="51772" y="20626"/>
                      <a:pt x="73471" y="20626"/>
                    </a:cubicBezTo>
                    <a:cubicBezTo>
                      <a:pt x="95171" y="20626"/>
                      <a:pt x="112762" y="38217"/>
                      <a:pt x="112762" y="59916"/>
                    </a:cubicBezTo>
                    <a:cubicBezTo>
                      <a:pt x="112762" y="81616"/>
                      <a:pt x="95171" y="99207"/>
                      <a:pt x="73471" y="99207"/>
                    </a:cubicBezTo>
                    <a:cubicBezTo>
                      <a:pt x="51782" y="99182"/>
                      <a:pt x="34205" y="81606"/>
                      <a:pt x="34181" y="59916"/>
                    </a:cubicBezTo>
                    <a:close/>
                    <a:moveTo>
                      <a:pt x="221829" y="148052"/>
                    </a:moveTo>
                    <a:cubicBezTo>
                      <a:pt x="218525" y="150207"/>
                      <a:pt x="214099" y="149276"/>
                      <a:pt x="211944" y="145972"/>
                    </a:cubicBezTo>
                    <a:cubicBezTo>
                      <a:pt x="198780" y="125689"/>
                      <a:pt x="176232" y="113462"/>
                      <a:pt x="152052" y="113494"/>
                    </a:cubicBezTo>
                    <a:cubicBezTo>
                      <a:pt x="148107" y="113494"/>
                      <a:pt x="144909" y="110296"/>
                      <a:pt x="144909" y="106351"/>
                    </a:cubicBezTo>
                    <a:cubicBezTo>
                      <a:pt x="144909" y="102405"/>
                      <a:pt x="148107" y="99207"/>
                      <a:pt x="152052" y="99207"/>
                    </a:cubicBezTo>
                    <a:cubicBezTo>
                      <a:pt x="167876" y="99192"/>
                      <a:pt x="182147" y="89686"/>
                      <a:pt x="188258" y="75090"/>
                    </a:cubicBezTo>
                    <a:cubicBezTo>
                      <a:pt x="194369" y="60493"/>
                      <a:pt x="191127" y="43655"/>
                      <a:pt x="180034" y="32371"/>
                    </a:cubicBezTo>
                    <a:cubicBezTo>
                      <a:pt x="168940" y="21087"/>
                      <a:pt x="152160" y="17559"/>
                      <a:pt x="137461" y="23421"/>
                    </a:cubicBezTo>
                    <a:cubicBezTo>
                      <a:pt x="135076" y="24452"/>
                      <a:pt x="132318" y="24106"/>
                      <a:pt x="130261" y="22518"/>
                    </a:cubicBezTo>
                    <a:cubicBezTo>
                      <a:pt x="128204" y="20929"/>
                      <a:pt x="127171" y="18349"/>
                      <a:pt x="127566" y="15780"/>
                    </a:cubicBezTo>
                    <a:cubicBezTo>
                      <a:pt x="127960" y="13211"/>
                      <a:pt x="129718" y="11059"/>
                      <a:pt x="132157" y="10160"/>
                    </a:cubicBezTo>
                    <a:cubicBezTo>
                      <a:pt x="157633" y="0"/>
                      <a:pt x="186668" y="10720"/>
                      <a:pt x="199430" y="34997"/>
                    </a:cubicBezTo>
                    <a:cubicBezTo>
                      <a:pt x="212191" y="59275"/>
                      <a:pt x="204558" y="89270"/>
                      <a:pt x="181744" y="104493"/>
                    </a:cubicBezTo>
                    <a:cubicBezTo>
                      <a:pt x="199063" y="110877"/>
                      <a:pt x="213854" y="122689"/>
                      <a:pt x="223910" y="138167"/>
                    </a:cubicBezTo>
                    <a:cubicBezTo>
                      <a:pt x="226064" y="141472"/>
                      <a:pt x="225133" y="145897"/>
                      <a:pt x="221829" y="148052"/>
                    </a:cubicBezTo>
                    <a:close/>
                  </a:path>
                </a:pathLst>
              </a:custGeom>
              <a:solidFill>
                <a:srgbClr val="1A3A5C"/>
              </a:solidFill>
              <a:ln>
                <a:noFill/>
              </a:ln>
            </p:spPr>
          </p:sp>
        </p:grpSp>
        <p:sp>
          <p:nvSpPr>
            <p:cNvPr id="43" name="TextBox 43"/>
            <p:cNvSpPr txBox="1"/>
            <p:nvPr/>
          </p:nvSpPr>
          <p:spPr>
            <a:xfrm>
              <a:off x="1127760" y="2870835"/>
              <a:ext cx="950595" cy="243840"/>
            </a:xfrm>
            <a:prstGeom prst="rect">
              <a:avLst/>
            </a:prstGeom>
            <a:noFill/>
            <a:ln>
              <a:noFill/>
            </a:ln>
          </p:spPr>
          <p:txBody>
            <a:bodyPr wrap="none" lIns="0" tIns="0" rIns="0" bIns="0" anchor="t" anchorCtr="0">
              <a:spAutoFit/>
            </a:bodyPr>
            <a:lstStyle/>
            <a:p>
              <a:pPr algn="l"/>
              <a:r>
                <a:rPr lang="zh-CN" sz="1200" b="1" dirty="0">
                  <a:solidFill>
                    <a:srgbClr val="1A1A2E"/>
                  </a:solidFill>
                  <a:latin typeface="Arial" panose="020B0604020202020204"/>
                  <a:ea typeface="微软雅黑" panose="020B0503020204020204" charset="-122"/>
                  <a:cs typeface="Arial" panose="020B0604020202020204"/>
                </a:rPr>
                <a:t>单馆游客量</a:t>
              </a:r>
              <a:endParaRPr lang="zh-CN" sz="1200" b="1" dirty="0">
                <a:solidFill>
                  <a:srgbClr val="1A1A2E"/>
                </a:solidFill>
                <a:latin typeface="Arial" panose="020B0604020202020204"/>
                <a:ea typeface="微软雅黑" panose="020B0503020204020204" charset="-122"/>
                <a:cs typeface="Arial" panose="020B0604020202020204"/>
              </a:endParaRPr>
            </a:p>
          </p:txBody>
        </p:sp>
        <p:sp>
          <p:nvSpPr>
            <p:cNvPr id="44" name="TextBox 44"/>
            <p:cNvSpPr txBox="1"/>
            <p:nvPr/>
          </p:nvSpPr>
          <p:spPr>
            <a:xfrm>
              <a:off x="1116330" y="3011805"/>
              <a:ext cx="1953377" cy="426720"/>
            </a:xfrm>
            <a:prstGeom prst="rect">
              <a:avLst/>
            </a:prstGeom>
            <a:noFill/>
            <a:ln>
              <a:noFill/>
            </a:ln>
          </p:spPr>
          <p:txBody>
            <a:bodyPr wrap="none" lIns="0" tIns="0" rIns="0" bIns="0" anchor="t" anchorCtr="0">
              <a:spAutoFit/>
            </a:bodyPr>
            <a:lstStyle/>
            <a:p>
              <a:pPr algn="l"/>
              <a:r>
                <a:rPr lang="zh-CN" sz="2100" b="1" dirty="0">
                  <a:solidFill>
                    <a:srgbClr val="C62828"/>
                  </a:solidFill>
                  <a:latin typeface="Arial" panose="020B0604020202020204"/>
                  <a:ea typeface="微软雅黑" panose="020B0503020204020204" charset="-122"/>
                  <a:cs typeface="Arial" panose="020B0604020202020204"/>
                </a:rPr>
                <a:t>1.170 → 0.716</a:t>
              </a:r>
              <a:endParaRPr lang="zh-CN" sz="2100" b="1" dirty="0">
                <a:solidFill>
                  <a:srgbClr val="C62828"/>
                </a:solidFill>
                <a:latin typeface="Arial" panose="020B0604020202020204"/>
                <a:ea typeface="微软雅黑" panose="020B0503020204020204" charset="-122"/>
                <a:cs typeface="Arial" panose="020B0604020202020204"/>
              </a:endParaRPr>
            </a:p>
          </p:txBody>
        </p:sp>
        <p:sp>
          <p:nvSpPr>
            <p:cNvPr id="45" name="TextBox 45"/>
            <p:cNvSpPr txBox="1"/>
            <p:nvPr/>
          </p:nvSpPr>
          <p:spPr>
            <a:xfrm>
              <a:off x="1130618" y="3371374"/>
              <a:ext cx="1776270" cy="198120"/>
            </a:xfrm>
            <a:prstGeom prst="rect">
              <a:avLst/>
            </a:prstGeom>
            <a:noFill/>
            <a:ln>
              <a:noFill/>
            </a:ln>
          </p:spPr>
          <p:txBody>
            <a:bodyPr wrap="none" lIns="0" tIns="0" rIns="0" bIns="0" anchor="t" anchorCtr="0">
              <a:spAutoFit/>
            </a:bodyPr>
            <a:lstStyle/>
            <a:p>
              <a:pPr algn="l"/>
              <a:r>
                <a:rPr lang="zh-CN" sz="975" dirty="0">
                  <a:solidFill>
                    <a:srgbClr val="6B7280"/>
                  </a:solidFill>
                  <a:latin typeface="Arial" panose="020B0604020202020204"/>
                  <a:ea typeface="微软雅黑" panose="020B0503020204020204" charset="-122"/>
                  <a:cs typeface="Arial" panose="020B0604020202020204"/>
                </a:rPr>
                <a:t>2019 到 2023，百万人次/馆</a:t>
              </a:r>
              <a:endParaRPr lang="zh-CN" sz="975" dirty="0">
                <a:solidFill>
                  <a:srgbClr val="6B7280"/>
                </a:solidFill>
                <a:latin typeface="Arial" panose="020B0604020202020204"/>
                <a:ea typeface="微软雅黑" panose="020B0503020204020204" charset="-122"/>
                <a:cs typeface="Arial" panose="020B0604020202020204"/>
              </a:endParaRPr>
            </a:p>
          </p:txBody>
        </p:sp>
        <p:sp>
          <p:nvSpPr>
            <p:cNvPr id="46" name="TextBox 46"/>
            <p:cNvSpPr txBox="1"/>
            <p:nvPr/>
          </p:nvSpPr>
          <p:spPr>
            <a:xfrm>
              <a:off x="1131570" y="3617595"/>
              <a:ext cx="1895951" cy="182880"/>
            </a:xfrm>
            <a:prstGeom prst="rect">
              <a:avLst/>
            </a:prstGeom>
            <a:noFill/>
            <a:ln>
              <a:noFill/>
            </a:ln>
          </p:spPr>
          <p:txBody>
            <a:bodyPr wrap="none" lIns="0" tIns="0" rIns="0" bIns="0" anchor="t" anchorCtr="0">
              <a:spAutoFit/>
            </a:bodyPr>
            <a:lstStyle/>
            <a:p>
              <a:pPr algn="l"/>
              <a:r>
                <a:rPr lang="zh-CN" sz="900" dirty="0">
                  <a:solidFill>
                    <a:srgbClr val="9CA3AF"/>
                  </a:solidFill>
                  <a:latin typeface="Arial" panose="020B0604020202020204"/>
                  <a:ea typeface="微软雅黑" panose="020B0503020204020204" charset="-122"/>
                  <a:cs typeface="Arial" panose="020B0604020202020204"/>
                </a:rPr>
                <a:t>供给扩张，但单馆游客未回 2019</a:t>
              </a:r>
              <a:endParaRPr lang="zh-CN" sz="900" dirty="0">
                <a:solidFill>
                  <a:srgbClr val="9CA3AF"/>
                </a:solidFill>
                <a:latin typeface="Arial" panose="020B0604020202020204"/>
                <a:ea typeface="微软雅黑" panose="020B0503020204020204" charset="-122"/>
                <a:cs typeface="Arial" panose="020B0604020202020204"/>
              </a:endParaRPr>
            </a:p>
          </p:txBody>
        </p:sp>
        <p:sp>
          <p:nvSpPr>
            <p:cNvPr id="47" name="Rectangle 47"/>
            <p:cNvSpPr/>
            <p:nvPr/>
          </p:nvSpPr>
          <p:spPr>
            <a:xfrm>
              <a:off x="4333875" y="2619375"/>
              <a:ext cx="3524250" cy="1238250"/>
            </a:xfrm>
            <a:prstGeom prst="roundRect">
              <a:avLst>
                <a:gd name="adj" fmla="val 6154"/>
              </a:avLst>
            </a:prstGeom>
            <a:solidFill>
              <a:srgbClr val="FFFFFF"/>
            </a:solidFill>
            <a:ln w="9525">
              <a:solidFill>
                <a:srgbClr val="D1D5DB"/>
              </a:solidFill>
            </a:ln>
            <a:effectLst>
              <a:outerShdw blurRad="57150" dist="19050" dir="5400000" algn="ctr" rotWithShape="0">
                <a:srgbClr val="0F172A">
                  <a:alpha val="4500"/>
                </a:srgbClr>
              </a:outerShdw>
            </a:effectLst>
          </p:spPr>
        </p:sp>
        <p:sp>
          <p:nvSpPr>
            <p:cNvPr id="48" name="Rectangle 48"/>
            <p:cNvSpPr/>
            <p:nvPr/>
          </p:nvSpPr>
          <p:spPr>
            <a:xfrm>
              <a:off x="4333875" y="2619375"/>
              <a:ext cx="38100" cy="1238250"/>
            </a:xfrm>
            <a:prstGeom prst="roundRect">
              <a:avLst>
                <a:gd name="adj" fmla="val 50000"/>
              </a:avLst>
            </a:prstGeom>
            <a:solidFill>
              <a:srgbClr val="2E6B8F"/>
            </a:solidFill>
            <a:ln>
              <a:noFill/>
            </a:ln>
          </p:spPr>
        </p:sp>
        <p:grpSp>
          <p:nvGrpSpPr>
            <p:cNvPr id="51" name="Group 51"/>
            <p:cNvGrpSpPr/>
            <p:nvPr/>
          </p:nvGrpSpPr>
          <p:grpSpPr>
            <a:xfrm>
              <a:off x="4593431" y="2926556"/>
              <a:ext cx="185738" cy="185738"/>
              <a:chOff x="4593431" y="2926556"/>
              <a:chExt cx="185738" cy="185738"/>
            </a:xfrm>
          </p:grpSpPr>
          <p:sp>
            <p:nvSpPr>
              <p:cNvPr id="49" name="Freeform 49"/>
              <p:cNvSpPr/>
              <p:nvPr/>
            </p:nvSpPr>
            <p:spPr>
              <a:xfrm>
                <a:off x="4600575" y="2933700"/>
                <a:ext cx="171450" cy="171450"/>
              </a:xfrm>
              <a:custGeom>
                <a:avLst/>
                <a:gdLst/>
                <a:ahLst/>
                <a:cxnLst/>
                <a:rect l="l" t="t" r="r" b="b"/>
                <a:pathLst>
                  <a:path w="171450" h="171450">
                    <a:moveTo>
                      <a:pt x="171450" y="85725"/>
                    </a:moveTo>
                    <a:cubicBezTo>
                      <a:pt x="171450" y="133070"/>
                      <a:pt x="133070" y="171450"/>
                      <a:pt x="85725" y="171450"/>
                    </a:cubicBezTo>
                    <a:cubicBezTo>
                      <a:pt x="38380" y="171450"/>
                      <a:pt x="0" y="133070"/>
                      <a:pt x="0" y="85725"/>
                    </a:cubicBezTo>
                    <a:cubicBezTo>
                      <a:pt x="0" y="38380"/>
                      <a:pt x="38380" y="0"/>
                      <a:pt x="85725" y="0"/>
                    </a:cubicBezTo>
                    <a:cubicBezTo>
                      <a:pt x="133070" y="0"/>
                      <a:pt x="171450" y="38380"/>
                      <a:pt x="171450" y="85725"/>
                    </a:cubicBezTo>
                    <a:close/>
                  </a:path>
                </a:pathLst>
              </a:custGeom>
              <a:solidFill>
                <a:srgbClr val="2E6B8F">
                  <a:alpha val="20000"/>
                </a:srgbClr>
              </a:solidFill>
              <a:ln>
                <a:noFill/>
              </a:ln>
            </p:spPr>
          </p:sp>
          <p:sp>
            <p:nvSpPr>
              <p:cNvPr id="50" name="Freeform 50"/>
              <p:cNvSpPr/>
              <p:nvPr/>
            </p:nvSpPr>
            <p:spPr>
              <a:xfrm>
                <a:off x="4593431" y="2926556"/>
                <a:ext cx="185738" cy="185738"/>
              </a:xfrm>
              <a:custGeom>
                <a:avLst/>
                <a:gdLst/>
                <a:ahLst/>
                <a:cxnLst/>
                <a:rect l="l" t="t" r="r" b="b"/>
                <a:pathLst>
                  <a:path w="185738" h="185738">
                    <a:moveTo>
                      <a:pt x="92869" y="0"/>
                    </a:moveTo>
                    <a:cubicBezTo>
                      <a:pt x="41579" y="0"/>
                      <a:pt x="0" y="41579"/>
                      <a:pt x="0" y="92869"/>
                    </a:cubicBezTo>
                    <a:cubicBezTo>
                      <a:pt x="0" y="144159"/>
                      <a:pt x="41579" y="185738"/>
                      <a:pt x="92869" y="185738"/>
                    </a:cubicBezTo>
                    <a:cubicBezTo>
                      <a:pt x="144159" y="185738"/>
                      <a:pt x="185738" y="144159"/>
                      <a:pt x="185738" y="92869"/>
                    </a:cubicBezTo>
                    <a:cubicBezTo>
                      <a:pt x="185683" y="41601"/>
                      <a:pt x="144136" y="54"/>
                      <a:pt x="92869" y="0"/>
                    </a:cubicBezTo>
                    <a:close/>
                    <a:moveTo>
                      <a:pt x="92869" y="171450"/>
                    </a:moveTo>
                    <a:cubicBezTo>
                      <a:pt x="49470" y="171450"/>
                      <a:pt x="14288" y="136268"/>
                      <a:pt x="14288" y="92869"/>
                    </a:cubicBezTo>
                    <a:cubicBezTo>
                      <a:pt x="14288" y="49470"/>
                      <a:pt x="49470" y="14288"/>
                      <a:pt x="92869" y="14288"/>
                    </a:cubicBezTo>
                    <a:cubicBezTo>
                      <a:pt x="136268" y="14288"/>
                      <a:pt x="171450" y="49470"/>
                      <a:pt x="171450" y="92869"/>
                    </a:cubicBezTo>
                    <a:cubicBezTo>
                      <a:pt x="171401" y="136248"/>
                      <a:pt x="136248" y="171401"/>
                      <a:pt x="92869" y="171450"/>
                    </a:cubicBezTo>
                    <a:close/>
                    <a:moveTo>
                      <a:pt x="128588" y="110728"/>
                    </a:moveTo>
                    <a:cubicBezTo>
                      <a:pt x="128588" y="124537"/>
                      <a:pt x="117393" y="135731"/>
                      <a:pt x="103584" y="135731"/>
                    </a:cubicBezTo>
                    <a:lnTo>
                      <a:pt x="100012" y="135731"/>
                    </a:lnTo>
                    <a:lnTo>
                      <a:pt x="100012" y="142875"/>
                    </a:lnTo>
                    <a:cubicBezTo>
                      <a:pt x="100012" y="146820"/>
                      <a:pt x="96814" y="150019"/>
                      <a:pt x="92869" y="150019"/>
                    </a:cubicBezTo>
                    <a:cubicBezTo>
                      <a:pt x="88923" y="150019"/>
                      <a:pt x="85725" y="146820"/>
                      <a:pt x="85725" y="142875"/>
                    </a:cubicBezTo>
                    <a:lnTo>
                      <a:pt x="85725" y="135731"/>
                    </a:lnTo>
                    <a:lnTo>
                      <a:pt x="71438" y="135731"/>
                    </a:lnTo>
                    <a:cubicBezTo>
                      <a:pt x="67492" y="135731"/>
                      <a:pt x="64294" y="132533"/>
                      <a:pt x="64294" y="128588"/>
                    </a:cubicBezTo>
                    <a:cubicBezTo>
                      <a:pt x="64294" y="124642"/>
                      <a:pt x="67492" y="121444"/>
                      <a:pt x="71438" y="121444"/>
                    </a:cubicBezTo>
                    <a:lnTo>
                      <a:pt x="103584" y="121444"/>
                    </a:lnTo>
                    <a:cubicBezTo>
                      <a:pt x="109502" y="121444"/>
                      <a:pt x="114300" y="116646"/>
                      <a:pt x="114300" y="110728"/>
                    </a:cubicBezTo>
                    <a:cubicBezTo>
                      <a:pt x="114300" y="104810"/>
                      <a:pt x="109502" y="100012"/>
                      <a:pt x="103584" y="100012"/>
                    </a:cubicBezTo>
                    <a:lnTo>
                      <a:pt x="82153" y="100012"/>
                    </a:lnTo>
                    <a:cubicBezTo>
                      <a:pt x="68344" y="100012"/>
                      <a:pt x="57150" y="88818"/>
                      <a:pt x="57150" y="75009"/>
                    </a:cubicBezTo>
                    <a:cubicBezTo>
                      <a:pt x="57150" y="61201"/>
                      <a:pt x="68344" y="50006"/>
                      <a:pt x="82153" y="50006"/>
                    </a:cubicBezTo>
                    <a:lnTo>
                      <a:pt x="85725" y="50006"/>
                    </a:lnTo>
                    <a:lnTo>
                      <a:pt x="85725" y="42862"/>
                    </a:lnTo>
                    <a:cubicBezTo>
                      <a:pt x="85725" y="38917"/>
                      <a:pt x="88923" y="35719"/>
                      <a:pt x="92869" y="35719"/>
                    </a:cubicBezTo>
                    <a:cubicBezTo>
                      <a:pt x="96814" y="35719"/>
                      <a:pt x="100012" y="38917"/>
                      <a:pt x="100012" y="42862"/>
                    </a:cubicBezTo>
                    <a:lnTo>
                      <a:pt x="100012" y="50006"/>
                    </a:lnTo>
                    <a:lnTo>
                      <a:pt x="114300" y="50006"/>
                    </a:lnTo>
                    <a:cubicBezTo>
                      <a:pt x="118245" y="50006"/>
                      <a:pt x="121444" y="53205"/>
                      <a:pt x="121444" y="57150"/>
                    </a:cubicBezTo>
                    <a:cubicBezTo>
                      <a:pt x="121444" y="61095"/>
                      <a:pt x="118245" y="64294"/>
                      <a:pt x="114300" y="64294"/>
                    </a:cubicBezTo>
                    <a:lnTo>
                      <a:pt x="82153" y="64294"/>
                    </a:lnTo>
                    <a:cubicBezTo>
                      <a:pt x="76235" y="64294"/>
                      <a:pt x="71438" y="69091"/>
                      <a:pt x="71438" y="75009"/>
                    </a:cubicBezTo>
                    <a:cubicBezTo>
                      <a:pt x="71438" y="80927"/>
                      <a:pt x="76235" y="85725"/>
                      <a:pt x="82153" y="85725"/>
                    </a:cubicBezTo>
                    <a:lnTo>
                      <a:pt x="103584" y="85725"/>
                    </a:lnTo>
                    <a:cubicBezTo>
                      <a:pt x="117393" y="85725"/>
                      <a:pt x="128588" y="96919"/>
                      <a:pt x="128588" y="110728"/>
                    </a:cubicBezTo>
                    <a:close/>
                  </a:path>
                </a:pathLst>
              </a:custGeom>
              <a:solidFill>
                <a:srgbClr val="2E6B8F"/>
              </a:solidFill>
              <a:ln>
                <a:noFill/>
              </a:ln>
            </p:spPr>
          </p:sp>
        </p:grpSp>
        <p:sp>
          <p:nvSpPr>
            <p:cNvPr id="52" name="TextBox 52"/>
            <p:cNvSpPr txBox="1"/>
            <p:nvPr/>
          </p:nvSpPr>
          <p:spPr>
            <a:xfrm>
              <a:off x="4890135" y="2870835"/>
              <a:ext cx="1134618" cy="243840"/>
            </a:xfrm>
            <a:prstGeom prst="rect">
              <a:avLst/>
            </a:prstGeom>
            <a:noFill/>
            <a:ln>
              <a:noFill/>
            </a:ln>
          </p:spPr>
          <p:txBody>
            <a:bodyPr wrap="none" lIns="0" tIns="0" rIns="0" bIns="0" anchor="t" anchorCtr="0">
              <a:spAutoFit/>
            </a:bodyPr>
            <a:lstStyle/>
            <a:p>
              <a:pPr algn="l"/>
              <a:r>
                <a:rPr lang="zh-CN" sz="1200" b="1" dirty="0">
                  <a:solidFill>
                    <a:srgbClr val="1A1A2E"/>
                  </a:solidFill>
                  <a:latin typeface="Arial" panose="020B0604020202020204"/>
                  <a:ea typeface="微软雅黑" panose="020B0503020204020204" charset="-122"/>
                  <a:cs typeface="Arial" panose="020B0604020202020204"/>
                </a:rPr>
                <a:t>人均旅游消费</a:t>
              </a:r>
              <a:endParaRPr lang="zh-CN" sz="1200" b="1" dirty="0">
                <a:solidFill>
                  <a:srgbClr val="1A1A2E"/>
                </a:solidFill>
                <a:latin typeface="Arial" panose="020B0604020202020204"/>
                <a:ea typeface="微软雅黑" panose="020B0503020204020204" charset="-122"/>
                <a:cs typeface="Arial" panose="020B0604020202020204"/>
              </a:endParaRPr>
            </a:p>
          </p:txBody>
        </p:sp>
        <p:sp>
          <p:nvSpPr>
            <p:cNvPr id="53" name="TextBox 53"/>
            <p:cNvSpPr txBox="1"/>
            <p:nvPr/>
          </p:nvSpPr>
          <p:spPr>
            <a:xfrm>
              <a:off x="4878705" y="3011805"/>
              <a:ext cx="2291520" cy="426720"/>
            </a:xfrm>
            <a:prstGeom prst="rect">
              <a:avLst/>
            </a:prstGeom>
            <a:noFill/>
            <a:ln>
              <a:noFill/>
            </a:ln>
          </p:spPr>
          <p:txBody>
            <a:bodyPr wrap="none" lIns="0" tIns="0" rIns="0" bIns="0" anchor="t" anchorCtr="0">
              <a:spAutoFit/>
            </a:bodyPr>
            <a:lstStyle/>
            <a:p>
              <a:pPr algn="l"/>
              <a:r>
                <a:rPr lang="zh-CN" sz="2100" b="1" dirty="0">
                  <a:solidFill>
                    <a:srgbClr val="2E7D32"/>
                  </a:solidFill>
                  <a:latin typeface="Arial" panose="020B0604020202020204"/>
                  <a:ea typeface="微软雅黑" panose="020B0503020204020204" charset="-122"/>
                  <a:cs typeface="Arial" panose="020B0604020202020204"/>
                </a:rPr>
                <a:t>953.2 → 1004.6</a:t>
              </a:r>
              <a:endParaRPr lang="zh-CN" sz="2100" b="1" dirty="0">
                <a:solidFill>
                  <a:srgbClr val="2E7D32"/>
                </a:solidFill>
                <a:latin typeface="Arial" panose="020B0604020202020204"/>
                <a:ea typeface="微软雅黑" panose="020B0503020204020204" charset="-122"/>
                <a:cs typeface="Arial" panose="020B0604020202020204"/>
              </a:endParaRPr>
            </a:p>
          </p:txBody>
        </p:sp>
        <p:sp>
          <p:nvSpPr>
            <p:cNvPr id="54" name="TextBox 54"/>
            <p:cNvSpPr txBox="1"/>
            <p:nvPr/>
          </p:nvSpPr>
          <p:spPr>
            <a:xfrm>
              <a:off x="4892992" y="3371374"/>
              <a:ext cx="1349073" cy="198120"/>
            </a:xfrm>
            <a:prstGeom prst="rect">
              <a:avLst/>
            </a:prstGeom>
            <a:noFill/>
            <a:ln>
              <a:noFill/>
            </a:ln>
          </p:spPr>
          <p:txBody>
            <a:bodyPr wrap="none" lIns="0" tIns="0" rIns="0" bIns="0" anchor="t" anchorCtr="0">
              <a:spAutoFit/>
            </a:bodyPr>
            <a:lstStyle/>
            <a:p>
              <a:pPr algn="l"/>
              <a:r>
                <a:rPr lang="zh-CN" sz="975" dirty="0">
                  <a:solidFill>
                    <a:srgbClr val="6B7280"/>
                  </a:solidFill>
                  <a:latin typeface="Arial" panose="020B0604020202020204"/>
                  <a:ea typeface="微软雅黑" panose="020B0503020204020204" charset="-122"/>
                  <a:cs typeface="Arial" panose="020B0604020202020204"/>
                </a:rPr>
                <a:t>2019 到 2023，元/人</a:t>
              </a:r>
              <a:endParaRPr lang="zh-CN" sz="975" dirty="0">
                <a:solidFill>
                  <a:srgbClr val="6B7280"/>
                </a:solidFill>
                <a:latin typeface="Arial" panose="020B0604020202020204"/>
                <a:ea typeface="微软雅黑" panose="020B0503020204020204" charset="-122"/>
                <a:cs typeface="Arial" panose="020B0604020202020204"/>
              </a:endParaRPr>
            </a:p>
          </p:txBody>
        </p:sp>
        <p:sp>
          <p:nvSpPr>
            <p:cNvPr id="55" name="TextBox 55"/>
            <p:cNvSpPr txBox="1"/>
            <p:nvPr/>
          </p:nvSpPr>
          <p:spPr>
            <a:xfrm>
              <a:off x="4893945" y="3617595"/>
              <a:ext cx="1994535" cy="182880"/>
            </a:xfrm>
            <a:prstGeom prst="rect">
              <a:avLst/>
            </a:prstGeom>
            <a:noFill/>
            <a:ln>
              <a:noFill/>
            </a:ln>
          </p:spPr>
          <p:txBody>
            <a:bodyPr wrap="none" lIns="0" tIns="0" rIns="0" bIns="0" anchor="t" anchorCtr="0">
              <a:spAutoFit/>
            </a:bodyPr>
            <a:lstStyle/>
            <a:p>
              <a:pPr algn="l"/>
              <a:r>
                <a:rPr lang="zh-CN" sz="900" dirty="0">
                  <a:solidFill>
                    <a:srgbClr val="9CA3AF"/>
                  </a:solidFill>
                  <a:latin typeface="Arial" panose="020B0604020202020204"/>
                  <a:ea typeface="微软雅黑" panose="020B0503020204020204" charset="-122"/>
                  <a:cs typeface="Arial" panose="020B0604020202020204"/>
                </a:rPr>
                <a:t>人均消费更快恢复，体现转化效率</a:t>
              </a:r>
              <a:endParaRPr lang="zh-CN" sz="900" dirty="0">
                <a:solidFill>
                  <a:srgbClr val="9CA3AF"/>
                </a:solidFill>
                <a:latin typeface="Arial" panose="020B0604020202020204"/>
                <a:ea typeface="微软雅黑" panose="020B0503020204020204" charset="-122"/>
                <a:cs typeface="Arial" panose="020B0604020202020204"/>
              </a:endParaRPr>
            </a:p>
          </p:txBody>
        </p:sp>
        <p:sp>
          <p:nvSpPr>
            <p:cNvPr id="56" name="Rectangle 56"/>
            <p:cNvSpPr/>
            <p:nvPr/>
          </p:nvSpPr>
          <p:spPr>
            <a:xfrm>
              <a:off x="8096250" y="2619375"/>
              <a:ext cx="3524250" cy="1238250"/>
            </a:xfrm>
            <a:prstGeom prst="roundRect">
              <a:avLst>
                <a:gd name="adj" fmla="val 6154"/>
              </a:avLst>
            </a:prstGeom>
            <a:solidFill>
              <a:srgbClr val="FFFFFF"/>
            </a:solidFill>
            <a:ln w="9525">
              <a:solidFill>
                <a:srgbClr val="D1D5DB"/>
              </a:solidFill>
            </a:ln>
            <a:effectLst>
              <a:outerShdw blurRad="57150" dist="19050" dir="5400000" algn="ctr" rotWithShape="0">
                <a:srgbClr val="0F172A">
                  <a:alpha val="4500"/>
                </a:srgbClr>
              </a:outerShdw>
            </a:effectLst>
          </p:spPr>
        </p:sp>
        <p:sp>
          <p:nvSpPr>
            <p:cNvPr id="57" name="Rectangle 57"/>
            <p:cNvSpPr/>
            <p:nvPr/>
          </p:nvSpPr>
          <p:spPr>
            <a:xfrm>
              <a:off x="8096250" y="2619375"/>
              <a:ext cx="38100" cy="1238250"/>
            </a:xfrm>
            <a:prstGeom prst="roundRect">
              <a:avLst>
                <a:gd name="adj" fmla="val 50000"/>
              </a:avLst>
            </a:prstGeom>
            <a:solidFill>
              <a:srgbClr val="C8963E"/>
            </a:solidFill>
            <a:ln>
              <a:noFill/>
            </a:ln>
          </p:spPr>
        </p:sp>
        <p:grpSp>
          <p:nvGrpSpPr>
            <p:cNvPr id="60" name="Group 60"/>
            <p:cNvGrpSpPr/>
            <p:nvPr/>
          </p:nvGrpSpPr>
          <p:grpSpPr>
            <a:xfrm>
              <a:off x="8355806" y="2940844"/>
              <a:ext cx="185738" cy="157162"/>
              <a:chOff x="8355806" y="2940844"/>
              <a:chExt cx="185738" cy="157162"/>
            </a:xfrm>
          </p:grpSpPr>
          <p:sp>
            <p:nvSpPr>
              <p:cNvPr id="58" name="Freeform 58"/>
              <p:cNvSpPr/>
              <p:nvPr/>
            </p:nvSpPr>
            <p:spPr>
              <a:xfrm>
                <a:off x="8362950" y="2947988"/>
                <a:ext cx="171450" cy="142875"/>
              </a:xfrm>
              <a:custGeom>
                <a:avLst/>
                <a:gdLst/>
                <a:ahLst/>
                <a:cxnLst/>
                <a:rect l="l" t="t" r="r" b="b"/>
                <a:pathLst>
                  <a:path w="171450" h="142875">
                    <a:moveTo>
                      <a:pt x="171450" y="7144"/>
                    </a:moveTo>
                    <a:lnTo>
                      <a:pt x="171450" y="142875"/>
                    </a:lnTo>
                    <a:lnTo>
                      <a:pt x="0" y="142875"/>
                    </a:lnTo>
                    <a:lnTo>
                      <a:pt x="0" y="0"/>
                    </a:lnTo>
                    <a:lnTo>
                      <a:pt x="164306" y="0"/>
                    </a:lnTo>
                    <a:cubicBezTo>
                      <a:pt x="168252" y="0"/>
                      <a:pt x="171450" y="3198"/>
                      <a:pt x="171450" y="7144"/>
                    </a:cubicBezTo>
                    <a:close/>
                  </a:path>
                </a:pathLst>
              </a:custGeom>
              <a:solidFill>
                <a:srgbClr val="C8963E">
                  <a:alpha val="20000"/>
                </a:srgbClr>
              </a:solidFill>
              <a:ln>
                <a:noFill/>
              </a:ln>
            </p:spPr>
          </p:sp>
          <p:sp>
            <p:nvSpPr>
              <p:cNvPr id="59" name="Freeform 59"/>
              <p:cNvSpPr/>
              <p:nvPr/>
            </p:nvSpPr>
            <p:spPr>
              <a:xfrm>
                <a:off x="8355806" y="2940844"/>
                <a:ext cx="185738" cy="157162"/>
              </a:xfrm>
              <a:custGeom>
                <a:avLst/>
                <a:gdLst/>
                <a:ahLst/>
                <a:cxnLst/>
                <a:rect l="l" t="t" r="r" b="b"/>
                <a:pathLst>
                  <a:path w="185738" h="157162">
                    <a:moveTo>
                      <a:pt x="185738" y="150019"/>
                    </a:moveTo>
                    <a:cubicBezTo>
                      <a:pt x="185738" y="153964"/>
                      <a:pt x="182539" y="157162"/>
                      <a:pt x="178594" y="157162"/>
                    </a:cubicBezTo>
                    <a:lnTo>
                      <a:pt x="7144" y="157162"/>
                    </a:lnTo>
                    <a:cubicBezTo>
                      <a:pt x="3198" y="157162"/>
                      <a:pt x="0" y="153964"/>
                      <a:pt x="0" y="150019"/>
                    </a:cubicBezTo>
                    <a:lnTo>
                      <a:pt x="0" y="7144"/>
                    </a:lnTo>
                    <a:cubicBezTo>
                      <a:pt x="0" y="3198"/>
                      <a:pt x="3198" y="0"/>
                      <a:pt x="7144" y="0"/>
                    </a:cubicBezTo>
                    <a:cubicBezTo>
                      <a:pt x="11089" y="0"/>
                      <a:pt x="14288" y="3198"/>
                      <a:pt x="14288" y="7144"/>
                    </a:cubicBezTo>
                    <a:lnTo>
                      <a:pt x="14288" y="104201"/>
                    </a:lnTo>
                    <a:lnTo>
                      <a:pt x="59240" y="59240"/>
                    </a:lnTo>
                    <a:cubicBezTo>
                      <a:pt x="60579" y="57898"/>
                      <a:pt x="62398" y="57144"/>
                      <a:pt x="64294" y="57144"/>
                    </a:cubicBezTo>
                    <a:cubicBezTo>
                      <a:pt x="66190" y="57144"/>
                      <a:pt x="68008" y="57898"/>
                      <a:pt x="69348" y="59240"/>
                    </a:cubicBezTo>
                    <a:lnTo>
                      <a:pt x="92869" y="82769"/>
                    </a:lnTo>
                    <a:lnTo>
                      <a:pt x="139919" y="35719"/>
                    </a:lnTo>
                    <a:lnTo>
                      <a:pt x="121444" y="35719"/>
                    </a:lnTo>
                    <a:cubicBezTo>
                      <a:pt x="117498" y="35719"/>
                      <a:pt x="114300" y="32520"/>
                      <a:pt x="114300" y="28575"/>
                    </a:cubicBezTo>
                    <a:cubicBezTo>
                      <a:pt x="114300" y="24630"/>
                      <a:pt x="117498" y="21431"/>
                      <a:pt x="121444" y="21431"/>
                    </a:cubicBezTo>
                    <a:lnTo>
                      <a:pt x="157162" y="21431"/>
                    </a:lnTo>
                    <a:cubicBezTo>
                      <a:pt x="161108" y="21431"/>
                      <a:pt x="164306" y="24630"/>
                      <a:pt x="164306" y="28575"/>
                    </a:cubicBezTo>
                    <a:lnTo>
                      <a:pt x="164306" y="64294"/>
                    </a:lnTo>
                    <a:cubicBezTo>
                      <a:pt x="164306" y="68239"/>
                      <a:pt x="161108" y="71438"/>
                      <a:pt x="157162" y="71438"/>
                    </a:cubicBezTo>
                    <a:cubicBezTo>
                      <a:pt x="153217" y="71438"/>
                      <a:pt x="150019" y="68239"/>
                      <a:pt x="150019" y="64294"/>
                    </a:cubicBezTo>
                    <a:lnTo>
                      <a:pt x="150019" y="45818"/>
                    </a:lnTo>
                    <a:lnTo>
                      <a:pt x="97923" y="97923"/>
                    </a:lnTo>
                    <a:cubicBezTo>
                      <a:pt x="96583" y="99264"/>
                      <a:pt x="94765" y="100018"/>
                      <a:pt x="92869" y="100018"/>
                    </a:cubicBezTo>
                    <a:cubicBezTo>
                      <a:pt x="90973" y="100018"/>
                      <a:pt x="89154" y="99264"/>
                      <a:pt x="87815" y="97923"/>
                    </a:cubicBezTo>
                    <a:lnTo>
                      <a:pt x="64294" y="74393"/>
                    </a:lnTo>
                    <a:lnTo>
                      <a:pt x="14288" y="124399"/>
                    </a:lnTo>
                    <a:lnTo>
                      <a:pt x="14288" y="142875"/>
                    </a:lnTo>
                    <a:lnTo>
                      <a:pt x="178594" y="142875"/>
                    </a:lnTo>
                    <a:cubicBezTo>
                      <a:pt x="182539" y="142875"/>
                      <a:pt x="185738" y="146073"/>
                      <a:pt x="185738" y="150019"/>
                    </a:cubicBezTo>
                    <a:close/>
                  </a:path>
                </a:pathLst>
              </a:custGeom>
              <a:solidFill>
                <a:srgbClr val="C8963E"/>
              </a:solidFill>
              <a:ln>
                <a:noFill/>
              </a:ln>
            </p:spPr>
          </p:sp>
        </p:grpSp>
        <p:sp>
          <p:nvSpPr>
            <p:cNvPr id="61" name="TextBox 61"/>
            <p:cNvSpPr txBox="1"/>
            <p:nvPr/>
          </p:nvSpPr>
          <p:spPr>
            <a:xfrm>
              <a:off x="8652510" y="2870835"/>
              <a:ext cx="950595" cy="243840"/>
            </a:xfrm>
            <a:prstGeom prst="rect">
              <a:avLst/>
            </a:prstGeom>
            <a:noFill/>
            <a:ln>
              <a:noFill/>
            </a:ln>
          </p:spPr>
          <p:txBody>
            <a:bodyPr wrap="none" lIns="0" tIns="0" rIns="0" bIns="0" anchor="t" anchorCtr="0">
              <a:spAutoFit/>
            </a:bodyPr>
            <a:lstStyle/>
            <a:p>
              <a:pPr algn="l"/>
              <a:r>
                <a:rPr lang="zh-CN" sz="1200" b="1" dirty="0">
                  <a:solidFill>
                    <a:srgbClr val="1A1A2E"/>
                  </a:solidFill>
                  <a:latin typeface="Arial" panose="020B0604020202020204"/>
                  <a:ea typeface="微软雅黑" panose="020B0503020204020204" charset="-122"/>
                  <a:cs typeface="Arial" panose="020B0604020202020204"/>
                </a:rPr>
                <a:t>博物馆指数</a:t>
              </a:r>
              <a:endParaRPr lang="zh-CN" sz="1200" b="1" dirty="0">
                <a:solidFill>
                  <a:srgbClr val="1A1A2E"/>
                </a:solidFill>
                <a:latin typeface="Arial" panose="020B0604020202020204"/>
                <a:ea typeface="微软雅黑" panose="020B0503020204020204" charset="-122"/>
                <a:cs typeface="Arial" panose="020B0604020202020204"/>
              </a:endParaRPr>
            </a:p>
          </p:txBody>
        </p:sp>
        <p:sp>
          <p:nvSpPr>
            <p:cNvPr id="62" name="TextBox 62"/>
            <p:cNvSpPr txBox="1"/>
            <p:nvPr/>
          </p:nvSpPr>
          <p:spPr>
            <a:xfrm>
              <a:off x="8641080" y="3011805"/>
              <a:ext cx="1679643" cy="426720"/>
            </a:xfrm>
            <a:prstGeom prst="rect">
              <a:avLst/>
            </a:prstGeom>
            <a:noFill/>
            <a:ln>
              <a:noFill/>
            </a:ln>
          </p:spPr>
          <p:txBody>
            <a:bodyPr wrap="none" lIns="0" tIns="0" rIns="0" bIns="0" anchor="t" anchorCtr="0">
              <a:spAutoFit/>
            </a:bodyPr>
            <a:lstStyle/>
            <a:p>
              <a:pPr algn="l"/>
              <a:r>
                <a:rPr lang="zh-CN" sz="2100" b="1" dirty="0">
                  <a:solidFill>
                    <a:srgbClr val="C8963E"/>
                  </a:solidFill>
                  <a:latin typeface="Arial" panose="020B0604020202020204"/>
                  <a:ea typeface="微软雅黑" panose="020B0503020204020204" charset="-122"/>
                  <a:cs typeface="Arial" panose="020B0604020202020204"/>
                </a:rPr>
                <a:t>100 → 186.8</a:t>
              </a:r>
              <a:endParaRPr lang="zh-CN" sz="2100" b="1" dirty="0">
                <a:solidFill>
                  <a:srgbClr val="C8963E"/>
                </a:solidFill>
                <a:latin typeface="Arial" panose="020B0604020202020204"/>
                <a:ea typeface="微软雅黑" panose="020B0503020204020204" charset="-122"/>
                <a:cs typeface="Arial" panose="020B0604020202020204"/>
              </a:endParaRPr>
            </a:p>
          </p:txBody>
        </p:sp>
        <p:sp>
          <p:nvSpPr>
            <p:cNvPr id="63" name="TextBox 63"/>
            <p:cNvSpPr txBox="1"/>
            <p:nvPr/>
          </p:nvSpPr>
          <p:spPr>
            <a:xfrm>
              <a:off x="8655368" y="3371374"/>
              <a:ext cx="1541312" cy="198120"/>
            </a:xfrm>
            <a:prstGeom prst="rect">
              <a:avLst/>
            </a:prstGeom>
            <a:noFill/>
            <a:ln>
              <a:noFill/>
            </a:ln>
          </p:spPr>
          <p:txBody>
            <a:bodyPr wrap="none" lIns="0" tIns="0" rIns="0" bIns="0" anchor="t" anchorCtr="0">
              <a:spAutoFit/>
            </a:bodyPr>
            <a:lstStyle/>
            <a:p>
              <a:pPr algn="l"/>
              <a:r>
                <a:rPr lang="zh-CN" sz="975" dirty="0">
                  <a:solidFill>
                    <a:srgbClr val="6B7280"/>
                  </a:solidFill>
                  <a:latin typeface="Arial" panose="020B0604020202020204"/>
                  <a:ea typeface="微软雅黑" panose="020B0503020204020204" charset="-122"/>
                  <a:cs typeface="Arial" panose="020B0604020202020204"/>
                </a:rPr>
                <a:t>2014 到 2023，2014=100</a:t>
              </a:r>
              <a:endParaRPr lang="zh-CN" sz="975" dirty="0">
                <a:solidFill>
                  <a:srgbClr val="6B7280"/>
                </a:solidFill>
                <a:latin typeface="Arial" panose="020B0604020202020204"/>
                <a:ea typeface="微软雅黑" panose="020B0503020204020204" charset="-122"/>
                <a:cs typeface="Arial" panose="020B0604020202020204"/>
              </a:endParaRPr>
            </a:p>
          </p:txBody>
        </p:sp>
        <p:sp>
          <p:nvSpPr>
            <p:cNvPr id="64" name="TextBox 64"/>
            <p:cNvSpPr txBox="1"/>
            <p:nvPr/>
          </p:nvSpPr>
          <p:spPr>
            <a:xfrm>
              <a:off x="8656320" y="3617595"/>
              <a:ext cx="1074420" cy="182880"/>
            </a:xfrm>
            <a:prstGeom prst="rect">
              <a:avLst/>
            </a:prstGeom>
            <a:noFill/>
            <a:ln>
              <a:noFill/>
            </a:ln>
          </p:spPr>
          <p:txBody>
            <a:bodyPr wrap="none" lIns="0" tIns="0" rIns="0" bIns="0" anchor="t" anchorCtr="0">
              <a:spAutoFit/>
            </a:bodyPr>
            <a:lstStyle/>
            <a:p>
              <a:pPr algn="l"/>
              <a:r>
                <a:rPr lang="zh-CN" sz="900" dirty="0">
                  <a:solidFill>
                    <a:srgbClr val="9CA3AF"/>
                  </a:solidFill>
                  <a:latin typeface="Arial" panose="020B0604020202020204"/>
                  <a:ea typeface="微软雅黑" panose="020B0503020204020204" charset="-122"/>
                  <a:cs typeface="Arial" panose="020B0604020202020204"/>
                </a:rPr>
                <a:t>十年供给接近翻番</a:t>
              </a:r>
              <a:endParaRPr lang="zh-CN" sz="900" dirty="0">
                <a:solidFill>
                  <a:srgbClr val="9CA3AF"/>
                </a:solidFill>
                <a:latin typeface="Arial" panose="020B0604020202020204"/>
                <a:ea typeface="微软雅黑" panose="020B0503020204020204" charset="-122"/>
                <a:cs typeface="Arial" panose="020B0604020202020204"/>
              </a:endParaRPr>
            </a:p>
          </p:txBody>
        </p:sp>
      </p:grpSp>
      <p:grpSp>
        <p:nvGrpSpPr>
          <p:cNvPr id="71" name="Group 71"/>
          <p:cNvGrpSpPr/>
          <p:nvPr/>
        </p:nvGrpSpPr>
        <p:grpSpPr>
          <a:xfrm>
            <a:off x="571500" y="4048125"/>
            <a:ext cx="11049000" cy="381000"/>
            <a:chOff x="571500" y="4048125"/>
            <a:chExt cx="11049000" cy="381000"/>
          </a:xfrm>
        </p:grpSpPr>
        <p:sp>
          <p:nvSpPr>
            <p:cNvPr id="66" name="Rectangle 66"/>
            <p:cNvSpPr/>
            <p:nvPr/>
          </p:nvSpPr>
          <p:spPr>
            <a:xfrm>
              <a:off x="571500" y="4048125"/>
              <a:ext cx="11049000" cy="381000"/>
            </a:xfrm>
            <a:prstGeom prst="roundRect">
              <a:avLst>
                <a:gd name="adj" fmla="val 15000"/>
              </a:avLst>
            </a:prstGeom>
            <a:solidFill>
              <a:srgbClr val="F0F4F8"/>
            </a:solidFill>
            <a:ln>
              <a:noFill/>
            </a:ln>
          </p:spPr>
        </p:sp>
        <p:grpSp>
          <p:nvGrpSpPr>
            <p:cNvPr id="69" name="Group 69"/>
            <p:cNvGrpSpPr/>
            <p:nvPr/>
          </p:nvGrpSpPr>
          <p:grpSpPr>
            <a:xfrm>
              <a:off x="836414" y="4214058"/>
              <a:ext cx="130215" cy="139303"/>
              <a:chOff x="836414" y="4214058"/>
              <a:chExt cx="130215" cy="139303"/>
            </a:xfrm>
          </p:grpSpPr>
          <p:sp>
            <p:nvSpPr>
              <p:cNvPr id="67" name="Freeform 67"/>
              <p:cNvSpPr/>
              <p:nvPr/>
            </p:nvSpPr>
            <p:spPr>
              <a:xfrm>
                <a:off x="836414" y="4288631"/>
                <a:ext cx="117872" cy="64294"/>
              </a:xfrm>
              <a:custGeom>
                <a:avLst/>
                <a:gdLst/>
                <a:ahLst/>
                <a:cxnLst/>
                <a:rect l="l" t="t" r="r" b="b"/>
                <a:pathLst>
                  <a:path w="117872" h="64294">
                    <a:moveTo>
                      <a:pt x="117872" y="32147"/>
                    </a:moveTo>
                    <a:cubicBezTo>
                      <a:pt x="117872" y="49901"/>
                      <a:pt x="91485" y="64294"/>
                      <a:pt x="58936" y="64294"/>
                    </a:cubicBezTo>
                    <a:cubicBezTo>
                      <a:pt x="26387" y="64294"/>
                      <a:pt x="0" y="49901"/>
                      <a:pt x="0" y="32147"/>
                    </a:cubicBezTo>
                    <a:cubicBezTo>
                      <a:pt x="0" y="14392"/>
                      <a:pt x="26387" y="0"/>
                      <a:pt x="58936" y="0"/>
                    </a:cubicBezTo>
                    <a:cubicBezTo>
                      <a:pt x="91485" y="0"/>
                      <a:pt x="117872" y="14392"/>
                      <a:pt x="117872" y="32147"/>
                    </a:cubicBezTo>
                    <a:close/>
                  </a:path>
                </a:pathLst>
              </a:custGeom>
              <a:solidFill>
                <a:srgbClr val="1A3A5C">
                  <a:alpha val="20000"/>
                </a:srgbClr>
              </a:solidFill>
              <a:ln>
                <a:noFill/>
              </a:ln>
            </p:spPr>
          </p:sp>
          <p:sp>
            <p:nvSpPr>
              <p:cNvPr id="68" name="Freeform 68"/>
              <p:cNvSpPr/>
              <p:nvPr/>
            </p:nvSpPr>
            <p:spPr>
              <a:xfrm>
                <a:off x="838041" y="4214058"/>
                <a:ext cx="128588" cy="139303"/>
              </a:xfrm>
              <a:custGeom>
                <a:avLst/>
                <a:gdLst/>
                <a:ahLst/>
                <a:cxnLst/>
                <a:rect l="l" t="t" r="r" b="b"/>
                <a:pathLst>
                  <a:path w="128588" h="139303">
                    <a:moveTo>
                      <a:pt x="64294" y="0"/>
                    </a:moveTo>
                    <a:cubicBezTo>
                      <a:pt x="28242" y="0"/>
                      <a:pt x="0" y="16475"/>
                      <a:pt x="0" y="37505"/>
                    </a:cubicBezTo>
                    <a:lnTo>
                      <a:pt x="0" y="101798"/>
                    </a:lnTo>
                    <a:cubicBezTo>
                      <a:pt x="0" y="122828"/>
                      <a:pt x="28242" y="139303"/>
                      <a:pt x="64294" y="139303"/>
                    </a:cubicBezTo>
                    <a:cubicBezTo>
                      <a:pt x="100345" y="139303"/>
                      <a:pt x="128588" y="122828"/>
                      <a:pt x="128588" y="101798"/>
                    </a:cubicBezTo>
                    <a:lnTo>
                      <a:pt x="128588" y="37505"/>
                    </a:lnTo>
                    <a:cubicBezTo>
                      <a:pt x="128588" y="16475"/>
                      <a:pt x="100345" y="0"/>
                      <a:pt x="64294" y="0"/>
                    </a:cubicBezTo>
                    <a:close/>
                    <a:moveTo>
                      <a:pt x="117872" y="69652"/>
                    </a:moveTo>
                    <a:cubicBezTo>
                      <a:pt x="117872" y="76094"/>
                      <a:pt x="112594" y="82664"/>
                      <a:pt x="103399" y="87681"/>
                    </a:cubicBezTo>
                    <a:cubicBezTo>
                      <a:pt x="93045" y="93326"/>
                      <a:pt x="79155" y="96441"/>
                      <a:pt x="64294" y="96441"/>
                    </a:cubicBezTo>
                    <a:cubicBezTo>
                      <a:pt x="49433" y="96441"/>
                      <a:pt x="35542" y="93326"/>
                      <a:pt x="25188" y="87681"/>
                    </a:cubicBezTo>
                    <a:cubicBezTo>
                      <a:pt x="15993" y="82664"/>
                      <a:pt x="10716" y="76094"/>
                      <a:pt x="10716" y="69652"/>
                    </a:cubicBezTo>
                    <a:lnTo>
                      <a:pt x="10716" y="58507"/>
                    </a:lnTo>
                    <a:cubicBezTo>
                      <a:pt x="22141" y="68553"/>
                      <a:pt x="41677" y="75009"/>
                      <a:pt x="64294" y="75009"/>
                    </a:cubicBezTo>
                    <a:cubicBezTo>
                      <a:pt x="86910" y="75009"/>
                      <a:pt x="106446" y="68526"/>
                      <a:pt x="117872" y="58507"/>
                    </a:cubicBezTo>
                    <a:close/>
                    <a:moveTo>
                      <a:pt x="25188" y="19476"/>
                    </a:moveTo>
                    <a:cubicBezTo>
                      <a:pt x="35542" y="13830"/>
                      <a:pt x="49433" y="10716"/>
                      <a:pt x="64294" y="10716"/>
                    </a:cubicBezTo>
                    <a:cubicBezTo>
                      <a:pt x="79155" y="10716"/>
                      <a:pt x="93045" y="13830"/>
                      <a:pt x="103399" y="19476"/>
                    </a:cubicBezTo>
                    <a:cubicBezTo>
                      <a:pt x="112594" y="24492"/>
                      <a:pt x="117872" y="31062"/>
                      <a:pt x="117872" y="37505"/>
                    </a:cubicBezTo>
                    <a:cubicBezTo>
                      <a:pt x="117872" y="43947"/>
                      <a:pt x="112594" y="50517"/>
                      <a:pt x="103399" y="55534"/>
                    </a:cubicBezTo>
                    <a:cubicBezTo>
                      <a:pt x="93045" y="61180"/>
                      <a:pt x="79155" y="64294"/>
                      <a:pt x="64294" y="64294"/>
                    </a:cubicBezTo>
                    <a:cubicBezTo>
                      <a:pt x="49433" y="64294"/>
                      <a:pt x="35542" y="61180"/>
                      <a:pt x="25188" y="55534"/>
                    </a:cubicBezTo>
                    <a:cubicBezTo>
                      <a:pt x="15993" y="50517"/>
                      <a:pt x="10716" y="43947"/>
                      <a:pt x="10716" y="37505"/>
                    </a:cubicBezTo>
                    <a:cubicBezTo>
                      <a:pt x="10716" y="31062"/>
                      <a:pt x="15993" y="24492"/>
                      <a:pt x="25188" y="19476"/>
                    </a:cubicBezTo>
                    <a:close/>
                    <a:moveTo>
                      <a:pt x="103399" y="119827"/>
                    </a:moveTo>
                    <a:cubicBezTo>
                      <a:pt x="93045" y="125473"/>
                      <a:pt x="79155" y="128588"/>
                      <a:pt x="64294" y="128588"/>
                    </a:cubicBezTo>
                    <a:cubicBezTo>
                      <a:pt x="49433" y="128588"/>
                      <a:pt x="35542" y="125473"/>
                      <a:pt x="25188" y="119827"/>
                    </a:cubicBezTo>
                    <a:cubicBezTo>
                      <a:pt x="15993" y="114811"/>
                      <a:pt x="10716" y="108241"/>
                      <a:pt x="10716" y="101798"/>
                    </a:cubicBezTo>
                    <a:lnTo>
                      <a:pt x="10716" y="90654"/>
                    </a:lnTo>
                    <a:cubicBezTo>
                      <a:pt x="22141" y="100700"/>
                      <a:pt x="41677" y="107156"/>
                      <a:pt x="64294" y="107156"/>
                    </a:cubicBezTo>
                    <a:cubicBezTo>
                      <a:pt x="86910" y="107156"/>
                      <a:pt x="106446" y="100673"/>
                      <a:pt x="117872" y="90654"/>
                    </a:cubicBezTo>
                    <a:lnTo>
                      <a:pt x="117872" y="101798"/>
                    </a:lnTo>
                    <a:cubicBezTo>
                      <a:pt x="117872" y="108241"/>
                      <a:pt x="112594" y="114811"/>
                      <a:pt x="103399" y="119827"/>
                    </a:cubicBezTo>
                    <a:close/>
                  </a:path>
                </a:pathLst>
              </a:custGeom>
              <a:solidFill>
                <a:srgbClr val="1A3A5C"/>
              </a:solidFill>
              <a:ln>
                <a:noFill/>
              </a:ln>
            </p:spPr>
          </p:sp>
        </p:grpSp>
        <p:sp>
          <p:nvSpPr>
            <p:cNvPr id="70" name="TextBox 70"/>
            <p:cNvSpPr txBox="1"/>
            <p:nvPr/>
          </p:nvSpPr>
          <p:spPr>
            <a:xfrm>
              <a:off x="1035368" y="4180999"/>
              <a:ext cx="7087743" cy="198120"/>
            </a:xfrm>
            <a:prstGeom prst="rect">
              <a:avLst/>
            </a:prstGeom>
            <a:noFill/>
            <a:ln>
              <a:noFill/>
            </a:ln>
          </p:spPr>
          <p:txBody>
            <a:bodyPr wrap="none" lIns="0" tIns="0" rIns="0" bIns="0" anchor="t" anchorCtr="0">
              <a:spAutoFit/>
            </a:bodyPr>
            <a:lstStyle/>
            <a:p>
              <a:pPr algn="l"/>
              <a:r>
                <a:rPr lang="zh-CN" sz="975" dirty="0">
                  <a:solidFill>
                    <a:srgbClr val="6B7280"/>
                  </a:solidFill>
                  <a:latin typeface="Consolas" panose="020B0609020204030204"/>
                  <a:ea typeface="微软雅黑" panose="020B0503020204020204" charset="-122"/>
                  <a:cs typeface="Consolas" panose="020B0609020204030204"/>
                </a:rPr>
                <a:t>输出：processed_features.csv + diff_results.csv + model_comparison.csv + counterfactual_gap.csv</a:t>
              </a:r>
              <a:endParaRPr lang="zh-CN" sz="975" dirty="0">
                <a:solidFill>
                  <a:srgbClr val="6B7280"/>
                </a:solidFill>
                <a:latin typeface="Consolas" panose="020B0609020204030204"/>
                <a:ea typeface="微软雅黑" panose="020B0503020204020204" charset="-122"/>
                <a:cs typeface="Consolas" panose="020B0609020204030204"/>
              </a:endParaRPr>
            </a:p>
          </p:txBody>
        </p:sp>
      </p:grpSp>
      <p:grpSp>
        <p:nvGrpSpPr>
          <p:cNvPr id="74" name="Group 74"/>
          <p:cNvGrpSpPr/>
          <p:nvPr/>
        </p:nvGrpSpPr>
        <p:grpSpPr>
          <a:xfrm>
            <a:off x="558165" y="4649152"/>
            <a:ext cx="6988873" cy="451486"/>
            <a:chOff x="558165" y="4649152"/>
            <a:chExt cx="6988873" cy="451486"/>
          </a:xfrm>
        </p:grpSpPr>
        <p:sp>
          <p:nvSpPr>
            <p:cNvPr id="72" name="TextBox 72"/>
            <p:cNvSpPr txBox="1"/>
            <p:nvPr/>
          </p:nvSpPr>
          <p:spPr>
            <a:xfrm>
              <a:off x="558165" y="4649152"/>
              <a:ext cx="831771" cy="213360"/>
            </a:xfrm>
            <a:prstGeom prst="rect">
              <a:avLst/>
            </a:prstGeom>
            <a:noFill/>
            <a:ln>
              <a:noFill/>
            </a:ln>
          </p:spPr>
          <p:txBody>
            <a:bodyPr wrap="none" lIns="0" tIns="0" rIns="0" bIns="0" anchor="t" anchorCtr="0">
              <a:spAutoFit/>
            </a:bodyPr>
            <a:lstStyle/>
            <a:p>
              <a:pPr algn="l"/>
              <a:r>
                <a:rPr lang="zh-CN" sz="1050" b="1" dirty="0">
                  <a:solidFill>
                    <a:srgbClr val="1A3A5C"/>
                  </a:solidFill>
                  <a:latin typeface="Arial" panose="020B0604020202020204"/>
                  <a:ea typeface="微软雅黑" panose="020B0503020204020204" charset="-122"/>
                  <a:cs typeface="Arial" panose="020B0604020202020204"/>
                </a:rPr>
                <a:t>预处理原则</a:t>
              </a:r>
              <a:endParaRPr lang="zh-CN" sz="1050" b="1" dirty="0">
                <a:solidFill>
                  <a:srgbClr val="1A3A5C"/>
                </a:solidFill>
                <a:latin typeface="Arial" panose="020B0604020202020204"/>
                <a:ea typeface="微软雅黑" panose="020B0503020204020204" charset="-122"/>
                <a:cs typeface="Arial" panose="020B0604020202020204"/>
              </a:endParaRPr>
            </a:p>
          </p:txBody>
        </p:sp>
        <p:sp>
          <p:nvSpPr>
            <p:cNvPr id="73" name="TextBox 73"/>
            <p:cNvSpPr txBox="1"/>
            <p:nvPr/>
          </p:nvSpPr>
          <p:spPr>
            <a:xfrm>
              <a:off x="558165" y="4887278"/>
              <a:ext cx="6988873"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panose="020B0604020202020204"/>
                  <a:ea typeface="微软雅黑" panose="020B0503020204020204" charset="-122"/>
                  <a:cs typeface="Arial" panose="020B0604020202020204"/>
                </a:rPr>
                <a:t>年度采样间隔 h = 1，因此三点差分可直接解释为"每年边际变化"；但政策与疫情冲击会放大端点误差。</a:t>
              </a:r>
              <a:endParaRPr lang="zh-CN" sz="1050" dirty="0">
                <a:solidFill>
                  <a:srgbClr val="6B7280"/>
                </a:solidFill>
                <a:latin typeface="Arial" panose="020B0604020202020204"/>
                <a:ea typeface="微软雅黑" panose="020B0503020204020204" charset="-122"/>
                <a:cs typeface="Arial" panose="020B0604020202020204"/>
              </a:endParaRPr>
            </a:p>
          </p:txBody>
        </p:sp>
      </p:grpSp>
      <p:grpSp>
        <p:nvGrpSpPr>
          <p:cNvPr id="77" name="Group 77"/>
          <p:cNvGrpSpPr/>
          <p:nvPr/>
        </p:nvGrpSpPr>
        <p:grpSpPr>
          <a:xfrm>
            <a:off x="560070" y="6522720"/>
            <a:ext cx="11070908" cy="182880"/>
            <a:chOff x="560070" y="6522720"/>
            <a:chExt cx="11070908" cy="182880"/>
          </a:xfrm>
        </p:grpSpPr>
        <p:sp>
          <p:nvSpPr>
            <p:cNvPr id="75" name="TextBox 75"/>
            <p:cNvSpPr txBox="1"/>
            <p:nvPr/>
          </p:nvSpPr>
          <p:spPr>
            <a:xfrm>
              <a:off x="560070" y="6522720"/>
              <a:ext cx="2395442" cy="182880"/>
            </a:xfrm>
            <a:prstGeom prst="rect">
              <a:avLst/>
            </a:prstGeom>
            <a:noFill/>
            <a:ln>
              <a:noFill/>
            </a:ln>
          </p:spPr>
          <p:txBody>
            <a:bodyPr wrap="none" lIns="0" tIns="0" rIns="0" bIns="0" anchor="t" anchorCtr="0">
              <a:spAutoFit/>
            </a:bodyPr>
            <a:lstStyle/>
            <a:p>
              <a:pPr algn="l"/>
              <a:r>
                <a:rPr lang="zh-CN" sz="900" dirty="0">
                  <a:solidFill>
                    <a:srgbClr val="9CA3AF"/>
                  </a:solidFill>
                  <a:latin typeface="Arial" panose="020B0604020202020204"/>
                  <a:ea typeface="微软雅黑" panose="020B0503020204020204" charset="-122"/>
                  <a:cs typeface="Arial" panose="020B0604020202020204"/>
                </a:rPr>
                <a:t>Source: 团队预处理规则与 Python 计算</a:t>
              </a:r>
              <a:endParaRPr lang="zh-CN" sz="900" dirty="0">
                <a:solidFill>
                  <a:srgbClr val="9CA3AF"/>
                </a:solidFill>
                <a:latin typeface="Arial" panose="020B0604020202020204"/>
                <a:ea typeface="微软雅黑" panose="020B0503020204020204" charset="-122"/>
                <a:cs typeface="Arial" panose="020B0604020202020204"/>
              </a:endParaRPr>
            </a:p>
          </p:txBody>
        </p:sp>
        <p:sp>
          <p:nvSpPr>
            <p:cNvPr id="76" name="TextBox 76"/>
            <p:cNvSpPr txBox="1"/>
            <p:nvPr/>
          </p:nvSpPr>
          <p:spPr>
            <a:xfrm>
              <a:off x="11236500" y="6530816"/>
              <a:ext cx="394478"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panose="020B0604020202020204"/>
                  <a:ea typeface="微软雅黑" panose="020B0503020204020204" charset="-122"/>
                  <a:cs typeface="Arial" panose="020B0604020202020204"/>
                </a:rPr>
                <a:t>05 / 12</a:t>
              </a:r>
              <a:endParaRPr lang="zh-CN" sz="825" dirty="0">
                <a:solidFill>
                  <a:srgbClr val="9CA3AF"/>
                </a:solidFill>
                <a:latin typeface="Arial" panose="020B0604020202020204"/>
                <a:ea typeface="微软雅黑" panose="020B0503020204020204" charset="-122"/>
                <a:cs typeface="Arial" panose="020B0604020202020204"/>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400"/>
                                        <p:tgtEl>
                                          <p:spTgt spid="36"/>
                                        </p:tgtEl>
                                      </p:cBhvr>
                                    </p:animEffect>
                                  </p:childTnLst>
                                </p:cTn>
                              </p:par>
                            </p:childTnLst>
                          </p:cTn>
                        </p:par>
                        <p:par>
                          <p:cTn id="8" fill="hold">
                            <p:stCondLst>
                              <p:cond delay="500"/>
                            </p:stCondLst>
                            <p:childTnLst>
                              <p:par>
                                <p:cTn id="9" presetID="14" presetClass="entr" presetSubtype="10" fill="hold" nodeType="afterEffect">
                                  <p:stCondLst>
                                    <p:cond delay="0"/>
                                  </p:stCondLst>
                                  <p:childTnLst>
                                    <p:set>
                                      <p:cBhvr>
                                        <p:cTn id="10" dur="1" fill="hold">
                                          <p:stCondLst>
                                            <p:cond delay="0"/>
                                          </p:stCondLst>
                                        </p:cTn>
                                        <p:tgtEl>
                                          <p:spTgt spid="65"/>
                                        </p:tgtEl>
                                        <p:attrNameLst>
                                          <p:attrName>style.visibility</p:attrName>
                                        </p:attrNameLst>
                                      </p:cBhvr>
                                      <p:to>
                                        <p:strVal val="visible"/>
                                      </p:to>
                                    </p:set>
                                    <p:animEffect transition="in" filter="randombar(horizontal)">
                                      <p:cBhvr>
                                        <p:cTn id="11" dur="400"/>
                                        <p:tgtEl>
                                          <p:spTgt spid="65"/>
                                        </p:tgtEl>
                                      </p:cBhvr>
                                    </p:animEffect>
                                  </p:childTnLst>
                                </p:cTn>
                              </p:par>
                            </p:childTnLst>
                          </p:cTn>
                        </p:par>
                        <p:par>
                          <p:cTn id="12" fill="hold">
                            <p:stCondLst>
                              <p:cond delay="1000"/>
                            </p:stCondLst>
                            <p:childTnLst>
                              <p:par>
                                <p:cTn id="13" presetID="4" presetClass="entr" presetSubtype="16" fill="hold" nodeType="afterEffect">
                                  <p:stCondLst>
                                    <p:cond delay="0"/>
                                  </p:stCondLst>
                                  <p:childTnLst>
                                    <p:set>
                                      <p:cBhvr>
                                        <p:cTn id="14" dur="1" fill="hold">
                                          <p:stCondLst>
                                            <p:cond delay="0"/>
                                          </p:stCondLst>
                                        </p:cTn>
                                        <p:tgtEl>
                                          <p:spTgt spid="71"/>
                                        </p:tgtEl>
                                        <p:attrNameLst>
                                          <p:attrName>style.visibility</p:attrName>
                                        </p:attrNameLst>
                                      </p:cBhvr>
                                      <p:to>
                                        <p:strVal val="visible"/>
                                      </p:to>
                                    </p:set>
                                    <p:animEffect transition="in" filter="box(in)">
                                      <p:cBhvr>
                                        <p:cTn id="15" dur="400"/>
                                        <p:tgtEl>
                                          <p:spTgt spid="71"/>
                                        </p:tgtEl>
                                      </p:cBhvr>
                                    </p:animEffect>
                                  </p:childTnLst>
                                </p:cTn>
                              </p:par>
                            </p:childTnLst>
                          </p:cTn>
                        </p:par>
                        <p:par>
                          <p:cTn id="16" fill="hold">
                            <p:stCondLst>
                              <p:cond delay="1500"/>
                            </p:stCondLst>
                            <p:childTnLst>
                              <p:par>
                                <p:cTn id="17" presetID="16" presetClass="entr" presetSubtype="21" fill="hold" nodeType="afterEffect">
                                  <p:stCondLst>
                                    <p:cond delay="0"/>
                                  </p:stCondLst>
                                  <p:childTnLst>
                                    <p:set>
                                      <p:cBhvr>
                                        <p:cTn id="18" dur="1" fill="hold">
                                          <p:stCondLst>
                                            <p:cond delay="0"/>
                                          </p:stCondLst>
                                        </p:cTn>
                                        <p:tgtEl>
                                          <p:spTgt spid="74"/>
                                        </p:tgtEl>
                                        <p:attrNameLst>
                                          <p:attrName>style.visibility</p:attrName>
                                        </p:attrNameLst>
                                      </p:cBhvr>
                                      <p:to>
                                        <p:strVal val="visible"/>
                                      </p:to>
                                    </p:set>
                                    <p:animEffect transition="in" filter="barn(inVertical)">
                                      <p:cBhvr>
                                        <p:cTn id="19" dur="4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65" grpId="0"/>
      <p:bldP spid="71" grpId="0"/>
      <p:bldP spid="7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A"/>
          </a:solidFill>
          <a:ln>
            <a:noFill/>
          </a:ln>
        </p:spPr>
      </p:sp>
      <p:grpSp>
        <p:nvGrpSpPr>
          <p:cNvPr id="6" name="Group 6"/>
          <p:cNvGrpSpPr/>
          <p:nvPr/>
        </p:nvGrpSpPr>
        <p:grpSpPr>
          <a:xfrm>
            <a:off x="571500" y="280988"/>
            <a:ext cx="7499485" cy="581024"/>
            <a:chOff x="571500" y="280988"/>
            <a:chExt cx="7499485" cy="581024"/>
          </a:xfrm>
        </p:grpSpPr>
        <p:sp>
          <p:nvSpPr>
            <p:cNvPr id="3" name="Rectangle 3"/>
            <p:cNvSpPr/>
            <p:nvPr/>
          </p:nvSpPr>
          <p:spPr>
            <a:xfrm>
              <a:off x="571500" y="285750"/>
              <a:ext cx="38100" cy="342900"/>
            </a:xfrm>
            <a:prstGeom prst="rect">
              <a:avLst/>
            </a:prstGeom>
            <a:solidFill>
              <a:srgbClr val="1A3A5C"/>
            </a:solidFill>
            <a:ln>
              <a:noFill/>
            </a:ln>
          </p:spPr>
        </p:sp>
        <p:sp>
          <p:nvSpPr>
            <p:cNvPr id="4" name="TextBox 4"/>
            <p:cNvSpPr txBox="1"/>
            <p:nvPr/>
          </p:nvSpPr>
          <p:spPr>
            <a:xfrm>
              <a:off x="733425" y="280988"/>
              <a:ext cx="7337560" cy="457200"/>
            </a:xfrm>
            <a:prstGeom prst="rect">
              <a:avLst/>
            </a:prstGeom>
            <a:noFill/>
            <a:ln>
              <a:noFill/>
            </a:ln>
          </p:spPr>
          <p:txBody>
            <a:bodyPr wrap="none" lIns="0" tIns="0" rIns="0" bIns="0" anchor="t" anchorCtr="0">
              <a:spAutoFit/>
            </a:bodyPr>
            <a:lstStyle/>
            <a:p>
              <a:pPr algn="l"/>
              <a:r>
                <a:rPr lang="zh-CN" sz="2250" b="1" dirty="0">
                  <a:solidFill>
                    <a:srgbClr val="1A3A5C"/>
                  </a:solidFill>
                  <a:latin typeface="Georgia" panose="02040502050405020303"/>
                  <a:ea typeface="楷体" panose="02010609060101010101" charset="-122"/>
                  <a:cs typeface="Georgia" panose="02040502050405020303"/>
                </a:rPr>
                <a:t>算法一：三点公式把"趋势"转化为年度边际变化</a:t>
              </a:r>
              <a:endParaRPr lang="zh-CN" sz="2250" b="1" dirty="0">
                <a:solidFill>
                  <a:srgbClr val="1A3A5C"/>
                </a:solidFill>
                <a:latin typeface="Georgia" panose="02040502050405020303"/>
                <a:ea typeface="楷体" panose="02010609060101010101" charset="-122"/>
                <a:cs typeface="Georgia" panose="02040502050405020303"/>
              </a:endParaRPr>
            </a:p>
          </p:txBody>
        </p:sp>
        <p:sp>
          <p:nvSpPr>
            <p:cNvPr id="5" name="TextBox 5"/>
            <p:cNvSpPr txBox="1"/>
            <p:nvPr/>
          </p:nvSpPr>
          <p:spPr>
            <a:xfrm>
              <a:off x="748665" y="648652"/>
              <a:ext cx="5041297"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panose="020B0604020202020204"/>
                  <a:ea typeface="微软雅黑" panose="020B0503020204020204" charset="-122"/>
                  <a:cs typeface="Arial" panose="020B0604020202020204"/>
                </a:rPr>
                <a:t>年度间隔 h=1，中心差分近似导数；端点用单侧差分，避免丢失首尾年份。</a:t>
              </a:r>
              <a:endParaRPr lang="zh-CN" sz="1050" dirty="0">
                <a:solidFill>
                  <a:srgbClr val="6B7280"/>
                </a:solidFill>
                <a:latin typeface="Arial" panose="020B0604020202020204"/>
                <a:ea typeface="微软雅黑" panose="020B0503020204020204" charset="-122"/>
                <a:cs typeface="Arial" panose="020B0604020202020204"/>
              </a:endParaRPr>
            </a:p>
          </p:txBody>
        </p:sp>
      </p:grpSp>
      <p:grpSp>
        <p:nvGrpSpPr>
          <p:cNvPr id="23" name="Group 23"/>
          <p:cNvGrpSpPr/>
          <p:nvPr/>
        </p:nvGrpSpPr>
        <p:grpSpPr>
          <a:xfrm>
            <a:off x="556260" y="1203960"/>
            <a:ext cx="5957887" cy="3177540"/>
            <a:chOff x="556260" y="1203960"/>
            <a:chExt cx="5957887" cy="3177540"/>
          </a:xfrm>
        </p:grpSpPr>
        <p:sp>
          <p:nvSpPr>
            <p:cNvPr id="7" name="TextBox 7"/>
            <p:cNvSpPr txBox="1"/>
            <p:nvPr/>
          </p:nvSpPr>
          <p:spPr>
            <a:xfrm>
              <a:off x="556260" y="1203960"/>
              <a:ext cx="766572" cy="243840"/>
            </a:xfrm>
            <a:prstGeom prst="rect">
              <a:avLst/>
            </a:prstGeom>
            <a:noFill/>
            <a:ln>
              <a:noFill/>
            </a:ln>
          </p:spPr>
          <p:txBody>
            <a:bodyPr wrap="none" lIns="0" tIns="0" rIns="0" bIns="0" anchor="t" anchorCtr="0">
              <a:spAutoFit/>
            </a:bodyPr>
            <a:lstStyle/>
            <a:p>
              <a:pPr algn="l"/>
              <a:r>
                <a:rPr lang="zh-CN" sz="1200" b="1" dirty="0">
                  <a:solidFill>
                    <a:srgbClr val="1A3A5C"/>
                  </a:solidFill>
                  <a:latin typeface="Arial" panose="020B0604020202020204"/>
                  <a:ea typeface="微软雅黑" panose="020B0503020204020204" charset="-122"/>
                  <a:cs typeface="Arial" panose="020B0604020202020204"/>
                </a:rPr>
                <a:t>核心公式</a:t>
              </a:r>
              <a:endParaRPr lang="zh-CN" sz="1200" b="1" dirty="0">
                <a:solidFill>
                  <a:srgbClr val="1A3A5C"/>
                </a:solidFill>
                <a:latin typeface="Arial" panose="020B0604020202020204"/>
                <a:ea typeface="微软雅黑" panose="020B0503020204020204" charset="-122"/>
                <a:cs typeface="Arial" panose="020B0604020202020204"/>
              </a:endParaRPr>
            </a:p>
          </p:txBody>
        </p:sp>
        <p:sp>
          <p:nvSpPr>
            <p:cNvPr id="8" name="Rectangle 8"/>
            <p:cNvSpPr/>
            <p:nvPr/>
          </p:nvSpPr>
          <p:spPr>
            <a:xfrm>
              <a:off x="571500" y="1524000"/>
              <a:ext cx="5334000" cy="1047750"/>
            </a:xfrm>
            <a:prstGeom prst="roundRect">
              <a:avLst>
                <a:gd name="adj" fmla="val 7273"/>
              </a:avLst>
            </a:prstGeom>
            <a:solidFill>
              <a:srgbClr val="FFFFFF"/>
            </a:solidFill>
            <a:ln w="14288">
              <a:solidFill>
                <a:srgbClr val="1A3A5C"/>
              </a:solidFill>
            </a:ln>
            <a:effectLst>
              <a:outerShdw blurRad="57150" dist="19050" dir="5400000" algn="ctr" rotWithShape="0">
                <a:srgbClr val="0F172A">
                  <a:alpha val="4500"/>
                </a:srgbClr>
              </a:outerShdw>
            </a:effectLst>
          </p:spPr>
        </p:sp>
        <p:sp>
          <p:nvSpPr>
            <p:cNvPr id="9" name="Rectangle 9"/>
            <p:cNvSpPr/>
            <p:nvPr/>
          </p:nvSpPr>
          <p:spPr>
            <a:xfrm>
              <a:off x="571500" y="1524000"/>
              <a:ext cx="5334000" cy="57150"/>
            </a:xfrm>
            <a:prstGeom prst="roundRect">
              <a:avLst>
                <a:gd name="adj" fmla="val 50000"/>
              </a:avLst>
            </a:prstGeom>
            <a:solidFill>
              <a:srgbClr val="1A3A5C"/>
            </a:solidFill>
            <a:ln>
              <a:noFill/>
            </a:ln>
          </p:spPr>
        </p:sp>
        <p:sp>
          <p:nvSpPr>
            <p:cNvPr id="10" name="TextBox 10"/>
            <p:cNvSpPr txBox="1"/>
            <p:nvPr/>
          </p:nvSpPr>
          <p:spPr>
            <a:xfrm>
              <a:off x="782116" y="1726882"/>
              <a:ext cx="4912769" cy="335280"/>
            </a:xfrm>
            <a:prstGeom prst="rect">
              <a:avLst/>
            </a:prstGeom>
            <a:noFill/>
            <a:ln>
              <a:noFill/>
            </a:ln>
          </p:spPr>
          <p:txBody>
            <a:bodyPr wrap="none" lIns="0" tIns="0" rIns="0" bIns="0" anchor="t" anchorCtr="0">
              <a:spAutoFit/>
            </a:bodyPr>
            <a:lstStyle/>
            <a:p>
              <a:pPr algn="ctr"/>
              <a:r>
                <a:rPr lang="zh-CN" sz="1650" b="1" dirty="0">
                  <a:solidFill>
                    <a:srgbClr val="1A1A2E"/>
                  </a:solidFill>
                  <a:latin typeface="Consolas" panose="020B0609020204030204"/>
                  <a:ea typeface="微软雅黑" panose="020B0503020204020204" charset="-122"/>
                  <a:cs typeface="Consolas" panose="020B0609020204030204"/>
                </a:rPr>
                <a:t>f'(x_i) ≈ [f(x_{i+1}) - f(x_{i-1})] / 2h</a:t>
              </a:r>
              <a:endParaRPr lang="zh-CN" sz="1650" b="1" dirty="0">
                <a:solidFill>
                  <a:srgbClr val="1A1A2E"/>
                </a:solidFill>
                <a:latin typeface="Consolas" panose="020B0609020204030204"/>
                <a:ea typeface="微软雅黑" panose="020B0503020204020204" charset="-122"/>
                <a:cs typeface="Consolas" panose="020B0609020204030204"/>
              </a:endParaRPr>
            </a:p>
          </p:txBody>
        </p:sp>
        <p:sp>
          <p:nvSpPr>
            <p:cNvPr id="11" name="TextBox 11"/>
            <p:cNvSpPr txBox="1"/>
            <p:nvPr/>
          </p:nvSpPr>
          <p:spPr>
            <a:xfrm>
              <a:off x="1300591" y="2077402"/>
              <a:ext cx="3875818" cy="213360"/>
            </a:xfrm>
            <a:prstGeom prst="rect">
              <a:avLst/>
            </a:prstGeom>
            <a:noFill/>
            <a:ln>
              <a:noFill/>
            </a:ln>
          </p:spPr>
          <p:txBody>
            <a:bodyPr wrap="none" lIns="0" tIns="0" rIns="0" bIns="0" anchor="t" anchorCtr="0">
              <a:spAutoFit/>
            </a:bodyPr>
            <a:lstStyle/>
            <a:p>
              <a:pPr algn="ctr"/>
              <a:r>
                <a:rPr lang="zh-CN" sz="1050" dirty="0">
                  <a:solidFill>
                    <a:srgbClr val="6B7280"/>
                  </a:solidFill>
                  <a:latin typeface="Arial" panose="020B0604020202020204"/>
                  <a:ea typeface="微软雅黑" panose="020B0503020204020204" charset="-122"/>
                  <a:cs typeface="Arial" panose="020B0604020202020204"/>
                </a:rPr>
                <a:t>中心差分 · 二阶精度 · h=1 时直接解释为"每年边际变化"</a:t>
              </a:r>
              <a:endParaRPr lang="zh-CN" sz="1050" dirty="0">
                <a:solidFill>
                  <a:srgbClr val="6B7280"/>
                </a:solidFill>
                <a:latin typeface="Arial" panose="020B0604020202020204"/>
                <a:ea typeface="微软雅黑" panose="020B0503020204020204" charset="-122"/>
                <a:cs typeface="Arial" panose="020B0604020202020204"/>
              </a:endParaRPr>
            </a:p>
          </p:txBody>
        </p:sp>
        <p:sp>
          <p:nvSpPr>
            <p:cNvPr id="12" name="Rectangle 12"/>
            <p:cNvSpPr/>
            <p:nvPr/>
          </p:nvSpPr>
          <p:spPr>
            <a:xfrm>
              <a:off x="571500" y="2809875"/>
              <a:ext cx="5334000" cy="762000"/>
            </a:xfrm>
            <a:prstGeom prst="roundRect">
              <a:avLst>
                <a:gd name="adj" fmla="val 10000"/>
              </a:avLst>
            </a:prstGeom>
            <a:solidFill>
              <a:srgbClr val="F0F4F8"/>
            </a:solidFill>
            <a:ln w="9525">
              <a:solidFill>
                <a:srgbClr val="D1D5DB"/>
              </a:solidFill>
            </a:ln>
          </p:spPr>
        </p:sp>
        <p:sp>
          <p:nvSpPr>
            <p:cNvPr id="13" name="TextBox 13"/>
            <p:cNvSpPr txBox="1"/>
            <p:nvPr/>
          </p:nvSpPr>
          <p:spPr>
            <a:xfrm>
              <a:off x="747712" y="2926556"/>
              <a:ext cx="891183" cy="228600"/>
            </a:xfrm>
            <a:prstGeom prst="rect">
              <a:avLst/>
            </a:prstGeom>
            <a:noFill/>
            <a:ln>
              <a:noFill/>
            </a:ln>
          </p:spPr>
          <p:txBody>
            <a:bodyPr wrap="none" lIns="0" tIns="0" rIns="0" bIns="0" anchor="t" anchorCtr="0">
              <a:spAutoFit/>
            </a:bodyPr>
            <a:lstStyle/>
            <a:p>
              <a:pPr algn="l"/>
              <a:r>
                <a:rPr lang="zh-CN" sz="1125" b="1" dirty="0">
                  <a:solidFill>
                    <a:srgbClr val="2E6B8F"/>
                  </a:solidFill>
                  <a:latin typeface="Arial" panose="020B0604020202020204"/>
                  <a:ea typeface="微软雅黑" panose="020B0503020204020204" charset="-122"/>
                  <a:cs typeface="Arial" panose="020B0604020202020204"/>
                </a:rPr>
                <a:t>端点处理：</a:t>
              </a:r>
              <a:endParaRPr lang="zh-CN" sz="1125" b="1" dirty="0">
                <a:solidFill>
                  <a:srgbClr val="2E6B8F"/>
                </a:solidFill>
                <a:latin typeface="Arial" panose="020B0604020202020204"/>
                <a:ea typeface="微软雅黑" panose="020B0503020204020204" charset="-122"/>
                <a:cs typeface="Arial" panose="020B0604020202020204"/>
              </a:endParaRPr>
            </a:p>
          </p:txBody>
        </p:sp>
        <p:sp>
          <p:nvSpPr>
            <p:cNvPr id="14" name="TextBox 14"/>
            <p:cNvSpPr txBox="1"/>
            <p:nvPr/>
          </p:nvSpPr>
          <p:spPr>
            <a:xfrm>
              <a:off x="1985010" y="2918460"/>
              <a:ext cx="2221230" cy="243840"/>
            </a:xfrm>
            <a:prstGeom prst="rect">
              <a:avLst/>
            </a:prstGeom>
            <a:noFill/>
            <a:ln>
              <a:noFill/>
            </a:ln>
          </p:spPr>
          <p:txBody>
            <a:bodyPr wrap="none" lIns="0" tIns="0" rIns="0" bIns="0" anchor="t" anchorCtr="0">
              <a:spAutoFit/>
            </a:bodyPr>
            <a:lstStyle/>
            <a:p>
              <a:pPr algn="l"/>
              <a:r>
                <a:rPr lang="zh-CN" sz="1200" dirty="0">
                  <a:solidFill>
                    <a:srgbClr val="1A1A2E"/>
                  </a:solidFill>
                  <a:latin typeface="Consolas" panose="020B0609020204030204"/>
                  <a:ea typeface="微软雅黑" panose="020B0503020204020204" charset="-122"/>
                  <a:cs typeface="Consolas" panose="020B0609020204030204"/>
                </a:rPr>
                <a:t>f'(x_0) ≈ f(x_1) - f(x_0)</a:t>
              </a:r>
              <a:endParaRPr lang="zh-CN" sz="1200" dirty="0">
                <a:solidFill>
                  <a:srgbClr val="1A1A2E"/>
                </a:solidFill>
                <a:latin typeface="Consolas" panose="020B0609020204030204"/>
                <a:ea typeface="微软雅黑" panose="020B0503020204020204" charset="-122"/>
                <a:cs typeface="Consolas" panose="020B0609020204030204"/>
              </a:endParaRPr>
            </a:p>
          </p:txBody>
        </p:sp>
        <p:sp>
          <p:nvSpPr>
            <p:cNvPr id="15" name="TextBox 15"/>
            <p:cNvSpPr txBox="1"/>
            <p:nvPr/>
          </p:nvSpPr>
          <p:spPr>
            <a:xfrm>
              <a:off x="1985010" y="3185160"/>
              <a:ext cx="2606802" cy="243840"/>
            </a:xfrm>
            <a:prstGeom prst="rect">
              <a:avLst/>
            </a:prstGeom>
            <a:noFill/>
            <a:ln>
              <a:noFill/>
            </a:ln>
          </p:spPr>
          <p:txBody>
            <a:bodyPr wrap="none" lIns="0" tIns="0" rIns="0" bIns="0" anchor="t" anchorCtr="0">
              <a:spAutoFit/>
            </a:bodyPr>
            <a:lstStyle/>
            <a:p>
              <a:pPr algn="l"/>
              <a:r>
                <a:rPr lang="zh-CN" sz="1200" dirty="0">
                  <a:solidFill>
                    <a:srgbClr val="1A1A2E"/>
                  </a:solidFill>
                  <a:latin typeface="Consolas" panose="020B0609020204030204"/>
                  <a:ea typeface="微软雅黑" panose="020B0503020204020204" charset="-122"/>
                  <a:cs typeface="Consolas" panose="020B0609020204030204"/>
                </a:rPr>
                <a:t>f'(x_n) ≈ f(x_n) - f(x_{n-1})</a:t>
              </a:r>
              <a:endParaRPr lang="zh-CN" sz="1200" dirty="0">
                <a:solidFill>
                  <a:srgbClr val="1A1A2E"/>
                </a:solidFill>
                <a:latin typeface="Consolas" panose="020B0609020204030204"/>
                <a:ea typeface="微软雅黑" panose="020B0503020204020204" charset="-122"/>
                <a:cs typeface="Consolas" panose="020B0609020204030204"/>
              </a:endParaRPr>
            </a:p>
          </p:txBody>
        </p:sp>
        <p:sp>
          <p:nvSpPr>
            <p:cNvPr id="16" name="TextBox 16"/>
            <p:cNvSpPr txBox="1"/>
            <p:nvPr/>
          </p:nvSpPr>
          <p:spPr>
            <a:xfrm>
              <a:off x="748665" y="3201352"/>
              <a:ext cx="1253490"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panose="020B0604020202020204"/>
                  <a:ea typeface="微软雅黑" panose="020B0503020204020204" charset="-122"/>
                  <a:cs typeface="Arial" panose="020B0604020202020204"/>
                </a:rPr>
                <a:t>首尾点用单侧差分</a:t>
              </a:r>
              <a:endParaRPr lang="zh-CN" sz="1050" dirty="0">
                <a:solidFill>
                  <a:srgbClr val="6B7280"/>
                </a:solidFill>
                <a:latin typeface="Arial" panose="020B0604020202020204"/>
                <a:ea typeface="微软雅黑" panose="020B0503020204020204" charset="-122"/>
                <a:cs typeface="Arial" panose="020B0604020202020204"/>
              </a:endParaRPr>
            </a:p>
          </p:txBody>
        </p:sp>
        <p:sp>
          <p:nvSpPr>
            <p:cNvPr id="17" name="Rectangle 17"/>
            <p:cNvSpPr/>
            <p:nvPr/>
          </p:nvSpPr>
          <p:spPr>
            <a:xfrm>
              <a:off x="571500" y="3810000"/>
              <a:ext cx="5334000" cy="571500"/>
            </a:xfrm>
            <a:prstGeom prst="roundRect">
              <a:avLst>
                <a:gd name="adj" fmla="val 13333"/>
              </a:avLst>
            </a:prstGeom>
            <a:solidFill>
              <a:srgbClr val="1A3A5C">
                <a:alpha val="6000"/>
              </a:srgbClr>
            </a:solidFill>
            <a:ln>
              <a:noFill/>
            </a:ln>
          </p:spPr>
        </p:sp>
        <p:grpSp>
          <p:nvGrpSpPr>
            <p:cNvPr id="20" name="Group 20"/>
            <p:cNvGrpSpPr/>
            <p:nvPr/>
          </p:nvGrpSpPr>
          <p:grpSpPr>
            <a:xfrm>
              <a:off x="791572" y="4107231"/>
              <a:ext cx="131214" cy="167113"/>
              <a:chOff x="791572" y="4107231"/>
              <a:chExt cx="131214" cy="167113"/>
            </a:xfrm>
          </p:grpSpPr>
          <p:sp>
            <p:nvSpPr>
              <p:cNvPr id="18" name="Freeform 18"/>
              <p:cNvSpPr/>
              <p:nvPr/>
            </p:nvSpPr>
            <p:spPr>
              <a:xfrm>
                <a:off x="797540" y="4113222"/>
                <a:ext cx="119257" cy="131356"/>
              </a:xfrm>
              <a:custGeom>
                <a:avLst/>
                <a:gdLst/>
                <a:ahLst/>
                <a:cxnLst/>
                <a:rect l="l" t="t" r="r" b="b"/>
                <a:pathLst>
                  <a:path w="119257" h="131356">
                    <a:moveTo>
                      <a:pt x="119241" y="59918"/>
                    </a:moveTo>
                    <a:cubicBezTo>
                      <a:pt x="119257" y="78195"/>
                      <a:pt x="110862" y="95463"/>
                      <a:pt x="96478" y="106740"/>
                    </a:cubicBezTo>
                    <a:cubicBezTo>
                      <a:pt x="92085" y="110144"/>
                      <a:pt x="89503" y="115380"/>
                      <a:pt x="89475" y="120938"/>
                    </a:cubicBezTo>
                    <a:lnTo>
                      <a:pt x="89475" y="125403"/>
                    </a:lnTo>
                    <a:cubicBezTo>
                      <a:pt x="89475" y="128690"/>
                      <a:pt x="86810" y="131356"/>
                      <a:pt x="83522" y="131356"/>
                    </a:cubicBezTo>
                    <a:lnTo>
                      <a:pt x="35897" y="131356"/>
                    </a:lnTo>
                    <a:cubicBezTo>
                      <a:pt x="32610" y="131356"/>
                      <a:pt x="29944" y="128690"/>
                      <a:pt x="29944" y="125403"/>
                    </a:cubicBezTo>
                    <a:lnTo>
                      <a:pt x="29944" y="120938"/>
                    </a:lnTo>
                    <a:cubicBezTo>
                      <a:pt x="29938" y="115410"/>
                      <a:pt x="27385" y="110194"/>
                      <a:pt x="23024" y="106799"/>
                    </a:cubicBezTo>
                    <a:cubicBezTo>
                      <a:pt x="8686" y="95598"/>
                      <a:pt x="268" y="78447"/>
                      <a:pt x="179" y="60253"/>
                    </a:cubicBezTo>
                    <a:cubicBezTo>
                      <a:pt x="0" y="27987"/>
                      <a:pt x="26015" y="1131"/>
                      <a:pt x="58274" y="387"/>
                    </a:cubicBezTo>
                    <a:cubicBezTo>
                      <a:pt x="74310" y="0"/>
                      <a:pt x="89823" y="6101"/>
                      <a:pt x="101300" y="17307"/>
                    </a:cubicBezTo>
                    <a:cubicBezTo>
                      <a:pt x="112777" y="28514"/>
                      <a:pt x="119246" y="43878"/>
                      <a:pt x="119241" y="59918"/>
                    </a:cubicBezTo>
                    <a:close/>
                  </a:path>
                </a:pathLst>
              </a:custGeom>
              <a:solidFill>
                <a:srgbClr val="C8963E">
                  <a:alpha val="20000"/>
                </a:srgbClr>
              </a:solidFill>
              <a:ln>
                <a:noFill/>
              </a:ln>
            </p:spPr>
          </p:sp>
          <p:sp>
            <p:nvSpPr>
              <p:cNvPr id="19" name="Freeform 19"/>
              <p:cNvSpPr/>
              <p:nvPr/>
            </p:nvSpPr>
            <p:spPr>
              <a:xfrm>
                <a:off x="791572" y="4107231"/>
                <a:ext cx="131214" cy="167113"/>
              </a:xfrm>
              <a:custGeom>
                <a:avLst/>
                <a:gdLst/>
                <a:ahLst/>
                <a:cxnLst/>
                <a:rect l="l" t="t" r="r" b="b"/>
                <a:pathLst>
                  <a:path w="131214" h="167113">
                    <a:moveTo>
                      <a:pt x="101397" y="161159"/>
                    </a:moveTo>
                    <a:cubicBezTo>
                      <a:pt x="101397" y="164447"/>
                      <a:pt x="98731" y="167113"/>
                      <a:pt x="95443" y="167113"/>
                    </a:cubicBezTo>
                    <a:lnTo>
                      <a:pt x="35912" y="167113"/>
                    </a:lnTo>
                    <a:cubicBezTo>
                      <a:pt x="32624" y="167113"/>
                      <a:pt x="29959" y="164447"/>
                      <a:pt x="29959" y="161159"/>
                    </a:cubicBezTo>
                    <a:cubicBezTo>
                      <a:pt x="29959" y="157872"/>
                      <a:pt x="32624" y="155206"/>
                      <a:pt x="35912" y="155206"/>
                    </a:cubicBezTo>
                    <a:lnTo>
                      <a:pt x="95443" y="155206"/>
                    </a:lnTo>
                    <a:cubicBezTo>
                      <a:pt x="98731" y="155206"/>
                      <a:pt x="101397" y="157872"/>
                      <a:pt x="101397" y="161159"/>
                    </a:cubicBezTo>
                    <a:close/>
                    <a:moveTo>
                      <a:pt x="131162" y="65909"/>
                    </a:moveTo>
                    <a:cubicBezTo>
                      <a:pt x="131214" y="86020"/>
                      <a:pt x="121975" y="105028"/>
                      <a:pt x="106129" y="117411"/>
                    </a:cubicBezTo>
                    <a:cubicBezTo>
                      <a:pt x="103166" y="119683"/>
                      <a:pt x="101419" y="123196"/>
                      <a:pt x="101397" y="126929"/>
                    </a:cubicBezTo>
                    <a:lnTo>
                      <a:pt x="101397" y="131394"/>
                    </a:lnTo>
                    <a:cubicBezTo>
                      <a:pt x="101397" y="137969"/>
                      <a:pt x="96066" y="143300"/>
                      <a:pt x="89490" y="143300"/>
                    </a:cubicBezTo>
                    <a:lnTo>
                      <a:pt x="41865" y="143300"/>
                    </a:lnTo>
                    <a:cubicBezTo>
                      <a:pt x="35290" y="143300"/>
                      <a:pt x="29959" y="137969"/>
                      <a:pt x="29959" y="131394"/>
                    </a:cubicBezTo>
                    <a:lnTo>
                      <a:pt x="29959" y="126929"/>
                    </a:lnTo>
                    <a:cubicBezTo>
                      <a:pt x="29957" y="123240"/>
                      <a:pt x="28244" y="119761"/>
                      <a:pt x="25323" y="117508"/>
                    </a:cubicBezTo>
                    <a:cubicBezTo>
                      <a:pt x="9518" y="105199"/>
                      <a:pt x="252" y="86306"/>
                      <a:pt x="193" y="66274"/>
                    </a:cubicBezTo>
                    <a:cubicBezTo>
                      <a:pt x="0" y="30808"/>
                      <a:pt x="28664" y="1273"/>
                      <a:pt x="64100" y="425"/>
                    </a:cubicBezTo>
                    <a:cubicBezTo>
                      <a:pt x="81740" y="0"/>
                      <a:pt x="98804" y="6711"/>
                      <a:pt x="111428" y="19038"/>
                    </a:cubicBezTo>
                    <a:cubicBezTo>
                      <a:pt x="124052" y="31365"/>
                      <a:pt x="131167" y="48265"/>
                      <a:pt x="131162" y="65909"/>
                    </a:cubicBezTo>
                    <a:close/>
                    <a:moveTo>
                      <a:pt x="119256" y="65909"/>
                    </a:moveTo>
                    <a:cubicBezTo>
                      <a:pt x="119260" y="51472"/>
                      <a:pt x="113438" y="37645"/>
                      <a:pt x="103108" y="27559"/>
                    </a:cubicBezTo>
                    <a:cubicBezTo>
                      <a:pt x="92779" y="17473"/>
                      <a:pt x="78816" y="11982"/>
                      <a:pt x="64383" y="12331"/>
                    </a:cubicBezTo>
                    <a:cubicBezTo>
                      <a:pt x="35362" y="13016"/>
                      <a:pt x="11943" y="37178"/>
                      <a:pt x="12100" y="66200"/>
                    </a:cubicBezTo>
                    <a:cubicBezTo>
                      <a:pt x="12155" y="82583"/>
                      <a:pt x="19739" y="98032"/>
                      <a:pt x="32668" y="108095"/>
                    </a:cubicBezTo>
                    <a:cubicBezTo>
                      <a:pt x="38480" y="112613"/>
                      <a:pt x="41876" y="119567"/>
                      <a:pt x="41865" y="126929"/>
                    </a:cubicBezTo>
                    <a:lnTo>
                      <a:pt x="41865" y="131394"/>
                    </a:lnTo>
                    <a:lnTo>
                      <a:pt x="89490" y="131394"/>
                    </a:lnTo>
                    <a:lnTo>
                      <a:pt x="89490" y="126929"/>
                    </a:lnTo>
                    <a:cubicBezTo>
                      <a:pt x="89507" y="119546"/>
                      <a:pt x="92932" y="112584"/>
                      <a:pt x="98770" y="108065"/>
                    </a:cubicBezTo>
                    <a:cubicBezTo>
                      <a:pt x="111740" y="97929"/>
                      <a:pt x="119301" y="82370"/>
                      <a:pt x="119256" y="65909"/>
                    </a:cubicBezTo>
                    <a:close/>
                    <a:moveTo>
                      <a:pt x="107268" y="58959"/>
                    </a:moveTo>
                    <a:cubicBezTo>
                      <a:pt x="104106" y="41300"/>
                      <a:pt x="90281" y="27477"/>
                      <a:pt x="72621" y="24319"/>
                    </a:cubicBezTo>
                    <a:cubicBezTo>
                      <a:pt x="69378" y="23773"/>
                      <a:pt x="66306" y="25958"/>
                      <a:pt x="65760" y="29201"/>
                    </a:cubicBezTo>
                    <a:cubicBezTo>
                      <a:pt x="65213" y="32444"/>
                      <a:pt x="67399" y="35515"/>
                      <a:pt x="70641" y="36062"/>
                    </a:cubicBezTo>
                    <a:cubicBezTo>
                      <a:pt x="82972" y="38138"/>
                      <a:pt x="93434" y="48601"/>
                      <a:pt x="95525" y="60953"/>
                    </a:cubicBezTo>
                    <a:cubicBezTo>
                      <a:pt x="96012" y="63816"/>
                      <a:pt x="98493" y="65911"/>
                      <a:pt x="101397" y="65909"/>
                    </a:cubicBezTo>
                    <a:cubicBezTo>
                      <a:pt x="101733" y="65907"/>
                      <a:pt x="102069" y="65880"/>
                      <a:pt x="102401" y="65828"/>
                    </a:cubicBezTo>
                    <a:cubicBezTo>
                      <a:pt x="105641" y="65274"/>
                      <a:pt x="107820" y="62200"/>
                      <a:pt x="107268" y="58959"/>
                    </a:cubicBezTo>
                    <a:close/>
                  </a:path>
                </a:pathLst>
              </a:custGeom>
              <a:solidFill>
                <a:srgbClr val="C8963E"/>
              </a:solidFill>
              <a:ln>
                <a:noFill/>
              </a:ln>
            </p:spPr>
          </p:sp>
        </p:grpSp>
        <p:sp>
          <p:nvSpPr>
            <p:cNvPr id="21" name="TextBox 21"/>
            <p:cNvSpPr txBox="1"/>
            <p:nvPr/>
          </p:nvSpPr>
          <p:spPr>
            <a:xfrm>
              <a:off x="1034415" y="4058602"/>
              <a:ext cx="1242372" cy="213360"/>
            </a:xfrm>
            <a:prstGeom prst="rect">
              <a:avLst/>
            </a:prstGeom>
            <a:noFill/>
            <a:ln>
              <a:noFill/>
            </a:ln>
          </p:spPr>
          <p:txBody>
            <a:bodyPr wrap="none" lIns="0" tIns="0" rIns="0" bIns="0" anchor="t" anchorCtr="0">
              <a:spAutoFit/>
            </a:bodyPr>
            <a:lstStyle/>
            <a:p>
              <a:pPr algn="l"/>
              <a:r>
                <a:rPr lang="zh-CN" sz="1050" b="1" dirty="0">
                  <a:solidFill>
                    <a:srgbClr val="1A3A5C"/>
                  </a:solidFill>
                  <a:latin typeface="Arial" panose="020B0604020202020204"/>
                  <a:ea typeface="微软雅黑" panose="020B0503020204020204" charset="-122"/>
                  <a:cs typeface="Arial" panose="020B0604020202020204"/>
                </a:rPr>
                <a:t>物理/社会意义：</a:t>
              </a:r>
              <a:endParaRPr lang="zh-CN" sz="1050" b="1" dirty="0">
                <a:solidFill>
                  <a:srgbClr val="1A3A5C"/>
                </a:solidFill>
                <a:latin typeface="Arial" panose="020B0604020202020204"/>
                <a:ea typeface="微软雅黑" panose="020B0503020204020204" charset="-122"/>
                <a:cs typeface="Arial" panose="020B0604020202020204"/>
              </a:endParaRPr>
            </a:p>
          </p:txBody>
        </p:sp>
        <p:sp>
          <p:nvSpPr>
            <p:cNvPr id="22" name="TextBox 22"/>
            <p:cNvSpPr txBox="1"/>
            <p:nvPr/>
          </p:nvSpPr>
          <p:spPr>
            <a:xfrm>
              <a:off x="2653665" y="4058602"/>
              <a:ext cx="3860482"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panose="020B0604020202020204"/>
                  <a:ea typeface="微软雅黑" panose="020B0503020204020204" charset="-122"/>
                  <a:cs typeface="Arial" panose="020B0604020202020204"/>
                </a:rPr>
                <a:t>差分值越大，说明该指标在该年度附近扩张或恢复越快。</a:t>
              </a:r>
              <a:endParaRPr lang="zh-CN" sz="1050" dirty="0">
                <a:solidFill>
                  <a:srgbClr val="6B7280"/>
                </a:solidFill>
                <a:latin typeface="Arial" panose="020B0604020202020204"/>
                <a:ea typeface="微软雅黑" panose="020B0503020204020204" charset="-122"/>
                <a:cs typeface="Arial" panose="020B0604020202020204"/>
              </a:endParaRPr>
            </a:p>
          </p:txBody>
        </p:sp>
      </p:grpSp>
      <p:grpSp>
        <p:nvGrpSpPr>
          <p:cNvPr id="49" name="Group 49"/>
          <p:cNvGrpSpPr/>
          <p:nvPr/>
        </p:nvGrpSpPr>
        <p:grpSpPr>
          <a:xfrm>
            <a:off x="6366510" y="1203960"/>
            <a:ext cx="5253990" cy="3110865"/>
            <a:chOff x="6366510" y="1203960"/>
            <a:chExt cx="5253990" cy="3110865"/>
          </a:xfrm>
        </p:grpSpPr>
        <p:sp>
          <p:nvSpPr>
            <p:cNvPr id="24" name="TextBox 24"/>
            <p:cNvSpPr txBox="1"/>
            <p:nvPr/>
          </p:nvSpPr>
          <p:spPr>
            <a:xfrm>
              <a:off x="6366510" y="1203960"/>
              <a:ext cx="766572" cy="243840"/>
            </a:xfrm>
            <a:prstGeom prst="rect">
              <a:avLst/>
            </a:prstGeom>
            <a:noFill/>
            <a:ln>
              <a:noFill/>
            </a:ln>
          </p:spPr>
          <p:txBody>
            <a:bodyPr wrap="none" lIns="0" tIns="0" rIns="0" bIns="0" anchor="t" anchorCtr="0">
              <a:spAutoFit/>
            </a:bodyPr>
            <a:lstStyle/>
            <a:p>
              <a:pPr algn="l"/>
              <a:r>
                <a:rPr lang="zh-CN" sz="1200" b="1" dirty="0">
                  <a:solidFill>
                    <a:srgbClr val="1A3A5C"/>
                  </a:solidFill>
                  <a:latin typeface="Arial" panose="020B0604020202020204"/>
                  <a:ea typeface="微软雅黑" panose="020B0503020204020204" charset="-122"/>
                  <a:cs typeface="Arial" panose="020B0604020202020204"/>
                </a:rPr>
                <a:t>计算流程</a:t>
              </a:r>
              <a:endParaRPr lang="zh-CN" sz="1200" b="1" dirty="0">
                <a:solidFill>
                  <a:srgbClr val="1A3A5C"/>
                </a:solidFill>
                <a:latin typeface="Arial" panose="020B0604020202020204"/>
                <a:ea typeface="微软雅黑" panose="020B0503020204020204" charset="-122"/>
                <a:cs typeface="Arial" panose="020B0604020202020204"/>
              </a:endParaRPr>
            </a:p>
          </p:txBody>
        </p:sp>
        <p:grpSp>
          <p:nvGrpSpPr>
            <p:cNvPr id="30" name="Group 30"/>
            <p:cNvGrpSpPr/>
            <p:nvPr/>
          </p:nvGrpSpPr>
          <p:grpSpPr>
            <a:xfrm>
              <a:off x="6381750" y="1524000"/>
              <a:ext cx="5238750" cy="590550"/>
              <a:chOff x="6381750" y="1524000"/>
              <a:chExt cx="5238750" cy="590550"/>
            </a:xfrm>
          </p:grpSpPr>
          <p:sp>
            <p:nvSpPr>
              <p:cNvPr id="25" name="Rectangle 25"/>
              <p:cNvSpPr/>
              <p:nvPr/>
            </p:nvSpPr>
            <p:spPr>
              <a:xfrm>
                <a:off x="6381750" y="1524000"/>
                <a:ext cx="5238750" cy="590550"/>
              </a:xfrm>
              <a:prstGeom prst="roundRect">
                <a:avLst>
                  <a:gd name="adj" fmla="val 12903"/>
                </a:avLst>
              </a:prstGeom>
              <a:solidFill>
                <a:srgbClr val="FFFFFF"/>
              </a:solidFill>
              <a:ln w="9525">
                <a:solidFill>
                  <a:srgbClr val="D1D5DB"/>
                </a:solidFill>
              </a:ln>
              <a:effectLst>
                <a:outerShdw blurRad="57150" dist="19050" dir="5400000" algn="ctr" rotWithShape="0">
                  <a:srgbClr val="0F172A">
                    <a:alpha val="4500"/>
                  </a:srgbClr>
                </a:outerShdw>
              </a:effectLst>
            </p:spPr>
          </p:sp>
          <p:sp>
            <p:nvSpPr>
              <p:cNvPr id="26" name="Ellipse 26"/>
              <p:cNvSpPr/>
              <p:nvPr/>
            </p:nvSpPr>
            <p:spPr>
              <a:xfrm>
                <a:off x="6515100" y="1666875"/>
                <a:ext cx="304800" cy="304800"/>
              </a:xfrm>
              <a:prstGeom prst="ellipse">
                <a:avLst/>
              </a:prstGeom>
              <a:solidFill>
                <a:srgbClr val="1A3A5C"/>
              </a:solidFill>
              <a:ln>
                <a:noFill/>
              </a:ln>
            </p:spPr>
          </p:sp>
          <p:sp>
            <p:nvSpPr>
              <p:cNvPr id="27" name="TextBox 27"/>
              <p:cNvSpPr txBox="1"/>
              <p:nvPr/>
            </p:nvSpPr>
            <p:spPr>
              <a:xfrm>
                <a:off x="6632690" y="1761649"/>
                <a:ext cx="69621"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panose="020B0604020202020204"/>
                    <a:ea typeface="微软雅黑" panose="020B0503020204020204" charset="-122"/>
                    <a:cs typeface="Arial" panose="020B0604020202020204"/>
                  </a:rPr>
                  <a:t>1</a:t>
                </a:r>
                <a:endParaRPr lang="zh-CN" sz="975" b="1" dirty="0">
                  <a:solidFill>
                    <a:srgbClr val="FFFFFF"/>
                  </a:solidFill>
                  <a:latin typeface="Arial" panose="020B0604020202020204"/>
                  <a:ea typeface="微软雅黑" panose="020B0503020204020204" charset="-122"/>
                  <a:cs typeface="Arial" panose="020B0604020202020204"/>
                </a:endParaRPr>
              </a:p>
            </p:txBody>
          </p:sp>
          <p:sp>
            <p:nvSpPr>
              <p:cNvPr id="28" name="TextBox 28"/>
              <p:cNvSpPr txBox="1"/>
              <p:nvPr/>
            </p:nvSpPr>
            <p:spPr>
              <a:xfrm>
                <a:off x="6938962" y="1669256"/>
                <a:ext cx="1495008" cy="228600"/>
              </a:xfrm>
              <a:prstGeom prst="rect">
                <a:avLst/>
              </a:prstGeom>
              <a:noFill/>
              <a:ln>
                <a:noFill/>
              </a:ln>
            </p:spPr>
            <p:txBody>
              <a:bodyPr wrap="none" lIns="0" tIns="0" rIns="0" bIns="0" anchor="t" anchorCtr="0">
                <a:spAutoFit/>
              </a:bodyPr>
              <a:lstStyle/>
              <a:p>
                <a:pPr algn="l"/>
                <a:r>
                  <a:rPr lang="zh-CN" sz="1125" b="1" dirty="0">
                    <a:solidFill>
                      <a:srgbClr val="1A1A2E"/>
                    </a:solidFill>
                    <a:latin typeface="Arial" panose="020B0604020202020204"/>
                    <a:ea typeface="微软雅黑" panose="020B0503020204020204" charset="-122"/>
                    <a:cs typeface="Arial" panose="020B0604020202020204"/>
                  </a:rPr>
                  <a:t>读取年度序列 f(x)</a:t>
                </a:r>
                <a:endParaRPr lang="zh-CN" sz="1125" b="1" dirty="0">
                  <a:solidFill>
                    <a:srgbClr val="1A1A2E"/>
                  </a:solidFill>
                  <a:latin typeface="Arial" panose="020B0604020202020204"/>
                  <a:ea typeface="微软雅黑" panose="020B0503020204020204" charset="-122"/>
                  <a:cs typeface="Arial" panose="020B0604020202020204"/>
                </a:endParaRPr>
              </a:p>
            </p:txBody>
          </p:sp>
          <p:sp>
            <p:nvSpPr>
              <p:cNvPr id="29" name="TextBox 29"/>
              <p:cNvSpPr txBox="1"/>
              <p:nvPr/>
            </p:nvSpPr>
            <p:spPr>
              <a:xfrm>
                <a:off x="6940868" y="1875949"/>
                <a:ext cx="2224826" cy="198120"/>
              </a:xfrm>
              <a:prstGeom prst="rect">
                <a:avLst/>
              </a:prstGeom>
              <a:noFill/>
              <a:ln>
                <a:noFill/>
              </a:ln>
            </p:spPr>
            <p:txBody>
              <a:bodyPr wrap="none" lIns="0" tIns="0" rIns="0" bIns="0" anchor="t" anchorCtr="0">
                <a:spAutoFit/>
              </a:bodyPr>
              <a:lstStyle/>
              <a:p>
                <a:pPr algn="l"/>
                <a:r>
                  <a:rPr lang="zh-CN" sz="975" dirty="0">
                    <a:solidFill>
                      <a:srgbClr val="6B7280"/>
                    </a:solidFill>
                    <a:latin typeface="Arial" panose="020B0604020202020204"/>
                    <a:ea typeface="微软雅黑" panose="020B0503020204020204" charset="-122"/>
                    <a:cs typeface="Arial" panose="020B0604020202020204"/>
                  </a:rPr>
                  <a:t>输入：2014-2023 年共 10 个离散点</a:t>
                </a:r>
                <a:endParaRPr lang="zh-CN" sz="975" dirty="0">
                  <a:solidFill>
                    <a:srgbClr val="6B7280"/>
                  </a:solidFill>
                  <a:latin typeface="Arial" panose="020B0604020202020204"/>
                  <a:ea typeface="微软雅黑" panose="020B0503020204020204" charset="-122"/>
                  <a:cs typeface="Arial" panose="020B0604020202020204"/>
                </a:endParaRPr>
              </a:p>
            </p:txBody>
          </p:sp>
        </p:grpSp>
        <p:grpSp>
          <p:nvGrpSpPr>
            <p:cNvPr id="36" name="Group 36"/>
            <p:cNvGrpSpPr/>
            <p:nvPr/>
          </p:nvGrpSpPr>
          <p:grpSpPr>
            <a:xfrm>
              <a:off x="6381750" y="2257425"/>
              <a:ext cx="5238750" cy="590550"/>
              <a:chOff x="6381750" y="2257425"/>
              <a:chExt cx="5238750" cy="590550"/>
            </a:xfrm>
          </p:grpSpPr>
          <p:sp>
            <p:nvSpPr>
              <p:cNvPr id="31" name="Rectangle 31"/>
              <p:cNvSpPr/>
              <p:nvPr/>
            </p:nvSpPr>
            <p:spPr>
              <a:xfrm>
                <a:off x="6381750" y="2257425"/>
                <a:ext cx="5238750" cy="590550"/>
              </a:xfrm>
              <a:prstGeom prst="roundRect">
                <a:avLst>
                  <a:gd name="adj" fmla="val 12903"/>
                </a:avLst>
              </a:prstGeom>
              <a:solidFill>
                <a:srgbClr val="FFFFFF"/>
              </a:solidFill>
              <a:ln w="9525">
                <a:solidFill>
                  <a:srgbClr val="D1D5DB"/>
                </a:solidFill>
              </a:ln>
              <a:effectLst>
                <a:outerShdw blurRad="57150" dist="19050" dir="5400000" algn="ctr" rotWithShape="0">
                  <a:srgbClr val="0F172A">
                    <a:alpha val="4500"/>
                  </a:srgbClr>
                </a:outerShdw>
              </a:effectLst>
            </p:spPr>
          </p:sp>
          <p:sp>
            <p:nvSpPr>
              <p:cNvPr id="32" name="Ellipse 32"/>
              <p:cNvSpPr/>
              <p:nvPr/>
            </p:nvSpPr>
            <p:spPr>
              <a:xfrm>
                <a:off x="6515100" y="2400300"/>
                <a:ext cx="304800" cy="304800"/>
              </a:xfrm>
              <a:prstGeom prst="ellipse">
                <a:avLst/>
              </a:prstGeom>
              <a:solidFill>
                <a:srgbClr val="2E6B8F"/>
              </a:solidFill>
              <a:ln>
                <a:noFill/>
              </a:ln>
            </p:spPr>
          </p:sp>
          <p:sp>
            <p:nvSpPr>
              <p:cNvPr id="33" name="TextBox 33"/>
              <p:cNvSpPr txBox="1"/>
              <p:nvPr/>
            </p:nvSpPr>
            <p:spPr>
              <a:xfrm>
                <a:off x="6614000" y="2495074"/>
                <a:ext cx="107000"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panose="020B0604020202020204"/>
                    <a:ea typeface="微软雅黑" panose="020B0503020204020204" charset="-122"/>
                    <a:cs typeface="Arial" panose="020B0604020202020204"/>
                  </a:rPr>
                  <a:t>2</a:t>
                </a:r>
                <a:endParaRPr lang="zh-CN" sz="975" b="1" dirty="0">
                  <a:solidFill>
                    <a:srgbClr val="FFFFFF"/>
                  </a:solidFill>
                  <a:latin typeface="Arial" panose="020B0604020202020204"/>
                  <a:ea typeface="微软雅黑" panose="020B0503020204020204" charset="-122"/>
                  <a:cs typeface="Arial" panose="020B0604020202020204"/>
                </a:endParaRPr>
              </a:p>
            </p:txBody>
          </p:sp>
          <p:sp>
            <p:nvSpPr>
              <p:cNvPr id="34" name="TextBox 34"/>
              <p:cNvSpPr txBox="1"/>
              <p:nvPr/>
            </p:nvSpPr>
            <p:spPr>
              <a:xfrm>
                <a:off x="6938962" y="2402681"/>
                <a:ext cx="1408747" cy="228600"/>
              </a:xfrm>
              <a:prstGeom prst="rect">
                <a:avLst/>
              </a:prstGeom>
              <a:noFill/>
              <a:ln>
                <a:noFill/>
              </a:ln>
            </p:spPr>
            <p:txBody>
              <a:bodyPr wrap="none" lIns="0" tIns="0" rIns="0" bIns="0" anchor="t" anchorCtr="0">
                <a:spAutoFit/>
              </a:bodyPr>
              <a:lstStyle/>
              <a:p>
                <a:pPr algn="l"/>
                <a:r>
                  <a:rPr lang="zh-CN" sz="1125" b="1" dirty="0">
                    <a:solidFill>
                      <a:srgbClr val="1A1A2E"/>
                    </a:solidFill>
                    <a:latin typeface="Arial" panose="020B0604020202020204"/>
                    <a:ea typeface="微软雅黑" panose="020B0503020204020204" charset="-122"/>
                    <a:cs typeface="Arial" panose="020B0604020202020204"/>
                  </a:rPr>
                  <a:t>内部点用中心差分</a:t>
                </a:r>
                <a:endParaRPr lang="zh-CN" sz="1125" b="1" dirty="0">
                  <a:solidFill>
                    <a:srgbClr val="1A1A2E"/>
                  </a:solidFill>
                  <a:latin typeface="Arial" panose="020B0604020202020204"/>
                  <a:ea typeface="微软雅黑" panose="020B0503020204020204" charset="-122"/>
                  <a:cs typeface="Arial" panose="020B0604020202020204"/>
                </a:endParaRPr>
              </a:p>
            </p:txBody>
          </p:sp>
          <p:sp>
            <p:nvSpPr>
              <p:cNvPr id="35" name="TextBox 35"/>
              <p:cNvSpPr txBox="1"/>
              <p:nvPr/>
            </p:nvSpPr>
            <p:spPr>
              <a:xfrm>
                <a:off x="6940868" y="2609374"/>
                <a:ext cx="2110907" cy="198120"/>
              </a:xfrm>
              <a:prstGeom prst="rect">
                <a:avLst/>
              </a:prstGeom>
              <a:noFill/>
              <a:ln>
                <a:noFill/>
              </a:ln>
            </p:spPr>
            <p:txBody>
              <a:bodyPr wrap="none" lIns="0" tIns="0" rIns="0" bIns="0" anchor="t" anchorCtr="0">
                <a:spAutoFit/>
              </a:bodyPr>
              <a:lstStyle/>
              <a:p>
                <a:pPr algn="l"/>
                <a:r>
                  <a:rPr lang="zh-CN" sz="975" dirty="0">
                    <a:solidFill>
                      <a:srgbClr val="6B7280"/>
                    </a:solidFill>
                    <a:latin typeface="Arial" panose="020B0604020202020204"/>
                    <a:ea typeface="微软雅黑" panose="020B0503020204020204" charset="-122"/>
                    <a:cs typeface="Arial" panose="020B0604020202020204"/>
                  </a:rPr>
                  <a:t>i = 1..n-1: (f[i+1] - f[i-1]) / 2</a:t>
                </a:r>
                <a:endParaRPr lang="zh-CN" sz="975" dirty="0">
                  <a:solidFill>
                    <a:srgbClr val="6B7280"/>
                  </a:solidFill>
                  <a:latin typeface="Arial" panose="020B0604020202020204"/>
                  <a:ea typeface="微软雅黑" panose="020B0503020204020204" charset="-122"/>
                  <a:cs typeface="Arial" panose="020B0604020202020204"/>
                </a:endParaRPr>
              </a:p>
            </p:txBody>
          </p:sp>
        </p:grpSp>
        <p:grpSp>
          <p:nvGrpSpPr>
            <p:cNvPr id="42" name="Group 42"/>
            <p:cNvGrpSpPr/>
            <p:nvPr/>
          </p:nvGrpSpPr>
          <p:grpSpPr>
            <a:xfrm>
              <a:off x="6381750" y="2990850"/>
              <a:ext cx="5238750" cy="590550"/>
              <a:chOff x="6381750" y="2990850"/>
              <a:chExt cx="5238750" cy="590550"/>
            </a:xfrm>
          </p:grpSpPr>
          <p:sp>
            <p:nvSpPr>
              <p:cNvPr id="37" name="Rectangle 37"/>
              <p:cNvSpPr/>
              <p:nvPr/>
            </p:nvSpPr>
            <p:spPr>
              <a:xfrm>
                <a:off x="6381750" y="2990850"/>
                <a:ext cx="5238750" cy="590550"/>
              </a:xfrm>
              <a:prstGeom prst="roundRect">
                <a:avLst>
                  <a:gd name="adj" fmla="val 12903"/>
                </a:avLst>
              </a:prstGeom>
              <a:solidFill>
                <a:srgbClr val="FFFFFF"/>
              </a:solidFill>
              <a:ln w="9525">
                <a:solidFill>
                  <a:srgbClr val="D1D5DB"/>
                </a:solidFill>
              </a:ln>
              <a:effectLst>
                <a:outerShdw blurRad="57150" dist="19050" dir="5400000" algn="ctr" rotWithShape="0">
                  <a:srgbClr val="0F172A">
                    <a:alpha val="4500"/>
                  </a:srgbClr>
                </a:outerShdw>
              </a:effectLst>
            </p:spPr>
          </p:sp>
          <p:sp>
            <p:nvSpPr>
              <p:cNvPr id="38" name="Ellipse 38"/>
              <p:cNvSpPr/>
              <p:nvPr/>
            </p:nvSpPr>
            <p:spPr>
              <a:xfrm>
                <a:off x="6515100" y="3133725"/>
                <a:ext cx="304800" cy="304800"/>
              </a:xfrm>
              <a:prstGeom prst="ellipse">
                <a:avLst/>
              </a:prstGeom>
              <a:solidFill>
                <a:srgbClr val="C8963E"/>
              </a:solidFill>
              <a:ln>
                <a:noFill/>
              </a:ln>
            </p:spPr>
          </p:sp>
          <p:sp>
            <p:nvSpPr>
              <p:cNvPr id="39" name="TextBox 39"/>
              <p:cNvSpPr txBox="1"/>
              <p:nvPr/>
            </p:nvSpPr>
            <p:spPr>
              <a:xfrm>
                <a:off x="6614000" y="3228499"/>
                <a:ext cx="107000"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panose="020B0604020202020204"/>
                    <a:ea typeface="微软雅黑" panose="020B0503020204020204" charset="-122"/>
                    <a:cs typeface="Arial" panose="020B0604020202020204"/>
                  </a:rPr>
                  <a:t>3</a:t>
                </a:r>
                <a:endParaRPr lang="zh-CN" sz="975" b="1" dirty="0">
                  <a:solidFill>
                    <a:srgbClr val="FFFFFF"/>
                  </a:solidFill>
                  <a:latin typeface="Arial" panose="020B0604020202020204"/>
                  <a:ea typeface="微软雅黑" panose="020B0503020204020204" charset="-122"/>
                  <a:cs typeface="Arial" panose="020B0604020202020204"/>
                </a:endParaRPr>
              </a:p>
            </p:txBody>
          </p:sp>
          <p:sp>
            <p:nvSpPr>
              <p:cNvPr id="40" name="TextBox 40"/>
              <p:cNvSpPr txBox="1"/>
              <p:nvPr/>
            </p:nvSpPr>
            <p:spPr>
              <a:xfrm>
                <a:off x="6938962" y="3136106"/>
                <a:ext cx="1408747" cy="228600"/>
              </a:xfrm>
              <a:prstGeom prst="rect">
                <a:avLst/>
              </a:prstGeom>
              <a:noFill/>
              <a:ln>
                <a:noFill/>
              </a:ln>
            </p:spPr>
            <p:txBody>
              <a:bodyPr wrap="none" lIns="0" tIns="0" rIns="0" bIns="0" anchor="t" anchorCtr="0">
                <a:spAutoFit/>
              </a:bodyPr>
              <a:lstStyle/>
              <a:p>
                <a:pPr algn="l"/>
                <a:r>
                  <a:rPr lang="zh-CN" sz="1125" b="1" dirty="0">
                    <a:solidFill>
                      <a:srgbClr val="1A1A2E"/>
                    </a:solidFill>
                    <a:latin typeface="Arial" panose="020B0604020202020204"/>
                    <a:ea typeface="微软雅黑" panose="020B0503020204020204" charset="-122"/>
                    <a:cs typeface="Arial" panose="020B0604020202020204"/>
                  </a:rPr>
                  <a:t>首尾点用单侧差分</a:t>
                </a:r>
                <a:endParaRPr lang="zh-CN" sz="1125" b="1" dirty="0">
                  <a:solidFill>
                    <a:srgbClr val="1A1A2E"/>
                  </a:solidFill>
                  <a:latin typeface="Arial" panose="020B0604020202020204"/>
                  <a:ea typeface="微软雅黑" panose="020B0503020204020204" charset="-122"/>
                  <a:cs typeface="Arial" panose="020B0604020202020204"/>
                </a:endParaRPr>
              </a:p>
            </p:txBody>
          </p:sp>
          <p:sp>
            <p:nvSpPr>
              <p:cNvPr id="41" name="TextBox 41"/>
              <p:cNvSpPr txBox="1"/>
              <p:nvPr/>
            </p:nvSpPr>
            <p:spPr>
              <a:xfrm>
                <a:off x="6940868" y="3342799"/>
                <a:ext cx="2516743" cy="198120"/>
              </a:xfrm>
              <a:prstGeom prst="rect">
                <a:avLst/>
              </a:prstGeom>
              <a:noFill/>
              <a:ln>
                <a:noFill/>
              </a:ln>
            </p:spPr>
            <p:txBody>
              <a:bodyPr wrap="none" lIns="0" tIns="0" rIns="0" bIns="0" anchor="t" anchorCtr="0">
                <a:spAutoFit/>
              </a:bodyPr>
              <a:lstStyle/>
              <a:p>
                <a:pPr algn="l"/>
                <a:r>
                  <a:rPr lang="zh-CN" sz="975" dirty="0">
                    <a:solidFill>
                      <a:srgbClr val="6B7280"/>
                    </a:solidFill>
                    <a:latin typeface="Arial" panose="020B0604020202020204"/>
                    <a:ea typeface="微软雅黑" panose="020B0503020204020204" charset="-122"/>
                    <a:cs typeface="Arial" panose="020B0604020202020204"/>
                  </a:rPr>
                  <a:t>前端：f[1]-f[0]；末端：f[n]-f[n-1]</a:t>
                </a:r>
                <a:endParaRPr lang="zh-CN" sz="975" dirty="0">
                  <a:solidFill>
                    <a:srgbClr val="6B7280"/>
                  </a:solidFill>
                  <a:latin typeface="Arial" panose="020B0604020202020204"/>
                  <a:ea typeface="微软雅黑" panose="020B0503020204020204" charset="-122"/>
                  <a:cs typeface="Arial" panose="020B0604020202020204"/>
                </a:endParaRPr>
              </a:p>
            </p:txBody>
          </p:sp>
        </p:grpSp>
        <p:grpSp>
          <p:nvGrpSpPr>
            <p:cNvPr id="48" name="Group 48"/>
            <p:cNvGrpSpPr/>
            <p:nvPr/>
          </p:nvGrpSpPr>
          <p:grpSpPr>
            <a:xfrm>
              <a:off x="6381750" y="3724275"/>
              <a:ext cx="5238750" cy="590550"/>
              <a:chOff x="6381750" y="3724275"/>
              <a:chExt cx="5238750" cy="590550"/>
            </a:xfrm>
          </p:grpSpPr>
          <p:sp>
            <p:nvSpPr>
              <p:cNvPr id="43" name="Rectangle 43"/>
              <p:cNvSpPr/>
              <p:nvPr/>
            </p:nvSpPr>
            <p:spPr>
              <a:xfrm>
                <a:off x="6381750" y="3724275"/>
                <a:ext cx="5238750" cy="590550"/>
              </a:xfrm>
              <a:prstGeom prst="roundRect">
                <a:avLst>
                  <a:gd name="adj" fmla="val 12903"/>
                </a:avLst>
              </a:prstGeom>
              <a:solidFill>
                <a:srgbClr val="FFFFFF"/>
              </a:solidFill>
              <a:ln w="9525">
                <a:solidFill>
                  <a:srgbClr val="D1D5DB"/>
                </a:solidFill>
              </a:ln>
              <a:effectLst>
                <a:outerShdw blurRad="57150" dist="19050" dir="5400000" algn="ctr" rotWithShape="0">
                  <a:srgbClr val="0F172A">
                    <a:alpha val="4500"/>
                  </a:srgbClr>
                </a:outerShdw>
              </a:effectLst>
            </p:spPr>
          </p:sp>
          <p:sp>
            <p:nvSpPr>
              <p:cNvPr id="44" name="Ellipse 44"/>
              <p:cNvSpPr/>
              <p:nvPr/>
            </p:nvSpPr>
            <p:spPr>
              <a:xfrm>
                <a:off x="6515100" y="3867150"/>
                <a:ext cx="304800" cy="304800"/>
              </a:xfrm>
              <a:prstGeom prst="ellipse">
                <a:avLst/>
              </a:prstGeom>
              <a:solidFill>
                <a:srgbClr val="2E7D32"/>
              </a:solidFill>
              <a:ln>
                <a:noFill/>
              </a:ln>
            </p:spPr>
          </p:sp>
          <p:sp>
            <p:nvSpPr>
              <p:cNvPr id="45" name="TextBox 45"/>
              <p:cNvSpPr txBox="1"/>
              <p:nvPr/>
            </p:nvSpPr>
            <p:spPr>
              <a:xfrm>
                <a:off x="6614000" y="3961924"/>
                <a:ext cx="107000"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panose="020B0604020202020204"/>
                    <a:ea typeface="微软雅黑" panose="020B0503020204020204" charset="-122"/>
                    <a:cs typeface="Arial" panose="020B0604020202020204"/>
                  </a:rPr>
                  <a:t>4</a:t>
                </a:r>
                <a:endParaRPr lang="zh-CN" sz="975" b="1" dirty="0">
                  <a:solidFill>
                    <a:srgbClr val="FFFFFF"/>
                  </a:solidFill>
                  <a:latin typeface="Arial" panose="020B0604020202020204"/>
                  <a:ea typeface="微软雅黑" panose="020B0503020204020204" charset="-122"/>
                  <a:cs typeface="Arial" panose="020B0604020202020204"/>
                </a:endParaRPr>
              </a:p>
            </p:txBody>
          </p:sp>
          <p:sp>
            <p:nvSpPr>
              <p:cNvPr id="46" name="TextBox 46"/>
              <p:cNvSpPr txBox="1"/>
              <p:nvPr/>
            </p:nvSpPr>
            <p:spPr>
              <a:xfrm>
                <a:off x="6938962" y="3869531"/>
                <a:ext cx="1753791" cy="228600"/>
              </a:xfrm>
              <a:prstGeom prst="rect">
                <a:avLst/>
              </a:prstGeom>
              <a:noFill/>
              <a:ln>
                <a:noFill/>
              </a:ln>
            </p:spPr>
            <p:txBody>
              <a:bodyPr wrap="none" lIns="0" tIns="0" rIns="0" bIns="0" anchor="t" anchorCtr="0">
                <a:spAutoFit/>
              </a:bodyPr>
              <a:lstStyle/>
              <a:p>
                <a:pPr algn="l"/>
                <a:r>
                  <a:rPr lang="zh-CN" sz="1125" b="1" dirty="0">
                    <a:solidFill>
                      <a:srgbClr val="1A1A2E"/>
                    </a:solidFill>
                    <a:latin typeface="Arial" panose="020B0604020202020204"/>
                    <a:ea typeface="微软雅黑" panose="020B0503020204020204" charset="-122"/>
                    <a:cs typeface="Arial" panose="020B0604020202020204"/>
                  </a:rPr>
                  <a:t>比较变化率，定位拐点</a:t>
                </a:r>
                <a:endParaRPr lang="zh-CN" sz="1125" b="1" dirty="0">
                  <a:solidFill>
                    <a:srgbClr val="1A1A2E"/>
                  </a:solidFill>
                  <a:latin typeface="Arial" panose="020B0604020202020204"/>
                  <a:ea typeface="微软雅黑" panose="020B0503020204020204" charset="-122"/>
                  <a:cs typeface="Arial" panose="020B0604020202020204"/>
                </a:endParaRPr>
              </a:p>
            </p:txBody>
          </p:sp>
          <p:sp>
            <p:nvSpPr>
              <p:cNvPr id="47" name="TextBox 47"/>
              <p:cNvSpPr txBox="1"/>
              <p:nvPr/>
            </p:nvSpPr>
            <p:spPr>
              <a:xfrm>
                <a:off x="6940868" y="4076224"/>
                <a:ext cx="3093458" cy="198120"/>
              </a:xfrm>
              <a:prstGeom prst="rect">
                <a:avLst/>
              </a:prstGeom>
              <a:noFill/>
              <a:ln>
                <a:noFill/>
              </a:ln>
            </p:spPr>
            <p:txBody>
              <a:bodyPr wrap="none" lIns="0" tIns="0" rIns="0" bIns="0" anchor="t" anchorCtr="0">
                <a:spAutoFit/>
              </a:bodyPr>
              <a:lstStyle/>
              <a:p>
                <a:pPr algn="l"/>
                <a:r>
                  <a:rPr lang="zh-CN" sz="975" dirty="0">
                    <a:solidFill>
                      <a:srgbClr val="6B7280"/>
                    </a:solidFill>
                    <a:latin typeface="Arial" panose="020B0604020202020204"/>
                    <a:ea typeface="微软雅黑" panose="020B0503020204020204" charset="-122"/>
                    <a:cs typeface="Arial" panose="020B0604020202020204"/>
                  </a:rPr>
                  <a:t>输出：各年度边际变化序列，识别最大正/负差分</a:t>
                </a:r>
                <a:endParaRPr lang="zh-CN" sz="975" dirty="0">
                  <a:solidFill>
                    <a:srgbClr val="6B7280"/>
                  </a:solidFill>
                  <a:latin typeface="Arial" panose="020B0604020202020204"/>
                  <a:ea typeface="微软雅黑" panose="020B0503020204020204" charset="-122"/>
                  <a:cs typeface="Arial" panose="020B0604020202020204"/>
                </a:endParaRPr>
              </a:p>
            </p:txBody>
          </p:sp>
        </p:grpSp>
      </p:grpSp>
      <p:grpSp>
        <p:nvGrpSpPr>
          <p:cNvPr id="52" name="Group 52"/>
          <p:cNvGrpSpPr/>
          <p:nvPr/>
        </p:nvGrpSpPr>
        <p:grpSpPr>
          <a:xfrm>
            <a:off x="560070" y="6522720"/>
            <a:ext cx="11070908" cy="182880"/>
            <a:chOff x="560070" y="6522720"/>
            <a:chExt cx="11070908" cy="182880"/>
          </a:xfrm>
        </p:grpSpPr>
        <p:sp>
          <p:nvSpPr>
            <p:cNvPr id="50" name="TextBox 50"/>
            <p:cNvSpPr txBox="1"/>
            <p:nvPr/>
          </p:nvSpPr>
          <p:spPr>
            <a:xfrm>
              <a:off x="560070" y="6522720"/>
              <a:ext cx="2789777" cy="182880"/>
            </a:xfrm>
            <a:prstGeom prst="rect">
              <a:avLst/>
            </a:prstGeom>
            <a:noFill/>
            <a:ln>
              <a:noFill/>
            </a:ln>
          </p:spPr>
          <p:txBody>
            <a:bodyPr wrap="none" lIns="0" tIns="0" rIns="0" bIns="0" anchor="t" anchorCtr="0">
              <a:spAutoFit/>
            </a:bodyPr>
            <a:lstStyle/>
            <a:p>
              <a:pPr algn="l"/>
              <a:r>
                <a:rPr lang="zh-CN" sz="900" dirty="0">
                  <a:solidFill>
                    <a:srgbClr val="9CA3AF"/>
                  </a:solidFill>
                  <a:latin typeface="Arial" panose="020B0604020202020204"/>
                  <a:ea typeface="微软雅黑" panose="020B0503020204020204" charset="-122"/>
                  <a:cs typeface="Arial" panose="020B0604020202020204"/>
                </a:rPr>
                <a:t>Source: 课程数值微分公式；团队 Python 实现</a:t>
              </a:r>
              <a:endParaRPr lang="zh-CN" sz="900" dirty="0">
                <a:solidFill>
                  <a:srgbClr val="9CA3AF"/>
                </a:solidFill>
                <a:latin typeface="Arial" panose="020B0604020202020204"/>
                <a:ea typeface="微软雅黑" panose="020B0503020204020204" charset="-122"/>
                <a:cs typeface="Arial" panose="020B0604020202020204"/>
              </a:endParaRPr>
            </a:p>
          </p:txBody>
        </p:sp>
        <p:sp>
          <p:nvSpPr>
            <p:cNvPr id="51" name="TextBox 51"/>
            <p:cNvSpPr txBox="1"/>
            <p:nvPr/>
          </p:nvSpPr>
          <p:spPr>
            <a:xfrm>
              <a:off x="11236500" y="6530816"/>
              <a:ext cx="394478"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panose="020B0604020202020204"/>
                  <a:ea typeface="微软雅黑" panose="020B0503020204020204" charset="-122"/>
                  <a:cs typeface="Arial" panose="020B0604020202020204"/>
                </a:rPr>
                <a:t>06 / 12</a:t>
              </a:r>
              <a:endParaRPr lang="zh-CN" sz="825" dirty="0">
                <a:solidFill>
                  <a:srgbClr val="9CA3AF"/>
                </a:solidFill>
                <a:latin typeface="Arial" panose="020B0604020202020204"/>
                <a:ea typeface="微软雅黑" panose="020B0503020204020204" charset="-122"/>
                <a:cs typeface="Arial" panose="020B0604020202020204"/>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00"/>
                                        <p:tgtEl>
                                          <p:spTgt spid="23"/>
                                        </p:tgtEl>
                                      </p:cBhvr>
                                    </p:animEffect>
                                  </p:childTnLst>
                                </p:cTn>
                              </p:par>
                            </p:childTnLst>
                          </p:cTn>
                        </p:par>
                        <p:par>
                          <p:cTn id="8" fill="hold">
                            <p:stCondLst>
                              <p:cond delay="500"/>
                            </p:stCondLst>
                            <p:childTnLst>
                              <p:par>
                                <p:cTn id="9" presetID="18" presetClass="entr" presetSubtype="12" fill="hold" nodeType="afterEffect">
                                  <p:stCondLst>
                                    <p:cond delay="0"/>
                                  </p:stCondLst>
                                  <p:childTnLst>
                                    <p:set>
                                      <p:cBhvr>
                                        <p:cTn id="10" dur="1" fill="hold">
                                          <p:stCondLst>
                                            <p:cond delay="0"/>
                                          </p:stCondLst>
                                        </p:cTn>
                                        <p:tgtEl>
                                          <p:spTgt spid="49"/>
                                        </p:tgtEl>
                                        <p:attrNameLst>
                                          <p:attrName>style.visibility</p:attrName>
                                        </p:attrNameLst>
                                      </p:cBhvr>
                                      <p:to>
                                        <p:strVal val="visible"/>
                                      </p:to>
                                    </p:set>
                                    <p:animEffect transition="in" filter="strips(downRight)">
                                      <p:cBhvr>
                                        <p:cTn id="11" dur="4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4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A"/>
          </a:solidFill>
          <a:ln>
            <a:noFill/>
          </a:ln>
        </p:spPr>
      </p:sp>
      <p:grpSp>
        <p:nvGrpSpPr>
          <p:cNvPr id="7" name="Group 7"/>
          <p:cNvGrpSpPr/>
          <p:nvPr/>
        </p:nvGrpSpPr>
        <p:grpSpPr>
          <a:xfrm>
            <a:off x="571500" y="280988"/>
            <a:ext cx="11049000" cy="719137"/>
            <a:chOff x="571500" y="280988"/>
            <a:chExt cx="11049000" cy="719137"/>
          </a:xfrm>
        </p:grpSpPr>
        <p:sp>
          <p:nvSpPr>
            <p:cNvPr id="3" name="Rectangle 3"/>
            <p:cNvSpPr/>
            <p:nvPr/>
          </p:nvSpPr>
          <p:spPr>
            <a:xfrm>
              <a:off x="571500" y="285750"/>
              <a:ext cx="38100" cy="342900"/>
            </a:xfrm>
            <a:prstGeom prst="rect">
              <a:avLst/>
            </a:prstGeom>
            <a:solidFill>
              <a:srgbClr val="1A3A5C"/>
            </a:solidFill>
            <a:ln>
              <a:noFill/>
            </a:ln>
          </p:spPr>
        </p:sp>
        <p:sp>
          <p:nvSpPr>
            <p:cNvPr id="4" name="TextBox 4"/>
            <p:cNvSpPr txBox="1"/>
            <p:nvPr/>
          </p:nvSpPr>
          <p:spPr>
            <a:xfrm>
              <a:off x="733425" y="280988"/>
              <a:ext cx="5922883" cy="457200"/>
            </a:xfrm>
            <a:prstGeom prst="rect">
              <a:avLst/>
            </a:prstGeom>
            <a:noFill/>
            <a:ln>
              <a:noFill/>
            </a:ln>
          </p:spPr>
          <p:txBody>
            <a:bodyPr wrap="none" lIns="0" tIns="0" rIns="0" bIns="0" anchor="t" anchorCtr="0">
              <a:spAutoFit/>
            </a:bodyPr>
            <a:lstStyle/>
            <a:p>
              <a:pPr algn="l"/>
              <a:r>
                <a:rPr lang="zh-CN" sz="2250" b="1" dirty="0">
                  <a:solidFill>
                    <a:srgbClr val="1A3A5C"/>
                  </a:solidFill>
                  <a:latin typeface="Georgia" panose="02040502050405020303"/>
                  <a:ea typeface="楷体" panose="02010609060101010101" charset="-122"/>
                  <a:cs typeface="Georgia" panose="02040502050405020303"/>
                </a:rPr>
                <a:t>算法二：分段最小二乘避免冲击期扭曲</a:t>
              </a:r>
              <a:endParaRPr lang="zh-CN" sz="2250" b="1" dirty="0">
                <a:solidFill>
                  <a:srgbClr val="1A3A5C"/>
                </a:solidFill>
                <a:latin typeface="Georgia" panose="02040502050405020303"/>
                <a:ea typeface="楷体" panose="02010609060101010101" charset="-122"/>
                <a:cs typeface="Georgia" panose="02040502050405020303"/>
              </a:endParaRPr>
            </a:p>
          </p:txBody>
        </p:sp>
        <p:sp>
          <p:nvSpPr>
            <p:cNvPr id="5" name="Rectangle 5"/>
            <p:cNvSpPr/>
            <p:nvPr/>
          </p:nvSpPr>
          <p:spPr>
            <a:xfrm>
              <a:off x="571500" y="685800"/>
              <a:ext cx="11049000" cy="304800"/>
            </a:xfrm>
            <a:prstGeom prst="roundRect">
              <a:avLst>
                <a:gd name="adj" fmla="val 18750"/>
              </a:avLst>
            </a:prstGeom>
            <a:solidFill>
              <a:srgbClr val="F0F4F8"/>
            </a:solidFill>
            <a:ln>
              <a:noFill/>
            </a:ln>
          </p:spPr>
        </p:sp>
        <p:sp>
          <p:nvSpPr>
            <p:cNvPr id="6" name="TextBox 6"/>
            <p:cNvSpPr txBox="1"/>
            <p:nvPr/>
          </p:nvSpPr>
          <p:spPr>
            <a:xfrm>
              <a:off x="3982898" y="756285"/>
              <a:ext cx="4226204" cy="243840"/>
            </a:xfrm>
            <a:prstGeom prst="rect">
              <a:avLst/>
            </a:prstGeom>
            <a:noFill/>
            <a:ln>
              <a:noFill/>
            </a:ln>
          </p:spPr>
          <p:txBody>
            <a:bodyPr wrap="none" lIns="0" tIns="0" rIns="0" bIns="0" anchor="t" anchorCtr="0">
              <a:spAutoFit/>
            </a:bodyPr>
            <a:lstStyle/>
            <a:p>
              <a:pPr algn="ctr"/>
              <a:r>
                <a:rPr lang="zh-CN" sz="1200" b="1" dirty="0">
                  <a:solidFill>
                    <a:srgbClr val="1A3A5C"/>
                  </a:solidFill>
                  <a:latin typeface="Consolas" panose="020B0609020204030204"/>
                  <a:ea typeface="微软雅黑" panose="020B0503020204020204" charset="-122"/>
                  <a:cs typeface="Consolas" panose="020B0609020204030204"/>
                </a:rPr>
                <a:t>目标：最小化残差平方和 S = Σ[y_i - (a x_i + b)]²</a:t>
              </a:r>
              <a:endParaRPr lang="zh-CN" sz="1200" b="1" dirty="0">
                <a:solidFill>
                  <a:srgbClr val="1A3A5C"/>
                </a:solidFill>
                <a:latin typeface="Consolas" panose="020B0609020204030204"/>
                <a:ea typeface="微软雅黑" panose="020B0503020204020204" charset="-122"/>
                <a:cs typeface="Consolas" panose="020B0609020204030204"/>
              </a:endParaRPr>
            </a:p>
          </p:txBody>
        </p:sp>
      </p:grpSp>
      <p:grpSp>
        <p:nvGrpSpPr>
          <p:cNvPr id="24" name="Group 24"/>
          <p:cNvGrpSpPr/>
          <p:nvPr/>
        </p:nvGrpSpPr>
        <p:grpSpPr>
          <a:xfrm>
            <a:off x="571500" y="1238250"/>
            <a:ext cx="5334000" cy="2952750"/>
            <a:chOff x="571500" y="1238250"/>
            <a:chExt cx="5334000" cy="2952750"/>
          </a:xfrm>
        </p:grpSpPr>
        <p:sp>
          <p:nvSpPr>
            <p:cNvPr id="8" name="Rectangle 8"/>
            <p:cNvSpPr/>
            <p:nvPr/>
          </p:nvSpPr>
          <p:spPr>
            <a:xfrm>
              <a:off x="571500" y="1238250"/>
              <a:ext cx="5334000" cy="419100"/>
            </a:xfrm>
            <a:prstGeom prst="roundRect">
              <a:avLst>
                <a:gd name="adj" fmla="val 18182"/>
              </a:avLst>
            </a:prstGeom>
            <a:solidFill>
              <a:srgbClr val="C62828">
                <a:alpha val="8000"/>
              </a:srgbClr>
            </a:solidFill>
            <a:ln>
              <a:noFill/>
            </a:ln>
          </p:spPr>
        </p:sp>
        <p:sp>
          <p:nvSpPr>
            <p:cNvPr id="9" name="TextBox 9"/>
            <p:cNvSpPr txBox="1"/>
            <p:nvPr/>
          </p:nvSpPr>
          <p:spPr>
            <a:xfrm>
              <a:off x="2230021" y="1367314"/>
              <a:ext cx="2016958" cy="259080"/>
            </a:xfrm>
            <a:prstGeom prst="rect">
              <a:avLst/>
            </a:prstGeom>
            <a:noFill/>
            <a:ln>
              <a:noFill/>
            </a:ln>
          </p:spPr>
          <p:txBody>
            <a:bodyPr wrap="none" lIns="0" tIns="0" rIns="0" bIns="0" anchor="t" anchorCtr="0">
              <a:spAutoFit/>
            </a:bodyPr>
            <a:lstStyle/>
            <a:p>
              <a:pPr algn="ctr"/>
              <a:r>
                <a:rPr lang="zh-CN" sz="1275" b="1" dirty="0">
                  <a:solidFill>
                    <a:srgbClr val="C62828"/>
                  </a:solidFill>
                  <a:latin typeface="Arial" panose="020B0604020202020204"/>
                  <a:ea typeface="微软雅黑" panose="020B0503020204020204" charset="-122"/>
                  <a:cs typeface="Arial" panose="020B0604020202020204"/>
                </a:rPr>
                <a:t>全周期线性 / 二次模型</a:t>
              </a:r>
              <a:endParaRPr lang="zh-CN" sz="1275" b="1" dirty="0">
                <a:solidFill>
                  <a:srgbClr val="C62828"/>
                </a:solidFill>
                <a:latin typeface="Arial" panose="020B0604020202020204"/>
                <a:ea typeface="微软雅黑" panose="020B0503020204020204" charset="-122"/>
                <a:cs typeface="Arial" panose="020B0604020202020204"/>
              </a:endParaRPr>
            </a:p>
          </p:txBody>
        </p:sp>
        <p:sp>
          <p:nvSpPr>
            <p:cNvPr id="10" name="Rectangle 10"/>
            <p:cNvSpPr/>
            <p:nvPr/>
          </p:nvSpPr>
          <p:spPr>
            <a:xfrm>
              <a:off x="571500" y="1762125"/>
              <a:ext cx="5334000" cy="1143000"/>
            </a:xfrm>
            <a:prstGeom prst="roundRect">
              <a:avLst>
                <a:gd name="adj" fmla="val 6667"/>
              </a:avLst>
            </a:prstGeom>
            <a:solidFill>
              <a:srgbClr val="FFFFFF"/>
            </a:solidFill>
            <a:ln w="9525">
              <a:solidFill>
                <a:srgbClr val="D1D5DB"/>
              </a:solidFill>
            </a:ln>
            <a:effectLst>
              <a:outerShdw blurRad="57150" dist="19050" dir="5400000" algn="ctr" rotWithShape="0">
                <a:srgbClr val="0F172A">
                  <a:alpha val="4500"/>
                </a:srgbClr>
              </a:outerShdw>
            </a:effectLst>
          </p:spPr>
        </p:sp>
        <p:sp>
          <p:nvSpPr>
            <p:cNvPr id="11" name="Line 11"/>
            <p:cNvSpPr/>
            <p:nvPr/>
          </p:nvSpPr>
          <p:spPr>
            <a:xfrm>
              <a:off x="647700" y="1952625"/>
              <a:ext cx="9525" cy="762000"/>
            </a:xfrm>
            <a:custGeom>
              <a:avLst/>
              <a:gdLst/>
              <a:ahLst/>
              <a:cxnLst/>
              <a:rect l="l" t="t" r="r" b="b"/>
              <a:pathLst>
                <a:path w="9525" h="762000">
                  <a:moveTo>
                    <a:pt x="0" y="0"/>
                  </a:moveTo>
                  <a:lnTo>
                    <a:pt x="0" y="762000"/>
                  </a:lnTo>
                </a:path>
              </a:pathLst>
            </a:custGeom>
            <a:noFill/>
            <a:ln w="47625" cap="rnd">
              <a:solidFill>
                <a:srgbClr val="2E7D32"/>
              </a:solidFill>
            </a:ln>
          </p:spPr>
        </p:sp>
        <p:sp>
          <p:nvSpPr>
            <p:cNvPr id="12" name="Ellipse 12"/>
            <p:cNvSpPr/>
            <p:nvPr/>
          </p:nvSpPr>
          <p:spPr>
            <a:xfrm>
              <a:off x="800100" y="1990725"/>
              <a:ext cx="304800" cy="304800"/>
            </a:xfrm>
            <a:prstGeom prst="ellipse">
              <a:avLst/>
            </a:prstGeom>
            <a:solidFill>
              <a:srgbClr val="D1FAE5"/>
            </a:solidFill>
            <a:ln>
              <a:noFill/>
            </a:ln>
          </p:spPr>
        </p:sp>
        <p:sp>
          <p:nvSpPr>
            <p:cNvPr id="13" name="TextBox 13"/>
            <p:cNvSpPr txBox="1"/>
            <p:nvPr/>
          </p:nvSpPr>
          <p:spPr>
            <a:xfrm>
              <a:off x="894884" y="2077402"/>
              <a:ext cx="115231" cy="213360"/>
            </a:xfrm>
            <a:prstGeom prst="rect">
              <a:avLst/>
            </a:prstGeom>
            <a:noFill/>
            <a:ln>
              <a:noFill/>
            </a:ln>
          </p:spPr>
          <p:txBody>
            <a:bodyPr wrap="none" lIns="0" tIns="0" rIns="0" bIns="0" anchor="t" anchorCtr="0">
              <a:spAutoFit/>
            </a:bodyPr>
            <a:lstStyle/>
            <a:p>
              <a:pPr algn="ctr"/>
              <a:r>
                <a:rPr lang="zh-CN" sz="1050" b="1" dirty="0">
                  <a:solidFill>
                    <a:srgbClr val="2E7D32"/>
                  </a:solidFill>
                  <a:latin typeface="Arial" panose="020B0604020202020204"/>
                  <a:ea typeface="微软雅黑" panose="020B0503020204020204" charset="-122"/>
                  <a:cs typeface="Arial" panose="020B0604020202020204"/>
                </a:rPr>
                <a:t>✓</a:t>
              </a:r>
              <a:endParaRPr lang="zh-CN" sz="1050" b="1" dirty="0">
                <a:solidFill>
                  <a:srgbClr val="2E7D32"/>
                </a:solidFill>
                <a:latin typeface="Arial" panose="020B0604020202020204"/>
                <a:ea typeface="微软雅黑" panose="020B0503020204020204" charset="-122"/>
                <a:cs typeface="Arial" panose="020B0604020202020204"/>
              </a:endParaRPr>
            </a:p>
          </p:txBody>
        </p:sp>
        <p:sp>
          <p:nvSpPr>
            <p:cNvPr id="14" name="TextBox 14"/>
            <p:cNvSpPr txBox="1"/>
            <p:nvPr/>
          </p:nvSpPr>
          <p:spPr>
            <a:xfrm>
              <a:off x="1175385" y="1965960"/>
              <a:ext cx="2238756" cy="243840"/>
            </a:xfrm>
            <a:prstGeom prst="rect">
              <a:avLst/>
            </a:prstGeom>
            <a:noFill/>
            <a:ln>
              <a:noFill/>
            </a:ln>
          </p:spPr>
          <p:txBody>
            <a:bodyPr wrap="none" lIns="0" tIns="0" rIns="0" bIns="0" anchor="t" anchorCtr="0">
              <a:spAutoFit/>
            </a:bodyPr>
            <a:lstStyle/>
            <a:p>
              <a:pPr algn="l"/>
              <a:r>
                <a:rPr lang="zh-CN" sz="1200" b="1" dirty="0">
                  <a:solidFill>
                    <a:srgbClr val="1A1A2E"/>
                  </a:solidFill>
                  <a:latin typeface="Arial" panose="020B0604020202020204"/>
                  <a:ea typeface="微软雅黑" panose="020B0503020204020204" charset="-122"/>
                  <a:cs typeface="Arial" panose="020B0604020202020204"/>
                </a:rPr>
                <a:t>优点：公式简单，易于解释</a:t>
              </a:r>
              <a:endParaRPr lang="zh-CN" sz="1200" b="1" dirty="0">
                <a:solidFill>
                  <a:srgbClr val="1A1A2E"/>
                </a:solidFill>
                <a:latin typeface="Arial" panose="020B0604020202020204"/>
                <a:ea typeface="微软雅黑" panose="020B0503020204020204" charset="-122"/>
                <a:cs typeface="Arial" panose="020B0604020202020204"/>
              </a:endParaRPr>
            </a:p>
          </p:txBody>
        </p:sp>
        <p:sp>
          <p:nvSpPr>
            <p:cNvPr id="15" name="TextBox 15"/>
            <p:cNvSpPr txBox="1"/>
            <p:nvPr/>
          </p:nvSpPr>
          <p:spPr>
            <a:xfrm>
              <a:off x="1177290" y="2220278"/>
              <a:ext cx="2833021"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panose="020B0604020202020204"/>
                  <a:ea typeface="微软雅黑" panose="020B0503020204020204" charset="-122"/>
                  <a:cs typeface="Arial" panose="020B0604020202020204"/>
                </a:rPr>
                <a:t>线性 y = a x + b；二次 y = a x² + b x + c</a:t>
              </a:r>
              <a:endParaRPr lang="zh-CN" sz="1050" dirty="0">
                <a:solidFill>
                  <a:srgbClr val="6B7280"/>
                </a:solidFill>
                <a:latin typeface="Arial" panose="020B0604020202020204"/>
                <a:ea typeface="微软雅黑" panose="020B0503020204020204" charset="-122"/>
                <a:cs typeface="Arial" panose="020B0604020202020204"/>
              </a:endParaRPr>
            </a:p>
          </p:txBody>
        </p:sp>
        <p:sp>
          <p:nvSpPr>
            <p:cNvPr id="16" name="TextBox 16"/>
            <p:cNvSpPr txBox="1"/>
            <p:nvPr/>
          </p:nvSpPr>
          <p:spPr>
            <a:xfrm>
              <a:off x="1177290" y="2458402"/>
              <a:ext cx="2549319"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panose="020B0604020202020204"/>
                  <a:ea typeface="微软雅黑" panose="020B0503020204020204" charset="-122"/>
                  <a:cs typeface="Arial" panose="020B0604020202020204"/>
                </a:rPr>
                <a:t>拟合全部 10 个样本点，数学形式直观</a:t>
              </a:r>
              <a:endParaRPr lang="zh-CN" sz="1050" dirty="0">
                <a:solidFill>
                  <a:srgbClr val="6B7280"/>
                </a:solidFill>
                <a:latin typeface="Arial" panose="020B0604020202020204"/>
                <a:ea typeface="微软雅黑" panose="020B0503020204020204" charset="-122"/>
                <a:cs typeface="Arial" panose="020B0604020202020204"/>
              </a:endParaRPr>
            </a:p>
          </p:txBody>
        </p:sp>
        <p:sp>
          <p:nvSpPr>
            <p:cNvPr id="17" name="Rectangle 17"/>
            <p:cNvSpPr/>
            <p:nvPr/>
          </p:nvSpPr>
          <p:spPr>
            <a:xfrm>
              <a:off x="571500" y="3048000"/>
              <a:ext cx="5334000" cy="1143000"/>
            </a:xfrm>
            <a:prstGeom prst="roundRect">
              <a:avLst>
                <a:gd name="adj" fmla="val 6667"/>
              </a:avLst>
            </a:prstGeom>
            <a:solidFill>
              <a:srgbClr val="FFFFFF"/>
            </a:solidFill>
            <a:ln w="9525">
              <a:solidFill>
                <a:srgbClr val="D1D5DB"/>
              </a:solidFill>
            </a:ln>
            <a:effectLst>
              <a:outerShdw blurRad="57150" dist="19050" dir="5400000" algn="ctr" rotWithShape="0">
                <a:srgbClr val="0F172A">
                  <a:alpha val="4500"/>
                </a:srgbClr>
              </a:outerShdw>
            </a:effectLst>
          </p:spPr>
        </p:sp>
        <p:sp>
          <p:nvSpPr>
            <p:cNvPr id="18" name="Line 18"/>
            <p:cNvSpPr/>
            <p:nvPr/>
          </p:nvSpPr>
          <p:spPr>
            <a:xfrm>
              <a:off x="647700" y="3238500"/>
              <a:ext cx="9525" cy="762000"/>
            </a:xfrm>
            <a:custGeom>
              <a:avLst/>
              <a:gdLst/>
              <a:ahLst/>
              <a:cxnLst/>
              <a:rect l="l" t="t" r="r" b="b"/>
              <a:pathLst>
                <a:path w="9525" h="762000">
                  <a:moveTo>
                    <a:pt x="0" y="0"/>
                  </a:moveTo>
                  <a:lnTo>
                    <a:pt x="0" y="762000"/>
                  </a:lnTo>
                </a:path>
              </a:pathLst>
            </a:custGeom>
            <a:noFill/>
            <a:ln w="47625" cap="rnd">
              <a:solidFill>
                <a:srgbClr val="C62828"/>
              </a:solidFill>
            </a:ln>
          </p:spPr>
        </p:sp>
        <p:sp>
          <p:nvSpPr>
            <p:cNvPr id="19" name="Ellipse 19"/>
            <p:cNvSpPr/>
            <p:nvPr/>
          </p:nvSpPr>
          <p:spPr>
            <a:xfrm>
              <a:off x="800100" y="3276600"/>
              <a:ext cx="304800" cy="304800"/>
            </a:xfrm>
            <a:prstGeom prst="ellipse">
              <a:avLst/>
            </a:prstGeom>
            <a:solidFill>
              <a:srgbClr val="FFE4E6"/>
            </a:solidFill>
            <a:ln>
              <a:noFill/>
            </a:ln>
          </p:spPr>
        </p:sp>
        <p:sp>
          <p:nvSpPr>
            <p:cNvPr id="20" name="TextBox 20"/>
            <p:cNvSpPr txBox="1"/>
            <p:nvPr/>
          </p:nvSpPr>
          <p:spPr>
            <a:xfrm>
              <a:off x="894884" y="3363278"/>
              <a:ext cx="115231" cy="213360"/>
            </a:xfrm>
            <a:prstGeom prst="rect">
              <a:avLst/>
            </a:prstGeom>
            <a:noFill/>
            <a:ln>
              <a:noFill/>
            </a:ln>
          </p:spPr>
          <p:txBody>
            <a:bodyPr wrap="none" lIns="0" tIns="0" rIns="0" bIns="0" anchor="t" anchorCtr="0">
              <a:spAutoFit/>
            </a:bodyPr>
            <a:lstStyle/>
            <a:p>
              <a:pPr algn="ctr"/>
              <a:r>
                <a:rPr lang="zh-CN" sz="1050" b="1" dirty="0">
                  <a:solidFill>
                    <a:srgbClr val="C62828"/>
                  </a:solidFill>
                  <a:latin typeface="Arial" panose="020B0604020202020204"/>
                  <a:ea typeface="微软雅黑" panose="020B0503020204020204" charset="-122"/>
                  <a:cs typeface="Arial" panose="020B0604020202020204"/>
                </a:rPr>
                <a:t>✗</a:t>
              </a:r>
              <a:endParaRPr lang="zh-CN" sz="1050" b="1" dirty="0">
                <a:solidFill>
                  <a:srgbClr val="C62828"/>
                </a:solidFill>
                <a:latin typeface="Arial" panose="020B0604020202020204"/>
                <a:ea typeface="微软雅黑" panose="020B0503020204020204" charset="-122"/>
                <a:cs typeface="Arial" panose="020B0604020202020204"/>
              </a:endParaRPr>
            </a:p>
          </p:txBody>
        </p:sp>
        <p:sp>
          <p:nvSpPr>
            <p:cNvPr id="21" name="TextBox 21"/>
            <p:cNvSpPr txBox="1"/>
            <p:nvPr/>
          </p:nvSpPr>
          <p:spPr>
            <a:xfrm>
              <a:off x="1175385" y="3251835"/>
              <a:ext cx="3158871" cy="243840"/>
            </a:xfrm>
            <a:prstGeom prst="rect">
              <a:avLst/>
            </a:prstGeom>
            <a:noFill/>
            <a:ln>
              <a:noFill/>
            </a:ln>
          </p:spPr>
          <p:txBody>
            <a:bodyPr wrap="none" lIns="0" tIns="0" rIns="0" bIns="0" anchor="t" anchorCtr="0">
              <a:spAutoFit/>
            </a:bodyPr>
            <a:lstStyle/>
            <a:p>
              <a:pPr algn="l"/>
              <a:r>
                <a:rPr lang="zh-CN" sz="1200" b="1" dirty="0">
                  <a:solidFill>
                    <a:srgbClr val="1A1A2E"/>
                  </a:solidFill>
                  <a:latin typeface="Arial" panose="020B0604020202020204"/>
                  <a:ea typeface="微软雅黑" panose="020B0503020204020204" charset="-122"/>
                  <a:cs typeface="Arial" panose="020B0604020202020204"/>
                </a:rPr>
                <a:t>缺点：把冲击和长期趋势混在同一模型</a:t>
              </a:r>
              <a:endParaRPr lang="zh-CN" sz="1200" b="1" dirty="0">
                <a:solidFill>
                  <a:srgbClr val="1A1A2E"/>
                </a:solidFill>
                <a:latin typeface="Arial" panose="020B0604020202020204"/>
                <a:ea typeface="微软雅黑" panose="020B0503020204020204" charset="-122"/>
                <a:cs typeface="Arial" panose="020B0604020202020204"/>
              </a:endParaRPr>
            </a:p>
          </p:txBody>
        </p:sp>
        <p:sp>
          <p:nvSpPr>
            <p:cNvPr id="22" name="TextBox 22"/>
            <p:cNvSpPr txBox="1"/>
            <p:nvPr/>
          </p:nvSpPr>
          <p:spPr>
            <a:xfrm>
              <a:off x="1177290" y="3506152"/>
              <a:ext cx="2403634"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panose="020B0604020202020204"/>
                  <a:ea typeface="微软雅黑" panose="020B0503020204020204" charset="-122"/>
                  <a:cs typeface="Arial" panose="020B0604020202020204"/>
                </a:rPr>
                <a:t>2020 年外生冲击拉偏全周期拟合线</a:t>
              </a:r>
              <a:endParaRPr lang="zh-CN" sz="1050" dirty="0">
                <a:solidFill>
                  <a:srgbClr val="6B7280"/>
                </a:solidFill>
                <a:latin typeface="Arial" panose="020B0604020202020204"/>
                <a:ea typeface="微软雅黑" panose="020B0503020204020204" charset="-122"/>
                <a:cs typeface="Arial" panose="020B0604020202020204"/>
              </a:endParaRPr>
            </a:p>
          </p:txBody>
        </p:sp>
        <p:sp>
          <p:nvSpPr>
            <p:cNvPr id="23" name="TextBox 23"/>
            <p:cNvSpPr txBox="1"/>
            <p:nvPr/>
          </p:nvSpPr>
          <p:spPr>
            <a:xfrm>
              <a:off x="1177290" y="3744278"/>
              <a:ext cx="3116723"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panose="020B0604020202020204"/>
                  <a:ea typeface="微软雅黑" panose="020B0503020204020204" charset="-122"/>
                  <a:cs typeface="Arial" panose="020B0604020202020204"/>
                </a:rPr>
                <a:t>二次模型留一误差更高 → 小样本下过拟合风险</a:t>
              </a:r>
              <a:endParaRPr lang="zh-CN" sz="1050" dirty="0">
                <a:solidFill>
                  <a:srgbClr val="6B7280"/>
                </a:solidFill>
                <a:latin typeface="Arial" panose="020B0604020202020204"/>
                <a:ea typeface="微软雅黑" panose="020B0503020204020204" charset="-122"/>
                <a:cs typeface="Arial" panose="020B0604020202020204"/>
              </a:endParaRPr>
            </a:p>
          </p:txBody>
        </p:sp>
      </p:grpSp>
      <p:grpSp>
        <p:nvGrpSpPr>
          <p:cNvPr id="41" name="Group 41"/>
          <p:cNvGrpSpPr/>
          <p:nvPr/>
        </p:nvGrpSpPr>
        <p:grpSpPr>
          <a:xfrm>
            <a:off x="6286500" y="1238250"/>
            <a:ext cx="5334000" cy="2952750"/>
            <a:chOff x="6286500" y="1238250"/>
            <a:chExt cx="5334000" cy="2952750"/>
          </a:xfrm>
        </p:grpSpPr>
        <p:sp>
          <p:nvSpPr>
            <p:cNvPr id="25" name="Rectangle 25"/>
            <p:cNvSpPr/>
            <p:nvPr/>
          </p:nvSpPr>
          <p:spPr>
            <a:xfrm>
              <a:off x="6286500" y="1238250"/>
              <a:ext cx="5334000" cy="419100"/>
            </a:xfrm>
            <a:prstGeom prst="roundRect">
              <a:avLst>
                <a:gd name="adj" fmla="val 18182"/>
              </a:avLst>
            </a:prstGeom>
            <a:solidFill>
              <a:srgbClr val="2E7D32">
                <a:alpha val="8000"/>
              </a:srgbClr>
            </a:solidFill>
            <a:ln>
              <a:noFill/>
            </a:ln>
          </p:spPr>
        </p:sp>
        <p:sp>
          <p:nvSpPr>
            <p:cNvPr id="26" name="TextBox 26"/>
            <p:cNvSpPr txBox="1"/>
            <p:nvPr/>
          </p:nvSpPr>
          <p:spPr>
            <a:xfrm>
              <a:off x="7666399" y="1367314"/>
              <a:ext cx="2574203" cy="259080"/>
            </a:xfrm>
            <a:prstGeom prst="rect">
              <a:avLst/>
            </a:prstGeom>
            <a:noFill/>
            <a:ln>
              <a:noFill/>
            </a:ln>
          </p:spPr>
          <p:txBody>
            <a:bodyPr wrap="none" lIns="0" tIns="0" rIns="0" bIns="0" anchor="t" anchorCtr="0">
              <a:spAutoFit/>
            </a:bodyPr>
            <a:lstStyle/>
            <a:p>
              <a:pPr algn="ctr"/>
              <a:r>
                <a:rPr lang="zh-CN" sz="1275" b="1" dirty="0">
                  <a:solidFill>
                    <a:srgbClr val="2E7D32"/>
                  </a:solidFill>
                  <a:latin typeface="Arial" panose="020B0604020202020204"/>
                  <a:ea typeface="微软雅黑" panose="020B0503020204020204" charset="-122"/>
                  <a:cs typeface="Arial" panose="020B0604020202020204"/>
                </a:rPr>
                <a:t>分段低次模型（本报告采用）</a:t>
              </a:r>
              <a:endParaRPr lang="zh-CN" sz="1275" b="1" dirty="0">
                <a:solidFill>
                  <a:srgbClr val="2E7D32"/>
                </a:solidFill>
                <a:latin typeface="Arial" panose="020B0604020202020204"/>
                <a:ea typeface="微软雅黑" panose="020B0503020204020204" charset="-122"/>
                <a:cs typeface="Arial" panose="020B0604020202020204"/>
              </a:endParaRPr>
            </a:p>
          </p:txBody>
        </p:sp>
        <p:sp>
          <p:nvSpPr>
            <p:cNvPr id="27" name="Rectangle 27"/>
            <p:cNvSpPr/>
            <p:nvPr/>
          </p:nvSpPr>
          <p:spPr>
            <a:xfrm>
              <a:off x="6286500" y="1762125"/>
              <a:ext cx="5334000" cy="1143000"/>
            </a:xfrm>
            <a:prstGeom prst="roundRect">
              <a:avLst>
                <a:gd name="adj" fmla="val 6667"/>
              </a:avLst>
            </a:prstGeom>
            <a:solidFill>
              <a:srgbClr val="FFFFFF"/>
            </a:solidFill>
            <a:ln w="9525">
              <a:solidFill>
                <a:srgbClr val="D1D5DB"/>
              </a:solidFill>
            </a:ln>
            <a:effectLst>
              <a:outerShdw blurRad="57150" dist="19050" dir="5400000" algn="ctr" rotWithShape="0">
                <a:srgbClr val="0F172A">
                  <a:alpha val="4500"/>
                </a:srgbClr>
              </a:outerShdw>
            </a:effectLst>
          </p:spPr>
        </p:sp>
        <p:sp>
          <p:nvSpPr>
            <p:cNvPr id="28" name="Line 28"/>
            <p:cNvSpPr/>
            <p:nvPr/>
          </p:nvSpPr>
          <p:spPr>
            <a:xfrm>
              <a:off x="6362700" y="1952625"/>
              <a:ext cx="9525" cy="762000"/>
            </a:xfrm>
            <a:custGeom>
              <a:avLst/>
              <a:gdLst/>
              <a:ahLst/>
              <a:cxnLst/>
              <a:rect l="l" t="t" r="r" b="b"/>
              <a:pathLst>
                <a:path w="9525" h="762000">
                  <a:moveTo>
                    <a:pt x="0" y="0"/>
                  </a:moveTo>
                  <a:lnTo>
                    <a:pt x="0" y="762000"/>
                  </a:lnTo>
                </a:path>
              </a:pathLst>
            </a:custGeom>
            <a:noFill/>
            <a:ln w="47625" cap="rnd">
              <a:solidFill>
                <a:srgbClr val="2E7D32"/>
              </a:solidFill>
            </a:ln>
          </p:spPr>
        </p:sp>
        <p:sp>
          <p:nvSpPr>
            <p:cNvPr id="29" name="Ellipse 29"/>
            <p:cNvSpPr/>
            <p:nvPr/>
          </p:nvSpPr>
          <p:spPr>
            <a:xfrm>
              <a:off x="6515100" y="1990725"/>
              <a:ext cx="304800" cy="304800"/>
            </a:xfrm>
            <a:prstGeom prst="ellipse">
              <a:avLst/>
            </a:prstGeom>
            <a:solidFill>
              <a:srgbClr val="D1FAE5"/>
            </a:solidFill>
            <a:ln>
              <a:noFill/>
            </a:ln>
          </p:spPr>
        </p:sp>
        <p:sp>
          <p:nvSpPr>
            <p:cNvPr id="30" name="TextBox 30"/>
            <p:cNvSpPr txBox="1"/>
            <p:nvPr/>
          </p:nvSpPr>
          <p:spPr>
            <a:xfrm>
              <a:off x="6609884" y="2077402"/>
              <a:ext cx="115231" cy="213360"/>
            </a:xfrm>
            <a:prstGeom prst="rect">
              <a:avLst/>
            </a:prstGeom>
            <a:noFill/>
            <a:ln>
              <a:noFill/>
            </a:ln>
          </p:spPr>
          <p:txBody>
            <a:bodyPr wrap="none" lIns="0" tIns="0" rIns="0" bIns="0" anchor="t" anchorCtr="0">
              <a:spAutoFit/>
            </a:bodyPr>
            <a:lstStyle/>
            <a:p>
              <a:pPr algn="ctr"/>
              <a:r>
                <a:rPr lang="zh-CN" sz="1050" b="1" dirty="0">
                  <a:solidFill>
                    <a:srgbClr val="2E7D32"/>
                  </a:solidFill>
                  <a:latin typeface="Arial" panose="020B0604020202020204"/>
                  <a:ea typeface="微软雅黑" panose="020B0503020204020204" charset="-122"/>
                  <a:cs typeface="Arial" panose="020B0604020202020204"/>
                </a:rPr>
                <a:t>✓</a:t>
              </a:r>
              <a:endParaRPr lang="zh-CN" sz="1050" b="1" dirty="0">
                <a:solidFill>
                  <a:srgbClr val="2E7D32"/>
                </a:solidFill>
                <a:latin typeface="Arial" panose="020B0604020202020204"/>
                <a:ea typeface="微软雅黑" panose="020B0503020204020204" charset="-122"/>
                <a:cs typeface="Arial" panose="020B0604020202020204"/>
              </a:endParaRPr>
            </a:p>
          </p:txBody>
        </p:sp>
        <p:sp>
          <p:nvSpPr>
            <p:cNvPr id="31" name="TextBox 31"/>
            <p:cNvSpPr txBox="1"/>
            <p:nvPr/>
          </p:nvSpPr>
          <p:spPr>
            <a:xfrm>
              <a:off x="6890385" y="1965960"/>
              <a:ext cx="3158871" cy="243840"/>
            </a:xfrm>
            <a:prstGeom prst="rect">
              <a:avLst/>
            </a:prstGeom>
            <a:noFill/>
            <a:ln>
              <a:noFill/>
            </a:ln>
          </p:spPr>
          <p:txBody>
            <a:bodyPr wrap="none" lIns="0" tIns="0" rIns="0" bIns="0" anchor="t" anchorCtr="0">
              <a:spAutoFit/>
            </a:bodyPr>
            <a:lstStyle/>
            <a:p>
              <a:pPr algn="l"/>
              <a:r>
                <a:rPr lang="zh-CN" sz="1200" b="1" dirty="0">
                  <a:solidFill>
                    <a:srgbClr val="1A1A2E"/>
                  </a:solidFill>
                  <a:latin typeface="Arial" panose="020B0604020202020204"/>
                  <a:ea typeface="微软雅黑" panose="020B0503020204020204" charset="-122"/>
                  <a:cs typeface="Arial" panose="020B0604020202020204"/>
                </a:rPr>
                <a:t>优点：分别解释平稳增长和冲击后恢复</a:t>
              </a:r>
              <a:endParaRPr lang="zh-CN" sz="1200" b="1" dirty="0">
                <a:solidFill>
                  <a:srgbClr val="1A1A2E"/>
                </a:solidFill>
                <a:latin typeface="Arial" panose="020B0604020202020204"/>
                <a:ea typeface="微软雅黑" panose="020B0503020204020204" charset="-122"/>
                <a:cs typeface="Arial" panose="020B0604020202020204"/>
              </a:endParaRPr>
            </a:p>
          </p:txBody>
        </p:sp>
        <p:sp>
          <p:nvSpPr>
            <p:cNvPr id="32" name="TextBox 32"/>
            <p:cNvSpPr txBox="1"/>
            <p:nvPr/>
          </p:nvSpPr>
          <p:spPr>
            <a:xfrm>
              <a:off x="6892290" y="2220278"/>
              <a:ext cx="1828562"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panose="020B0604020202020204"/>
                  <a:ea typeface="微软雅黑" panose="020B0503020204020204" charset="-122"/>
                  <a:cs typeface="Arial" panose="020B0604020202020204"/>
                </a:rPr>
                <a:t>2014-2019 年：平稳增长段</a:t>
              </a:r>
              <a:endParaRPr lang="zh-CN" sz="1050" dirty="0">
                <a:solidFill>
                  <a:srgbClr val="6B7280"/>
                </a:solidFill>
                <a:latin typeface="Arial" panose="020B0604020202020204"/>
                <a:ea typeface="微软雅黑" panose="020B0503020204020204" charset="-122"/>
                <a:cs typeface="Arial" panose="020B0604020202020204"/>
              </a:endParaRPr>
            </a:p>
          </p:txBody>
        </p:sp>
        <p:sp>
          <p:nvSpPr>
            <p:cNvPr id="33" name="TextBox 33"/>
            <p:cNvSpPr txBox="1"/>
            <p:nvPr/>
          </p:nvSpPr>
          <p:spPr>
            <a:xfrm>
              <a:off x="6892290" y="2458402"/>
              <a:ext cx="2058591"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panose="020B0604020202020204"/>
                  <a:ea typeface="微软雅黑" panose="020B0503020204020204" charset="-122"/>
                  <a:cs typeface="Arial" panose="020B0604020202020204"/>
                </a:rPr>
                <a:t>2020-2023 年：冲击后恢复段</a:t>
              </a:r>
              <a:endParaRPr lang="zh-CN" sz="1050" dirty="0">
                <a:solidFill>
                  <a:srgbClr val="6B7280"/>
                </a:solidFill>
                <a:latin typeface="Arial" panose="020B0604020202020204"/>
                <a:ea typeface="微软雅黑" panose="020B0503020204020204" charset="-122"/>
                <a:cs typeface="Arial" panose="020B0604020202020204"/>
              </a:endParaRPr>
            </a:p>
          </p:txBody>
        </p:sp>
        <p:sp>
          <p:nvSpPr>
            <p:cNvPr id="34" name="Rectangle 34"/>
            <p:cNvSpPr/>
            <p:nvPr/>
          </p:nvSpPr>
          <p:spPr>
            <a:xfrm>
              <a:off x="6286500" y="3048000"/>
              <a:ext cx="5334000" cy="1143000"/>
            </a:xfrm>
            <a:prstGeom prst="roundRect">
              <a:avLst>
                <a:gd name="adj" fmla="val 6667"/>
              </a:avLst>
            </a:prstGeom>
            <a:solidFill>
              <a:srgbClr val="FFFFFF"/>
            </a:solidFill>
            <a:ln w="9525">
              <a:solidFill>
                <a:srgbClr val="D1D5DB"/>
              </a:solidFill>
            </a:ln>
            <a:effectLst>
              <a:outerShdw blurRad="57150" dist="19050" dir="5400000" algn="ctr" rotWithShape="0">
                <a:srgbClr val="0F172A">
                  <a:alpha val="4500"/>
                </a:srgbClr>
              </a:outerShdw>
            </a:effectLst>
          </p:spPr>
        </p:sp>
        <p:sp>
          <p:nvSpPr>
            <p:cNvPr id="35" name="Line 35"/>
            <p:cNvSpPr/>
            <p:nvPr/>
          </p:nvSpPr>
          <p:spPr>
            <a:xfrm>
              <a:off x="6362700" y="3238500"/>
              <a:ext cx="9525" cy="762000"/>
            </a:xfrm>
            <a:custGeom>
              <a:avLst/>
              <a:gdLst/>
              <a:ahLst/>
              <a:cxnLst/>
              <a:rect l="l" t="t" r="r" b="b"/>
              <a:pathLst>
                <a:path w="9525" h="762000">
                  <a:moveTo>
                    <a:pt x="0" y="0"/>
                  </a:moveTo>
                  <a:lnTo>
                    <a:pt x="0" y="762000"/>
                  </a:lnTo>
                </a:path>
              </a:pathLst>
            </a:custGeom>
            <a:noFill/>
            <a:ln w="47625" cap="rnd">
              <a:solidFill>
                <a:srgbClr val="2E7D32"/>
              </a:solidFill>
            </a:ln>
          </p:spPr>
        </p:sp>
        <p:sp>
          <p:nvSpPr>
            <p:cNvPr id="36" name="Ellipse 36"/>
            <p:cNvSpPr/>
            <p:nvPr/>
          </p:nvSpPr>
          <p:spPr>
            <a:xfrm>
              <a:off x="6515100" y="3276600"/>
              <a:ext cx="304800" cy="304800"/>
            </a:xfrm>
            <a:prstGeom prst="ellipse">
              <a:avLst/>
            </a:prstGeom>
            <a:solidFill>
              <a:srgbClr val="D1FAE5"/>
            </a:solidFill>
            <a:ln>
              <a:noFill/>
            </a:ln>
          </p:spPr>
        </p:sp>
        <p:sp>
          <p:nvSpPr>
            <p:cNvPr id="37" name="TextBox 37"/>
            <p:cNvSpPr txBox="1"/>
            <p:nvPr/>
          </p:nvSpPr>
          <p:spPr>
            <a:xfrm>
              <a:off x="6609884" y="3363278"/>
              <a:ext cx="115231" cy="213360"/>
            </a:xfrm>
            <a:prstGeom prst="rect">
              <a:avLst/>
            </a:prstGeom>
            <a:noFill/>
            <a:ln>
              <a:noFill/>
            </a:ln>
          </p:spPr>
          <p:txBody>
            <a:bodyPr wrap="none" lIns="0" tIns="0" rIns="0" bIns="0" anchor="t" anchorCtr="0">
              <a:spAutoFit/>
            </a:bodyPr>
            <a:lstStyle/>
            <a:p>
              <a:pPr algn="ctr"/>
              <a:r>
                <a:rPr lang="zh-CN" sz="1050" b="1" dirty="0">
                  <a:solidFill>
                    <a:srgbClr val="2E7D32"/>
                  </a:solidFill>
                  <a:latin typeface="Arial" panose="020B0604020202020204"/>
                  <a:ea typeface="微软雅黑" panose="020B0503020204020204" charset="-122"/>
                  <a:cs typeface="Arial" panose="020B0604020202020204"/>
                </a:rPr>
                <a:t>✓</a:t>
              </a:r>
              <a:endParaRPr lang="zh-CN" sz="1050" b="1" dirty="0">
                <a:solidFill>
                  <a:srgbClr val="2E7D32"/>
                </a:solidFill>
                <a:latin typeface="Arial" panose="020B0604020202020204"/>
                <a:ea typeface="微软雅黑" panose="020B0503020204020204" charset="-122"/>
                <a:cs typeface="Arial" panose="020B0604020202020204"/>
              </a:endParaRPr>
            </a:p>
          </p:txBody>
        </p:sp>
        <p:sp>
          <p:nvSpPr>
            <p:cNvPr id="38" name="TextBox 38"/>
            <p:cNvSpPr txBox="1"/>
            <p:nvPr/>
          </p:nvSpPr>
          <p:spPr>
            <a:xfrm>
              <a:off x="6890385" y="3251835"/>
              <a:ext cx="3471710" cy="243840"/>
            </a:xfrm>
            <a:prstGeom prst="rect">
              <a:avLst/>
            </a:prstGeom>
            <a:noFill/>
            <a:ln>
              <a:noFill/>
            </a:ln>
          </p:spPr>
          <p:txBody>
            <a:bodyPr wrap="none" lIns="0" tIns="0" rIns="0" bIns="0" anchor="t" anchorCtr="0">
              <a:spAutoFit/>
            </a:bodyPr>
            <a:lstStyle/>
            <a:p>
              <a:pPr algn="l"/>
              <a:r>
                <a:rPr lang="zh-CN" sz="1200" b="1" dirty="0">
                  <a:solidFill>
                    <a:srgbClr val="1A1A2E"/>
                  </a:solidFill>
                  <a:latin typeface="Arial" panose="020B0604020202020204"/>
                  <a:ea typeface="微软雅黑" panose="020B0503020204020204" charset="-122"/>
                  <a:cs typeface="Arial" panose="020B0604020202020204"/>
                </a:rPr>
                <a:t>优点：符合课程分段低次思想，RMSE 更小</a:t>
              </a:r>
              <a:endParaRPr lang="zh-CN" sz="1200" b="1" dirty="0">
                <a:solidFill>
                  <a:srgbClr val="1A1A2E"/>
                </a:solidFill>
                <a:latin typeface="Arial" panose="020B0604020202020204"/>
                <a:ea typeface="微软雅黑" panose="020B0503020204020204" charset="-122"/>
                <a:cs typeface="Arial" panose="020B0604020202020204"/>
              </a:endParaRPr>
            </a:p>
          </p:txBody>
        </p:sp>
        <p:sp>
          <p:nvSpPr>
            <p:cNvPr id="39" name="TextBox 39"/>
            <p:cNvSpPr txBox="1"/>
            <p:nvPr/>
          </p:nvSpPr>
          <p:spPr>
            <a:xfrm>
              <a:off x="6892290" y="3506152"/>
              <a:ext cx="1866900"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panose="020B0604020202020204"/>
                  <a:ea typeface="微软雅黑" panose="020B0503020204020204" charset="-122"/>
                  <a:cs typeface="Arial" panose="020B0604020202020204"/>
                </a:rPr>
                <a:t>平稳趋势可构造反事实基准</a:t>
              </a:r>
              <a:endParaRPr lang="zh-CN" sz="1050" dirty="0">
                <a:solidFill>
                  <a:srgbClr val="6B7280"/>
                </a:solidFill>
                <a:latin typeface="Arial" panose="020B0604020202020204"/>
                <a:ea typeface="微软雅黑" panose="020B0503020204020204" charset="-122"/>
                <a:cs typeface="Arial" panose="020B0604020202020204"/>
              </a:endParaRPr>
            </a:p>
          </p:txBody>
        </p:sp>
        <p:sp>
          <p:nvSpPr>
            <p:cNvPr id="40" name="TextBox 40"/>
            <p:cNvSpPr txBox="1"/>
            <p:nvPr/>
          </p:nvSpPr>
          <p:spPr>
            <a:xfrm>
              <a:off x="6892290" y="3744278"/>
              <a:ext cx="2518648"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panose="020B0604020202020204"/>
                  <a:ea typeface="微软雅黑" panose="020B0503020204020204" charset="-122"/>
                  <a:cs typeface="Arial" panose="020B0604020202020204"/>
                </a:rPr>
                <a:t>2024-2026 年短期外推仅用于看方向</a:t>
              </a:r>
              <a:endParaRPr lang="zh-CN" sz="1050" dirty="0">
                <a:solidFill>
                  <a:srgbClr val="6B7280"/>
                </a:solidFill>
                <a:latin typeface="Arial" panose="020B0604020202020204"/>
                <a:ea typeface="微软雅黑" panose="020B0503020204020204" charset="-122"/>
                <a:cs typeface="Arial" panose="020B0604020202020204"/>
              </a:endParaRPr>
            </a:p>
          </p:txBody>
        </p:sp>
      </p:grpSp>
      <p:grpSp>
        <p:nvGrpSpPr>
          <p:cNvPr id="49" name="Group 49"/>
          <p:cNvGrpSpPr/>
          <p:nvPr/>
        </p:nvGrpSpPr>
        <p:grpSpPr>
          <a:xfrm>
            <a:off x="571500" y="4381500"/>
            <a:ext cx="11049000" cy="571500"/>
            <a:chOff x="571500" y="4381500"/>
            <a:chExt cx="11049000" cy="571500"/>
          </a:xfrm>
        </p:grpSpPr>
        <p:sp>
          <p:nvSpPr>
            <p:cNvPr id="42" name="Rectangle 42"/>
            <p:cNvSpPr/>
            <p:nvPr/>
          </p:nvSpPr>
          <p:spPr>
            <a:xfrm>
              <a:off x="571500" y="4381500"/>
              <a:ext cx="11049000" cy="571500"/>
            </a:xfrm>
            <a:prstGeom prst="roundRect">
              <a:avLst>
                <a:gd name="adj" fmla="val 13333"/>
              </a:avLst>
            </a:prstGeom>
            <a:solidFill>
              <a:srgbClr val="FFFFFF"/>
            </a:solidFill>
            <a:ln w="14288">
              <a:solidFill>
                <a:srgbClr val="C8963E"/>
              </a:solidFill>
            </a:ln>
            <a:effectLst>
              <a:outerShdw blurRad="57150" dist="19050" dir="5400000" algn="ctr" rotWithShape="0">
                <a:srgbClr val="0F172A">
                  <a:alpha val="4500"/>
                </a:srgbClr>
              </a:outerShdw>
            </a:effectLst>
          </p:spPr>
        </p:sp>
        <p:grpSp>
          <p:nvGrpSpPr>
            <p:cNvPr id="45" name="Group 45"/>
            <p:cNvGrpSpPr/>
            <p:nvPr/>
          </p:nvGrpSpPr>
          <p:grpSpPr>
            <a:xfrm>
              <a:off x="886822" y="4659681"/>
              <a:ext cx="131214" cy="167113"/>
              <a:chOff x="886822" y="4659681"/>
              <a:chExt cx="131214" cy="167113"/>
            </a:xfrm>
          </p:grpSpPr>
          <p:sp>
            <p:nvSpPr>
              <p:cNvPr id="43" name="Freeform 43"/>
              <p:cNvSpPr/>
              <p:nvPr/>
            </p:nvSpPr>
            <p:spPr>
              <a:xfrm>
                <a:off x="892790" y="4665672"/>
                <a:ext cx="119257" cy="131356"/>
              </a:xfrm>
              <a:custGeom>
                <a:avLst/>
                <a:gdLst/>
                <a:ahLst/>
                <a:cxnLst/>
                <a:rect l="l" t="t" r="r" b="b"/>
                <a:pathLst>
                  <a:path w="119257" h="131356">
                    <a:moveTo>
                      <a:pt x="119241" y="59918"/>
                    </a:moveTo>
                    <a:cubicBezTo>
                      <a:pt x="119257" y="78195"/>
                      <a:pt x="110862" y="95463"/>
                      <a:pt x="96478" y="106740"/>
                    </a:cubicBezTo>
                    <a:cubicBezTo>
                      <a:pt x="92085" y="110144"/>
                      <a:pt x="89503" y="115380"/>
                      <a:pt x="89475" y="120938"/>
                    </a:cubicBezTo>
                    <a:lnTo>
                      <a:pt x="89475" y="125403"/>
                    </a:lnTo>
                    <a:cubicBezTo>
                      <a:pt x="89475" y="128690"/>
                      <a:pt x="86810" y="131356"/>
                      <a:pt x="83522" y="131356"/>
                    </a:cubicBezTo>
                    <a:lnTo>
                      <a:pt x="35897" y="131356"/>
                    </a:lnTo>
                    <a:cubicBezTo>
                      <a:pt x="32610" y="131356"/>
                      <a:pt x="29944" y="128690"/>
                      <a:pt x="29944" y="125403"/>
                    </a:cubicBezTo>
                    <a:lnTo>
                      <a:pt x="29944" y="120938"/>
                    </a:lnTo>
                    <a:cubicBezTo>
                      <a:pt x="29938" y="115410"/>
                      <a:pt x="27385" y="110194"/>
                      <a:pt x="23024" y="106799"/>
                    </a:cubicBezTo>
                    <a:cubicBezTo>
                      <a:pt x="8686" y="95598"/>
                      <a:pt x="268" y="78447"/>
                      <a:pt x="179" y="60253"/>
                    </a:cubicBezTo>
                    <a:cubicBezTo>
                      <a:pt x="0" y="27987"/>
                      <a:pt x="26015" y="1131"/>
                      <a:pt x="58274" y="387"/>
                    </a:cubicBezTo>
                    <a:cubicBezTo>
                      <a:pt x="74310" y="0"/>
                      <a:pt x="89823" y="6101"/>
                      <a:pt x="101300" y="17307"/>
                    </a:cubicBezTo>
                    <a:cubicBezTo>
                      <a:pt x="112777" y="28514"/>
                      <a:pt x="119246" y="43878"/>
                      <a:pt x="119241" y="59918"/>
                    </a:cubicBezTo>
                    <a:close/>
                  </a:path>
                </a:pathLst>
              </a:custGeom>
              <a:solidFill>
                <a:srgbClr val="C8963E">
                  <a:alpha val="20000"/>
                </a:srgbClr>
              </a:solidFill>
              <a:ln>
                <a:noFill/>
              </a:ln>
            </p:spPr>
          </p:sp>
          <p:sp>
            <p:nvSpPr>
              <p:cNvPr id="44" name="Freeform 44"/>
              <p:cNvSpPr/>
              <p:nvPr/>
            </p:nvSpPr>
            <p:spPr>
              <a:xfrm>
                <a:off x="886822" y="4659681"/>
                <a:ext cx="131214" cy="167113"/>
              </a:xfrm>
              <a:custGeom>
                <a:avLst/>
                <a:gdLst/>
                <a:ahLst/>
                <a:cxnLst/>
                <a:rect l="l" t="t" r="r" b="b"/>
                <a:pathLst>
                  <a:path w="131214" h="167113">
                    <a:moveTo>
                      <a:pt x="101397" y="161159"/>
                    </a:moveTo>
                    <a:cubicBezTo>
                      <a:pt x="101397" y="164447"/>
                      <a:pt x="98731" y="167113"/>
                      <a:pt x="95443" y="167113"/>
                    </a:cubicBezTo>
                    <a:lnTo>
                      <a:pt x="35912" y="167113"/>
                    </a:lnTo>
                    <a:cubicBezTo>
                      <a:pt x="32624" y="167113"/>
                      <a:pt x="29959" y="164447"/>
                      <a:pt x="29959" y="161159"/>
                    </a:cubicBezTo>
                    <a:cubicBezTo>
                      <a:pt x="29959" y="157872"/>
                      <a:pt x="32624" y="155206"/>
                      <a:pt x="35912" y="155206"/>
                    </a:cubicBezTo>
                    <a:lnTo>
                      <a:pt x="95443" y="155206"/>
                    </a:lnTo>
                    <a:cubicBezTo>
                      <a:pt x="98731" y="155206"/>
                      <a:pt x="101397" y="157872"/>
                      <a:pt x="101397" y="161159"/>
                    </a:cubicBezTo>
                    <a:close/>
                    <a:moveTo>
                      <a:pt x="131162" y="65909"/>
                    </a:moveTo>
                    <a:cubicBezTo>
                      <a:pt x="131214" y="86020"/>
                      <a:pt x="121975" y="105028"/>
                      <a:pt x="106129" y="117411"/>
                    </a:cubicBezTo>
                    <a:cubicBezTo>
                      <a:pt x="103166" y="119683"/>
                      <a:pt x="101419" y="123196"/>
                      <a:pt x="101397" y="126929"/>
                    </a:cubicBezTo>
                    <a:lnTo>
                      <a:pt x="101397" y="131394"/>
                    </a:lnTo>
                    <a:cubicBezTo>
                      <a:pt x="101397" y="137969"/>
                      <a:pt x="96066" y="143300"/>
                      <a:pt x="89490" y="143300"/>
                    </a:cubicBezTo>
                    <a:lnTo>
                      <a:pt x="41865" y="143300"/>
                    </a:lnTo>
                    <a:cubicBezTo>
                      <a:pt x="35290" y="143300"/>
                      <a:pt x="29959" y="137969"/>
                      <a:pt x="29959" y="131394"/>
                    </a:cubicBezTo>
                    <a:lnTo>
                      <a:pt x="29959" y="126929"/>
                    </a:lnTo>
                    <a:cubicBezTo>
                      <a:pt x="29957" y="123240"/>
                      <a:pt x="28244" y="119761"/>
                      <a:pt x="25323" y="117508"/>
                    </a:cubicBezTo>
                    <a:cubicBezTo>
                      <a:pt x="9518" y="105199"/>
                      <a:pt x="252" y="86306"/>
                      <a:pt x="193" y="66274"/>
                    </a:cubicBezTo>
                    <a:cubicBezTo>
                      <a:pt x="0" y="30808"/>
                      <a:pt x="28664" y="1273"/>
                      <a:pt x="64100" y="425"/>
                    </a:cubicBezTo>
                    <a:cubicBezTo>
                      <a:pt x="81740" y="0"/>
                      <a:pt x="98804" y="6711"/>
                      <a:pt x="111428" y="19038"/>
                    </a:cubicBezTo>
                    <a:cubicBezTo>
                      <a:pt x="124052" y="31365"/>
                      <a:pt x="131167" y="48265"/>
                      <a:pt x="131162" y="65909"/>
                    </a:cubicBezTo>
                    <a:close/>
                    <a:moveTo>
                      <a:pt x="119256" y="65909"/>
                    </a:moveTo>
                    <a:cubicBezTo>
                      <a:pt x="119260" y="51472"/>
                      <a:pt x="113438" y="37645"/>
                      <a:pt x="103108" y="27559"/>
                    </a:cubicBezTo>
                    <a:cubicBezTo>
                      <a:pt x="92779" y="17473"/>
                      <a:pt x="78816" y="11982"/>
                      <a:pt x="64383" y="12331"/>
                    </a:cubicBezTo>
                    <a:cubicBezTo>
                      <a:pt x="35362" y="13016"/>
                      <a:pt x="11943" y="37178"/>
                      <a:pt x="12100" y="66200"/>
                    </a:cubicBezTo>
                    <a:cubicBezTo>
                      <a:pt x="12155" y="82583"/>
                      <a:pt x="19739" y="98032"/>
                      <a:pt x="32668" y="108095"/>
                    </a:cubicBezTo>
                    <a:cubicBezTo>
                      <a:pt x="38480" y="112613"/>
                      <a:pt x="41876" y="119567"/>
                      <a:pt x="41865" y="126929"/>
                    </a:cubicBezTo>
                    <a:lnTo>
                      <a:pt x="41865" y="131394"/>
                    </a:lnTo>
                    <a:lnTo>
                      <a:pt x="89490" y="131394"/>
                    </a:lnTo>
                    <a:lnTo>
                      <a:pt x="89490" y="126929"/>
                    </a:lnTo>
                    <a:cubicBezTo>
                      <a:pt x="89507" y="119546"/>
                      <a:pt x="92932" y="112584"/>
                      <a:pt x="98770" y="108065"/>
                    </a:cubicBezTo>
                    <a:cubicBezTo>
                      <a:pt x="111740" y="97929"/>
                      <a:pt x="119301" y="82370"/>
                      <a:pt x="119256" y="65909"/>
                    </a:cubicBezTo>
                    <a:close/>
                    <a:moveTo>
                      <a:pt x="107268" y="58959"/>
                    </a:moveTo>
                    <a:cubicBezTo>
                      <a:pt x="104106" y="41300"/>
                      <a:pt x="90281" y="27477"/>
                      <a:pt x="72621" y="24319"/>
                    </a:cubicBezTo>
                    <a:cubicBezTo>
                      <a:pt x="69378" y="23773"/>
                      <a:pt x="66306" y="25958"/>
                      <a:pt x="65760" y="29201"/>
                    </a:cubicBezTo>
                    <a:cubicBezTo>
                      <a:pt x="65213" y="32444"/>
                      <a:pt x="67399" y="35515"/>
                      <a:pt x="70641" y="36062"/>
                    </a:cubicBezTo>
                    <a:cubicBezTo>
                      <a:pt x="82972" y="38138"/>
                      <a:pt x="93434" y="48601"/>
                      <a:pt x="95525" y="60953"/>
                    </a:cubicBezTo>
                    <a:cubicBezTo>
                      <a:pt x="96012" y="63816"/>
                      <a:pt x="98493" y="65911"/>
                      <a:pt x="101397" y="65909"/>
                    </a:cubicBezTo>
                    <a:cubicBezTo>
                      <a:pt x="101733" y="65907"/>
                      <a:pt x="102069" y="65880"/>
                      <a:pt x="102401" y="65828"/>
                    </a:cubicBezTo>
                    <a:cubicBezTo>
                      <a:pt x="105641" y="65274"/>
                      <a:pt x="107820" y="62200"/>
                      <a:pt x="107268" y="58959"/>
                    </a:cubicBezTo>
                    <a:close/>
                  </a:path>
                </a:pathLst>
              </a:custGeom>
              <a:solidFill>
                <a:srgbClr val="C8963E"/>
              </a:solidFill>
              <a:ln>
                <a:noFill/>
              </a:ln>
            </p:spPr>
          </p:sp>
        </p:grpSp>
        <p:sp>
          <p:nvSpPr>
            <p:cNvPr id="46" name="TextBox 46"/>
            <p:cNvSpPr txBox="1"/>
            <p:nvPr/>
          </p:nvSpPr>
          <p:spPr>
            <a:xfrm>
              <a:off x="1128712" y="4498181"/>
              <a:ext cx="718661" cy="228600"/>
            </a:xfrm>
            <a:prstGeom prst="rect">
              <a:avLst/>
            </a:prstGeom>
            <a:noFill/>
            <a:ln>
              <a:noFill/>
            </a:ln>
          </p:spPr>
          <p:txBody>
            <a:bodyPr wrap="none" lIns="0" tIns="0" rIns="0" bIns="0" anchor="t" anchorCtr="0">
              <a:spAutoFit/>
            </a:bodyPr>
            <a:lstStyle/>
            <a:p>
              <a:pPr algn="l"/>
              <a:r>
                <a:rPr lang="zh-CN" sz="1125" b="1" dirty="0">
                  <a:solidFill>
                    <a:srgbClr val="1A3A5C"/>
                  </a:solidFill>
                  <a:latin typeface="Arial" panose="020B0604020202020204"/>
                  <a:ea typeface="微软雅黑" panose="020B0503020204020204" charset="-122"/>
                  <a:cs typeface="Arial" panose="020B0604020202020204"/>
                </a:rPr>
                <a:t>误差意识</a:t>
              </a:r>
              <a:endParaRPr lang="zh-CN" sz="1125" b="1" dirty="0">
                <a:solidFill>
                  <a:srgbClr val="1A3A5C"/>
                </a:solidFill>
                <a:latin typeface="Arial" panose="020B0604020202020204"/>
                <a:ea typeface="微软雅黑" panose="020B0503020204020204" charset="-122"/>
                <a:cs typeface="Arial" panose="020B0604020202020204"/>
              </a:endParaRPr>
            </a:p>
          </p:txBody>
        </p:sp>
        <p:sp>
          <p:nvSpPr>
            <p:cNvPr id="47" name="TextBox 47"/>
            <p:cNvSpPr txBox="1"/>
            <p:nvPr/>
          </p:nvSpPr>
          <p:spPr>
            <a:xfrm>
              <a:off x="2081212" y="4498181"/>
              <a:ext cx="6765131" cy="228600"/>
            </a:xfrm>
            <a:prstGeom prst="rect">
              <a:avLst/>
            </a:prstGeom>
            <a:noFill/>
            <a:ln>
              <a:noFill/>
            </a:ln>
          </p:spPr>
          <p:txBody>
            <a:bodyPr wrap="none" lIns="0" tIns="0" rIns="0" bIns="0" anchor="t" anchorCtr="0">
              <a:spAutoFit/>
            </a:bodyPr>
            <a:lstStyle/>
            <a:p>
              <a:pPr algn="l"/>
              <a:r>
                <a:rPr lang="zh-CN" sz="1125" dirty="0">
                  <a:solidFill>
                    <a:srgbClr val="6B7280"/>
                  </a:solidFill>
                  <a:latin typeface="Arial" panose="020B0604020202020204"/>
                  <a:ea typeface="微软雅黑" panose="020B0503020204020204" charset="-122"/>
                  <a:cs typeface="Arial" panose="020B0604020202020204"/>
                </a:rPr>
                <a:t>二次模型样本内 RMSE 略好但留一误差更差，因此不采用高阶外推。分段低次最小二乘更稳。</a:t>
              </a:r>
              <a:endParaRPr lang="zh-CN" sz="1125" dirty="0">
                <a:solidFill>
                  <a:srgbClr val="6B7280"/>
                </a:solidFill>
                <a:latin typeface="Arial" panose="020B0604020202020204"/>
                <a:ea typeface="微软雅黑" panose="020B0503020204020204" charset="-122"/>
                <a:cs typeface="Arial" panose="020B0604020202020204"/>
              </a:endParaRPr>
            </a:p>
          </p:txBody>
        </p:sp>
        <p:sp>
          <p:nvSpPr>
            <p:cNvPr id="48" name="TextBox 48"/>
            <p:cNvSpPr txBox="1"/>
            <p:nvPr/>
          </p:nvSpPr>
          <p:spPr>
            <a:xfrm>
              <a:off x="2083118" y="4704874"/>
              <a:ext cx="3769852" cy="198120"/>
            </a:xfrm>
            <a:prstGeom prst="rect">
              <a:avLst/>
            </a:prstGeom>
            <a:noFill/>
            <a:ln>
              <a:noFill/>
            </a:ln>
          </p:spPr>
          <p:txBody>
            <a:bodyPr wrap="none" lIns="0" tIns="0" rIns="0" bIns="0" anchor="t" anchorCtr="0">
              <a:spAutoFit/>
            </a:bodyPr>
            <a:lstStyle/>
            <a:p>
              <a:pPr algn="l"/>
              <a:r>
                <a:rPr lang="zh-CN" sz="975" dirty="0">
                  <a:solidFill>
                    <a:srgbClr val="9CA3AF"/>
                  </a:solidFill>
                  <a:latin typeface="Arial" panose="020B0604020202020204"/>
                  <a:ea typeface="微软雅黑" panose="020B0503020204020204" charset="-122"/>
                  <a:cs typeface="Arial" panose="020B0604020202020204"/>
                </a:rPr>
                <a:t>课程对应：函数逼近 + 最小二乘残差平方和 + 分段低次思想</a:t>
              </a:r>
              <a:endParaRPr lang="zh-CN" sz="975" dirty="0">
                <a:solidFill>
                  <a:srgbClr val="9CA3AF"/>
                </a:solidFill>
                <a:latin typeface="Arial" panose="020B0604020202020204"/>
                <a:ea typeface="微软雅黑" panose="020B0503020204020204" charset="-122"/>
                <a:cs typeface="Arial" panose="020B0604020202020204"/>
              </a:endParaRPr>
            </a:p>
          </p:txBody>
        </p:sp>
      </p:grpSp>
      <p:grpSp>
        <p:nvGrpSpPr>
          <p:cNvPr id="52" name="Group 52"/>
          <p:cNvGrpSpPr/>
          <p:nvPr/>
        </p:nvGrpSpPr>
        <p:grpSpPr>
          <a:xfrm>
            <a:off x="560070" y="6522720"/>
            <a:ext cx="11070908" cy="182880"/>
            <a:chOff x="560070" y="6522720"/>
            <a:chExt cx="11070908" cy="182880"/>
          </a:xfrm>
        </p:grpSpPr>
        <p:sp>
          <p:nvSpPr>
            <p:cNvPr id="50" name="TextBox 50"/>
            <p:cNvSpPr txBox="1"/>
            <p:nvPr/>
          </p:nvSpPr>
          <p:spPr>
            <a:xfrm>
              <a:off x="560070" y="6522720"/>
              <a:ext cx="2395442" cy="182880"/>
            </a:xfrm>
            <a:prstGeom prst="rect">
              <a:avLst/>
            </a:prstGeom>
            <a:noFill/>
            <a:ln>
              <a:noFill/>
            </a:ln>
          </p:spPr>
          <p:txBody>
            <a:bodyPr wrap="none" lIns="0" tIns="0" rIns="0" bIns="0" anchor="t" anchorCtr="0">
              <a:spAutoFit/>
            </a:bodyPr>
            <a:lstStyle/>
            <a:p>
              <a:pPr algn="l"/>
              <a:r>
                <a:rPr lang="zh-CN" sz="900" dirty="0">
                  <a:solidFill>
                    <a:srgbClr val="9CA3AF"/>
                  </a:solidFill>
                  <a:latin typeface="Arial" panose="020B0604020202020204"/>
                  <a:ea typeface="微软雅黑" panose="020B0503020204020204" charset="-122"/>
                  <a:cs typeface="Arial" panose="020B0604020202020204"/>
                </a:rPr>
                <a:t>Source: 最小二乘法；团队 Python 实现</a:t>
              </a:r>
              <a:endParaRPr lang="zh-CN" sz="900" dirty="0">
                <a:solidFill>
                  <a:srgbClr val="9CA3AF"/>
                </a:solidFill>
                <a:latin typeface="Arial" panose="020B0604020202020204"/>
                <a:ea typeface="微软雅黑" panose="020B0503020204020204" charset="-122"/>
                <a:cs typeface="Arial" panose="020B0604020202020204"/>
              </a:endParaRPr>
            </a:p>
          </p:txBody>
        </p:sp>
        <p:sp>
          <p:nvSpPr>
            <p:cNvPr id="51" name="TextBox 51"/>
            <p:cNvSpPr txBox="1"/>
            <p:nvPr/>
          </p:nvSpPr>
          <p:spPr>
            <a:xfrm>
              <a:off x="11236500" y="6530816"/>
              <a:ext cx="394478"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panose="020B0604020202020204"/>
                  <a:ea typeface="微软雅黑" panose="020B0503020204020204" charset="-122"/>
                  <a:cs typeface="Arial" panose="020B0604020202020204"/>
                </a:rPr>
                <a:t>07 / 12</a:t>
              </a:r>
              <a:endParaRPr lang="zh-CN" sz="825" dirty="0">
                <a:solidFill>
                  <a:srgbClr val="9CA3AF"/>
                </a:solidFill>
                <a:latin typeface="Arial" panose="020B0604020202020204"/>
                <a:ea typeface="微软雅黑" panose="020B0503020204020204" charset="-122"/>
                <a:cs typeface="Arial" panose="020B0604020202020204"/>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400"/>
                                        <p:tgtEl>
                                          <p:spTgt spid="24"/>
                                        </p:tgtEl>
                                      </p:cBhvr>
                                    </p:animEffect>
                                  </p:childTnLst>
                                </p:cTn>
                              </p:par>
                            </p:childTnLst>
                          </p:cTn>
                        </p:par>
                        <p:par>
                          <p:cTn id="8" fill="hold">
                            <p:stCondLst>
                              <p:cond delay="500"/>
                            </p:stCondLst>
                            <p:childTnLst>
                              <p:par>
                                <p:cTn id="9" presetID="20" presetClass="entr" presetSubtype="0" fill="hold" nodeType="afterEffect">
                                  <p:stCondLst>
                                    <p:cond delay="0"/>
                                  </p:stCondLst>
                                  <p:childTnLst>
                                    <p:set>
                                      <p:cBhvr>
                                        <p:cTn id="10" dur="1" fill="hold">
                                          <p:stCondLst>
                                            <p:cond delay="0"/>
                                          </p:stCondLst>
                                        </p:cTn>
                                        <p:tgtEl>
                                          <p:spTgt spid="41"/>
                                        </p:tgtEl>
                                        <p:attrNameLst>
                                          <p:attrName>style.visibility</p:attrName>
                                        </p:attrNameLst>
                                      </p:cBhvr>
                                      <p:to>
                                        <p:strVal val="visible"/>
                                      </p:to>
                                    </p:set>
                                    <p:animEffect transition="in" filter="wedge">
                                      <p:cBhvr>
                                        <p:cTn id="11" dur="400"/>
                                        <p:tgtEl>
                                          <p:spTgt spid="41"/>
                                        </p:tgtEl>
                                      </p:cBhvr>
                                    </p:animEffect>
                                  </p:childTnLst>
                                </p:cTn>
                              </p:par>
                            </p:childTnLst>
                          </p:cTn>
                        </p:par>
                        <p:par>
                          <p:cTn id="12" fill="hold">
                            <p:stCondLst>
                              <p:cond delay="1000"/>
                            </p:stCondLst>
                            <p:childTnLst>
                              <p:par>
                                <p:cTn id="13" presetID="21" presetClass="entr" presetSubtype="1" fill="hold" nodeType="afterEffect">
                                  <p:stCondLst>
                                    <p:cond delay="0"/>
                                  </p:stCondLst>
                                  <p:childTnLst>
                                    <p:set>
                                      <p:cBhvr>
                                        <p:cTn id="14" dur="1" fill="hold">
                                          <p:stCondLst>
                                            <p:cond delay="0"/>
                                          </p:stCondLst>
                                        </p:cTn>
                                        <p:tgtEl>
                                          <p:spTgt spid="49"/>
                                        </p:tgtEl>
                                        <p:attrNameLst>
                                          <p:attrName>style.visibility</p:attrName>
                                        </p:attrNameLst>
                                      </p:cBhvr>
                                      <p:to>
                                        <p:strVal val="visible"/>
                                      </p:to>
                                    </p:set>
                                    <p:animEffect transition="in" filter="wheel(4)">
                                      <p:cBhvr>
                                        <p:cTn id="15" dur="4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41" grpId="0"/>
      <p:bldP spid="4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A"/>
          </a:solidFill>
          <a:ln>
            <a:noFill/>
          </a:ln>
        </p:spPr>
      </p:sp>
      <p:grpSp>
        <p:nvGrpSpPr>
          <p:cNvPr id="6" name="Group 6"/>
          <p:cNvGrpSpPr/>
          <p:nvPr/>
        </p:nvGrpSpPr>
        <p:grpSpPr>
          <a:xfrm>
            <a:off x="571500" y="280988"/>
            <a:ext cx="8155067" cy="561974"/>
            <a:chOff x="571500" y="280988"/>
            <a:chExt cx="8155067" cy="561974"/>
          </a:xfrm>
        </p:grpSpPr>
        <p:sp>
          <p:nvSpPr>
            <p:cNvPr id="3" name="Rectangle 3"/>
            <p:cNvSpPr/>
            <p:nvPr/>
          </p:nvSpPr>
          <p:spPr>
            <a:xfrm>
              <a:off x="571500" y="285750"/>
              <a:ext cx="38100" cy="342900"/>
            </a:xfrm>
            <a:prstGeom prst="rect">
              <a:avLst/>
            </a:prstGeom>
            <a:solidFill>
              <a:srgbClr val="1A3A5C"/>
            </a:solidFill>
            <a:ln>
              <a:noFill/>
            </a:ln>
          </p:spPr>
        </p:sp>
        <p:sp>
          <p:nvSpPr>
            <p:cNvPr id="4" name="TextBox 4"/>
            <p:cNvSpPr txBox="1"/>
            <p:nvPr/>
          </p:nvSpPr>
          <p:spPr>
            <a:xfrm>
              <a:off x="733425" y="280988"/>
              <a:ext cx="7993142" cy="457200"/>
            </a:xfrm>
            <a:prstGeom prst="rect">
              <a:avLst/>
            </a:prstGeom>
            <a:noFill/>
            <a:ln>
              <a:noFill/>
            </a:ln>
          </p:spPr>
          <p:txBody>
            <a:bodyPr wrap="none" lIns="0" tIns="0" rIns="0" bIns="0" anchor="t" anchorCtr="0">
              <a:spAutoFit/>
            </a:bodyPr>
            <a:lstStyle/>
            <a:p>
              <a:pPr algn="l"/>
              <a:r>
                <a:rPr lang="zh-CN" sz="2250" b="1" dirty="0">
                  <a:solidFill>
                    <a:srgbClr val="1A3A5C"/>
                  </a:solidFill>
                  <a:latin typeface="Georgia" panose="02040502050405020303"/>
                  <a:ea typeface="楷体" panose="02010609060101010101" charset="-122"/>
                  <a:cs typeface="Georgia" panose="02040502050405020303"/>
                </a:rPr>
                <a:t>规模趋势：文化供给持续增长，旅游消费冲击后修复</a:t>
              </a:r>
              <a:endParaRPr lang="zh-CN" sz="2250" b="1" dirty="0">
                <a:solidFill>
                  <a:srgbClr val="1A3A5C"/>
                </a:solidFill>
                <a:latin typeface="Georgia" panose="02040502050405020303"/>
                <a:ea typeface="楷体" panose="02010609060101010101" charset="-122"/>
                <a:cs typeface="Georgia" panose="02040502050405020303"/>
              </a:endParaRPr>
            </a:p>
          </p:txBody>
        </p:sp>
        <p:sp>
          <p:nvSpPr>
            <p:cNvPr id="5" name="TextBox 5"/>
            <p:cNvSpPr txBox="1"/>
            <p:nvPr/>
          </p:nvSpPr>
          <p:spPr>
            <a:xfrm>
              <a:off x="748665" y="629602"/>
              <a:ext cx="5861733"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panose="020B0604020202020204"/>
                  <a:ea typeface="微软雅黑" panose="020B0503020204020204" charset="-122"/>
                  <a:cs typeface="Arial" panose="020B0604020202020204"/>
                </a:rPr>
                <a:t>博物馆数量呈单调上升；旅游总花费在 2019 年高点后骤降，2023 年恢复至接近高位。</a:t>
              </a:r>
              <a:endParaRPr lang="zh-CN" sz="1050" dirty="0">
                <a:solidFill>
                  <a:srgbClr val="6B7280"/>
                </a:solidFill>
                <a:latin typeface="Arial" panose="020B0604020202020204"/>
                <a:ea typeface="微软雅黑" panose="020B0503020204020204" charset="-122"/>
                <a:cs typeface="Arial" panose="020B0604020202020204"/>
              </a:endParaRPr>
            </a:p>
          </p:txBody>
        </p:sp>
      </p:grpSp>
      <p:grpSp>
        <p:nvGrpSpPr>
          <p:cNvPr id="64" name="Group 64"/>
          <p:cNvGrpSpPr/>
          <p:nvPr/>
        </p:nvGrpSpPr>
        <p:grpSpPr>
          <a:xfrm>
            <a:off x="-378333" y="1381125"/>
            <a:ext cx="12981551" cy="4276725"/>
            <a:chOff x="-378333" y="1381125"/>
            <a:chExt cx="12981551" cy="4276725"/>
          </a:xfrm>
        </p:grpSpPr>
        <p:sp>
          <p:nvSpPr>
            <p:cNvPr id="7" name="Rectangle 7"/>
            <p:cNvSpPr/>
            <p:nvPr/>
          </p:nvSpPr>
          <p:spPr>
            <a:xfrm>
              <a:off x="7296150" y="1381125"/>
              <a:ext cx="1000125" cy="3952875"/>
            </a:xfrm>
            <a:prstGeom prst="rect">
              <a:avLst/>
            </a:prstGeom>
            <a:solidFill>
              <a:srgbClr val="C62828">
                <a:alpha val="4000"/>
              </a:srgbClr>
            </a:solidFill>
            <a:ln>
              <a:noFill/>
            </a:ln>
          </p:spPr>
        </p:sp>
        <p:sp>
          <p:nvSpPr>
            <p:cNvPr id="8" name="TextBox 8"/>
            <p:cNvSpPr txBox="1"/>
            <p:nvPr/>
          </p:nvSpPr>
          <p:spPr>
            <a:xfrm>
              <a:off x="7469481" y="1445895"/>
              <a:ext cx="643938" cy="182880"/>
            </a:xfrm>
            <a:prstGeom prst="rect">
              <a:avLst/>
            </a:prstGeom>
            <a:noFill/>
            <a:ln>
              <a:noFill/>
            </a:ln>
          </p:spPr>
          <p:txBody>
            <a:bodyPr wrap="none" lIns="0" tIns="0" rIns="0" bIns="0" anchor="t" anchorCtr="0">
              <a:spAutoFit/>
            </a:bodyPr>
            <a:lstStyle/>
            <a:p>
              <a:pPr algn="ctr"/>
              <a:r>
                <a:rPr lang="zh-CN" sz="900" b="1" dirty="0">
                  <a:solidFill>
                    <a:srgbClr val="C62828"/>
                  </a:solidFill>
                  <a:latin typeface="Arial" panose="020B0604020202020204"/>
                  <a:ea typeface="微软雅黑" panose="020B0503020204020204" charset="-122"/>
                  <a:cs typeface="Arial" panose="020B0604020202020204"/>
                </a:rPr>
                <a:t>2020 冲击</a:t>
              </a:r>
              <a:endParaRPr lang="zh-CN" sz="900" b="1" dirty="0">
                <a:solidFill>
                  <a:srgbClr val="C62828"/>
                </a:solidFill>
                <a:latin typeface="Arial" panose="020B0604020202020204"/>
                <a:ea typeface="微软雅黑" panose="020B0503020204020204" charset="-122"/>
                <a:cs typeface="Arial" panose="020B0604020202020204"/>
              </a:endParaRPr>
            </a:p>
          </p:txBody>
        </p:sp>
        <p:sp>
          <p:nvSpPr>
            <p:cNvPr id="9" name="Line 9"/>
            <p:cNvSpPr/>
            <p:nvPr/>
          </p:nvSpPr>
          <p:spPr>
            <a:xfrm>
              <a:off x="7296150" y="1600200"/>
              <a:ext cx="9525" cy="3733800"/>
            </a:xfrm>
            <a:custGeom>
              <a:avLst/>
              <a:gdLst/>
              <a:ahLst/>
              <a:cxnLst/>
              <a:rect l="l" t="t" r="r" b="b"/>
              <a:pathLst>
                <a:path w="9525" h="3733800">
                  <a:moveTo>
                    <a:pt x="0" y="0"/>
                  </a:moveTo>
                  <a:lnTo>
                    <a:pt x="0" y="3733800"/>
                  </a:lnTo>
                </a:path>
              </a:pathLst>
            </a:custGeom>
            <a:noFill/>
            <a:ln w="9525">
              <a:solidFill>
                <a:srgbClr val="C62828"/>
              </a:solidFill>
              <a:prstDash val="dash"/>
            </a:ln>
          </p:spPr>
        </p:sp>
        <p:sp>
          <p:nvSpPr>
            <p:cNvPr id="10" name="Line 10"/>
            <p:cNvSpPr/>
            <p:nvPr/>
          </p:nvSpPr>
          <p:spPr>
            <a:xfrm>
              <a:off x="1333500" y="5334000"/>
              <a:ext cx="8953500" cy="9525"/>
            </a:xfrm>
            <a:custGeom>
              <a:avLst/>
              <a:gdLst/>
              <a:ahLst/>
              <a:cxnLst/>
              <a:rect l="l" t="t" r="r" b="b"/>
              <a:pathLst>
                <a:path w="8953500" h="9525">
                  <a:moveTo>
                    <a:pt x="0" y="0"/>
                  </a:moveTo>
                  <a:lnTo>
                    <a:pt x="8953500" y="0"/>
                  </a:lnTo>
                </a:path>
              </a:pathLst>
            </a:custGeom>
            <a:noFill/>
            <a:ln w="9525">
              <a:solidFill>
                <a:srgbClr val="D1D5DB"/>
              </a:solidFill>
            </a:ln>
          </p:spPr>
        </p:sp>
        <p:sp>
          <p:nvSpPr>
            <p:cNvPr id="11" name="Line 11"/>
            <p:cNvSpPr/>
            <p:nvPr/>
          </p:nvSpPr>
          <p:spPr>
            <a:xfrm>
              <a:off x="1333500" y="4429125"/>
              <a:ext cx="8953500" cy="9525"/>
            </a:xfrm>
            <a:custGeom>
              <a:avLst/>
              <a:gdLst/>
              <a:ahLst/>
              <a:cxnLst/>
              <a:rect l="l" t="t" r="r" b="b"/>
              <a:pathLst>
                <a:path w="8953500" h="9525">
                  <a:moveTo>
                    <a:pt x="0" y="0"/>
                  </a:moveTo>
                  <a:lnTo>
                    <a:pt x="8953500" y="0"/>
                  </a:lnTo>
                </a:path>
              </a:pathLst>
            </a:custGeom>
            <a:noFill/>
            <a:ln w="4762">
              <a:solidFill>
                <a:srgbClr val="E2E8F0"/>
              </a:solidFill>
              <a:prstDash val="dash"/>
            </a:ln>
          </p:spPr>
        </p:sp>
        <p:sp>
          <p:nvSpPr>
            <p:cNvPr id="12" name="Line 12"/>
            <p:cNvSpPr/>
            <p:nvPr/>
          </p:nvSpPr>
          <p:spPr>
            <a:xfrm>
              <a:off x="1333500" y="3524250"/>
              <a:ext cx="8953500" cy="9525"/>
            </a:xfrm>
            <a:custGeom>
              <a:avLst/>
              <a:gdLst/>
              <a:ahLst/>
              <a:cxnLst/>
              <a:rect l="l" t="t" r="r" b="b"/>
              <a:pathLst>
                <a:path w="8953500" h="9525">
                  <a:moveTo>
                    <a:pt x="0" y="0"/>
                  </a:moveTo>
                  <a:lnTo>
                    <a:pt x="8953500" y="0"/>
                  </a:lnTo>
                </a:path>
              </a:pathLst>
            </a:custGeom>
            <a:noFill/>
            <a:ln w="4762">
              <a:solidFill>
                <a:srgbClr val="E2E8F0"/>
              </a:solidFill>
              <a:prstDash val="dash"/>
            </a:ln>
          </p:spPr>
        </p:sp>
        <p:sp>
          <p:nvSpPr>
            <p:cNvPr id="13" name="Line 13"/>
            <p:cNvSpPr/>
            <p:nvPr/>
          </p:nvSpPr>
          <p:spPr>
            <a:xfrm>
              <a:off x="1333500" y="2619375"/>
              <a:ext cx="8953500" cy="9525"/>
            </a:xfrm>
            <a:custGeom>
              <a:avLst/>
              <a:gdLst/>
              <a:ahLst/>
              <a:cxnLst/>
              <a:rect l="l" t="t" r="r" b="b"/>
              <a:pathLst>
                <a:path w="8953500" h="9525">
                  <a:moveTo>
                    <a:pt x="0" y="0"/>
                  </a:moveTo>
                  <a:lnTo>
                    <a:pt x="8953500" y="0"/>
                  </a:lnTo>
                </a:path>
              </a:pathLst>
            </a:custGeom>
            <a:noFill/>
            <a:ln w="4762">
              <a:solidFill>
                <a:srgbClr val="E2E8F0"/>
              </a:solidFill>
              <a:prstDash val="dash"/>
            </a:ln>
          </p:spPr>
        </p:sp>
        <p:sp>
          <p:nvSpPr>
            <p:cNvPr id="14" name="Line 14"/>
            <p:cNvSpPr/>
            <p:nvPr/>
          </p:nvSpPr>
          <p:spPr>
            <a:xfrm>
              <a:off x="1333500" y="1714500"/>
              <a:ext cx="8953500" cy="9525"/>
            </a:xfrm>
            <a:custGeom>
              <a:avLst/>
              <a:gdLst/>
              <a:ahLst/>
              <a:cxnLst/>
              <a:rect l="l" t="t" r="r" b="b"/>
              <a:pathLst>
                <a:path w="8953500" h="9525">
                  <a:moveTo>
                    <a:pt x="0" y="0"/>
                  </a:moveTo>
                  <a:lnTo>
                    <a:pt x="8953500" y="0"/>
                  </a:lnTo>
                </a:path>
              </a:pathLst>
            </a:custGeom>
            <a:noFill/>
            <a:ln w="9525">
              <a:solidFill>
                <a:srgbClr val="D1D5DB"/>
              </a:solidFill>
            </a:ln>
          </p:spPr>
        </p:sp>
        <p:sp>
          <p:nvSpPr>
            <p:cNvPr id="15" name="TextBox 15"/>
            <p:cNvSpPr txBox="1"/>
            <p:nvPr/>
          </p:nvSpPr>
          <p:spPr>
            <a:xfrm>
              <a:off x="849301" y="5276374"/>
              <a:ext cx="353706" cy="198120"/>
            </a:xfrm>
            <a:prstGeom prst="rect">
              <a:avLst/>
            </a:prstGeom>
            <a:noFill/>
            <a:ln>
              <a:noFill/>
            </a:ln>
          </p:spPr>
          <p:txBody>
            <a:bodyPr wrap="none" lIns="0" tIns="0" rIns="0" bIns="0" anchor="t" anchorCtr="0">
              <a:spAutoFit/>
            </a:bodyPr>
            <a:lstStyle/>
            <a:p>
              <a:pPr algn="r"/>
              <a:r>
                <a:rPr lang="zh-CN" sz="975" b="1" dirty="0">
                  <a:solidFill>
                    <a:srgbClr val="1A3A5C"/>
                  </a:solidFill>
                  <a:latin typeface="Arial" panose="020B0604020202020204"/>
                  <a:ea typeface="微软雅黑" panose="020B0503020204020204" charset="-122"/>
                  <a:cs typeface="Arial" panose="020B0604020202020204"/>
                </a:rPr>
                <a:t>3000</a:t>
              </a:r>
              <a:endParaRPr lang="zh-CN" sz="975" b="1" dirty="0">
                <a:solidFill>
                  <a:srgbClr val="1A3A5C"/>
                </a:solidFill>
                <a:latin typeface="Arial" panose="020B0604020202020204"/>
                <a:ea typeface="微软雅黑" panose="020B0503020204020204" charset="-122"/>
                <a:cs typeface="Arial" panose="020B0604020202020204"/>
              </a:endParaRPr>
            </a:p>
          </p:txBody>
        </p:sp>
        <p:sp>
          <p:nvSpPr>
            <p:cNvPr id="16" name="TextBox 16"/>
            <p:cNvSpPr txBox="1"/>
            <p:nvPr/>
          </p:nvSpPr>
          <p:spPr>
            <a:xfrm>
              <a:off x="890016" y="4379595"/>
              <a:ext cx="312039" cy="182880"/>
            </a:xfrm>
            <a:prstGeom prst="rect">
              <a:avLst/>
            </a:prstGeom>
            <a:noFill/>
            <a:ln>
              <a:noFill/>
            </a:ln>
          </p:spPr>
          <p:txBody>
            <a:bodyPr wrap="none" lIns="0" tIns="0" rIns="0" bIns="0" anchor="t" anchorCtr="0">
              <a:spAutoFit/>
            </a:bodyPr>
            <a:lstStyle/>
            <a:p>
              <a:pPr algn="r"/>
              <a:r>
                <a:rPr lang="zh-CN" sz="900" dirty="0">
                  <a:solidFill>
                    <a:srgbClr val="6B7280"/>
                  </a:solidFill>
                  <a:latin typeface="Arial" panose="020B0604020202020204"/>
                  <a:ea typeface="微软雅黑" panose="020B0503020204020204" charset="-122"/>
                  <a:cs typeface="Arial" panose="020B0604020202020204"/>
                </a:rPr>
                <a:t>4000</a:t>
              </a:r>
              <a:endParaRPr lang="zh-CN" sz="900" dirty="0">
                <a:solidFill>
                  <a:srgbClr val="6B7280"/>
                </a:solidFill>
                <a:latin typeface="Arial" panose="020B0604020202020204"/>
                <a:ea typeface="微软雅黑" panose="020B0503020204020204" charset="-122"/>
                <a:cs typeface="Arial" panose="020B0604020202020204"/>
              </a:endParaRPr>
            </a:p>
          </p:txBody>
        </p:sp>
        <p:sp>
          <p:nvSpPr>
            <p:cNvPr id="17" name="TextBox 17"/>
            <p:cNvSpPr txBox="1"/>
            <p:nvPr/>
          </p:nvSpPr>
          <p:spPr>
            <a:xfrm>
              <a:off x="890016" y="3474720"/>
              <a:ext cx="312039" cy="182880"/>
            </a:xfrm>
            <a:prstGeom prst="rect">
              <a:avLst/>
            </a:prstGeom>
            <a:noFill/>
            <a:ln>
              <a:noFill/>
            </a:ln>
          </p:spPr>
          <p:txBody>
            <a:bodyPr wrap="none" lIns="0" tIns="0" rIns="0" bIns="0" anchor="t" anchorCtr="0">
              <a:spAutoFit/>
            </a:bodyPr>
            <a:lstStyle/>
            <a:p>
              <a:pPr algn="r"/>
              <a:r>
                <a:rPr lang="zh-CN" sz="900" dirty="0">
                  <a:solidFill>
                    <a:srgbClr val="6B7280"/>
                  </a:solidFill>
                  <a:latin typeface="Arial" panose="020B0604020202020204"/>
                  <a:ea typeface="微软雅黑" panose="020B0503020204020204" charset="-122"/>
                  <a:cs typeface="Arial" panose="020B0604020202020204"/>
                </a:rPr>
                <a:t>5000</a:t>
              </a:r>
              <a:endParaRPr lang="zh-CN" sz="900" dirty="0">
                <a:solidFill>
                  <a:srgbClr val="6B7280"/>
                </a:solidFill>
                <a:latin typeface="Arial" panose="020B0604020202020204"/>
                <a:ea typeface="微软雅黑" panose="020B0503020204020204" charset="-122"/>
                <a:cs typeface="Arial" panose="020B0604020202020204"/>
              </a:endParaRPr>
            </a:p>
          </p:txBody>
        </p:sp>
        <p:sp>
          <p:nvSpPr>
            <p:cNvPr id="18" name="TextBox 18"/>
            <p:cNvSpPr txBox="1"/>
            <p:nvPr/>
          </p:nvSpPr>
          <p:spPr>
            <a:xfrm>
              <a:off x="890016" y="2569845"/>
              <a:ext cx="312039" cy="182880"/>
            </a:xfrm>
            <a:prstGeom prst="rect">
              <a:avLst/>
            </a:prstGeom>
            <a:noFill/>
            <a:ln>
              <a:noFill/>
            </a:ln>
          </p:spPr>
          <p:txBody>
            <a:bodyPr wrap="none" lIns="0" tIns="0" rIns="0" bIns="0" anchor="t" anchorCtr="0">
              <a:spAutoFit/>
            </a:bodyPr>
            <a:lstStyle/>
            <a:p>
              <a:pPr algn="r"/>
              <a:r>
                <a:rPr lang="zh-CN" sz="900" dirty="0">
                  <a:solidFill>
                    <a:srgbClr val="6B7280"/>
                  </a:solidFill>
                  <a:latin typeface="Arial" panose="020B0604020202020204"/>
                  <a:ea typeface="微软雅黑" panose="020B0503020204020204" charset="-122"/>
                  <a:cs typeface="Arial" panose="020B0604020202020204"/>
                </a:rPr>
                <a:t>6000</a:t>
              </a:r>
              <a:endParaRPr lang="zh-CN" sz="900" dirty="0">
                <a:solidFill>
                  <a:srgbClr val="6B7280"/>
                </a:solidFill>
                <a:latin typeface="Arial" panose="020B0604020202020204"/>
                <a:ea typeface="微软雅黑" panose="020B0503020204020204" charset="-122"/>
                <a:cs typeface="Arial" panose="020B0604020202020204"/>
              </a:endParaRPr>
            </a:p>
          </p:txBody>
        </p:sp>
        <p:sp>
          <p:nvSpPr>
            <p:cNvPr id="19" name="TextBox 19"/>
            <p:cNvSpPr txBox="1"/>
            <p:nvPr/>
          </p:nvSpPr>
          <p:spPr>
            <a:xfrm>
              <a:off x="849301" y="1656874"/>
              <a:ext cx="353706" cy="198120"/>
            </a:xfrm>
            <a:prstGeom prst="rect">
              <a:avLst/>
            </a:prstGeom>
            <a:noFill/>
            <a:ln>
              <a:noFill/>
            </a:ln>
          </p:spPr>
          <p:txBody>
            <a:bodyPr wrap="none" lIns="0" tIns="0" rIns="0" bIns="0" anchor="t" anchorCtr="0">
              <a:spAutoFit/>
            </a:bodyPr>
            <a:lstStyle/>
            <a:p>
              <a:pPr algn="r"/>
              <a:r>
                <a:rPr lang="zh-CN" sz="975" b="1" dirty="0">
                  <a:solidFill>
                    <a:srgbClr val="1A3A5C"/>
                  </a:solidFill>
                  <a:latin typeface="Arial" panose="020B0604020202020204"/>
                  <a:ea typeface="微软雅黑" panose="020B0503020204020204" charset="-122"/>
                  <a:cs typeface="Arial" panose="020B0604020202020204"/>
                </a:rPr>
                <a:t>7000</a:t>
              </a:r>
              <a:endParaRPr lang="zh-CN" sz="975" b="1" dirty="0">
                <a:solidFill>
                  <a:srgbClr val="1A3A5C"/>
                </a:solidFill>
                <a:latin typeface="Arial" panose="020B0604020202020204"/>
                <a:ea typeface="微软雅黑" panose="020B0503020204020204" charset="-122"/>
                <a:cs typeface="Arial" panose="020B0604020202020204"/>
              </a:endParaRPr>
            </a:p>
          </p:txBody>
        </p:sp>
        <p:sp>
          <p:nvSpPr>
            <p:cNvPr id="20" name="TextBox 20"/>
            <p:cNvSpPr txBox="1"/>
            <p:nvPr/>
          </p:nvSpPr>
          <p:spPr>
            <a:xfrm rot="-5400000">
              <a:off x="-378333" y="3417570"/>
              <a:ext cx="1314831" cy="213360"/>
            </a:xfrm>
            <a:prstGeom prst="rect">
              <a:avLst/>
            </a:prstGeom>
            <a:noFill/>
            <a:ln>
              <a:noFill/>
            </a:ln>
          </p:spPr>
          <p:txBody>
            <a:bodyPr wrap="none" lIns="0" tIns="0" rIns="0" bIns="0" anchor="t" anchorCtr="0">
              <a:spAutoFit/>
            </a:bodyPr>
            <a:lstStyle/>
            <a:p>
              <a:pPr algn="ctr"/>
              <a:r>
                <a:rPr lang="zh-CN" sz="1050" b="1" dirty="0">
                  <a:solidFill>
                    <a:srgbClr val="1A3A5C"/>
                  </a:solidFill>
                  <a:latin typeface="Arial" panose="020B0604020202020204"/>
                  <a:ea typeface="微软雅黑" panose="020B0503020204020204" charset="-122"/>
                  <a:cs typeface="Arial" panose="020B0604020202020204"/>
                </a:rPr>
                <a:t>博物馆数量（个）</a:t>
              </a:r>
              <a:endParaRPr lang="zh-CN" sz="1050" b="1" dirty="0">
                <a:solidFill>
                  <a:srgbClr val="1A3A5C"/>
                </a:solidFill>
                <a:latin typeface="Arial" panose="020B0604020202020204"/>
                <a:ea typeface="微软雅黑" panose="020B0503020204020204" charset="-122"/>
                <a:cs typeface="Arial" panose="020B0604020202020204"/>
              </a:endParaRPr>
            </a:p>
          </p:txBody>
        </p:sp>
        <p:sp>
          <p:nvSpPr>
            <p:cNvPr id="21" name="TextBox 21"/>
            <p:cNvSpPr txBox="1"/>
            <p:nvPr/>
          </p:nvSpPr>
          <p:spPr>
            <a:xfrm>
              <a:off x="10417492" y="5276374"/>
              <a:ext cx="107000" cy="198120"/>
            </a:xfrm>
            <a:prstGeom prst="rect">
              <a:avLst/>
            </a:prstGeom>
            <a:noFill/>
            <a:ln>
              <a:noFill/>
            </a:ln>
          </p:spPr>
          <p:txBody>
            <a:bodyPr wrap="none" lIns="0" tIns="0" rIns="0" bIns="0" anchor="t" anchorCtr="0">
              <a:spAutoFit/>
            </a:bodyPr>
            <a:lstStyle/>
            <a:p>
              <a:pPr algn="l"/>
              <a:r>
                <a:rPr lang="zh-CN" sz="975" b="1" dirty="0">
                  <a:solidFill>
                    <a:srgbClr val="C8963E"/>
                  </a:solidFill>
                  <a:latin typeface="Arial" panose="020B0604020202020204"/>
                  <a:ea typeface="微软雅黑" panose="020B0503020204020204" charset="-122"/>
                  <a:cs typeface="Arial" panose="020B0604020202020204"/>
                </a:rPr>
                <a:t>0</a:t>
              </a:r>
              <a:endParaRPr lang="zh-CN" sz="975" b="1" dirty="0">
                <a:solidFill>
                  <a:srgbClr val="C8963E"/>
                </a:solidFill>
                <a:latin typeface="Arial" panose="020B0604020202020204"/>
                <a:ea typeface="微软雅黑" panose="020B0503020204020204" charset="-122"/>
                <a:cs typeface="Arial" panose="020B0604020202020204"/>
              </a:endParaRPr>
            </a:p>
          </p:txBody>
        </p:sp>
        <p:sp>
          <p:nvSpPr>
            <p:cNvPr id="22" name="TextBox 22"/>
            <p:cNvSpPr txBox="1"/>
            <p:nvPr/>
          </p:nvSpPr>
          <p:spPr>
            <a:xfrm>
              <a:off x="10418445" y="4322445"/>
              <a:ext cx="351472"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panose="020B0604020202020204"/>
                  <a:ea typeface="微软雅黑" panose="020B0503020204020204" charset="-122"/>
                  <a:cs typeface="Arial" panose="020B0604020202020204"/>
                </a:rPr>
                <a:t>15000</a:t>
              </a:r>
              <a:endParaRPr lang="zh-CN" sz="900" dirty="0">
                <a:solidFill>
                  <a:srgbClr val="6B7280"/>
                </a:solidFill>
                <a:latin typeface="Arial" panose="020B0604020202020204"/>
                <a:ea typeface="微软雅黑" panose="020B0503020204020204" charset="-122"/>
                <a:cs typeface="Arial" panose="020B0604020202020204"/>
              </a:endParaRPr>
            </a:p>
          </p:txBody>
        </p:sp>
        <p:sp>
          <p:nvSpPr>
            <p:cNvPr id="23" name="TextBox 23"/>
            <p:cNvSpPr txBox="1"/>
            <p:nvPr/>
          </p:nvSpPr>
          <p:spPr>
            <a:xfrm>
              <a:off x="10418445" y="3417570"/>
              <a:ext cx="384334"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panose="020B0604020202020204"/>
                  <a:ea typeface="微软雅黑" panose="020B0503020204020204" charset="-122"/>
                  <a:cs typeface="Arial" panose="020B0604020202020204"/>
                </a:rPr>
                <a:t>30000</a:t>
              </a:r>
              <a:endParaRPr lang="zh-CN" sz="900" dirty="0">
                <a:solidFill>
                  <a:srgbClr val="6B7280"/>
                </a:solidFill>
                <a:latin typeface="Arial" panose="020B0604020202020204"/>
                <a:ea typeface="微软雅黑" panose="020B0503020204020204" charset="-122"/>
                <a:cs typeface="Arial" panose="020B0604020202020204"/>
              </a:endParaRPr>
            </a:p>
          </p:txBody>
        </p:sp>
        <p:sp>
          <p:nvSpPr>
            <p:cNvPr id="24" name="TextBox 24"/>
            <p:cNvSpPr txBox="1"/>
            <p:nvPr/>
          </p:nvSpPr>
          <p:spPr>
            <a:xfrm>
              <a:off x="10418445" y="2512695"/>
              <a:ext cx="384334"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panose="020B0604020202020204"/>
                  <a:ea typeface="微软雅黑" panose="020B0503020204020204" charset="-122"/>
                  <a:cs typeface="Arial" panose="020B0604020202020204"/>
                </a:rPr>
                <a:t>45000</a:t>
              </a:r>
              <a:endParaRPr lang="zh-CN" sz="900" dirty="0">
                <a:solidFill>
                  <a:srgbClr val="6B7280"/>
                </a:solidFill>
                <a:latin typeface="Arial" panose="020B0604020202020204"/>
                <a:ea typeface="微软雅黑" panose="020B0503020204020204" charset="-122"/>
                <a:cs typeface="Arial" panose="020B0604020202020204"/>
              </a:endParaRPr>
            </a:p>
          </p:txBody>
        </p:sp>
        <p:sp>
          <p:nvSpPr>
            <p:cNvPr id="25" name="TextBox 25"/>
            <p:cNvSpPr txBox="1"/>
            <p:nvPr/>
          </p:nvSpPr>
          <p:spPr>
            <a:xfrm>
              <a:off x="10417492" y="1656874"/>
              <a:ext cx="435941" cy="198120"/>
            </a:xfrm>
            <a:prstGeom prst="rect">
              <a:avLst/>
            </a:prstGeom>
            <a:noFill/>
            <a:ln>
              <a:noFill/>
            </a:ln>
          </p:spPr>
          <p:txBody>
            <a:bodyPr wrap="none" lIns="0" tIns="0" rIns="0" bIns="0" anchor="t" anchorCtr="0">
              <a:spAutoFit/>
            </a:bodyPr>
            <a:lstStyle/>
            <a:p>
              <a:pPr algn="l"/>
              <a:r>
                <a:rPr lang="zh-CN" sz="975" b="1" dirty="0">
                  <a:solidFill>
                    <a:srgbClr val="C8963E"/>
                  </a:solidFill>
                  <a:latin typeface="Arial" panose="020B0604020202020204"/>
                  <a:ea typeface="微软雅黑" panose="020B0503020204020204" charset="-122"/>
                  <a:cs typeface="Arial" panose="020B0604020202020204"/>
                </a:rPr>
                <a:t>60000</a:t>
              </a:r>
              <a:endParaRPr lang="zh-CN" sz="975" b="1" dirty="0">
                <a:solidFill>
                  <a:srgbClr val="C8963E"/>
                </a:solidFill>
                <a:latin typeface="Arial" panose="020B0604020202020204"/>
                <a:ea typeface="微软雅黑" panose="020B0503020204020204" charset="-122"/>
                <a:cs typeface="Arial" panose="020B0604020202020204"/>
              </a:endParaRPr>
            </a:p>
          </p:txBody>
        </p:sp>
        <p:sp>
          <p:nvSpPr>
            <p:cNvPr id="26" name="TextBox 26"/>
            <p:cNvSpPr txBox="1"/>
            <p:nvPr/>
          </p:nvSpPr>
          <p:spPr>
            <a:xfrm rot="5400000">
              <a:off x="11127367" y="3417570"/>
              <a:ext cx="1475851" cy="213360"/>
            </a:xfrm>
            <a:prstGeom prst="rect">
              <a:avLst/>
            </a:prstGeom>
            <a:noFill/>
            <a:ln>
              <a:noFill/>
            </a:ln>
          </p:spPr>
          <p:txBody>
            <a:bodyPr wrap="none" lIns="0" tIns="0" rIns="0" bIns="0" anchor="t" anchorCtr="0">
              <a:spAutoFit/>
            </a:bodyPr>
            <a:lstStyle/>
            <a:p>
              <a:pPr algn="ctr"/>
              <a:r>
                <a:rPr lang="zh-CN" sz="1050" b="1" dirty="0">
                  <a:solidFill>
                    <a:srgbClr val="C8963E"/>
                  </a:solidFill>
                  <a:latin typeface="Arial" panose="020B0604020202020204"/>
                  <a:ea typeface="微软雅黑" panose="020B0503020204020204" charset="-122"/>
                  <a:cs typeface="Arial" panose="020B0604020202020204"/>
                </a:rPr>
                <a:t>旅游总花费（亿元）</a:t>
              </a:r>
              <a:endParaRPr lang="zh-CN" sz="1050" b="1" dirty="0">
                <a:solidFill>
                  <a:srgbClr val="C8963E"/>
                </a:solidFill>
                <a:latin typeface="Arial" panose="020B0604020202020204"/>
                <a:ea typeface="微软雅黑" panose="020B0503020204020204" charset="-122"/>
                <a:cs typeface="Arial" panose="020B0604020202020204"/>
              </a:endParaRPr>
            </a:p>
          </p:txBody>
        </p:sp>
        <p:sp>
          <p:nvSpPr>
            <p:cNvPr id="27" name="Line 27"/>
            <p:cNvSpPr/>
            <p:nvPr/>
          </p:nvSpPr>
          <p:spPr>
            <a:xfrm>
              <a:off x="1333500" y="1714500"/>
              <a:ext cx="9525" cy="3619500"/>
            </a:xfrm>
            <a:custGeom>
              <a:avLst/>
              <a:gdLst/>
              <a:ahLst/>
              <a:cxnLst/>
              <a:rect l="l" t="t" r="r" b="b"/>
              <a:pathLst>
                <a:path w="9525" h="3619500">
                  <a:moveTo>
                    <a:pt x="0" y="0"/>
                  </a:moveTo>
                  <a:lnTo>
                    <a:pt x="0" y="3619500"/>
                  </a:lnTo>
                </a:path>
              </a:pathLst>
            </a:custGeom>
            <a:noFill/>
            <a:ln w="19050">
              <a:solidFill>
                <a:srgbClr val="94A3B8"/>
              </a:solidFill>
            </a:ln>
          </p:spPr>
        </p:sp>
        <p:sp>
          <p:nvSpPr>
            <p:cNvPr id="28" name="Line 28"/>
            <p:cNvSpPr/>
            <p:nvPr/>
          </p:nvSpPr>
          <p:spPr>
            <a:xfrm>
              <a:off x="1333500" y="5334000"/>
              <a:ext cx="8953500" cy="9525"/>
            </a:xfrm>
            <a:custGeom>
              <a:avLst/>
              <a:gdLst/>
              <a:ahLst/>
              <a:cxnLst/>
              <a:rect l="l" t="t" r="r" b="b"/>
              <a:pathLst>
                <a:path w="8953500" h="9525">
                  <a:moveTo>
                    <a:pt x="0" y="0"/>
                  </a:moveTo>
                  <a:lnTo>
                    <a:pt x="8953500" y="0"/>
                  </a:lnTo>
                </a:path>
              </a:pathLst>
            </a:custGeom>
            <a:noFill/>
            <a:ln w="19050">
              <a:solidFill>
                <a:srgbClr val="94A3B8"/>
              </a:solidFill>
            </a:ln>
          </p:spPr>
        </p:sp>
        <p:sp>
          <p:nvSpPr>
            <p:cNvPr id="29" name="Line 29"/>
            <p:cNvSpPr/>
            <p:nvPr/>
          </p:nvSpPr>
          <p:spPr>
            <a:xfrm>
              <a:off x="10287000" y="1714500"/>
              <a:ext cx="9525" cy="3619500"/>
            </a:xfrm>
            <a:custGeom>
              <a:avLst/>
              <a:gdLst/>
              <a:ahLst/>
              <a:cxnLst/>
              <a:rect l="l" t="t" r="r" b="b"/>
              <a:pathLst>
                <a:path w="9525" h="3619500">
                  <a:moveTo>
                    <a:pt x="0" y="0"/>
                  </a:moveTo>
                  <a:lnTo>
                    <a:pt x="0" y="3619500"/>
                  </a:lnTo>
                </a:path>
              </a:pathLst>
            </a:custGeom>
            <a:noFill/>
            <a:ln w="19050">
              <a:solidFill>
                <a:srgbClr val="94A3B8"/>
              </a:solidFill>
            </a:ln>
          </p:spPr>
        </p:sp>
        <p:sp>
          <p:nvSpPr>
            <p:cNvPr id="30" name="TextBox 30"/>
            <p:cNvSpPr txBox="1"/>
            <p:nvPr/>
          </p:nvSpPr>
          <p:spPr>
            <a:xfrm>
              <a:off x="1193911" y="5474970"/>
              <a:ext cx="279178" cy="182880"/>
            </a:xfrm>
            <a:prstGeom prst="rect">
              <a:avLst/>
            </a:prstGeom>
            <a:noFill/>
            <a:ln>
              <a:noFill/>
            </a:ln>
          </p:spPr>
          <p:txBody>
            <a:bodyPr wrap="none" lIns="0" tIns="0" rIns="0" bIns="0" anchor="t" anchorCtr="0">
              <a:spAutoFit/>
            </a:bodyPr>
            <a:lstStyle/>
            <a:p>
              <a:pPr algn="ctr"/>
              <a:r>
                <a:rPr lang="zh-CN" sz="900" dirty="0">
                  <a:solidFill>
                    <a:srgbClr val="6B7280"/>
                  </a:solidFill>
                  <a:latin typeface="Arial" panose="020B0604020202020204"/>
                  <a:ea typeface="微软雅黑" panose="020B0503020204020204" charset="-122"/>
                  <a:cs typeface="Arial" panose="020B0604020202020204"/>
                </a:rPr>
                <a:t>2014</a:t>
              </a:r>
              <a:endParaRPr lang="zh-CN" sz="900" dirty="0">
                <a:solidFill>
                  <a:srgbClr val="6B7280"/>
                </a:solidFill>
                <a:latin typeface="Arial" panose="020B0604020202020204"/>
                <a:ea typeface="微软雅黑" panose="020B0503020204020204" charset="-122"/>
                <a:cs typeface="Arial" panose="020B0604020202020204"/>
              </a:endParaRPr>
            </a:p>
          </p:txBody>
        </p:sp>
        <p:sp>
          <p:nvSpPr>
            <p:cNvPr id="31" name="TextBox 31"/>
            <p:cNvSpPr txBox="1"/>
            <p:nvPr/>
          </p:nvSpPr>
          <p:spPr>
            <a:xfrm>
              <a:off x="3175111" y="5474970"/>
              <a:ext cx="279178" cy="182880"/>
            </a:xfrm>
            <a:prstGeom prst="rect">
              <a:avLst/>
            </a:prstGeom>
            <a:noFill/>
            <a:ln>
              <a:noFill/>
            </a:ln>
          </p:spPr>
          <p:txBody>
            <a:bodyPr wrap="none" lIns="0" tIns="0" rIns="0" bIns="0" anchor="t" anchorCtr="0">
              <a:spAutoFit/>
            </a:bodyPr>
            <a:lstStyle/>
            <a:p>
              <a:pPr algn="ctr"/>
              <a:r>
                <a:rPr lang="zh-CN" sz="900" dirty="0">
                  <a:solidFill>
                    <a:srgbClr val="6B7280"/>
                  </a:solidFill>
                  <a:latin typeface="Arial" panose="020B0604020202020204"/>
                  <a:ea typeface="微软雅黑" panose="020B0503020204020204" charset="-122"/>
                  <a:cs typeface="Arial" panose="020B0604020202020204"/>
                </a:rPr>
                <a:t>2016</a:t>
              </a:r>
              <a:endParaRPr lang="zh-CN" sz="900" dirty="0">
                <a:solidFill>
                  <a:srgbClr val="6B7280"/>
                </a:solidFill>
                <a:latin typeface="Arial" panose="020B0604020202020204"/>
                <a:ea typeface="微软雅黑" panose="020B0503020204020204" charset="-122"/>
                <a:cs typeface="Arial" panose="020B0604020202020204"/>
              </a:endParaRPr>
            </a:p>
          </p:txBody>
        </p:sp>
        <p:sp>
          <p:nvSpPr>
            <p:cNvPr id="32" name="TextBox 32"/>
            <p:cNvSpPr txBox="1"/>
            <p:nvPr/>
          </p:nvSpPr>
          <p:spPr>
            <a:xfrm>
              <a:off x="5165836" y="5474970"/>
              <a:ext cx="279178" cy="182880"/>
            </a:xfrm>
            <a:prstGeom prst="rect">
              <a:avLst/>
            </a:prstGeom>
            <a:noFill/>
            <a:ln>
              <a:noFill/>
            </a:ln>
          </p:spPr>
          <p:txBody>
            <a:bodyPr wrap="none" lIns="0" tIns="0" rIns="0" bIns="0" anchor="t" anchorCtr="0">
              <a:spAutoFit/>
            </a:bodyPr>
            <a:lstStyle/>
            <a:p>
              <a:pPr algn="ctr"/>
              <a:r>
                <a:rPr lang="zh-CN" sz="900" dirty="0">
                  <a:solidFill>
                    <a:srgbClr val="6B7280"/>
                  </a:solidFill>
                  <a:latin typeface="Arial" panose="020B0604020202020204"/>
                  <a:ea typeface="微软雅黑" panose="020B0503020204020204" charset="-122"/>
                  <a:cs typeface="Arial" panose="020B0604020202020204"/>
                </a:rPr>
                <a:t>2018</a:t>
              </a:r>
              <a:endParaRPr lang="zh-CN" sz="900" dirty="0">
                <a:solidFill>
                  <a:srgbClr val="6B7280"/>
                </a:solidFill>
                <a:latin typeface="Arial" panose="020B0604020202020204"/>
                <a:ea typeface="微软雅黑" panose="020B0503020204020204" charset="-122"/>
                <a:cs typeface="Arial" panose="020B0604020202020204"/>
              </a:endParaRPr>
            </a:p>
          </p:txBody>
        </p:sp>
        <p:sp>
          <p:nvSpPr>
            <p:cNvPr id="33" name="TextBox 33"/>
            <p:cNvSpPr txBox="1"/>
            <p:nvPr/>
          </p:nvSpPr>
          <p:spPr>
            <a:xfrm>
              <a:off x="7140130" y="5474970"/>
              <a:ext cx="312039" cy="182880"/>
            </a:xfrm>
            <a:prstGeom prst="rect">
              <a:avLst/>
            </a:prstGeom>
            <a:noFill/>
            <a:ln>
              <a:noFill/>
            </a:ln>
          </p:spPr>
          <p:txBody>
            <a:bodyPr wrap="none" lIns="0" tIns="0" rIns="0" bIns="0" anchor="t" anchorCtr="0">
              <a:spAutoFit/>
            </a:bodyPr>
            <a:lstStyle/>
            <a:p>
              <a:pPr algn="ctr"/>
              <a:r>
                <a:rPr lang="zh-CN" sz="900" dirty="0">
                  <a:solidFill>
                    <a:srgbClr val="C62828"/>
                  </a:solidFill>
                  <a:latin typeface="Arial" panose="020B0604020202020204"/>
                  <a:ea typeface="微软雅黑" panose="020B0503020204020204" charset="-122"/>
                  <a:cs typeface="Arial" panose="020B0604020202020204"/>
                </a:rPr>
                <a:t>2020</a:t>
              </a:r>
              <a:endParaRPr lang="zh-CN" sz="900" dirty="0">
                <a:solidFill>
                  <a:srgbClr val="C62828"/>
                </a:solidFill>
                <a:latin typeface="Arial" panose="020B0604020202020204"/>
                <a:ea typeface="微软雅黑" panose="020B0503020204020204" charset="-122"/>
                <a:cs typeface="Arial" panose="020B0604020202020204"/>
              </a:endParaRPr>
            </a:p>
          </p:txBody>
        </p:sp>
        <p:sp>
          <p:nvSpPr>
            <p:cNvPr id="34" name="TextBox 34"/>
            <p:cNvSpPr txBox="1"/>
            <p:nvPr/>
          </p:nvSpPr>
          <p:spPr>
            <a:xfrm>
              <a:off x="9130856" y="5474970"/>
              <a:ext cx="312039" cy="182880"/>
            </a:xfrm>
            <a:prstGeom prst="rect">
              <a:avLst/>
            </a:prstGeom>
            <a:noFill/>
            <a:ln>
              <a:noFill/>
            </a:ln>
          </p:spPr>
          <p:txBody>
            <a:bodyPr wrap="none" lIns="0" tIns="0" rIns="0" bIns="0" anchor="t" anchorCtr="0">
              <a:spAutoFit/>
            </a:bodyPr>
            <a:lstStyle/>
            <a:p>
              <a:pPr algn="ctr"/>
              <a:r>
                <a:rPr lang="zh-CN" sz="900" dirty="0">
                  <a:solidFill>
                    <a:srgbClr val="6B7280"/>
                  </a:solidFill>
                  <a:latin typeface="Arial" panose="020B0604020202020204"/>
                  <a:ea typeface="微软雅黑" panose="020B0503020204020204" charset="-122"/>
                  <a:cs typeface="Arial" panose="020B0604020202020204"/>
                </a:rPr>
                <a:t>2022</a:t>
              </a:r>
              <a:endParaRPr lang="zh-CN" sz="900" dirty="0">
                <a:solidFill>
                  <a:srgbClr val="6B7280"/>
                </a:solidFill>
                <a:latin typeface="Arial" panose="020B0604020202020204"/>
                <a:ea typeface="微软雅黑" panose="020B0503020204020204" charset="-122"/>
                <a:cs typeface="Arial" panose="020B0604020202020204"/>
              </a:endParaRPr>
            </a:p>
          </p:txBody>
        </p:sp>
        <p:sp>
          <p:nvSpPr>
            <p:cNvPr id="35" name="TextBox 35"/>
            <p:cNvSpPr txBox="1"/>
            <p:nvPr/>
          </p:nvSpPr>
          <p:spPr>
            <a:xfrm>
              <a:off x="10130980" y="5474970"/>
              <a:ext cx="312039" cy="182880"/>
            </a:xfrm>
            <a:prstGeom prst="rect">
              <a:avLst/>
            </a:prstGeom>
            <a:noFill/>
            <a:ln>
              <a:noFill/>
            </a:ln>
          </p:spPr>
          <p:txBody>
            <a:bodyPr wrap="none" lIns="0" tIns="0" rIns="0" bIns="0" anchor="t" anchorCtr="0">
              <a:spAutoFit/>
            </a:bodyPr>
            <a:lstStyle/>
            <a:p>
              <a:pPr algn="ctr"/>
              <a:r>
                <a:rPr lang="zh-CN" sz="900" dirty="0">
                  <a:solidFill>
                    <a:srgbClr val="2E6B8F"/>
                  </a:solidFill>
                  <a:latin typeface="Arial" panose="020B0604020202020204"/>
                  <a:ea typeface="微软雅黑" panose="020B0503020204020204" charset="-122"/>
                  <a:cs typeface="Arial" panose="020B0604020202020204"/>
                </a:rPr>
                <a:t>2023</a:t>
              </a:r>
              <a:endParaRPr lang="zh-CN" sz="900" dirty="0">
                <a:solidFill>
                  <a:srgbClr val="2E6B8F"/>
                </a:solidFill>
                <a:latin typeface="Arial" panose="020B0604020202020204"/>
                <a:ea typeface="微软雅黑" panose="020B0503020204020204" charset="-122"/>
                <a:cs typeface="Arial" panose="020B0604020202020204"/>
              </a:endParaRPr>
            </a:p>
          </p:txBody>
        </p:sp>
        <p:sp>
          <p:nvSpPr>
            <p:cNvPr id="36" name="Polygon 36"/>
            <p:cNvSpPr/>
            <p:nvPr/>
          </p:nvSpPr>
          <p:spPr>
            <a:xfrm>
              <a:off x="1333500" y="2247900"/>
              <a:ext cx="8953500" cy="3086100"/>
            </a:xfrm>
            <a:custGeom>
              <a:avLst/>
              <a:gdLst/>
              <a:ahLst/>
              <a:cxnLst/>
              <a:rect l="l" t="t" r="r" b="b"/>
              <a:pathLst>
                <a:path w="8953500" h="3086100">
                  <a:moveTo>
                    <a:pt x="0" y="2552700"/>
                  </a:moveTo>
                  <a:lnTo>
                    <a:pt x="990600" y="2400300"/>
                  </a:lnTo>
                  <a:lnTo>
                    <a:pt x="1990725" y="2190750"/>
                  </a:lnTo>
                  <a:lnTo>
                    <a:pt x="2981325" y="1704975"/>
                  </a:lnTo>
                  <a:lnTo>
                    <a:pt x="3971925" y="1543050"/>
                  </a:lnTo>
                  <a:lnTo>
                    <a:pt x="4972050" y="1371600"/>
                  </a:lnTo>
                  <a:lnTo>
                    <a:pt x="5962650" y="1123950"/>
                  </a:lnTo>
                  <a:lnTo>
                    <a:pt x="6962775" y="857250"/>
                  </a:lnTo>
                  <a:lnTo>
                    <a:pt x="7953375" y="219075"/>
                  </a:lnTo>
                  <a:lnTo>
                    <a:pt x="8953500" y="0"/>
                  </a:lnTo>
                  <a:lnTo>
                    <a:pt x="8953500" y="3086100"/>
                  </a:lnTo>
                  <a:lnTo>
                    <a:pt x="0" y="3086100"/>
                  </a:lnTo>
                  <a:close/>
                </a:path>
              </a:pathLst>
            </a:custGeom>
            <a:gradFill>
              <a:gsLst>
                <a:gs pos="0">
                  <a:srgbClr val="1A3A5C">
                    <a:alpha val="12000"/>
                  </a:srgbClr>
                </a:gs>
                <a:gs pos="100000">
                  <a:srgbClr val="1A3A5C">
                    <a:alpha val="2000"/>
                  </a:srgbClr>
                </a:gs>
              </a:gsLst>
              <a:lin ang="5400000" scaled="1"/>
            </a:gradFill>
            <a:ln>
              <a:noFill/>
            </a:ln>
          </p:spPr>
        </p:sp>
        <p:sp>
          <p:nvSpPr>
            <p:cNvPr id="37" name="Polyline 37"/>
            <p:cNvSpPr/>
            <p:nvPr/>
          </p:nvSpPr>
          <p:spPr>
            <a:xfrm>
              <a:off x="1333500" y="2247900"/>
              <a:ext cx="8953500" cy="2552700"/>
            </a:xfrm>
            <a:custGeom>
              <a:avLst/>
              <a:gdLst/>
              <a:ahLst/>
              <a:cxnLst/>
              <a:rect l="l" t="t" r="r" b="b"/>
              <a:pathLst>
                <a:path w="8953500" h="2552700">
                  <a:moveTo>
                    <a:pt x="0" y="2552700"/>
                  </a:moveTo>
                  <a:lnTo>
                    <a:pt x="990600" y="2400300"/>
                  </a:lnTo>
                  <a:lnTo>
                    <a:pt x="1990725" y="2190750"/>
                  </a:lnTo>
                  <a:lnTo>
                    <a:pt x="2981325" y="1704975"/>
                  </a:lnTo>
                  <a:lnTo>
                    <a:pt x="3971925" y="1543050"/>
                  </a:lnTo>
                  <a:lnTo>
                    <a:pt x="4972050" y="1371600"/>
                  </a:lnTo>
                  <a:lnTo>
                    <a:pt x="5962650" y="1123950"/>
                  </a:lnTo>
                  <a:lnTo>
                    <a:pt x="6962775" y="857250"/>
                  </a:lnTo>
                  <a:lnTo>
                    <a:pt x="7953375" y="219075"/>
                  </a:lnTo>
                  <a:lnTo>
                    <a:pt x="8953500" y="0"/>
                  </a:lnTo>
                </a:path>
              </a:pathLst>
            </a:custGeom>
            <a:noFill/>
            <a:ln w="28575" cap="rnd">
              <a:solidFill>
                <a:srgbClr val="1A3A5C"/>
              </a:solidFill>
              <a:round/>
            </a:ln>
          </p:spPr>
        </p:sp>
        <p:sp>
          <p:nvSpPr>
            <p:cNvPr id="38" name="Ellipse 38"/>
            <p:cNvSpPr/>
            <p:nvPr/>
          </p:nvSpPr>
          <p:spPr>
            <a:xfrm>
              <a:off x="1285875" y="4752975"/>
              <a:ext cx="95250" cy="95250"/>
            </a:xfrm>
            <a:prstGeom prst="ellipse">
              <a:avLst/>
            </a:prstGeom>
            <a:solidFill>
              <a:srgbClr val="1A3A5C"/>
            </a:solidFill>
            <a:ln w="19050">
              <a:solidFill>
                <a:srgbClr val="FFFFFF"/>
              </a:solidFill>
            </a:ln>
            <a:effectLst>
              <a:outerShdw blurRad="38100" dist="9525" dir="5400000" algn="ctr" rotWithShape="0">
                <a:srgbClr val="0F172A">
                  <a:alpha val="11250"/>
                </a:srgbClr>
              </a:outerShdw>
            </a:effectLst>
          </p:spPr>
        </p:sp>
        <p:sp>
          <p:nvSpPr>
            <p:cNvPr id="39" name="Ellipse 39"/>
            <p:cNvSpPr/>
            <p:nvPr/>
          </p:nvSpPr>
          <p:spPr>
            <a:xfrm>
              <a:off x="2276475" y="4600575"/>
              <a:ext cx="95250" cy="95250"/>
            </a:xfrm>
            <a:prstGeom prst="ellipse">
              <a:avLst/>
            </a:prstGeom>
            <a:solidFill>
              <a:srgbClr val="1A3A5C"/>
            </a:solidFill>
            <a:ln w="19050">
              <a:solidFill>
                <a:srgbClr val="FFFFFF"/>
              </a:solidFill>
            </a:ln>
            <a:effectLst>
              <a:outerShdw blurRad="38100" dist="9525" dir="5400000" algn="ctr" rotWithShape="0">
                <a:srgbClr val="0F172A">
                  <a:alpha val="11250"/>
                </a:srgbClr>
              </a:outerShdw>
            </a:effectLst>
          </p:spPr>
        </p:sp>
        <p:sp>
          <p:nvSpPr>
            <p:cNvPr id="40" name="Ellipse 40"/>
            <p:cNvSpPr/>
            <p:nvPr/>
          </p:nvSpPr>
          <p:spPr>
            <a:xfrm>
              <a:off x="3276600" y="4391025"/>
              <a:ext cx="95250" cy="95250"/>
            </a:xfrm>
            <a:prstGeom prst="ellipse">
              <a:avLst/>
            </a:prstGeom>
            <a:solidFill>
              <a:srgbClr val="1A3A5C"/>
            </a:solidFill>
            <a:ln w="19050">
              <a:solidFill>
                <a:srgbClr val="FFFFFF"/>
              </a:solidFill>
            </a:ln>
            <a:effectLst>
              <a:outerShdw blurRad="38100" dist="9525" dir="5400000" algn="ctr" rotWithShape="0">
                <a:srgbClr val="0F172A">
                  <a:alpha val="11250"/>
                </a:srgbClr>
              </a:outerShdw>
            </a:effectLst>
          </p:spPr>
        </p:sp>
        <p:sp>
          <p:nvSpPr>
            <p:cNvPr id="41" name="Ellipse 41"/>
            <p:cNvSpPr/>
            <p:nvPr/>
          </p:nvSpPr>
          <p:spPr>
            <a:xfrm>
              <a:off x="4267200" y="3905250"/>
              <a:ext cx="95250" cy="95250"/>
            </a:xfrm>
            <a:prstGeom prst="ellipse">
              <a:avLst/>
            </a:prstGeom>
            <a:solidFill>
              <a:srgbClr val="1A3A5C"/>
            </a:solidFill>
            <a:ln w="19050">
              <a:solidFill>
                <a:srgbClr val="FFFFFF"/>
              </a:solidFill>
            </a:ln>
            <a:effectLst>
              <a:outerShdw blurRad="38100" dist="9525" dir="5400000" algn="ctr" rotWithShape="0">
                <a:srgbClr val="0F172A">
                  <a:alpha val="11250"/>
                </a:srgbClr>
              </a:outerShdw>
            </a:effectLst>
          </p:spPr>
        </p:sp>
        <p:sp>
          <p:nvSpPr>
            <p:cNvPr id="42" name="Ellipse 42"/>
            <p:cNvSpPr/>
            <p:nvPr/>
          </p:nvSpPr>
          <p:spPr>
            <a:xfrm>
              <a:off x="5257800" y="3743325"/>
              <a:ext cx="95250" cy="95250"/>
            </a:xfrm>
            <a:prstGeom prst="ellipse">
              <a:avLst/>
            </a:prstGeom>
            <a:solidFill>
              <a:srgbClr val="1A3A5C"/>
            </a:solidFill>
            <a:ln w="19050">
              <a:solidFill>
                <a:srgbClr val="FFFFFF"/>
              </a:solidFill>
            </a:ln>
            <a:effectLst>
              <a:outerShdw blurRad="38100" dist="9525" dir="5400000" algn="ctr" rotWithShape="0">
                <a:srgbClr val="0F172A">
                  <a:alpha val="11250"/>
                </a:srgbClr>
              </a:outerShdw>
            </a:effectLst>
          </p:spPr>
        </p:sp>
        <p:sp>
          <p:nvSpPr>
            <p:cNvPr id="43" name="Ellipse 43"/>
            <p:cNvSpPr/>
            <p:nvPr/>
          </p:nvSpPr>
          <p:spPr>
            <a:xfrm>
              <a:off x="6257925" y="3571875"/>
              <a:ext cx="95250" cy="95250"/>
            </a:xfrm>
            <a:prstGeom prst="ellipse">
              <a:avLst/>
            </a:prstGeom>
            <a:solidFill>
              <a:srgbClr val="1A3A5C"/>
            </a:solidFill>
            <a:ln w="19050">
              <a:solidFill>
                <a:srgbClr val="FFFFFF"/>
              </a:solidFill>
            </a:ln>
            <a:effectLst>
              <a:outerShdw blurRad="38100" dist="9525" dir="5400000" algn="ctr" rotWithShape="0">
                <a:srgbClr val="0F172A">
                  <a:alpha val="11250"/>
                </a:srgbClr>
              </a:outerShdw>
            </a:effectLst>
          </p:spPr>
        </p:sp>
        <p:sp>
          <p:nvSpPr>
            <p:cNvPr id="44" name="Ellipse 44"/>
            <p:cNvSpPr/>
            <p:nvPr/>
          </p:nvSpPr>
          <p:spPr>
            <a:xfrm>
              <a:off x="7248525" y="3324225"/>
              <a:ext cx="95250" cy="95250"/>
            </a:xfrm>
            <a:prstGeom prst="ellipse">
              <a:avLst/>
            </a:prstGeom>
            <a:solidFill>
              <a:srgbClr val="1A3A5C"/>
            </a:solidFill>
            <a:ln w="19050">
              <a:solidFill>
                <a:srgbClr val="FFFFFF"/>
              </a:solidFill>
            </a:ln>
            <a:effectLst>
              <a:outerShdw blurRad="38100" dist="9525" dir="5400000" algn="ctr" rotWithShape="0">
                <a:srgbClr val="0F172A">
                  <a:alpha val="11250"/>
                </a:srgbClr>
              </a:outerShdw>
            </a:effectLst>
          </p:spPr>
        </p:sp>
        <p:sp>
          <p:nvSpPr>
            <p:cNvPr id="45" name="Ellipse 45"/>
            <p:cNvSpPr/>
            <p:nvPr/>
          </p:nvSpPr>
          <p:spPr>
            <a:xfrm>
              <a:off x="8248650" y="3057525"/>
              <a:ext cx="95250" cy="95250"/>
            </a:xfrm>
            <a:prstGeom prst="ellipse">
              <a:avLst/>
            </a:prstGeom>
            <a:solidFill>
              <a:srgbClr val="1A3A5C"/>
            </a:solidFill>
            <a:ln w="19050">
              <a:solidFill>
                <a:srgbClr val="FFFFFF"/>
              </a:solidFill>
            </a:ln>
            <a:effectLst>
              <a:outerShdw blurRad="38100" dist="9525" dir="5400000" algn="ctr" rotWithShape="0">
                <a:srgbClr val="0F172A">
                  <a:alpha val="11250"/>
                </a:srgbClr>
              </a:outerShdw>
            </a:effectLst>
          </p:spPr>
        </p:sp>
        <p:sp>
          <p:nvSpPr>
            <p:cNvPr id="46" name="Ellipse 46"/>
            <p:cNvSpPr/>
            <p:nvPr/>
          </p:nvSpPr>
          <p:spPr>
            <a:xfrm>
              <a:off x="9239250" y="2419350"/>
              <a:ext cx="95250" cy="95250"/>
            </a:xfrm>
            <a:prstGeom prst="ellipse">
              <a:avLst/>
            </a:prstGeom>
            <a:solidFill>
              <a:srgbClr val="1A3A5C"/>
            </a:solidFill>
            <a:ln w="19050">
              <a:solidFill>
                <a:srgbClr val="FFFFFF"/>
              </a:solidFill>
            </a:ln>
            <a:effectLst>
              <a:outerShdw blurRad="38100" dist="9525" dir="5400000" algn="ctr" rotWithShape="0">
                <a:srgbClr val="0F172A">
                  <a:alpha val="11250"/>
                </a:srgbClr>
              </a:outerShdw>
            </a:effectLst>
          </p:spPr>
        </p:sp>
        <p:sp>
          <p:nvSpPr>
            <p:cNvPr id="47" name="Ellipse 47"/>
            <p:cNvSpPr/>
            <p:nvPr/>
          </p:nvSpPr>
          <p:spPr>
            <a:xfrm>
              <a:off x="10220325" y="2181225"/>
              <a:ext cx="133350" cy="133350"/>
            </a:xfrm>
            <a:prstGeom prst="ellipse">
              <a:avLst/>
            </a:prstGeom>
            <a:solidFill>
              <a:srgbClr val="1A3A5C"/>
            </a:solidFill>
            <a:ln w="23812">
              <a:solidFill>
                <a:srgbClr val="FFFFFF"/>
              </a:solidFill>
            </a:ln>
            <a:effectLst>
              <a:outerShdw blurRad="38100" dist="9525" dir="5400000" algn="ctr" rotWithShape="0">
                <a:srgbClr val="0F172A">
                  <a:alpha val="11250"/>
                </a:srgbClr>
              </a:outerShdw>
            </a:effectLst>
          </p:spPr>
        </p:sp>
        <p:sp>
          <p:nvSpPr>
            <p:cNvPr id="48" name="Polygon 48"/>
            <p:cNvSpPr/>
            <p:nvPr/>
          </p:nvSpPr>
          <p:spPr>
            <a:xfrm>
              <a:off x="1333500" y="2143125"/>
              <a:ext cx="8953500" cy="3190875"/>
            </a:xfrm>
            <a:custGeom>
              <a:avLst/>
              <a:gdLst/>
              <a:ahLst/>
              <a:cxnLst/>
              <a:rect l="l" t="t" r="r" b="b"/>
              <a:pathLst>
                <a:path w="8953500" h="3190875">
                  <a:moveTo>
                    <a:pt x="0" y="1504950"/>
                  </a:moveTo>
                  <a:lnTo>
                    <a:pt x="990600" y="1285875"/>
                  </a:lnTo>
                  <a:lnTo>
                    <a:pt x="1990725" y="1000125"/>
                  </a:lnTo>
                  <a:lnTo>
                    <a:pt x="2981325" y="647700"/>
                  </a:lnTo>
                  <a:lnTo>
                    <a:pt x="3971925" y="333375"/>
                  </a:lnTo>
                  <a:lnTo>
                    <a:pt x="4972050" y="0"/>
                  </a:lnTo>
                  <a:lnTo>
                    <a:pt x="5962650" y="1952625"/>
                  </a:lnTo>
                  <a:lnTo>
                    <a:pt x="6962775" y="1562100"/>
                  </a:lnTo>
                  <a:lnTo>
                    <a:pt x="7953375" y="2057400"/>
                  </a:lnTo>
                  <a:lnTo>
                    <a:pt x="8953500" y="457200"/>
                  </a:lnTo>
                  <a:lnTo>
                    <a:pt x="8953500" y="3190875"/>
                  </a:lnTo>
                  <a:lnTo>
                    <a:pt x="0" y="3190875"/>
                  </a:lnTo>
                  <a:close/>
                </a:path>
              </a:pathLst>
            </a:custGeom>
            <a:gradFill>
              <a:gsLst>
                <a:gs pos="0">
                  <a:srgbClr val="C8963E">
                    <a:alpha val="10000"/>
                  </a:srgbClr>
                </a:gs>
                <a:gs pos="100000">
                  <a:srgbClr val="C8963E">
                    <a:alpha val="2000"/>
                  </a:srgbClr>
                </a:gs>
              </a:gsLst>
              <a:lin ang="5400000" scaled="1"/>
            </a:gradFill>
            <a:ln>
              <a:noFill/>
            </a:ln>
          </p:spPr>
        </p:sp>
        <p:sp>
          <p:nvSpPr>
            <p:cNvPr id="49" name="Polyline 49"/>
            <p:cNvSpPr/>
            <p:nvPr/>
          </p:nvSpPr>
          <p:spPr>
            <a:xfrm>
              <a:off x="1333500" y="2143125"/>
              <a:ext cx="8953500" cy="2057400"/>
            </a:xfrm>
            <a:custGeom>
              <a:avLst/>
              <a:gdLst/>
              <a:ahLst/>
              <a:cxnLst/>
              <a:rect l="l" t="t" r="r" b="b"/>
              <a:pathLst>
                <a:path w="8953500" h="2057400">
                  <a:moveTo>
                    <a:pt x="0" y="1504950"/>
                  </a:moveTo>
                  <a:lnTo>
                    <a:pt x="990600" y="1285875"/>
                  </a:lnTo>
                  <a:lnTo>
                    <a:pt x="1990725" y="1000125"/>
                  </a:lnTo>
                  <a:lnTo>
                    <a:pt x="2981325" y="647700"/>
                  </a:lnTo>
                  <a:lnTo>
                    <a:pt x="3971925" y="333375"/>
                  </a:lnTo>
                  <a:lnTo>
                    <a:pt x="4972050" y="0"/>
                  </a:lnTo>
                  <a:lnTo>
                    <a:pt x="5962650" y="1952625"/>
                  </a:lnTo>
                  <a:lnTo>
                    <a:pt x="6962775" y="1562100"/>
                  </a:lnTo>
                  <a:lnTo>
                    <a:pt x="7953375" y="2057400"/>
                  </a:lnTo>
                  <a:lnTo>
                    <a:pt x="8953500" y="457200"/>
                  </a:lnTo>
                </a:path>
              </a:pathLst>
            </a:custGeom>
            <a:noFill/>
            <a:ln w="23812" cap="rnd">
              <a:solidFill>
                <a:srgbClr val="C8963E"/>
              </a:solidFill>
              <a:prstDash val="lgDash"/>
              <a:round/>
            </a:ln>
          </p:spPr>
        </p:sp>
        <p:sp>
          <p:nvSpPr>
            <p:cNvPr id="50" name="Rectangle 50"/>
            <p:cNvSpPr/>
            <p:nvPr/>
          </p:nvSpPr>
          <p:spPr>
            <a:xfrm>
              <a:off x="1285875" y="3600450"/>
              <a:ext cx="95250" cy="95250"/>
            </a:xfrm>
            <a:prstGeom prst="roundRect">
              <a:avLst>
                <a:gd name="adj" fmla="val 20000"/>
              </a:avLst>
            </a:prstGeom>
            <a:solidFill>
              <a:srgbClr val="C8963E"/>
            </a:solidFill>
            <a:ln w="19050">
              <a:solidFill>
                <a:srgbClr val="FFFFFF"/>
              </a:solidFill>
            </a:ln>
            <a:effectLst>
              <a:outerShdw blurRad="38100" dist="9525" dir="5400000" algn="ctr" rotWithShape="0">
                <a:srgbClr val="0F172A">
                  <a:alpha val="11250"/>
                </a:srgbClr>
              </a:outerShdw>
            </a:effectLst>
          </p:spPr>
        </p:sp>
        <p:sp>
          <p:nvSpPr>
            <p:cNvPr id="51" name="Rectangle 51"/>
            <p:cNvSpPr/>
            <p:nvPr/>
          </p:nvSpPr>
          <p:spPr>
            <a:xfrm>
              <a:off x="2276475" y="3381375"/>
              <a:ext cx="95250" cy="95250"/>
            </a:xfrm>
            <a:prstGeom prst="roundRect">
              <a:avLst>
                <a:gd name="adj" fmla="val 20000"/>
              </a:avLst>
            </a:prstGeom>
            <a:solidFill>
              <a:srgbClr val="C8963E"/>
            </a:solidFill>
            <a:ln w="19050">
              <a:solidFill>
                <a:srgbClr val="FFFFFF"/>
              </a:solidFill>
            </a:ln>
            <a:effectLst>
              <a:outerShdw blurRad="38100" dist="9525" dir="5400000" algn="ctr" rotWithShape="0">
                <a:srgbClr val="0F172A">
                  <a:alpha val="11250"/>
                </a:srgbClr>
              </a:outerShdw>
            </a:effectLst>
          </p:spPr>
        </p:sp>
        <p:sp>
          <p:nvSpPr>
            <p:cNvPr id="52" name="Rectangle 52"/>
            <p:cNvSpPr/>
            <p:nvPr/>
          </p:nvSpPr>
          <p:spPr>
            <a:xfrm>
              <a:off x="3276600" y="3095625"/>
              <a:ext cx="95250" cy="95250"/>
            </a:xfrm>
            <a:prstGeom prst="roundRect">
              <a:avLst>
                <a:gd name="adj" fmla="val 20000"/>
              </a:avLst>
            </a:prstGeom>
            <a:solidFill>
              <a:srgbClr val="C8963E"/>
            </a:solidFill>
            <a:ln w="19050">
              <a:solidFill>
                <a:srgbClr val="FFFFFF"/>
              </a:solidFill>
            </a:ln>
            <a:effectLst>
              <a:outerShdw blurRad="38100" dist="9525" dir="5400000" algn="ctr" rotWithShape="0">
                <a:srgbClr val="0F172A">
                  <a:alpha val="11250"/>
                </a:srgbClr>
              </a:outerShdw>
            </a:effectLst>
          </p:spPr>
        </p:sp>
        <p:sp>
          <p:nvSpPr>
            <p:cNvPr id="53" name="Rectangle 53"/>
            <p:cNvSpPr/>
            <p:nvPr/>
          </p:nvSpPr>
          <p:spPr>
            <a:xfrm>
              <a:off x="4267200" y="2743200"/>
              <a:ext cx="95250" cy="95250"/>
            </a:xfrm>
            <a:prstGeom prst="roundRect">
              <a:avLst>
                <a:gd name="adj" fmla="val 20000"/>
              </a:avLst>
            </a:prstGeom>
            <a:solidFill>
              <a:srgbClr val="C8963E"/>
            </a:solidFill>
            <a:ln w="19050">
              <a:solidFill>
                <a:srgbClr val="FFFFFF"/>
              </a:solidFill>
            </a:ln>
            <a:effectLst>
              <a:outerShdw blurRad="38100" dist="9525" dir="5400000" algn="ctr" rotWithShape="0">
                <a:srgbClr val="0F172A">
                  <a:alpha val="11250"/>
                </a:srgbClr>
              </a:outerShdw>
            </a:effectLst>
          </p:spPr>
        </p:sp>
        <p:sp>
          <p:nvSpPr>
            <p:cNvPr id="54" name="Rectangle 54"/>
            <p:cNvSpPr/>
            <p:nvPr/>
          </p:nvSpPr>
          <p:spPr>
            <a:xfrm>
              <a:off x="5257800" y="2428875"/>
              <a:ext cx="95250" cy="95250"/>
            </a:xfrm>
            <a:prstGeom prst="roundRect">
              <a:avLst>
                <a:gd name="adj" fmla="val 20000"/>
              </a:avLst>
            </a:prstGeom>
            <a:solidFill>
              <a:srgbClr val="C8963E"/>
            </a:solidFill>
            <a:ln w="19050">
              <a:solidFill>
                <a:srgbClr val="FFFFFF"/>
              </a:solidFill>
            </a:ln>
            <a:effectLst>
              <a:outerShdw blurRad="38100" dist="9525" dir="5400000" algn="ctr" rotWithShape="0">
                <a:srgbClr val="0F172A">
                  <a:alpha val="11250"/>
                </a:srgbClr>
              </a:outerShdw>
            </a:effectLst>
          </p:spPr>
        </p:sp>
        <p:sp>
          <p:nvSpPr>
            <p:cNvPr id="55" name="Rectangle 55"/>
            <p:cNvSpPr/>
            <p:nvPr/>
          </p:nvSpPr>
          <p:spPr>
            <a:xfrm>
              <a:off x="6257925" y="2095500"/>
              <a:ext cx="95250" cy="95250"/>
            </a:xfrm>
            <a:prstGeom prst="roundRect">
              <a:avLst>
                <a:gd name="adj" fmla="val 20000"/>
              </a:avLst>
            </a:prstGeom>
            <a:solidFill>
              <a:srgbClr val="C8963E"/>
            </a:solidFill>
            <a:ln w="19050">
              <a:solidFill>
                <a:srgbClr val="FFFFFF"/>
              </a:solidFill>
            </a:ln>
            <a:effectLst>
              <a:outerShdw blurRad="38100" dist="9525" dir="5400000" algn="ctr" rotWithShape="0">
                <a:srgbClr val="0F172A">
                  <a:alpha val="11250"/>
                </a:srgbClr>
              </a:outerShdw>
            </a:effectLst>
          </p:spPr>
        </p:sp>
        <p:sp>
          <p:nvSpPr>
            <p:cNvPr id="56" name="Rectangle 56"/>
            <p:cNvSpPr/>
            <p:nvPr/>
          </p:nvSpPr>
          <p:spPr>
            <a:xfrm>
              <a:off x="7248525" y="4048125"/>
              <a:ext cx="95250" cy="95250"/>
            </a:xfrm>
            <a:prstGeom prst="roundRect">
              <a:avLst>
                <a:gd name="adj" fmla="val 20000"/>
              </a:avLst>
            </a:prstGeom>
            <a:solidFill>
              <a:srgbClr val="C8963E"/>
            </a:solidFill>
            <a:ln w="19050">
              <a:solidFill>
                <a:srgbClr val="FFFFFF"/>
              </a:solidFill>
            </a:ln>
            <a:effectLst>
              <a:outerShdw blurRad="38100" dist="9525" dir="5400000" algn="ctr" rotWithShape="0">
                <a:srgbClr val="0F172A">
                  <a:alpha val="11250"/>
                </a:srgbClr>
              </a:outerShdw>
            </a:effectLst>
          </p:spPr>
        </p:sp>
        <p:sp>
          <p:nvSpPr>
            <p:cNvPr id="57" name="Rectangle 57"/>
            <p:cNvSpPr/>
            <p:nvPr/>
          </p:nvSpPr>
          <p:spPr>
            <a:xfrm>
              <a:off x="8248650" y="3657600"/>
              <a:ext cx="95250" cy="95250"/>
            </a:xfrm>
            <a:prstGeom prst="roundRect">
              <a:avLst>
                <a:gd name="adj" fmla="val 20000"/>
              </a:avLst>
            </a:prstGeom>
            <a:solidFill>
              <a:srgbClr val="C8963E"/>
            </a:solidFill>
            <a:ln w="19050">
              <a:solidFill>
                <a:srgbClr val="FFFFFF"/>
              </a:solidFill>
            </a:ln>
            <a:effectLst>
              <a:outerShdw blurRad="38100" dist="9525" dir="5400000" algn="ctr" rotWithShape="0">
                <a:srgbClr val="0F172A">
                  <a:alpha val="11250"/>
                </a:srgbClr>
              </a:outerShdw>
            </a:effectLst>
          </p:spPr>
        </p:sp>
        <p:sp>
          <p:nvSpPr>
            <p:cNvPr id="58" name="Rectangle 58"/>
            <p:cNvSpPr/>
            <p:nvPr/>
          </p:nvSpPr>
          <p:spPr>
            <a:xfrm>
              <a:off x="9239250" y="4152900"/>
              <a:ext cx="95250" cy="95250"/>
            </a:xfrm>
            <a:prstGeom prst="roundRect">
              <a:avLst>
                <a:gd name="adj" fmla="val 20000"/>
              </a:avLst>
            </a:prstGeom>
            <a:solidFill>
              <a:srgbClr val="C8963E"/>
            </a:solidFill>
            <a:ln w="19050">
              <a:solidFill>
                <a:srgbClr val="FFFFFF"/>
              </a:solidFill>
            </a:ln>
            <a:effectLst>
              <a:outerShdw blurRad="38100" dist="9525" dir="5400000" algn="ctr" rotWithShape="0">
                <a:srgbClr val="0F172A">
                  <a:alpha val="11250"/>
                </a:srgbClr>
              </a:outerShdw>
            </a:effectLst>
          </p:spPr>
        </p:sp>
        <p:sp>
          <p:nvSpPr>
            <p:cNvPr id="59" name="Rectangle 59"/>
            <p:cNvSpPr/>
            <p:nvPr/>
          </p:nvSpPr>
          <p:spPr>
            <a:xfrm>
              <a:off x="10239375" y="2552700"/>
              <a:ext cx="95250" cy="95250"/>
            </a:xfrm>
            <a:prstGeom prst="roundRect">
              <a:avLst>
                <a:gd name="adj" fmla="val 20000"/>
              </a:avLst>
            </a:prstGeom>
            <a:solidFill>
              <a:srgbClr val="C8963E"/>
            </a:solidFill>
            <a:ln w="19050">
              <a:solidFill>
                <a:srgbClr val="FFFFFF"/>
              </a:solidFill>
            </a:ln>
            <a:effectLst>
              <a:outerShdw blurRad="38100" dist="9525" dir="5400000" algn="ctr" rotWithShape="0">
                <a:srgbClr val="0F172A">
                  <a:alpha val="11250"/>
                </a:srgbClr>
              </a:outerShdw>
            </a:effectLst>
          </p:spPr>
        </p:sp>
        <p:sp>
          <p:nvSpPr>
            <p:cNvPr id="60" name="Rectangle 60"/>
            <p:cNvSpPr/>
            <p:nvPr/>
          </p:nvSpPr>
          <p:spPr>
            <a:xfrm>
              <a:off x="6115050" y="1857375"/>
              <a:ext cx="952500" cy="209550"/>
            </a:xfrm>
            <a:prstGeom prst="roundRect">
              <a:avLst>
                <a:gd name="adj" fmla="val 18182"/>
              </a:avLst>
            </a:prstGeom>
            <a:solidFill>
              <a:srgbClr val="C8963E"/>
            </a:solidFill>
            <a:ln>
              <a:noFill/>
            </a:ln>
          </p:spPr>
        </p:sp>
        <p:sp>
          <p:nvSpPr>
            <p:cNvPr id="61" name="TextBox 61"/>
            <p:cNvSpPr txBox="1"/>
            <p:nvPr/>
          </p:nvSpPr>
          <p:spPr>
            <a:xfrm>
              <a:off x="6317637" y="1903095"/>
              <a:ext cx="547326"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panose="020B0604020202020204"/>
                  <a:ea typeface="微软雅黑" panose="020B0503020204020204" charset="-122"/>
                  <a:cs typeface="Arial" panose="020B0604020202020204"/>
                </a:rPr>
                <a:t>57251 亿</a:t>
              </a:r>
              <a:endParaRPr lang="zh-CN" sz="900" b="1" dirty="0">
                <a:solidFill>
                  <a:srgbClr val="FFFFFF"/>
                </a:solidFill>
                <a:latin typeface="Arial" panose="020B0604020202020204"/>
                <a:ea typeface="微软雅黑" panose="020B0503020204020204" charset="-122"/>
                <a:cs typeface="Arial" panose="020B0604020202020204"/>
              </a:endParaRPr>
            </a:p>
          </p:txBody>
        </p:sp>
        <p:sp>
          <p:nvSpPr>
            <p:cNvPr id="62" name="Rectangle 62"/>
            <p:cNvSpPr/>
            <p:nvPr/>
          </p:nvSpPr>
          <p:spPr>
            <a:xfrm>
              <a:off x="10096500" y="2333625"/>
              <a:ext cx="952500" cy="209550"/>
            </a:xfrm>
            <a:prstGeom prst="roundRect">
              <a:avLst>
                <a:gd name="adj" fmla="val 18182"/>
              </a:avLst>
            </a:prstGeom>
            <a:solidFill>
              <a:srgbClr val="2E6B8F"/>
            </a:solidFill>
            <a:ln>
              <a:noFill/>
            </a:ln>
          </p:spPr>
        </p:sp>
        <p:sp>
          <p:nvSpPr>
            <p:cNvPr id="63" name="TextBox 63"/>
            <p:cNvSpPr txBox="1"/>
            <p:nvPr/>
          </p:nvSpPr>
          <p:spPr>
            <a:xfrm>
              <a:off x="10319790" y="2379345"/>
              <a:ext cx="505920"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panose="020B0604020202020204"/>
                  <a:ea typeface="微软雅黑" panose="020B0503020204020204" charset="-122"/>
                  <a:cs typeface="Arial" panose="020B0604020202020204"/>
                </a:rPr>
                <a:t>6833 个</a:t>
              </a:r>
              <a:endParaRPr lang="zh-CN" sz="900" b="1" dirty="0">
                <a:solidFill>
                  <a:srgbClr val="FFFFFF"/>
                </a:solidFill>
                <a:latin typeface="Arial" panose="020B0604020202020204"/>
                <a:ea typeface="微软雅黑" panose="020B0503020204020204" charset="-122"/>
                <a:cs typeface="Arial" panose="020B0604020202020204"/>
              </a:endParaRPr>
            </a:p>
          </p:txBody>
        </p:sp>
      </p:grpSp>
      <p:grpSp>
        <p:nvGrpSpPr>
          <p:cNvPr id="75" name="Group 75"/>
          <p:cNvGrpSpPr/>
          <p:nvPr/>
        </p:nvGrpSpPr>
        <p:grpSpPr>
          <a:xfrm>
            <a:off x="558165" y="5715000"/>
            <a:ext cx="7502604" cy="1052512"/>
            <a:chOff x="558165" y="5715000"/>
            <a:chExt cx="7502604" cy="1052512"/>
          </a:xfrm>
        </p:grpSpPr>
        <p:sp>
          <p:nvSpPr>
            <p:cNvPr id="65" name="Rectangle 65"/>
            <p:cNvSpPr/>
            <p:nvPr/>
          </p:nvSpPr>
          <p:spPr>
            <a:xfrm>
              <a:off x="571500" y="5715000"/>
              <a:ext cx="4762500" cy="304800"/>
            </a:xfrm>
            <a:prstGeom prst="roundRect">
              <a:avLst>
                <a:gd name="adj" fmla="val 18750"/>
              </a:avLst>
            </a:prstGeom>
            <a:solidFill>
              <a:srgbClr val="F0F4F8"/>
            </a:solidFill>
            <a:ln>
              <a:noFill/>
            </a:ln>
          </p:spPr>
        </p:sp>
        <p:sp>
          <p:nvSpPr>
            <p:cNvPr id="66" name="Line 66"/>
            <p:cNvSpPr/>
            <p:nvPr/>
          </p:nvSpPr>
          <p:spPr>
            <a:xfrm>
              <a:off x="714375" y="5867400"/>
              <a:ext cx="285750" cy="9525"/>
            </a:xfrm>
            <a:custGeom>
              <a:avLst/>
              <a:gdLst/>
              <a:ahLst/>
              <a:cxnLst/>
              <a:rect l="l" t="t" r="r" b="b"/>
              <a:pathLst>
                <a:path w="285750" h="9525">
                  <a:moveTo>
                    <a:pt x="0" y="0"/>
                  </a:moveTo>
                  <a:lnTo>
                    <a:pt x="285750" y="0"/>
                  </a:lnTo>
                </a:path>
              </a:pathLst>
            </a:custGeom>
            <a:noFill/>
            <a:ln w="28575">
              <a:solidFill>
                <a:srgbClr val="1A3A5C"/>
              </a:solidFill>
            </a:ln>
          </p:spPr>
        </p:sp>
        <p:sp>
          <p:nvSpPr>
            <p:cNvPr id="67" name="Ellipse 67"/>
            <p:cNvSpPr/>
            <p:nvPr/>
          </p:nvSpPr>
          <p:spPr>
            <a:xfrm>
              <a:off x="819150" y="5829300"/>
              <a:ext cx="76200" cy="76200"/>
            </a:xfrm>
            <a:prstGeom prst="ellipse">
              <a:avLst/>
            </a:prstGeom>
            <a:solidFill>
              <a:srgbClr val="1A3A5C"/>
            </a:solidFill>
            <a:ln>
              <a:noFill/>
            </a:ln>
          </p:spPr>
        </p:sp>
        <p:sp>
          <p:nvSpPr>
            <p:cNvPr id="68" name="TextBox 68"/>
            <p:cNvSpPr txBox="1"/>
            <p:nvPr/>
          </p:nvSpPr>
          <p:spPr>
            <a:xfrm>
              <a:off x="1082992" y="5800249"/>
              <a:ext cx="772358" cy="198120"/>
            </a:xfrm>
            <a:prstGeom prst="rect">
              <a:avLst/>
            </a:prstGeom>
            <a:noFill/>
            <a:ln>
              <a:noFill/>
            </a:ln>
          </p:spPr>
          <p:txBody>
            <a:bodyPr wrap="none" lIns="0" tIns="0" rIns="0" bIns="0" anchor="t" anchorCtr="0">
              <a:spAutoFit/>
            </a:bodyPr>
            <a:lstStyle/>
            <a:p>
              <a:pPr algn="l"/>
              <a:r>
                <a:rPr lang="zh-CN" sz="975" b="1" dirty="0">
                  <a:solidFill>
                    <a:srgbClr val="1A3A5C"/>
                  </a:solidFill>
                  <a:latin typeface="Arial" panose="020B0604020202020204"/>
                  <a:ea typeface="微软雅黑" panose="020B0503020204020204" charset="-122"/>
                  <a:cs typeface="Arial" panose="020B0604020202020204"/>
                </a:rPr>
                <a:t>博物馆数量</a:t>
              </a:r>
              <a:endParaRPr lang="zh-CN" sz="975" b="1" dirty="0">
                <a:solidFill>
                  <a:srgbClr val="1A3A5C"/>
                </a:solidFill>
                <a:latin typeface="Arial" panose="020B0604020202020204"/>
                <a:ea typeface="微软雅黑" panose="020B0503020204020204" charset="-122"/>
                <a:cs typeface="Arial" panose="020B0604020202020204"/>
              </a:endParaRPr>
            </a:p>
          </p:txBody>
        </p:sp>
        <p:sp>
          <p:nvSpPr>
            <p:cNvPr id="69" name="Line 69"/>
            <p:cNvSpPr/>
            <p:nvPr/>
          </p:nvSpPr>
          <p:spPr>
            <a:xfrm>
              <a:off x="2190750" y="5867400"/>
              <a:ext cx="285750" cy="9525"/>
            </a:xfrm>
            <a:custGeom>
              <a:avLst/>
              <a:gdLst/>
              <a:ahLst/>
              <a:cxnLst/>
              <a:rect l="l" t="t" r="r" b="b"/>
              <a:pathLst>
                <a:path w="285750" h="9525">
                  <a:moveTo>
                    <a:pt x="0" y="0"/>
                  </a:moveTo>
                  <a:lnTo>
                    <a:pt x="285750" y="0"/>
                  </a:lnTo>
                </a:path>
              </a:pathLst>
            </a:custGeom>
            <a:noFill/>
            <a:ln w="23812">
              <a:solidFill>
                <a:srgbClr val="C8963E"/>
              </a:solidFill>
              <a:prstDash val="lgDash"/>
            </a:ln>
          </p:spPr>
        </p:sp>
        <p:sp>
          <p:nvSpPr>
            <p:cNvPr id="70" name="Rectangle 70"/>
            <p:cNvSpPr/>
            <p:nvPr/>
          </p:nvSpPr>
          <p:spPr>
            <a:xfrm>
              <a:off x="2266950" y="5819775"/>
              <a:ext cx="76200" cy="76200"/>
            </a:xfrm>
            <a:prstGeom prst="roundRect">
              <a:avLst>
                <a:gd name="adj" fmla="val 25000"/>
              </a:avLst>
            </a:prstGeom>
            <a:solidFill>
              <a:srgbClr val="C8963E"/>
            </a:solidFill>
            <a:ln>
              <a:noFill/>
            </a:ln>
          </p:spPr>
        </p:sp>
        <p:sp>
          <p:nvSpPr>
            <p:cNvPr id="71" name="TextBox 71"/>
            <p:cNvSpPr txBox="1"/>
            <p:nvPr/>
          </p:nvSpPr>
          <p:spPr>
            <a:xfrm>
              <a:off x="2559368" y="5800249"/>
              <a:ext cx="1071396" cy="198120"/>
            </a:xfrm>
            <a:prstGeom prst="rect">
              <a:avLst/>
            </a:prstGeom>
            <a:noFill/>
            <a:ln>
              <a:noFill/>
            </a:ln>
          </p:spPr>
          <p:txBody>
            <a:bodyPr wrap="none" lIns="0" tIns="0" rIns="0" bIns="0" anchor="t" anchorCtr="0">
              <a:spAutoFit/>
            </a:bodyPr>
            <a:lstStyle/>
            <a:p>
              <a:pPr algn="l"/>
              <a:r>
                <a:rPr lang="zh-CN" sz="975" b="1" dirty="0">
                  <a:solidFill>
                    <a:srgbClr val="C8963E"/>
                  </a:solidFill>
                  <a:latin typeface="Arial" panose="020B0604020202020204"/>
                  <a:ea typeface="微软雅黑" panose="020B0503020204020204" charset="-122"/>
                  <a:cs typeface="Arial" panose="020B0604020202020204"/>
                </a:rPr>
                <a:t>国内旅游总花费</a:t>
              </a:r>
              <a:endParaRPr lang="zh-CN" sz="975" b="1" dirty="0">
                <a:solidFill>
                  <a:srgbClr val="C8963E"/>
                </a:solidFill>
                <a:latin typeface="Arial" panose="020B0604020202020204"/>
                <a:ea typeface="微软雅黑" panose="020B0503020204020204" charset="-122"/>
                <a:cs typeface="Arial" panose="020B0604020202020204"/>
              </a:endParaRPr>
            </a:p>
          </p:txBody>
        </p:sp>
        <p:sp>
          <p:nvSpPr>
            <p:cNvPr id="72" name="TextBox 72"/>
            <p:cNvSpPr txBox="1"/>
            <p:nvPr/>
          </p:nvSpPr>
          <p:spPr>
            <a:xfrm>
              <a:off x="558165" y="6135052"/>
              <a:ext cx="670750" cy="213360"/>
            </a:xfrm>
            <a:prstGeom prst="rect">
              <a:avLst/>
            </a:prstGeom>
            <a:noFill/>
            <a:ln>
              <a:noFill/>
            </a:ln>
          </p:spPr>
          <p:txBody>
            <a:bodyPr wrap="none" lIns="0" tIns="0" rIns="0" bIns="0" anchor="t" anchorCtr="0">
              <a:spAutoFit/>
            </a:bodyPr>
            <a:lstStyle/>
            <a:p>
              <a:pPr algn="l"/>
              <a:r>
                <a:rPr lang="zh-CN" sz="1050" b="1" dirty="0">
                  <a:solidFill>
                    <a:srgbClr val="1A3A5C"/>
                  </a:solidFill>
                  <a:latin typeface="Arial" panose="020B0604020202020204"/>
                  <a:ea typeface="微软雅黑" panose="020B0503020204020204" charset="-122"/>
                  <a:cs typeface="Arial" panose="020B0604020202020204"/>
                </a:rPr>
                <a:t>读图结论</a:t>
              </a:r>
              <a:endParaRPr lang="zh-CN" sz="1050" b="1" dirty="0">
                <a:solidFill>
                  <a:srgbClr val="1A3A5C"/>
                </a:solidFill>
                <a:latin typeface="Arial" panose="020B0604020202020204"/>
                <a:ea typeface="微软雅黑" panose="020B0503020204020204" charset="-122"/>
                <a:cs typeface="Arial" panose="020B0604020202020204"/>
              </a:endParaRPr>
            </a:p>
          </p:txBody>
        </p:sp>
        <p:sp>
          <p:nvSpPr>
            <p:cNvPr id="73" name="TextBox 73"/>
            <p:cNvSpPr txBox="1"/>
            <p:nvPr/>
          </p:nvSpPr>
          <p:spPr>
            <a:xfrm>
              <a:off x="558165" y="6363652"/>
              <a:ext cx="4259199" cy="213360"/>
            </a:xfrm>
            <a:prstGeom prst="rect">
              <a:avLst/>
            </a:prstGeom>
            <a:noFill/>
            <a:ln>
              <a:noFill/>
            </a:ln>
          </p:spPr>
          <p:txBody>
            <a:bodyPr wrap="none" lIns="0" tIns="0" rIns="0" bIns="0" anchor="t" anchorCtr="0">
              <a:spAutoFit/>
            </a:bodyPr>
            <a:lstStyle/>
            <a:p>
              <a:pPr algn="l"/>
              <a:r>
                <a:rPr lang="zh-CN" sz="1050" dirty="0">
                  <a:solidFill>
                    <a:srgbClr val="1A1A2E"/>
                  </a:solidFill>
                  <a:latin typeface="Arial" panose="020B0604020202020204"/>
                  <a:ea typeface="微软雅黑" panose="020B0503020204020204" charset="-122"/>
                  <a:cs typeface="Arial" panose="020B0604020202020204"/>
                </a:rPr>
                <a:t>2014-2023 年博物馆数量增长 +86.8%，供给侧保持长期扩张；</a:t>
              </a:r>
              <a:endParaRPr lang="zh-CN" sz="1050" dirty="0">
                <a:solidFill>
                  <a:srgbClr val="1A1A2E"/>
                </a:solidFill>
                <a:latin typeface="Arial" panose="020B0604020202020204"/>
                <a:ea typeface="微软雅黑" panose="020B0503020204020204" charset="-122"/>
                <a:cs typeface="Arial" panose="020B0604020202020204"/>
              </a:endParaRPr>
            </a:p>
          </p:txBody>
        </p:sp>
        <p:sp>
          <p:nvSpPr>
            <p:cNvPr id="74" name="TextBox 74"/>
            <p:cNvSpPr txBox="1"/>
            <p:nvPr/>
          </p:nvSpPr>
          <p:spPr>
            <a:xfrm>
              <a:off x="558165" y="6554152"/>
              <a:ext cx="7502604" cy="213360"/>
            </a:xfrm>
            <a:prstGeom prst="rect">
              <a:avLst/>
            </a:prstGeom>
            <a:noFill/>
            <a:ln>
              <a:noFill/>
            </a:ln>
          </p:spPr>
          <p:txBody>
            <a:bodyPr wrap="none" lIns="0" tIns="0" rIns="0" bIns="0" anchor="t" anchorCtr="0">
              <a:spAutoFit/>
            </a:bodyPr>
            <a:lstStyle/>
            <a:p>
              <a:pPr algn="l"/>
              <a:r>
                <a:rPr lang="zh-CN" sz="1050" dirty="0">
                  <a:solidFill>
                    <a:srgbClr val="1A1A2E"/>
                  </a:solidFill>
                  <a:latin typeface="Arial" panose="020B0604020202020204"/>
                  <a:ea typeface="微软雅黑" panose="020B0503020204020204" charset="-122"/>
                  <a:cs typeface="Arial" panose="020B0604020202020204"/>
                </a:rPr>
                <a:t>2019 年旅游消费达到高点 57251 亿元，2020 年降至 22286.3 亿元；2023 年需求侧明显修复至 49133.1 亿元。</a:t>
              </a:r>
              <a:endParaRPr lang="zh-CN" sz="1050" dirty="0">
                <a:solidFill>
                  <a:srgbClr val="1A1A2E"/>
                </a:solidFill>
                <a:latin typeface="Arial" panose="020B0604020202020204"/>
                <a:ea typeface="微软雅黑" panose="020B0503020204020204" charset="-122"/>
                <a:cs typeface="Arial" panose="020B0604020202020204"/>
              </a:endParaRPr>
            </a:p>
          </p:txBody>
        </p:sp>
      </p:grpSp>
      <p:grpSp>
        <p:nvGrpSpPr>
          <p:cNvPr id="78" name="Group 78"/>
          <p:cNvGrpSpPr/>
          <p:nvPr/>
        </p:nvGrpSpPr>
        <p:grpSpPr>
          <a:xfrm>
            <a:off x="560070" y="6522720"/>
            <a:ext cx="11070908" cy="182880"/>
            <a:chOff x="560070" y="6522720"/>
            <a:chExt cx="11070908" cy="182880"/>
          </a:xfrm>
        </p:grpSpPr>
        <p:sp>
          <p:nvSpPr>
            <p:cNvPr id="76" name="TextBox 76"/>
            <p:cNvSpPr txBox="1"/>
            <p:nvPr/>
          </p:nvSpPr>
          <p:spPr>
            <a:xfrm>
              <a:off x="560070" y="6522720"/>
              <a:ext cx="3328702" cy="182880"/>
            </a:xfrm>
            <a:prstGeom prst="rect">
              <a:avLst/>
            </a:prstGeom>
            <a:noFill/>
            <a:ln>
              <a:noFill/>
            </a:ln>
          </p:spPr>
          <p:txBody>
            <a:bodyPr wrap="none" lIns="0" tIns="0" rIns="0" bIns="0" anchor="t" anchorCtr="0">
              <a:spAutoFit/>
            </a:bodyPr>
            <a:lstStyle/>
            <a:p>
              <a:pPr algn="l"/>
              <a:r>
                <a:rPr lang="zh-CN" sz="900" dirty="0">
                  <a:solidFill>
                    <a:srgbClr val="9CA3AF"/>
                  </a:solidFill>
                  <a:latin typeface="Arial" panose="020B0604020202020204"/>
                  <a:ea typeface="微软雅黑" panose="020B0503020204020204" charset="-122"/>
                  <a:cs typeface="Arial" panose="020B0604020202020204"/>
                </a:rPr>
                <a:t>Source: 国家统计局国家数据、中国统计年鉴；团队计算</a:t>
              </a:r>
              <a:endParaRPr lang="zh-CN" sz="900" dirty="0">
                <a:solidFill>
                  <a:srgbClr val="9CA3AF"/>
                </a:solidFill>
                <a:latin typeface="Arial" panose="020B0604020202020204"/>
                <a:ea typeface="微软雅黑" panose="020B0503020204020204" charset="-122"/>
                <a:cs typeface="Arial" panose="020B0604020202020204"/>
              </a:endParaRPr>
            </a:p>
          </p:txBody>
        </p:sp>
        <p:sp>
          <p:nvSpPr>
            <p:cNvPr id="77" name="TextBox 77"/>
            <p:cNvSpPr txBox="1"/>
            <p:nvPr/>
          </p:nvSpPr>
          <p:spPr>
            <a:xfrm>
              <a:off x="11236500" y="6530816"/>
              <a:ext cx="394478"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panose="020B0604020202020204"/>
                  <a:ea typeface="微软雅黑" panose="020B0503020204020204" charset="-122"/>
                  <a:cs typeface="Arial" panose="020B0604020202020204"/>
                </a:rPr>
                <a:t>08 / 12</a:t>
              </a:r>
              <a:endParaRPr lang="zh-CN" sz="825" dirty="0">
                <a:solidFill>
                  <a:srgbClr val="9CA3AF"/>
                </a:solidFill>
                <a:latin typeface="Arial" panose="020B0604020202020204"/>
                <a:ea typeface="微软雅黑" panose="020B0503020204020204" charset="-122"/>
                <a:cs typeface="Arial" panose="020B0604020202020204"/>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fade">
                                      <p:cBhvr>
                                        <p:cTn id="7" dur="400"/>
                                        <p:tgtEl>
                                          <p:spTgt spid="64"/>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75"/>
                                        </p:tgtEl>
                                        <p:attrNameLst>
                                          <p:attrName>style.visibility</p:attrName>
                                        </p:attrNameLst>
                                      </p:cBhvr>
                                      <p:to>
                                        <p:strVal val="visible"/>
                                      </p:to>
                                    </p:set>
                                    <p:animEffect transition="in" filter="wipe(left)">
                                      <p:cBhvr>
                                        <p:cTn id="11" dur="4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p:bldP spid="7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A"/>
          </a:solidFill>
          <a:ln>
            <a:noFill/>
          </a:ln>
        </p:spPr>
      </p:sp>
      <p:grpSp>
        <p:nvGrpSpPr>
          <p:cNvPr id="6" name="Group 6"/>
          <p:cNvGrpSpPr/>
          <p:nvPr/>
        </p:nvGrpSpPr>
        <p:grpSpPr>
          <a:xfrm>
            <a:off x="571500" y="280988"/>
            <a:ext cx="8258580" cy="561974"/>
            <a:chOff x="571500" y="280988"/>
            <a:chExt cx="8258580" cy="561974"/>
          </a:xfrm>
        </p:grpSpPr>
        <p:sp>
          <p:nvSpPr>
            <p:cNvPr id="3" name="Rectangle 3"/>
            <p:cNvSpPr/>
            <p:nvPr/>
          </p:nvSpPr>
          <p:spPr>
            <a:xfrm>
              <a:off x="571500" y="285750"/>
              <a:ext cx="38100" cy="342900"/>
            </a:xfrm>
            <a:prstGeom prst="rect">
              <a:avLst/>
            </a:prstGeom>
            <a:solidFill>
              <a:srgbClr val="1A3A5C"/>
            </a:solidFill>
            <a:ln>
              <a:noFill/>
            </a:ln>
          </p:spPr>
        </p:sp>
        <p:sp>
          <p:nvSpPr>
            <p:cNvPr id="4" name="TextBox 4"/>
            <p:cNvSpPr txBox="1"/>
            <p:nvPr/>
          </p:nvSpPr>
          <p:spPr>
            <a:xfrm>
              <a:off x="733425" y="280988"/>
              <a:ext cx="8096655" cy="457200"/>
            </a:xfrm>
            <a:prstGeom prst="rect">
              <a:avLst/>
            </a:prstGeom>
            <a:noFill/>
            <a:ln>
              <a:noFill/>
            </a:ln>
          </p:spPr>
          <p:txBody>
            <a:bodyPr wrap="none" lIns="0" tIns="0" rIns="0" bIns="0" anchor="t" anchorCtr="0">
              <a:spAutoFit/>
            </a:bodyPr>
            <a:lstStyle/>
            <a:p>
              <a:pPr algn="l"/>
              <a:r>
                <a:rPr lang="zh-CN" sz="2250" b="1" dirty="0">
                  <a:solidFill>
                    <a:srgbClr val="1A3A5C"/>
                  </a:solidFill>
                  <a:latin typeface="Georgia" panose="02040502050405020303"/>
                  <a:ea typeface="楷体" panose="02010609060101010101" charset="-122"/>
                  <a:cs typeface="Georgia" panose="02040502050405020303"/>
                </a:rPr>
                <a:t>变化率：2020 年冲击与 2023 年修复被差分清晰捕捉</a:t>
              </a:r>
              <a:endParaRPr lang="zh-CN" sz="2250" b="1" dirty="0">
                <a:solidFill>
                  <a:srgbClr val="1A3A5C"/>
                </a:solidFill>
                <a:latin typeface="Georgia" panose="02040502050405020303"/>
                <a:ea typeface="楷体" panose="02010609060101010101" charset="-122"/>
                <a:cs typeface="Georgia" panose="02040502050405020303"/>
              </a:endParaRPr>
            </a:p>
          </p:txBody>
        </p:sp>
        <p:sp>
          <p:nvSpPr>
            <p:cNvPr id="5" name="TextBox 5"/>
            <p:cNvSpPr txBox="1"/>
            <p:nvPr/>
          </p:nvSpPr>
          <p:spPr>
            <a:xfrm>
              <a:off x="748665" y="629602"/>
              <a:ext cx="5440013"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panose="020B0604020202020204"/>
                  <a:ea typeface="微软雅黑" panose="020B0503020204020204" charset="-122"/>
                  <a:cs typeface="Arial" panose="020B0604020202020204"/>
                </a:rPr>
                <a:t>博物馆增量相对稳定，游客变化率在 2020 年附近急剧转负，2023 年显著转正。</a:t>
              </a:r>
              <a:endParaRPr lang="zh-CN" sz="1050" dirty="0">
                <a:solidFill>
                  <a:srgbClr val="6B7280"/>
                </a:solidFill>
                <a:latin typeface="Arial" panose="020B0604020202020204"/>
                <a:ea typeface="微软雅黑" panose="020B0503020204020204" charset="-122"/>
                <a:cs typeface="Arial" panose="020B0604020202020204"/>
              </a:endParaRPr>
            </a:p>
          </p:txBody>
        </p:sp>
      </p:grpSp>
      <p:grpSp>
        <p:nvGrpSpPr>
          <p:cNvPr id="61" name="Group 61"/>
          <p:cNvGrpSpPr/>
          <p:nvPr/>
        </p:nvGrpSpPr>
        <p:grpSpPr>
          <a:xfrm>
            <a:off x="-539353" y="1381125"/>
            <a:ext cx="13508892" cy="4276725"/>
            <a:chOff x="-539353" y="1381125"/>
            <a:chExt cx="13508892" cy="4276725"/>
          </a:xfrm>
        </p:grpSpPr>
        <p:sp>
          <p:nvSpPr>
            <p:cNvPr id="7" name="Rectangle 7"/>
            <p:cNvSpPr/>
            <p:nvPr/>
          </p:nvSpPr>
          <p:spPr>
            <a:xfrm>
              <a:off x="7296150" y="1381125"/>
              <a:ext cx="1000125" cy="3952875"/>
            </a:xfrm>
            <a:prstGeom prst="rect">
              <a:avLst/>
            </a:prstGeom>
            <a:solidFill>
              <a:srgbClr val="C62828">
                <a:alpha val="4000"/>
              </a:srgbClr>
            </a:solidFill>
            <a:ln>
              <a:noFill/>
            </a:ln>
          </p:spPr>
        </p:sp>
        <p:sp>
          <p:nvSpPr>
            <p:cNvPr id="8" name="TextBox 8"/>
            <p:cNvSpPr txBox="1"/>
            <p:nvPr/>
          </p:nvSpPr>
          <p:spPr>
            <a:xfrm>
              <a:off x="7469481" y="1445895"/>
              <a:ext cx="643938" cy="182880"/>
            </a:xfrm>
            <a:prstGeom prst="rect">
              <a:avLst/>
            </a:prstGeom>
            <a:noFill/>
            <a:ln>
              <a:noFill/>
            </a:ln>
          </p:spPr>
          <p:txBody>
            <a:bodyPr wrap="none" lIns="0" tIns="0" rIns="0" bIns="0" anchor="t" anchorCtr="0">
              <a:spAutoFit/>
            </a:bodyPr>
            <a:lstStyle/>
            <a:p>
              <a:pPr algn="ctr"/>
              <a:r>
                <a:rPr lang="zh-CN" sz="900" b="1" dirty="0">
                  <a:solidFill>
                    <a:srgbClr val="C62828"/>
                  </a:solidFill>
                  <a:latin typeface="Arial" panose="020B0604020202020204"/>
                  <a:ea typeface="微软雅黑" panose="020B0503020204020204" charset="-122"/>
                  <a:cs typeface="Arial" panose="020B0604020202020204"/>
                </a:rPr>
                <a:t>2020 冲击</a:t>
              </a:r>
              <a:endParaRPr lang="zh-CN" sz="900" b="1" dirty="0">
                <a:solidFill>
                  <a:srgbClr val="C62828"/>
                </a:solidFill>
                <a:latin typeface="Arial" panose="020B0604020202020204"/>
                <a:ea typeface="微软雅黑" panose="020B0503020204020204" charset="-122"/>
                <a:cs typeface="Arial" panose="020B0604020202020204"/>
              </a:endParaRPr>
            </a:p>
          </p:txBody>
        </p:sp>
        <p:sp>
          <p:nvSpPr>
            <p:cNvPr id="9" name="Line 9"/>
            <p:cNvSpPr/>
            <p:nvPr/>
          </p:nvSpPr>
          <p:spPr>
            <a:xfrm>
              <a:off x="7296150" y="1600200"/>
              <a:ext cx="9525" cy="3733800"/>
            </a:xfrm>
            <a:custGeom>
              <a:avLst/>
              <a:gdLst/>
              <a:ahLst/>
              <a:cxnLst/>
              <a:rect l="l" t="t" r="r" b="b"/>
              <a:pathLst>
                <a:path w="9525" h="3733800">
                  <a:moveTo>
                    <a:pt x="0" y="0"/>
                  </a:moveTo>
                  <a:lnTo>
                    <a:pt x="0" y="3733800"/>
                  </a:lnTo>
                </a:path>
              </a:pathLst>
            </a:custGeom>
            <a:noFill/>
            <a:ln w="9525">
              <a:solidFill>
                <a:srgbClr val="C62828"/>
              </a:solidFill>
              <a:prstDash val="dash"/>
            </a:ln>
          </p:spPr>
        </p:sp>
        <p:sp>
          <p:nvSpPr>
            <p:cNvPr id="10" name="Line 10"/>
            <p:cNvSpPr/>
            <p:nvPr/>
          </p:nvSpPr>
          <p:spPr>
            <a:xfrm>
              <a:off x="1333500" y="5334000"/>
              <a:ext cx="8953500" cy="9525"/>
            </a:xfrm>
            <a:custGeom>
              <a:avLst/>
              <a:gdLst/>
              <a:ahLst/>
              <a:cxnLst/>
              <a:rect l="l" t="t" r="r" b="b"/>
              <a:pathLst>
                <a:path w="8953500" h="9525">
                  <a:moveTo>
                    <a:pt x="0" y="0"/>
                  </a:moveTo>
                  <a:lnTo>
                    <a:pt x="8953500" y="0"/>
                  </a:lnTo>
                </a:path>
              </a:pathLst>
            </a:custGeom>
            <a:noFill/>
            <a:ln w="14288">
              <a:solidFill>
                <a:srgbClr val="D1D5DB"/>
              </a:solidFill>
            </a:ln>
          </p:spPr>
        </p:sp>
        <p:sp>
          <p:nvSpPr>
            <p:cNvPr id="11" name="Line 11"/>
            <p:cNvSpPr/>
            <p:nvPr/>
          </p:nvSpPr>
          <p:spPr>
            <a:xfrm>
              <a:off x="1333500" y="4429125"/>
              <a:ext cx="8953500" cy="9525"/>
            </a:xfrm>
            <a:custGeom>
              <a:avLst/>
              <a:gdLst/>
              <a:ahLst/>
              <a:cxnLst/>
              <a:rect l="l" t="t" r="r" b="b"/>
              <a:pathLst>
                <a:path w="8953500" h="9525">
                  <a:moveTo>
                    <a:pt x="0" y="0"/>
                  </a:moveTo>
                  <a:lnTo>
                    <a:pt x="8953500" y="0"/>
                  </a:lnTo>
                </a:path>
              </a:pathLst>
            </a:custGeom>
            <a:noFill/>
            <a:ln w="4762">
              <a:solidFill>
                <a:srgbClr val="E2E8F0"/>
              </a:solidFill>
              <a:prstDash val="dash"/>
            </a:ln>
          </p:spPr>
        </p:sp>
        <p:sp>
          <p:nvSpPr>
            <p:cNvPr id="12" name="Line 12"/>
            <p:cNvSpPr/>
            <p:nvPr/>
          </p:nvSpPr>
          <p:spPr>
            <a:xfrm>
              <a:off x="1333500" y="3524250"/>
              <a:ext cx="8953500" cy="9525"/>
            </a:xfrm>
            <a:custGeom>
              <a:avLst/>
              <a:gdLst/>
              <a:ahLst/>
              <a:cxnLst/>
              <a:rect l="l" t="t" r="r" b="b"/>
              <a:pathLst>
                <a:path w="8953500" h="9525">
                  <a:moveTo>
                    <a:pt x="0" y="0"/>
                  </a:moveTo>
                  <a:lnTo>
                    <a:pt x="8953500" y="0"/>
                  </a:lnTo>
                </a:path>
              </a:pathLst>
            </a:custGeom>
            <a:noFill/>
            <a:ln w="4762">
              <a:solidFill>
                <a:srgbClr val="E2E8F0"/>
              </a:solidFill>
              <a:prstDash val="dash"/>
            </a:ln>
          </p:spPr>
        </p:sp>
        <p:sp>
          <p:nvSpPr>
            <p:cNvPr id="13" name="Line 13"/>
            <p:cNvSpPr/>
            <p:nvPr/>
          </p:nvSpPr>
          <p:spPr>
            <a:xfrm>
              <a:off x="1333500" y="2619375"/>
              <a:ext cx="8953500" cy="9525"/>
            </a:xfrm>
            <a:custGeom>
              <a:avLst/>
              <a:gdLst/>
              <a:ahLst/>
              <a:cxnLst/>
              <a:rect l="l" t="t" r="r" b="b"/>
              <a:pathLst>
                <a:path w="8953500" h="9525">
                  <a:moveTo>
                    <a:pt x="0" y="0"/>
                  </a:moveTo>
                  <a:lnTo>
                    <a:pt x="8953500" y="0"/>
                  </a:lnTo>
                </a:path>
              </a:pathLst>
            </a:custGeom>
            <a:noFill/>
            <a:ln w="4762">
              <a:solidFill>
                <a:srgbClr val="E2E8F0"/>
              </a:solidFill>
              <a:prstDash val="dash"/>
            </a:ln>
          </p:spPr>
        </p:sp>
        <p:sp>
          <p:nvSpPr>
            <p:cNvPr id="14" name="Line 14"/>
            <p:cNvSpPr/>
            <p:nvPr/>
          </p:nvSpPr>
          <p:spPr>
            <a:xfrm>
              <a:off x="1333500" y="1714500"/>
              <a:ext cx="8953500" cy="9525"/>
            </a:xfrm>
            <a:custGeom>
              <a:avLst/>
              <a:gdLst/>
              <a:ahLst/>
              <a:cxnLst/>
              <a:rect l="l" t="t" r="r" b="b"/>
              <a:pathLst>
                <a:path w="8953500" h="9525">
                  <a:moveTo>
                    <a:pt x="0" y="0"/>
                  </a:moveTo>
                  <a:lnTo>
                    <a:pt x="8953500" y="0"/>
                  </a:lnTo>
                </a:path>
              </a:pathLst>
            </a:custGeom>
            <a:noFill/>
            <a:ln w="9525">
              <a:solidFill>
                <a:srgbClr val="D1D5DB"/>
              </a:solidFill>
            </a:ln>
          </p:spPr>
        </p:sp>
        <p:sp>
          <p:nvSpPr>
            <p:cNvPr id="15" name="Line 15"/>
            <p:cNvSpPr/>
            <p:nvPr/>
          </p:nvSpPr>
          <p:spPr>
            <a:xfrm>
              <a:off x="1333500" y="3524250"/>
              <a:ext cx="8953500" cy="9525"/>
            </a:xfrm>
            <a:custGeom>
              <a:avLst/>
              <a:gdLst/>
              <a:ahLst/>
              <a:cxnLst/>
              <a:rect l="l" t="t" r="r" b="b"/>
              <a:pathLst>
                <a:path w="8953500" h="9525">
                  <a:moveTo>
                    <a:pt x="0" y="0"/>
                  </a:moveTo>
                  <a:lnTo>
                    <a:pt x="8953500" y="0"/>
                  </a:lnTo>
                </a:path>
              </a:pathLst>
            </a:custGeom>
            <a:noFill/>
            <a:ln w="9525">
              <a:solidFill>
                <a:srgbClr val="9CA3AF"/>
              </a:solidFill>
              <a:custDash>
                <a:ds d="600000" sp="400000"/>
              </a:custDash>
            </a:ln>
          </p:spPr>
        </p:sp>
        <p:sp>
          <p:nvSpPr>
            <p:cNvPr id="16" name="TextBox 16"/>
            <p:cNvSpPr txBox="1"/>
            <p:nvPr/>
          </p:nvSpPr>
          <p:spPr>
            <a:xfrm>
              <a:off x="1096007" y="5276374"/>
              <a:ext cx="107000" cy="198120"/>
            </a:xfrm>
            <a:prstGeom prst="rect">
              <a:avLst/>
            </a:prstGeom>
            <a:noFill/>
            <a:ln>
              <a:noFill/>
            </a:ln>
          </p:spPr>
          <p:txBody>
            <a:bodyPr wrap="none" lIns="0" tIns="0" rIns="0" bIns="0" anchor="t" anchorCtr="0">
              <a:spAutoFit/>
            </a:bodyPr>
            <a:lstStyle/>
            <a:p>
              <a:pPr algn="r"/>
              <a:r>
                <a:rPr lang="zh-CN" sz="975" b="1" dirty="0">
                  <a:solidFill>
                    <a:srgbClr val="1A3A5C"/>
                  </a:solidFill>
                  <a:latin typeface="Arial" panose="020B0604020202020204"/>
                  <a:ea typeface="微软雅黑" panose="020B0503020204020204" charset="-122"/>
                  <a:cs typeface="Arial" panose="020B0604020202020204"/>
                </a:rPr>
                <a:t>0</a:t>
              </a:r>
              <a:endParaRPr lang="zh-CN" sz="975" b="1" dirty="0">
                <a:solidFill>
                  <a:srgbClr val="1A3A5C"/>
                </a:solidFill>
                <a:latin typeface="Arial" panose="020B0604020202020204"/>
                <a:ea typeface="微软雅黑" panose="020B0503020204020204" charset="-122"/>
                <a:cs typeface="Arial" panose="020B0604020202020204"/>
              </a:endParaRPr>
            </a:p>
          </p:txBody>
        </p:sp>
        <p:sp>
          <p:nvSpPr>
            <p:cNvPr id="17" name="TextBox 17"/>
            <p:cNvSpPr txBox="1"/>
            <p:nvPr/>
          </p:nvSpPr>
          <p:spPr>
            <a:xfrm>
              <a:off x="962311" y="4331970"/>
              <a:ext cx="239744" cy="182880"/>
            </a:xfrm>
            <a:prstGeom prst="rect">
              <a:avLst/>
            </a:prstGeom>
            <a:noFill/>
            <a:ln>
              <a:noFill/>
            </a:ln>
          </p:spPr>
          <p:txBody>
            <a:bodyPr wrap="none" lIns="0" tIns="0" rIns="0" bIns="0" anchor="t" anchorCtr="0">
              <a:spAutoFit/>
            </a:bodyPr>
            <a:lstStyle/>
            <a:p>
              <a:pPr algn="r"/>
              <a:r>
                <a:rPr lang="zh-CN" sz="900" dirty="0">
                  <a:solidFill>
                    <a:srgbClr val="6B7280"/>
                  </a:solidFill>
                  <a:latin typeface="Arial" panose="020B0604020202020204"/>
                  <a:ea typeface="微软雅黑" panose="020B0503020204020204" charset="-122"/>
                  <a:cs typeface="Arial" panose="020B0604020202020204"/>
                </a:rPr>
                <a:t>200</a:t>
              </a:r>
              <a:endParaRPr lang="zh-CN" sz="900" dirty="0">
                <a:solidFill>
                  <a:srgbClr val="6B7280"/>
                </a:solidFill>
                <a:latin typeface="Arial" panose="020B0604020202020204"/>
                <a:ea typeface="微软雅黑" panose="020B0503020204020204" charset="-122"/>
                <a:cs typeface="Arial" panose="020B0604020202020204"/>
              </a:endParaRPr>
            </a:p>
          </p:txBody>
        </p:sp>
        <p:sp>
          <p:nvSpPr>
            <p:cNvPr id="18" name="TextBox 18"/>
            <p:cNvSpPr txBox="1"/>
            <p:nvPr/>
          </p:nvSpPr>
          <p:spPr>
            <a:xfrm>
              <a:off x="962311" y="3427095"/>
              <a:ext cx="239744" cy="182880"/>
            </a:xfrm>
            <a:prstGeom prst="rect">
              <a:avLst/>
            </a:prstGeom>
            <a:noFill/>
            <a:ln>
              <a:noFill/>
            </a:ln>
          </p:spPr>
          <p:txBody>
            <a:bodyPr wrap="none" lIns="0" tIns="0" rIns="0" bIns="0" anchor="t" anchorCtr="0">
              <a:spAutoFit/>
            </a:bodyPr>
            <a:lstStyle/>
            <a:p>
              <a:pPr algn="r"/>
              <a:r>
                <a:rPr lang="zh-CN" sz="900" dirty="0">
                  <a:solidFill>
                    <a:srgbClr val="6B7280"/>
                  </a:solidFill>
                  <a:latin typeface="Arial" panose="020B0604020202020204"/>
                  <a:ea typeface="微软雅黑" panose="020B0503020204020204" charset="-122"/>
                  <a:cs typeface="Arial" panose="020B0604020202020204"/>
                </a:rPr>
                <a:t>400</a:t>
              </a:r>
              <a:endParaRPr lang="zh-CN" sz="900" dirty="0">
                <a:solidFill>
                  <a:srgbClr val="6B7280"/>
                </a:solidFill>
                <a:latin typeface="Arial" panose="020B0604020202020204"/>
                <a:ea typeface="微软雅黑" panose="020B0503020204020204" charset="-122"/>
                <a:cs typeface="Arial" panose="020B0604020202020204"/>
              </a:endParaRPr>
            </a:p>
          </p:txBody>
        </p:sp>
        <p:sp>
          <p:nvSpPr>
            <p:cNvPr id="19" name="TextBox 19"/>
            <p:cNvSpPr txBox="1"/>
            <p:nvPr/>
          </p:nvSpPr>
          <p:spPr>
            <a:xfrm>
              <a:off x="962311" y="2522220"/>
              <a:ext cx="239744" cy="182880"/>
            </a:xfrm>
            <a:prstGeom prst="rect">
              <a:avLst/>
            </a:prstGeom>
            <a:noFill/>
            <a:ln>
              <a:noFill/>
            </a:ln>
          </p:spPr>
          <p:txBody>
            <a:bodyPr wrap="none" lIns="0" tIns="0" rIns="0" bIns="0" anchor="t" anchorCtr="0">
              <a:spAutoFit/>
            </a:bodyPr>
            <a:lstStyle/>
            <a:p>
              <a:pPr algn="r"/>
              <a:r>
                <a:rPr lang="zh-CN" sz="900" dirty="0">
                  <a:solidFill>
                    <a:srgbClr val="6B7280"/>
                  </a:solidFill>
                  <a:latin typeface="Arial" panose="020B0604020202020204"/>
                  <a:ea typeface="微软雅黑" panose="020B0503020204020204" charset="-122"/>
                  <a:cs typeface="Arial" panose="020B0604020202020204"/>
                </a:rPr>
                <a:t>600</a:t>
              </a:r>
              <a:endParaRPr lang="zh-CN" sz="900" dirty="0">
                <a:solidFill>
                  <a:srgbClr val="6B7280"/>
                </a:solidFill>
                <a:latin typeface="Arial" panose="020B0604020202020204"/>
                <a:ea typeface="微软雅黑" panose="020B0503020204020204" charset="-122"/>
                <a:cs typeface="Arial" panose="020B0604020202020204"/>
              </a:endParaRPr>
            </a:p>
          </p:txBody>
        </p:sp>
        <p:sp>
          <p:nvSpPr>
            <p:cNvPr id="20" name="TextBox 20"/>
            <p:cNvSpPr txBox="1"/>
            <p:nvPr/>
          </p:nvSpPr>
          <p:spPr>
            <a:xfrm>
              <a:off x="931537" y="1656874"/>
              <a:ext cx="271471" cy="198120"/>
            </a:xfrm>
            <a:prstGeom prst="rect">
              <a:avLst/>
            </a:prstGeom>
            <a:noFill/>
            <a:ln>
              <a:noFill/>
            </a:ln>
          </p:spPr>
          <p:txBody>
            <a:bodyPr wrap="none" lIns="0" tIns="0" rIns="0" bIns="0" anchor="t" anchorCtr="0">
              <a:spAutoFit/>
            </a:bodyPr>
            <a:lstStyle/>
            <a:p>
              <a:pPr algn="r"/>
              <a:r>
                <a:rPr lang="zh-CN" sz="975" b="1" dirty="0">
                  <a:solidFill>
                    <a:srgbClr val="1A3A5C"/>
                  </a:solidFill>
                  <a:latin typeface="Arial" panose="020B0604020202020204"/>
                  <a:ea typeface="微软雅黑" panose="020B0503020204020204" charset="-122"/>
                  <a:cs typeface="Arial" panose="020B0604020202020204"/>
                </a:rPr>
                <a:t>800</a:t>
              </a:r>
              <a:endParaRPr lang="zh-CN" sz="975" b="1" dirty="0">
                <a:solidFill>
                  <a:srgbClr val="1A3A5C"/>
                </a:solidFill>
                <a:latin typeface="Arial" panose="020B0604020202020204"/>
                <a:ea typeface="微软雅黑" panose="020B0503020204020204" charset="-122"/>
                <a:cs typeface="Arial" panose="020B0604020202020204"/>
              </a:endParaRPr>
            </a:p>
          </p:txBody>
        </p:sp>
        <p:sp>
          <p:nvSpPr>
            <p:cNvPr id="21" name="TextBox 21"/>
            <p:cNvSpPr txBox="1"/>
            <p:nvPr/>
          </p:nvSpPr>
          <p:spPr>
            <a:xfrm rot="-5400000">
              <a:off x="-539353" y="3417570"/>
              <a:ext cx="1636871" cy="213360"/>
            </a:xfrm>
            <a:prstGeom prst="rect">
              <a:avLst/>
            </a:prstGeom>
            <a:noFill/>
            <a:ln>
              <a:noFill/>
            </a:ln>
          </p:spPr>
          <p:txBody>
            <a:bodyPr wrap="none" lIns="0" tIns="0" rIns="0" bIns="0" anchor="t" anchorCtr="0">
              <a:spAutoFit/>
            </a:bodyPr>
            <a:lstStyle/>
            <a:p>
              <a:pPr algn="ctr"/>
              <a:r>
                <a:rPr lang="zh-CN" sz="1050" b="1" dirty="0">
                  <a:solidFill>
                    <a:srgbClr val="1A3A5C"/>
                  </a:solidFill>
                  <a:latin typeface="Arial" panose="020B0604020202020204"/>
                  <a:ea typeface="微软雅黑" panose="020B0503020204020204" charset="-122"/>
                  <a:cs typeface="Arial" panose="020B0604020202020204"/>
                </a:rPr>
                <a:t>博物馆年度增量（个）</a:t>
              </a:r>
              <a:endParaRPr lang="zh-CN" sz="1050" b="1" dirty="0">
                <a:solidFill>
                  <a:srgbClr val="1A3A5C"/>
                </a:solidFill>
                <a:latin typeface="Arial" panose="020B0604020202020204"/>
                <a:ea typeface="微软雅黑" panose="020B0503020204020204" charset="-122"/>
                <a:cs typeface="Arial" panose="020B0604020202020204"/>
              </a:endParaRPr>
            </a:p>
          </p:txBody>
        </p:sp>
        <p:sp>
          <p:nvSpPr>
            <p:cNvPr id="22" name="TextBox 22"/>
            <p:cNvSpPr txBox="1"/>
            <p:nvPr/>
          </p:nvSpPr>
          <p:spPr>
            <a:xfrm>
              <a:off x="10417492" y="5276374"/>
              <a:ext cx="435941" cy="198120"/>
            </a:xfrm>
            <a:prstGeom prst="rect">
              <a:avLst/>
            </a:prstGeom>
            <a:noFill/>
            <a:ln>
              <a:noFill/>
            </a:ln>
          </p:spPr>
          <p:txBody>
            <a:bodyPr wrap="none" lIns="0" tIns="0" rIns="0" bIns="0" anchor="t" anchorCtr="0">
              <a:spAutoFit/>
            </a:bodyPr>
            <a:lstStyle/>
            <a:p>
              <a:pPr algn="l"/>
              <a:r>
                <a:rPr lang="zh-CN" sz="975" b="1" dirty="0">
                  <a:solidFill>
                    <a:srgbClr val="2E6B8F"/>
                  </a:solidFill>
                  <a:latin typeface="Arial" panose="020B0604020202020204"/>
                  <a:ea typeface="微软雅黑" panose="020B0503020204020204" charset="-122"/>
                  <a:cs typeface="Arial" panose="020B0604020202020204"/>
                </a:rPr>
                <a:t>-2000</a:t>
              </a:r>
              <a:endParaRPr lang="zh-CN" sz="975" b="1" dirty="0">
                <a:solidFill>
                  <a:srgbClr val="2E6B8F"/>
                </a:solidFill>
                <a:latin typeface="Arial" panose="020B0604020202020204"/>
                <a:ea typeface="微软雅黑" panose="020B0503020204020204" charset="-122"/>
                <a:cs typeface="Arial" panose="020B0604020202020204"/>
              </a:endParaRPr>
            </a:p>
          </p:txBody>
        </p:sp>
        <p:sp>
          <p:nvSpPr>
            <p:cNvPr id="23" name="TextBox 23"/>
            <p:cNvSpPr txBox="1"/>
            <p:nvPr/>
          </p:nvSpPr>
          <p:spPr>
            <a:xfrm>
              <a:off x="10418445" y="4331970"/>
              <a:ext cx="351472"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panose="020B0604020202020204"/>
                  <a:ea typeface="微软雅黑" panose="020B0503020204020204" charset="-122"/>
                  <a:cs typeface="Arial" panose="020B0604020202020204"/>
                </a:rPr>
                <a:t>-1000</a:t>
              </a:r>
              <a:endParaRPr lang="zh-CN" sz="900" dirty="0">
                <a:solidFill>
                  <a:srgbClr val="6B7280"/>
                </a:solidFill>
                <a:latin typeface="Arial" panose="020B0604020202020204"/>
                <a:ea typeface="微软雅黑" panose="020B0503020204020204" charset="-122"/>
                <a:cs typeface="Arial" panose="020B0604020202020204"/>
              </a:endParaRPr>
            </a:p>
          </p:txBody>
        </p:sp>
        <p:sp>
          <p:nvSpPr>
            <p:cNvPr id="24" name="TextBox 24"/>
            <p:cNvSpPr txBox="1"/>
            <p:nvPr/>
          </p:nvSpPr>
          <p:spPr>
            <a:xfrm>
              <a:off x="10418445" y="3427095"/>
              <a:ext cx="95155"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panose="020B0604020202020204"/>
                  <a:ea typeface="微软雅黑" panose="020B0503020204020204" charset="-122"/>
                  <a:cs typeface="Arial" panose="020B0604020202020204"/>
                </a:rPr>
                <a:t>0</a:t>
              </a:r>
              <a:endParaRPr lang="zh-CN" sz="900" dirty="0">
                <a:solidFill>
                  <a:srgbClr val="6B7280"/>
                </a:solidFill>
                <a:latin typeface="Arial" panose="020B0604020202020204"/>
                <a:ea typeface="微软雅黑" panose="020B0503020204020204" charset="-122"/>
                <a:cs typeface="Arial" panose="020B0604020202020204"/>
              </a:endParaRPr>
            </a:p>
          </p:txBody>
        </p:sp>
        <p:sp>
          <p:nvSpPr>
            <p:cNvPr id="25" name="TextBox 25"/>
            <p:cNvSpPr txBox="1"/>
            <p:nvPr/>
          </p:nvSpPr>
          <p:spPr>
            <a:xfrm>
              <a:off x="10418445" y="2522220"/>
              <a:ext cx="351472"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panose="020B0604020202020204"/>
                  <a:ea typeface="微软雅黑" panose="020B0503020204020204" charset="-122"/>
                  <a:cs typeface="Arial" panose="020B0604020202020204"/>
                </a:rPr>
                <a:t>+1000</a:t>
              </a:r>
              <a:endParaRPr lang="zh-CN" sz="900" dirty="0">
                <a:solidFill>
                  <a:srgbClr val="6B7280"/>
                </a:solidFill>
                <a:latin typeface="Arial" panose="020B0604020202020204"/>
                <a:ea typeface="微软雅黑" panose="020B0503020204020204" charset="-122"/>
                <a:cs typeface="Arial" panose="020B0604020202020204"/>
              </a:endParaRPr>
            </a:p>
          </p:txBody>
        </p:sp>
        <p:sp>
          <p:nvSpPr>
            <p:cNvPr id="26" name="TextBox 26"/>
            <p:cNvSpPr txBox="1"/>
            <p:nvPr/>
          </p:nvSpPr>
          <p:spPr>
            <a:xfrm>
              <a:off x="10417492" y="1656874"/>
              <a:ext cx="435941" cy="198120"/>
            </a:xfrm>
            <a:prstGeom prst="rect">
              <a:avLst/>
            </a:prstGeom>
            <a:noFill/>
            <a:ln>
              <a:noFill/>
            </a:ln>
          </p:spPr>
          <p:txBody>
            <a:bodyPr wrap="none" lIns="0" tIns="0" rIns="0" bIns="0" anchor="t" anchorCtr="0">
              <a:spAutoFit/>
            </a:bodyPr>
            <a:lstStyle/>
            <a:p>
              <a:pPr algn="l"/>
              <a:r>
                <a:rPr lang="zh-CN" sz="975" b="1" dirty="0">
                  <a:solidFill>
                    <a:srgbClr val="2E6B8F"/>
                  </a:solidFill>
                  <a:latin typeface="Arial" panose="020B0604020202020204"/>
                  <a:ea typeface="微软雅黑" panose="020B0503020204020204" charset="-122"/>
                  <a:cs typeface="Arial" panose="020B0604020202020204"/>
                </a:rPr>
                <a:t>+2000</a:t>
              </a:r>
              <a:endParaRPr lang="zh-CN" sz="975" b="1" dirty="0">
                <a:solidFill>
                  <a:srgbClr val="2E6B8F"/>
                </a:solidFill>
                <a:latin typeface="Arial" panose="020B0604020202020204"/>
                <a:ea typeface="微软雅黑" panose="020B0503020204020204" charset="-122"/>
                <a:cs typeface="Arial" panose="020B0604020202020204"/>
              </a:endParaRPr>
            </a:p>
          </p:txBody>
        </p:sp>
        <p:sp>
          <p:nvSpPr>
            <p:cNvPr id="27" name="TextBox 27"/>
            <p:cNvSpPr txBox="1"/>
            <p:nvPr/>
          </p:nvSpPr>
          <p:spPr>
            <a:xfrm rot="5400000">
              <a:off x="10761046" y="3417570"/>
              <a:ext cx="2208493" cy="213360"/>
            </a:xfrm>
            <a:prstGeom prst="rect">
              <a:avLst/>
            </a:prstGeom>
            <a:noFill/>
            <a:ln>
              <a:noFill/>
            </a:ln>
          </p:spPr>
          <p:txBody>
            <a:bodyPr wrap="none" lIns="0" tIns="0" rIns="0" bIns="0" anchor="t" anchorCtr="0">
              <a:spAutoFit/>
            </a:bodyPr>
            <a:lstStyle/>
            <a:p>
              <a:pPr algn="ctr"/>
              <a:r>
                <a:rPr lang="zh-CN" sz="1050" b="1" dirty="0">
                  <a:solidFill>
                    <a:srgbClr val="2E6B8F"/>
                  </a:solidFill>
                  <a:latin typeface="Arial" panose="020B0604020202020204"/>
                  <a:ea typeface="微软雅黑" panose="020B0503020204020204" charset="-122"/>
                  <a:cs typeface="Arial" panose="020B0604020202020204"/>
                </a:rPr>
                <a:t>游客年度变化（百万人次/年）</a:t>
              </a:r>
              <a:endParaRPr lang="zh-CN" sz="1050" b="1" dirty="0">
                <a:solidFill>
                  <a:srgbClr val="2E6B8F"/>
                </a:solidFill>
                <a:latin typeface="Arial" panose="020B0604020202020204"/>
                <a:ea typeface="微软雅黑" panose="020B0503020204020204" charset="-122"/>
                <a:cs typeface="Arial" panose="020B0604020202020204"/>
              </a:endParaRPr>
            </a:p>
          </p:txBody>
        </p:sp>
        <p:sp>
          <p:nvSpPr>
            <p:cNvPr id="28" name="Line 28"/>
            <p:cNvSpPr/>
            <p:nvPr/>
          </p:nvSpPr>
          <p:spPr>
            <a:xfrm>
              <a:off x="1333500" y="1714500"/>
              <a:ext cx="9525" cy="3619500"/>
            </a:xfrm>
            <a:custGeom>
              <a:avLst/>
              <a:gdLst/>
              <a:ahLst/>
              <a:cxnLst/>
              <a:rect l="l" t="t" r="r" b="b"/>
              <a:pathLst>
                <a:path w="9525" h="3619500">
                  <a:moveTo>
                    <a:pt x="0" y="0"/>
                  </a:moveTo>
                  <a:lnTo>
                    <a:pt x="0" y="3619500"/>
                  </a:lnTo>
                </a:path>
              </a:pathLst>
            </a:custGeom>
            <a:noFill/>
            <a:ln w="19050">
              <a:solidFill>
                <a:srgbClr val="94A3B8"/>
              </a:solidFill>
            </a:ln>
          </p:spPr>
        </p:sp>
        <p:sp>
          <p:nvSpPr>
            <p:cNvPr id="29" name="Line 29"/>
            <p:cNvSpPr/>
            <p:nvPr/>
          </p:nvSpPr>
          <p:spPr>
            <a:xfrm>
              <a:off x="1333500" y="5334000"/>
              <a:ext cx="8953500" cy="9525"/>
            </a:xfrm>
            <a:custGeom>
              <a:avLst/>
              <a:gdLst/>
              <a:ahLst/>
              <a:cxnLst/>
              <a:rect l="l" t="t" r="r" b="b"/>
              <a:pathLst>
                <a:path w="8953500" h="9525">
                  <a:moveTo>
                    <a:pt x="0" y="0"/>
                  </a:moveTo>
                  <a:lnTo>
                    <a:pt x="8953500" y="0"/>
                  </a:lnTo>
                </a:path>
              </a:pathLst>
            </a:custGeom>
            <a:noFill/>
            <a:ln w="19050">
              <a:solidFill>
                <a:srgbClr val="94A3B8"/>
              </a:solidFill>
            </a:ln>
          </p:spPr>
        </p:sp>
        <p:sp>
          <p:nvSpPr>
            <p:cNvPr id="30" name="Line 30"/>
            <p:cNvSpPr/>
            <p:nvPr/>
          </p:nvSpPr>
          <p:spPr>
            <a:xfrm>
              <a:off x="10287000" y="1714500"/>
              <a:ext cx="9525" cy="3619500"/>
            </a:xfrm>
            <a:custGeom>
              <a:avLst/>
              <a:gdLst/>
              <a:ahLst/>
              <a:cxnLst/>
              <a:rect l="l" t="t" r="r" b="b"/>
              <a:pathLst>
                <a:path w="9525" h="3619500">
                  <a:moveTo>
                    <a:pt x="0" y="0"/>
                  </a:moveTo>
                  <a:lnTo>
                    <a:pt x="0" y="3619500"/>
                  </a:lnTo>
                </a:path>
              </a:pathLst>
            </a:custGeom>
            <a:noFill/>
            <a:ln w="19050">
              <a:solidFill>
                <a:srgbClr val="94A3B8"/>
              </a:solidFill>
            </a:ln>
          </p:spPr>
        </p:sp>
        <p:sp>
          <p:nvSpPr>
            <p:cNvPr id="31" name="TextBox 31"/>
            <p:cNvSpPr txBox="1"/>
            <p:nvPr/>
          </p:nvSpPr>
          <p:spPr>
            <a:xfrm>
              <a:off x="1193911" y="5474970"/>
              <a:ext cx="279178" cy="182880"/>
            </a:xfrm>
            <a:prstGeom prst="rect">
              <a:avLst/>
            </a:prstGeom>
            <a:noFill/>
            <a:ln>
              <a:noFill/>
            </a:ln>
          </p:spPr>
          <p:txBody>
            <a:bodyPr wrap="none" lIns="0" tIns="0" rIns="0" bIns="0" anchor="t" anchorCtr="0">
              <a:spAutoFit/>
            </a:bodyPr>
            <a:lstStyle/>
            <a:p>
              <a:pPr algn="ctr"/>
              <a:r>
                <a:rPr lang="zh-CN" sz="900" dirty="0">
                  <a:solidFill>
                    <a:srgbClr val="6B7280"/>
                  </a:solidFill>
                  <a:latin typeface="Arial" panose="020B0604020202020204"/>
                  <a:ea typeface="微软雅黑" panose="020B0503020204020204" charset="-122"/>
                  <a:cs typeface="Arial" panose="020B0604020202020204"/>
                </a:rPr>
                <a:t>2014</a:t>
              </a:r>
              <a:endParaRPr lang="zh-CN" sz="900" dirty="0">
                <a:solidFill>
                  <a:srgbClr val="6B7280"/>
                </a:solidFill>
                <a:latin typeface="Arial" panose="020B0604020202020204"/>
                <a:ea typeface="微软雅黑" panose="020B0503020204020204" charset="-122"/>
                <a:cs typeface="Arial" panose="020B0604020202020204"/>
              </a:endParaRPr>
            </a:p>
          </p:txBody>
        </p:sp>
        <p:sp>
          <p:nvSpPr>
            <p:cNvPr id="32" name="TextBox 32"/>
            <p:cNvSpPr txBox="1"/>
            <p:nvPr/>
          </p:nvSpPr>
          <p:spPr>
            <a:xfrm>
              <a:off x="3175111" y="5474970"/>
              <a:ext cx="279178" cy="182880"/>
            </a:xfrm>
            <a:prstGeom prst="rect">
              <a:avLst/>
            </a:prstGeom>
            <a:noFill/>
            <a:ln>
              <a:noFill/>
            </a:ln>
          </p:spPr>
          <p:txBody>
            <a:bodyPr wrap="none" lIns="0" tIns="0" rIns="0" bIns="0" anchor="t" anchorCtr="0">
              <a:spAutoFit/>
            </a:bodyPr>
            <a:lstStyle/>
            <a:p>
              <a:pPr algn="ctr"/>
              <a:r>
                <a:rPr lang="zh-CN" sz="900" dirty="0">
                  <a:solidFill>
                    <a:srgbClr val="6B7280"/>
                  </a:solidFill>
                  <a:latin typeface="Arial" panose="020B0604020202020204"/>
                  <a:ea typeface="微软雅黑" panose="020B0503020204020204" charset="-122"/>
                  <a:cs typeface="Arial" panose="020B0604020202020204"/>
                </a:rPr>
                <a:t>2016</a:t>
              </a:r>
              <a:endParaRPr lang="zh-CN" sz="900" dirty="0">
                <a:solidFill>
                  <a:srgbClr val="6B7280"/>
                </a:solidFill>
                <a:latin typeface="Arial" panose="020B0604020202020204"/>
                <a:ea typeface="微软雅黑" panose="020B0503020204020204" charset="-122"/>
                <a:cs typeface="Arial" panose="020B0604020202020204"/>
              </a:endParaRPr>
            </a:p>
          </p:txBody>
        </p:sp>
        <p:sp>
          <p:nvSpPr>
            <p:cNvPr id="33" name="TextBox 33"/>
            <p:cNvSpPr txBox="1"/>
            <p:nvPr/>
          </p:nvSpPr>
          <p:spPr>
            <a:xfrm>
              <a:off x="5165836" y="5474970"/>
              <a:ext cx="279178" cy="182880"/>
            </a:xfrm>
            <a:prstGeom prst="rect">
              <a:avLst/>
            </a:prstGeom>
            <a:noFill/>
            <a:ln>
              <a:noFill/>
            </a:ln>
          </p:spPr>
          <p:txBody>
            <a:bodyPr wrap="none" lIns="0" tIns="0" rIns="0" bIns="0" anchor="t" anchorCtr="0">
              <a:spAutoFit/>
            </a:bodyPr>
            <a:lstStyle/>
            <a:p>
              <a:pPr algn="ctr"/>
              <a:r>
                <a:rPr lang="zh-CN" sz="900" dirty="0">
                  <a:solidFill>
                    <a:srgbClr val="6B7280"/>
                  </a:solidFill>
                  <a:latin typeface="Arial" panose="020B0604020202020204"/>
                  <a:ea typeface="微软雅黑" panose="020B0503020204020204" charset="-122"/>
                  <a:cs typeface="Arial" panose="020B0604020202020204"/>
                </a:rPr>
                <a:t>2018</a:t>
              </a:r>
              <a:endParaRPr lang="zh-CN" sz="900" dirty="0">
                <a:solidFill>
                  <a:srgbClr val="6B7280"/>
                </a:solidFill>
                <a:latin typeface="Arial" panose="020B0604020202020204"/>
                <a:ea typeface="微软雅黑" panose="020B0503020204020204" charset="-122"/>
                <a:cs typeface="Arial" panose="020B0604020202020204"/>
              </a:endParaRPr>
            </a:p>
          </p:txBody>
        </p:sp>
        <p:sp>
          <p:nvSpPr>
            <p:cNvPr id="34" name="TextBox 34"/>
            <p:cNvSpPr txBox="1"/>
            <p:nvPr/>
          </p:nvSpPr>
          <p:spPr>
            <a:xfrm>
              <a:off x="7140130" y="5474970"/>
              <a:ext cx="312039" cy="182880"/>
            </a:xfrm>
            <a:prstGeom prst="rect">
              <a:avLst/>
            </a:prstGeom>
            <a:noFill/>
            <a:ln>
              <a:noFill/>
            </a:ln>
          </p:spPr>
          <p:txBody>
            <a:bodyPr wrap="none" lIns="0" tIns="0" rIns="0" bIns="0" anchor="t" anchorCtr="0">
              <a:spAutoFit/>
            </a:bodyPr>
            <a:lstStyle/>
            <a:p>
              <a:pPr algn="ctr"/>
              <a:r>
                <a:rPr lang="zh-CN" sz="900" dirty="0">
                  <a:solidFill>
                    <a:srgbClr val="C62828"/>
                  </a:solidFill>
                  <a:latin typeface="Arial" panose="020B0604020202020204"/>
                  <a:ea typeface="微软雅黑" panose="020B0503020204020204" charset="-122"/>
                  <a:cs typeface="Arial" panose="020B0604020202020204"/>
                </a:rPr>
                <a:t>2020</a:t>
              </a:r>
              <a:endParaRPr lang="zh-CN" sz="900" dirty="0">
                <a:solidFill>
                  <a:srgbClr val="C62828"/>
                </a:solidFill>
                <a:latin typeface="Arial" panose="020B0604020202020204"/>
                <a:ea typeface="微软雅黑" panose="020B0503020204020204" charset="-122"/>
                <a:cs typeface="Arial" panose="020B0604020202020204"/>
              </a:endParaRPr>
            </a:p>
          </p:txBody>
        </p:sp>
        <p:sp>
          <p:nvSpPr>
            <p:cNvPr id="35" name="TextBox 35"/>
            <p:cNvSpPr txBox="1"/>
            <p:nvPr/>
          </p:nvSpPr>
          <p:spPr>
            <a:xfrm>
              <a:off x="9130856" y="5474970"/>
              <a:ext cx="312039" cy="182880"/>
            </a:xfrm>
            <a:prstGeom prst="rect">
              <a:avLst/>
            </a:prstGeom>
            <a:noFill/>
            <a:ln>
              <a:noFill/>
            </a:ln>
          </p:spPr>
          <p:txBody>
            <a:bodyPr wrap="none" lIns="0" tIns="0" rIns="0" bIns="0" anchor="t" anchorCtr="0">
              <a:spAutoFit/>
            </a:bodyPr>
            <a:lstStyle/>
            <a:p>
              <a:pPr algn="ctr"/>
              <a:r>
                <a:rPr lang="zh-CN" sz="900" dirty="0">
                  <a:solidFill>
                    <a:srgbClr val="6B7280"/>
                  </a:solidFill>
                  <a:latin typeface="Arial" panose="020B0604020202020204"/>
                  <a:ea typeface="微软雅黑" panose="020B0503020204020204" charset="-122"/>
                  <a:cs typeface="Arial" panose="020B0604020202020204"/>
                </a:rPr>
                <a:t>2022</a:t>
              </a:r>
              <a:endParaRPr lang="zh-CN" sz="900" dirty="0">
                <a:solidFill>
                  <a:srgbClr val="6B7280"/>
                </a:solidFill>
                <a:latin typeface="Arial" panose="020B0604020202020204"/>
                <a:ea typeface="微软雅黑" panose="020B0503020204020204" charset="-122"/>
                <a:cs typeface="Arial" panose="020B0604020202020204"/>
              </a:endParaRPr>
            </a:p>
          </p:txBody>
        </p:sp>
        <p:sp>
          <p:nvSpPr>
            <p:cNvPr id="36" name="TextBox 36"/>
            <p:cNvSpPr txBox="1"/>
            <p:nvPr/>
          </p:nvSpPr>
          <p:spPr>
            <a:xfrm>
              <a:off x="10130980" y="5474970"/>
              <a:ext cx="312039" cy="182880"/>
            </a:xfrm>
            <a:prstGeom prst="rect">
              <a:avLst/>
            </a:prstGeom>
            <a:noFill/>
            <a:ln>
              <a:noFill/>
            </a:ln>
          </p:spPr>
          <p:txBody>
            <a:bodyPr wrap="none" lIns="0" tIns="0" rIns="0" bIns="0" anchor="t" anchorCtr="0">
              <a:spAutoFit/>
            </a:bodyPr>
            <a:lstStyle/>
            <a:p>
              <a:pPr algn="ctr"/>
              <a:r>
                <a:rPr lang="zh-CN" sz="900" dirty="0">
                  <a:solidFill>
                    <a:srgbClr val="2E6B8F"/>
                  </a:solidFill>
                  <a:latin typeface="Arial" panose="020B0604020202020204"/>
                  <a:ea typeface="微软雅黑" panose="020B0503020204020204" charset="-122"/>
                  <a:cs typeface="Arial" panose="020B0604020202020204"/>
                </a:rPr>
                <a:t>2023</a:t>
              </a:r>
              <a:endParaRPr lang="zh-CN" sz="900" dirty="0">
                <a:solidFill>
                  <a:srgbClr val="2E6B8F"/>
                </a:solidFill>
                <a:latin typeface="Arial" panose="020B0604020202020204"/>
                <a:ea typeface="微软雅黑" panose="020B0503020204020204" charset="-122"/>
                <a:cs typeface="Arial" panose="020B0604020202020204"/>
              </a:endParaRPr>
            </a:p>
          </p:txBody>
        </p:sp>
        <p:sp>
          <p:nvSpPr>
            <p:cNvPr id="37" name="Rectangle 37"/>
            <p:cNvSpPr/>
            <p:nvPr/>
          </p:nvSpPr>
          <p:spPr>
            <a:xfrm>
              <a:off x="2143125" y="4457700"/>
              <a:ext cx="285750" cy="876300"/>
            </a:xfrm>
            <a:prstGeom prst="roundRect">
              <a:avLst>
                <a:gd name="adj" fmla="val 10000"/>
              </a:avLst>
            </a:prstGeom>
            <a:solidFill>
              <a:srgbClr val="1A3A5C">
                <a:alpha val="70000"/>
              </a:srgbClr>
            </a:solidFill>
            <a:ln>
              <a:noFill/>
            </a:ln>
          </p:spPr>
        </p:sp>
        <p:sp>
          <p:nvSpPr>
            <p:cNvPr id="38" name="Rectangle 38"/>
            <p:cNvSpPr/>
            <p:nvPr/>
          </p:nvSpPr>
          <p:spPr>
            <a:xfrm>
              <a:off x="3133725" y="4400550"/>
              <a:ext cx="285750" cy="933450"/>
            </a:xfrm>
            <a:prstGeom prst="roundRect">
              <a:avLst>
                <a:gd name="adj" fmla="val 10000"/>
              </a:avLst>
            </a:prstGeom>
            <a:solidFill>
              <a:srgbClr val="1A3A5C">
                <a:alpha val="70000"/>
              </a:srgbClr>
            </a:solidFill>
            <a:ln>
              <a:noFill/>
            </a:ln>
          </p:spPr>
        </p:sp>
        <p:sp>
          <p:nvSpPr>
            <p:cNvPr id="39" name="Rectangle 39"/>
            <p:cNvSpPr/>
            <p:nvPr/>
          </p:nvSpPr>
          <p:spPr>
            <a:xfrm>
              <a:off x="4133850" y="3333750"/>
              <a:ext cx="285750" cy="2000250"/>
            </a:xfrm>
            <a:prstGeom prst="roundRect">
              <a:avLst>
                <a:gd name="adj" fmla="val 10000"/>
              </a:avLst>
            </a:prstGeom>
            <a:solidFill>
              <a:srgbClr val="1A3A5C">
                <a:alpha val="70000"/>
              </a:srgbClr>
            </a:solidFill>
            <a:ln>
              <a:noFill/>
            </a:ln>
          </p:spPr>
        </p:sp>
        <p:sp>
          <p:nvSpPr>
            <p:cNvPr id="40" name="Rectangle 40"/>
            <p:cNvSpPr/>
            <p:nvPr/>
          </p:nvSpPr>
          <p:spPr>
            <a:xfrm>
              <a:off x="5124450" y="4267200"/>
              <a:ext cx="285750" cy="1066800"/>
            </a:xfrm>
            <a:prstGeom prst="roundRect">
              <a:avLst>
                <a:gd name="adj" fmla="val 10000"/>
              </a:avLst>
            </a:prstGeom>
            <a:solidFill>
              <a:srgbClr val="1A3A5C">
                <a:alpha val="70000"/>
              </a:srgbClr>
            </a:solidFill>
            <a:ln>
              <a:noFill/>
            </a:ln>
          </p:spPr>
        </p:sp>
        <p:sp>
          <p:nvSpPr>
            <p:cNvPr id="41" name="Rectangle 41"/>
            <p:cNvSpPr/>
            <p:nvPr/>
          </p:nvSpPr>
          <p:spPr>
            <a:xfrm>
              <a:off x="6124575" y="3905250"/>
              <a:ext cx="285750" cy="1428750"/>
            </a:xfrm>
            <a:prstGeom prst="roundRect">
              <a:avLst>
                <a:gd name="adj" fmla="val 10000"/>
              </a:avLst>
            </a:prstGeom>
            <a:solidFill>
              <a:srgbClr val="1A3A5C">
                <a:alpha val="70000"/>
              </a:srgbClr>
            </a:solidFill>
            <a:ln>
              <a:noFill/>
            </a:ln>
          </p:spPr>
        </p:sp>
        <p:sp>
          <p:nvSpPr>
            <p:cNvPr id="42" name="Rectangle 42"/>
            <p:cNvSpPr/>
            <p:nvPr/>
          </p:nvSpPr>
          <p:spPr>
            <a:xfrm>
              <a:off x="7115175" y="4095750"/>
              <a:ext cx="285750" cy="1238250"/>
            </a:xfrm>
            <a:prstGeom prst="roundRect">
              <a:avLst>
                <a:gd name="adj" fmla="val 10000"/>
              </a:avLst>
            </a:prstGeom>
            <a:solidFill>
              <a:srgbClr val="1A3A5C">
                <a:alpha val="70000"/>
              </a:srgbClr>
            </a:solidFill>
            <a:ln>
              <a:noFill/>
            </a:ln>
          </p:spPr>
        </p:sp>
        <p:sp>
          <p:nvSpPr>
            <p:cNvPr id="43" name="Rectangle 43"/>
            <p:cNvSpPr/>
            <p:nvPr/>
          </p:nvSpPr>
          <p:spPr>
            <a:xfrm>
              <a:off x="8105775" y="3714750"/>
              <a:ext cx="285750" cy="1619250"/>
            </a:xfrm>
            <a:prstGeom prst="roundRect">
              <a:avLst>
                <a:gd name="adj" fmla="val 10000"/>
              </a:avLst>
            </a:prstGeom>
            <a:solidFill>
              <a:srgbClr val="1A3A5C">
                <a:alpha val="70000"/>
              </a:srgbClr>
            </a:solidFill>
            <a:ln>
              <a:noFill/>
            </a:ln>
          </p:spPr>
        </p:sp>
        <p:sp>
          <p:nvSpPr>
            <p:cNvPr id="44" name="Rectangle 44"/>
            <p:cNvSpPr/>
            <p:nvPr/>
          </p:nvSpPr>
          <p:spPr>
            <a:xfrm>
              <a:off x="9105900" y="3009900"/>
              <a:ext cx="285750" cy="2324100"/>
            </a:xfrm>
            <a:prstGeom prst="roundRect">
              <a:avLst>
                <a:gd name="adj" fmla="val 10000"/>
              </a:avLst>
            </a:prstGeom>
            <a:solidFill>
              <a:srgbClr val="1A3A5C">
                <a:alpha val="70000"/>
              </a:srgbClr>
            </a:solidFill>
            <a:ln>
              <a:noFill/>
            </a:ln>
          </p:spPr>
        </p:sp>
        <p:sp>
          <p:nvSpPr>
            <p:cNvPr id="45" name="Rectangle 45"/>
            <p:cNvSpPr/>
            <p:nvPr/>
          </p:nvSpPr>
          <p:spPr>
            <a:xfrm>
              <a:off x="10067925" y="3524250"/>
              <a:ext cx="285750" cy="1809750"/>
            </a:xfrm>
            <a:prstGeom prst="roundRect">
              <a:avLst>
                <a:gd name="adj" fmla="val 10000"/>
              </a:avLst>
            </a:prstGeom>
            <a:solidFill>
              <a:srgbClr val="2E6B8F">
                <a:alpha val="80000"/>
              </a:srgbClr>
            </a:solidFill>
            <a:ln>
              <a:noFill/>
            </a:ln>
          </p:spPr>
        </p:sp>
        <p:sp>
          <p:nvSpPr>
            <p:cNvPr id="46" name="Polyline 46"/>
            <p:cNvSpPr/>
            <p:nvPr/>
          </p:nvSpPr>
          <p:spPr>
            <a:xfrm>
              <a:off x="1333500" y="1714500"/>
              <a:ext cx="8953500" cy="3619500"/>
            </a:xfrm>
            <a:custGeom>
              <a:avLst/>
              <a:gdLst/>
              <a:ahLst/>
              <a:cxnLst/>
              <a:rect l="l" t="t" r="r" b="b"/>
              <a:pathLst>
                <a:path w="8953500" h="3619500">
                  <a:moveTo>
                    <a:pt x="0" y="1524000"/>
                  </a:moveTo>
                  <a:lnTo>
                    <a:pt x="990600" y="1047750"/>
                  </a:lnTo>
                  <a:lnTo>
                    <a:pt x="1990725" y="571500"/>
                  </a:lnTo>
                  <a:lnTo>
                    <a:pt x="2981325" y="0"/>
                  </a:lnTo>
                  <a:lnTo>
                    <a:pt x="3971925" y="133350"/>
                  </a:lnTo>
                  <a:lnTo>
                    <a:pt x="4972050" y="857250"/>
                  </a:lnTo>
                  <a:lnTo>
                    <a:pt x="5962650" y="3571875"/>
                  </a:lnTo>
                  <a:lnTo>
                    <a:pt x="6962775" y="2209800"/>
                  </a:lnTo>
                  <a:lnTo>
                    <a:pt x="7953375" y="3619500"/>
                  </a:lnTo>
                  <a:lnTo>
                    <a:pt x="8953500" y="171450"/>
                  </a:lnTo>
                </a:path>
              </a:pathLst>
            </a:custGeom>
            <a:noFill/>
            <a:ln w="28575" cap="rnd">
              <a:solidFill>
                <a:srgbClr val="2E6B8F"/>
              </a:solidFill>
              <a:round/>
            </a:ln>
          </p:spPr>
        </p:sp>
        <p:sp>
          <p:nvSpPr>
            <p:cNvPr id="47" name="Ellipse 47"/>
            <p:cNvSpPr/>
            <p:nvPr/>
          </p:nvSpPr>
          <p:spPr>
            <a:xfrm>
              <a:off x="1285875" y="3190875"/>
              <a:ext cx="95250" cy="95250"/>
            </a:xfrm>
            <a:prstGeom prst="ellipse">
              <a:avLst/>
            </a:prstGeom>
            <a:solidFill>
              <a:srgbClr val="2E6B8F"/>
            </a:solidFill>
            <a:ln w="19050">
              <a:solidFill>
                <a:srgbClr val="FFFFFF"/>
              </a:solidFill>
            </a:ln>
            <a:effectLst>
              <a:outerShdw blurRad="38100" dist="9525" dir="5400000" algn="ctr" rotWithShape="0">
                <a:srgbClr val="0F172A">
                  <a:alpha val="11250"/>
                </a:srgbClr>
              </a:outerShdw>
            </a:effectLst>
          </p:spPr>
        </p:sp>
        <p:sp>
          <p:nvSpPr>
            <p:cNvPr id="48" name="Ellipse 48"/>
            <p:cNvSpPr/>
            <p:nvPr/>
          </p:nvSpPr>
          <p:spPr>
            <a:xfrm>
              <a:off x="2276475" y="2714625"/>
              <a:ext cx="95250" cy="95250"/>
            </a:xfrm>
            <a:prstGeom prst="ellipse">
              <a:avLst/>
            </a:prstGeom>
            <a:solidFill>
              <a:srgbClr val="2E6B8F"/>
            </a:solidFill>
            <a:ln w="19050">
              <a:solidFill>
                <a:srgbClr val="FFFFFF"/>
              </a:solidFill>
            </a:ln>
            <a:effectLst>
              <a:outerShdw blurRad="38100" dist="9525" dir="5400000" algn="ctr" rotWithShape="0">
                <a:srgbClr val="0F172A">
                  <a:alpha val="11250"/>
                </a:srgbClr>
              </a:outerShdw>
            </a:effectLst>
          </p:spPr>
        </p:sp>
        <p:sp>
          <p:nvSpPr>
            <p:cNvPr id="49" name="Ellipse 49"/>
            <p:cNvSpPr/>
            <p:nvPr/>
          </p:nvSpPr>
          <p:spPr>
            <a:xfrm>
              <a:off x="3276600" y="2238375"/>
              <a:ext cx="95250" cy="95250"/>
            </a:xfrm>
            <a:prstGeom prst="ellipse">
              <a:avLst/>
            </a:prstGeom>
            <a:solidFill>
              <a:srgbClr val="2E6B8F"/>
            </a:solidFill>
            <a:ln w="19050">
              <a:solidFill>
                <a:srgbClr val="FFFFFF"/>
              </a:solidFill>
            </a:ln>
            <a:effectLst>
              <a:outerShdw blurRad="38100" dist="9525" dir="5400000" algn="ctr" rotWithShape="0">
                <a:srgbClr val="0F172A">
                  <a:alpha val="11250"/>
                </a:srgbClr>
              </a:outerShdw>
            </a:effectLst>
          </p:spPr>
        </p:sp>
        <p:sp>
          <p:nvSpPr>
            <p:cNvPr id="50" name="Ellipse 50"/>
            <p:cNvSpPr/>
            <p:nvPr/>
          </p:nvSpPr>
          <p:spPr>
            <a:xfrm>
              <a:off x="4267200" y="1666875"/>
              <a:ext cx="95250" cy="95250"/>
            </a:xfrm>
            <a:prstGeom prst="ellipse">
              <a:avLst/>
            </a:prstGeom>
            <a:solidFill>
              <a:srgbClr val="2E6B8F"/>
            </a:solidFill>
            <a:ln w="19050">
              <a:solidFill>
                <a:srgbClr val="FFFFFF"/>
              </a:solidFill>
            </a:ln>
            <a:effectLst>
              <a:outerShdw blurRad="38100" dist="9525" dir="5400000" algn="ctr" rotWithShape="0">
                <a:srgbClr val="0F172A">
                  <a:alpha val="11250"/>
                </a:srgbClr>
              </a:outerShdw>
            </a:effectLst>
          </p:spPr>
        </p:sp>
        <p:sp>
          <p:nvSpPr>
            <p:cNvPr id="51" name="Ellipse 51"/>
            <p:cNvSpPr/>
            <p:nvPr/>
          </p:nvSpPr>
          <p:spPr>
            <a:xfrm>
              <a:off x="5257800" y="1800225"/>
              <a:ext cx="95250" cy="95250"/>
            </a:xfrm>
            <a:prstGeom prst="ellipse">
              <a:avLst/>
            </a:prstGeom>
            <a:solidFill>
              <a:srgbClr val="2E6B8F"/>
            </a:solidFill>
            <a:ln w="19050">
              <a:solidFill>
                <a:srgbClr val="FFFFFF"/>
              </a:solidFill>
            </a:ln>
            <a:effectLst>
              <a:outerShdw blurRad="38100" dist="9525" dir="5400000" algn="ctr" rotWithShape="0">
                <a:srgbClr val="0F172A">
                  <a:alpha val="11250"/>
                </a:srgbClr>
              </a:outerShdw>
            </a:effectLst>
          </p:spPr>
        </p:sp>
        <p:sp>
          <p:nvSpPr>
            <p:cNvPr id="52" name="Ellipse 52"/>
            <p:cNvSpPr/>
            <p:nvPr/>
          </p:nvSpPr>
          <p:spPr>
            <a:xfrm>
              <a:off x="6257925" y="2524125"/>
              <a:ext cx="95250" cy="95250"/>
            </a:xfrm>
            <a:prstGeom prst="ellipse">
              <a:avLst/>
            </a:prstGeom>
            <a:solidFill>
              <a:srgbClr val="2E6B8F"/>
            </a:solidFill>
            <a:ln w="19050">
              <a:solidFill>
                <a:srgbClr val="FFFFFF"/>
              </a:solidFill>
            </a:ln>
            <a:effectLst>
              <a:outerShdw blurRad="38100" dist="9525" dir="5400000" algn="ctr" rotWithShape="0">
                <a:srgbClr val="0F172A">
                  <a:alpha val="11250"/>
                </a:srgbClr>
              </a:outerShdw>
            </a:effectLst>
          </p:spPr>
        </p:sp>
        <p:sp>
          <p:nvSpPr>
            <p:cNvPr id="53" name="Ellipse 53"/>
            <p:cNvSpPr/>
            <p:nvPr/>
          </p:nvSpPr>
          <p:spPr>
            <a:xfrm>
              <a:off x="7229475" y="5219700"/>
              <a:ext cx="133350" cy="133350"/>
            </a:xfrm>
            <a:prstGeom prst="ellipse">
              <a:avLst/>
            </a:prstGeom>
            <a:solidFill>
              <a:srgbClr val="C62828"/>
            </a:solidFill>
            <a:ln w="23812">
              <a:solidFill>
                <a:srgbClr val="FFFFFF"/>
              </a:solidFill>
            </a:ln>
            <a:effectLst>
              <a:outerShdw blurRad="38100" dist="9525" dir="5400000" algn="ctr" rotWithShape="0">
                <a:srgbClr val="0F172A">
                  <a:alpha val="11250"/>
                </a:srgbClr>
              </a:outerShdw>
            </a:effectLst>
          </p:spPr>
        </p:sp>
        <p:sp>
          <p:nvSpPr>
            <p:cNvPr id="54" name="Ellipse 54"/>
            <p:cNvSpPr/>
            <p:nvPr/>
          </p:nvSpPr>
          <p:spPr>
            <a:xfrm>
              <a:off x="8248650" y="3876675"/>
              <a:ext cx="95250" cy="95250"/>
            </a:xfrm>
            <a:prstGeom prst="ellipse">
              <a:avLst/>
            </a:prstGeom>
            <a:solidFill>
              <a:srgbClr val="2E6B8F"/>
            </a:solidFill>
            <a:ln w="19050">
              <a:solidFill>
                <a:srgbClr val="FFFFFF"/>
              </a:solidFill>
            </a:ln>
            <a:effectLst>
              <a:outerShdw blurRad="38100" dist="9525" dir="5400000" algn="ctr" rotWithShape="0">
                <a:srgbClr val="0F172A">
                  <a:alpha val="11250"/>
                </a:srgbClr>
              </a:outerShdw>
            </a:effectLst>
          </p:spPr>
        </p:sp>
        <p:sp>
          <p:nvSpPr>
            <p:cNvPr id="55" name="Ellipse 55"/>
            <p:cNvSpPr/>
            <p:nvPr/>
          </p:nvSpPr>
          <p:spPr>
            <a:xfrm>
              <a:off x="9239250" y="5267325"/>
              <a:ext cx="95250" cy="95250"/>
            </a:xfrm>
            <a:prstGeom prst="ellipse">
              <a:avLst/>
            </a:prstGeom>
            <a:solidFill>
              <a:srgbClr val="2E6B8F"/>
            </a:solidFill>
            <a:ln w="19050">
              <a:solidFill>
                <a:srgbClr val="FFFFFF"/>
              </a:solidFill>
            </a:ln>
            <a:effectLst>
              <a:outerShdw blurRad="38100" dist="9525" dir="5400000" algn="ctr" rotWithShape="0">
                <a:srgbClr val="0F172A">
                  <a:alpha val="11250"/>
                </a:srgbClr>
              </a:outerShdw>
            </a:effectLst>
          </p:spPr>
        </p:sp>
        <p:sp>
          <p:nvSpPr>
            <p:cNvPr id="56" name="Ellipse 56"/>
            <p:cNvSpPr/>
            <p:nvPr/>
          </p:nvSpPr>
          <p:spPr>
            <a:xfrm>
              <a:off x="10220325" y="1819275"/>
              <a:ext cx="133350" cy="133350"/>
            </a:xfrm>
            <a:prstGeom prst="ellipse">
              <a:avLst/>
            </a:prstGeom>
            <a:solidFill>
              <a:srgbClr val="2E7D32"/>
            </a:solidFill>
            <a:ln w="23812">
              <a:solidFill>
                <a:srgbClr val="FFFFFF"/>
              </a:solidFill>
            </a:ln>
            <a:effectLst>
              <a:outerShdw blurRad="38100" dist="9525" dir="5400000" algn="ctr" rotWithShape="0">
                <a:srgbClr val="0F172A">
                  <a:alpha val="11250"/>
                </a:srgbClr>
              </a:outerShdw>
            </a:effectLst>
          </p:spPr>
        </p:sp>
        <p:sp>
          <p:nvSpPr>
            <p:cNvPr id="57" name="Rectangle 57"/>
            <p:cNvSpPr/>
            <p:nvPr/>
          </p:nvSpPr>
          <p:spPr>
            <a:xfrm>
              <a:off x="7105650" y="5372100"/>
              <a:ext cx="1047750" cy="209550"/>
            </a:xfrm>
            <a:prstGeom prst="roundRect">
              <a:avLst>
                <a:gd name="adj" fmla="val 18182"/>
              </a:avLst>
            </a:prstGeom>
            <a:solidFill>
              <a:srgbClr val="C62828"/>
            </a:solidFill>
            <a:ln>
              <a:noFill/>
            </a:ln>
          </p:spPr>
        </p:sp>
        <p:sp>
          <p:nvSpPr>
            <p:cNvPr id="58" name="TextBox 58"/>
            <p:cNvSpPr txBox="1"/>
            <p:nvPr/>
          </p:nvSpPr>
          <p:spPr>
            <a:xfrm>
              <a:off x="7041873" y="5417820"/>
              <a:ext cx="1175304"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panose="020B0604020202020204"/>
                  <a:ea typeface="微软雅黑" panose="020B0503020204020204" charset="-122"/>
                  <a:cs typeface="Arial" panose="020B0604020202020204"/>
                </a:rPr>
                <a:t>-1380 百万人次/年</a:t>
              </a:r>
              <a:endParaRPr lang="zh-CN" sz="900" b="1" dirty="0">
                <a:solidFill>
                  <a:srgbClr val="FFFFFF"/>
                </a:solidFill>
                <a:latin typeface="Arial" panose="020B0604020202020204"/>
                <a:ea typeface="微软雅黑" panose="020B0503020204020204" charset="-122"/>
                <a:cs typeface="Arial" panose="020B0604020202020204"/>
              </a:endParaRPr>
            </a:p>
          </p:txBody>
        </p:sp>
        <p:sp>
          <p:nvSpPr>
            <p:cNvPr id="59" name="Rectangle 59"/>
            <p:cNvSpPr/>
            <p:nvPr/>
          </p:nvSpPr>
          <p:spPr>
            <a:xfrm>
              <a:off x="10096500" y="1638300"/>
              <a:ext cx="1047750" cy="209550"/>
            </a:xfrm>
            <a:prstGeom prst="roundRect">
              <a:avLst>
                <a:gd name="adj" fmla="val 18182"/>
              </a:avLst>
            </a:prstGeom>
            <a:solidFill>
              <a:srgbClr val="2E7D32"/>
            </a:solidFill>
            <a:ln>
              <a:noFill/>
            </a:ln>
          </p:spPr>
        </p:sp>
        <p:sp>
          <p:nvSpPr>
            <p:cNvPr id="60" name="TextBox 60"/>
            <p:cNvSpPr txBox="1"/>
            <p:nvPr/>
          </p:nvSpPr>
          <p:spPr>
            <a:xfrm>
              <a:off x="10032723" y="1684020"/>
              <a:ext cx="1175304"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panose="020B0604020202020204"/>
                  <a:ea typeface="微软雅黑" panose="020B0503020204020204" charset="-122"/>
                  <a:cs typeface="Arial" panose="020B0604020202020204"/>
                </a:rPr>
                <a:t>+2361 百万人次/年</a:t>
              </a:r>
              <a:endParaRPr lang="zh-CN" sz="900" b="1" dirty="0">
                <a:solidFill>
                  <a:srgbClr val="FFFFFF"/>
                </a:solidFill>
                <a:latin typeface="Arial" panose="020B0604020202020204"/>
                <a:ea typeface="微软雅黑" panose="020B0503020204020204" charset="-122"/>
                <a:cs typeface="Arial" panose="020B0604020202020204"/>
              </a:endParaRPr>
            </a:p>
          </p:txBody>
        </p:sp>
      </p:grpSp>
      <p:grpSp>
        <p:nvGrpSpPr>
          <p:cNvPr id="69" name="Group 69"/>
          <p:cNvGrpSpPr/>
          <p:nvPr/>
        </p:nvGrpSpPr>
        <p:grpSpPr>
          <a:xfrm>
            <a:off x="571500" y="5715000"/>
            <a:ext cx="6431757" cy="273844"/>
            <a:chOff x="571500" y="5715000"/>
            <a:chExt cx="6431757" cy="273844"/>
          </a:xfrm>
        </p:grpSpPr>
        <p:sp>
          <p:nvSpPr>
            <p:cNvPr id="62" name="Rectangle 62"/>
            <p:cNvSpPr/>
            <p:nvPr/>
          </p:nvSpPr>
          <p:spPr>
            <a:xfrm>
              <a:off x="571500" y="5715000"/>
              <a:ext cx="5905500" cy="266700"/>
            </a:xfrm>
            <a:prstGeom prst="roundRect">
              <a:avLst>
                <a:gd name="adj" fmla="val 21429"/>
              </a:avLst>
            </a:prstGeom>
            <a:solidFill>
              <a:srgbClr val="F0F4F8"/>
            </a:solidFill>
            <a:ln>
              <a:noFill/>
            </a:ln>
          </p:spPr>
        </p:sp>
        <p:sp>
          <p:nvSpPr>
            <p:cNvPr id="63" name="Rectangle 63"/>
            <p:cNvSpPr/>
            <p:nvPr/>
          </p:nvSpPr>
          <p:spPr>
            <a:xfrm>
              <a:off x="714375" y="5791200"/>
              <a:ext cx="133350" cy="133350"/>
            </a:xfrm>
            <a:prstGeom prst="roundRect">
              <a:avLst>
                <a:gd name="adj" fmla="val 21429"/>
              </a:avLst>
            </a:prstGeom>
            <a:solidFill>
              <a:srgbClr val="1A3A5C">
                <a:alpha val="70000"/>
              </a:srgbClr>
            </a:solidFill>
            <a:ln>
              <a:noFill/>
            </a:ln>
          </p:spPr>
        </p:sp>
        <p:sp>
          <p:nvSpPr>
            <p:cNvPr id="64" name="TextBox 64"/>
            <p:cNvSpPr txBox="1"/>
            <p:nvPr/>
          </p:nvSpPr>
          <p:spPr>
            <a:xfrm>
              <a:off x="921068" y="5790724"/>
              <a:ext cx="1071396" cy="198120"/>
            </a:xfrm>
            <a:prstGeom prst="rect">
              <a:avLst/>
            </a:prstGeom>
            <a:noFill/>
            <a:ln>
              <a:noFill/>
            </a:ln>
          </p:spPr>
          <p:txBody>
            <a:bodyPr wrap="none" lIns="0" tIns="0" rIns="0" bIns="0" anchor="t" anchorCtr="0">
              <a:spAutoFit/>
            </a:bodyPr>
            <a:lstStyle/>
            <a:p>
              <a:pPr algn="l"/>
              <a:r>
                <a:rPr lang="zh-CN" sz="975" b="1" dirty="0">
                  <a:solidFill>
                    <a:srgbClr val="1A3A5C"/>
                  </a:solidFill>
                  <a:latin typeface="Arial" panose="020B0604020202020204"/>
                  <a:ea typeface="微软雅黑" panose="020B0503020204020204" charset="-122"/>
                  <a:cs typeface="Arial" panose="020B0604020202020204"/>
                </a:rPr>
                <a:t>博物馆年度增量</a:t>
              </a:r>
              <a:endParaRPr lang="zh-CN" sz="975" b="1" dirty="0">
                <a:solidFill>
                  <a:srgbClr val="1A3A5C"/>
                </a:solidFill>
                <a:latin typeface="Arial" panose="020B0604020202020204"/>
                <a:ea typeface="微软雅黑" panose="020B0503020204020204" charset="-122"/>
                <a:cs typeface="Arial" panose="020B0604020202020204"/>
              </a:endParaRPr>
            </a:p>
          </p:txBody>
        </p:sp>
        <p:sp>
          <p:nvSpPr>
            <p:cNvPr id="65" name="Line 65"/>
            <p:cNvSpPr/>
            <p:nvPr/>
          </p:nvSpPr>
          <p:spPr>
            <a:xfrm>
              <a:off x="2238375" y="5857875"/>
              <a:ext cx="285750" cy="9525"/>
            </a:xfrm>
            <a:custGeom>
              <a:avLst/>
              <a:gdLst/>
              <a:ahLst/>
              <a:cxnLst/>
              <a:rect l="l" t="t" r="r" b="b"/>
              <a:pathLst>
                <a:path w="285750" h="9525">
                  <a:moveTo>
                    <a:pt x="0" y="0"/>
                  </a:moveTo>
                  <a:lnTo>
                    <a:pt x="285750" y="0"/>
                  </a:lnTo>
                </a:path>
              </a:pathLst>
            </a:custGeom>
            <a:noFill/>
            <a:ln w="28575">
              <a:solidFill>
                <a:srgbClr val="2E6B8F"/>
              </a:solidFill>
            </a:ln>
          </p:spPr>
        </p:sp>
        <p:sp>
          <p:nvSpPr>
            <p:cNvPr id="66" name="Ellipse 66"/>
            <p:cNvSpPr/>
            <p:nvPr/>
          </p:nvSpPr>
          <p:spPr>
            <a:xfrm>
              <a:off x="2343150" y="5819775"/>
              <a:ext cx="76200" cy="76200"/>
            </a:xfrm>
            <a:prstGeom prst="ellipse">
              <a:avLst/>
            </a:prstGeom>
            <a:solidFill>
              <a:srgbClr val="2E6B8F"/>
            </a:solidFill>
            <a:ln>
              <a:noFill/>
            </a:ln>
          </p:spPr>
        </p:sp>
        <p:sp>
          <p:nvSpPr>
            <p:cNvPr id="67" name="TextBox 67"/>
            <p:cNvSpPr txBox="1"/>
            <p:nvPr/>
          </p:nvSpPr>
          <p:spPr>
            <a:xfrm>
              <a:off x="2606992" y="5790724"/>
              <a:ext cx="921877" cy="198120"/>
            </a:xfrm>
            <a:prstGeom prst="rect">
              <a:avLst/>
            </a:prstGeom>
            <a:noFill/>
            <a:ln>
              <a:noFill/>
            </a:ln>
          </p:spPr>
          <p:txBody>
            <a:bodyPr wrap="none" lIns="0" tIns="0" rIns="0" bIns="0" anchor="t" anchorCtr="0">
              <a:spAutoFit/>
            </a:bodyPr>
            <a:lstStyle/>
            <a:p>
              <a:pPr algn="l"/>
              <a:r>
                <a:rPr lang="zh-CN" sz="975" b="1" dirty="0">
                  <a:solidFill>
                    <a:srgbClr val="2E6B8F"/>
                  </a:solidFill>
                  <a:latin typeface="Arial" panose="020B0604020202020204"/>
                  <a:ea typeface="微软雅黑" panose="020B0503020204020204" charset="-122"/>
                  <a:cs typeface="Arial" panose="020B0604020202020204"/>
                </a:rPr>
                <a:t>游客年度变化</a:t>
              </a:r>
              <a:endParaRPr lang="zh-CN" sz="975" b="1" dirty="0">
                <a:solidFill>
                  <a:srgbClr val="2E6B8F"/>
                </a:solidFill>
                <a:latin typeface="Arial" panose="020B0604020202020204"/>
                <a:ea typeface="微软雅黑" panose="020B0503020204020204" charset="-122"/>
                <a:cs typeface="Arial" panose="020B0604020202020204"/>
              </a:endParaRPr>
            </a:p>
          </p:txBody>
        </p:sp>
        <p:sp>
          <p:nvSpPr>
            <p:cNvPr id="68" name="TextBox 68"/>
            <p:cNvSpPr txBox="1"/>
            <p:nvPr/>
          </p:nvSpPr>
          <p:spPr>
            <a:xfrm>
              <a:off x="3988118" y="5790724"/>
              <a:ext cx="3015139" cy="198120"/>
            </a:xfrm>
            <a:prstGeom prst="rect">
              <a:avLst/>
            </a:prstGeom>
            <a:noFill/>
            <a:ln>
              <a:noFill/>
            </a:ln>
          </p:spPr>
          <p:txBody>
            <a:bodyPr wrap="none" lIns="0" tIns="0" rIns="0" bIns="0" anchor="t" anchorCtr="0">
              <a:spAutoFit/>
            </a:bodyPr>
            <a:lstStyle/>
            <a:p>
              <a:pPr algn="l"/>
              <a:r>
                <a:rPr lang="zh-CN" sz="975" dirty="0">
                  <a:solidFill>
                    <a:srgbClr val="6B7280"/>
                  </a:solidFill>
                  <a:latin typeface="Arial" panose="020B0604020202020204"/>
                  <a:ea typeface="微软雅黑" panose="020B0503020204020204" charset="-122"/>
                  <a:cs typeface="Arial" panose="020B0604020202020204"/>
                </a:rPr>
                <a:t>供给侧持续扩张，需求侧受外生冲击后快速修复</a:t>
              </a:r>
              <a:endParaRPr lang="zh-CN" sz="975" dirty="0">
                <a:solidFill>
                  <a:srgbClr val="6B7280"/>
                </a:solidFill>
                <a:latin typeface="Arial" panose="020B0604020202020204"/>
                <a:ea typeface="微软雅黑" panose="020B0503020204020204" charset="-122"/>
                <a:cs typeface="Arial" panose="020B0604020202020204"/>
              </a:endParaRPr>
            </a:p>
          </p:txBody>
        </p:sp>
      </p:grpSp>
      <p:grpSp>
        <p:nvGrpSpPr>
          <p:cNvPr id="72" name="Group 72"/>
          <p:cNvGrpSpPr/>
          <p:nvPr/>
        </p:nvGrpSpPr>
        <p:grpSpPr>
          <a:xfrm>
            <a:off x="560070" y="6522720"/>
            <a:ext cx="11070908" cy="182880"/>
            <a:chOff x="560070" y="6522720"/>
            <a:chExt cx="11070908" cy="182880"/>
          </a:xfrm>
        </p:grpSpPr>
        <p:sp>
          <p:nvSpPr>
            <p:cNvPr id="70" name="TextBox 70"/>
            <p:cNvSpPr txBox="1"/>
            <p:nvPr/>
          </p:nvSpPr>
          <p:spPr>
            <a:xfrm>
              <a:off x="560070" y="6522720"/>
              <a:ext cx="2802922" cy="182880"/>
            </a:xfrm>
            <a:prstGeom prst="rect">
              <a:avLst/>
            </a:prstGeom>
            <a:noFill/>
            <a:ln>
              <a:noFill/>
            </a:ln>
          </p:spPr>
          <p:txBody>
            <a:bodyPr wrap="none" lIns="0" tIns="0" rIns="0" bIns="0" anchor="t" anchorCtr="0">
              <a:spAutoFit/>
            </a:bodyPr>
            <a:lstStyle/>
            <a:p>
              <a:pPr algn="l"/>
              <a:r>
                <a:rPr lang="zh-CN" sz="900" dirty="0">
                  <a:solidFill>
                    <a:srgbClr val="9CA3AF"/>
                  </a:solidFill>
                  <a:latin typeface="Arial" panose="020B0604020202020204"/>
                  <a:ea typeface="微软雅黑" panose="020B0503020204020204" charset="-122"/>
                  <a:cs typeface="Arial" panose="020B0604020202020204"/>
                </a:rPr>
                <a:t>Source: 团队三点差分计算；单位见原始数据表</a:t>
              </a:r>
              <a:endParaRPr lang="zh-CN" sz="900" dirty="0">
                <a:solidFill>
                  <a:srgbClr val="9CA3AF"/>
                </a:solidFill>
                <a:latin typeface="Arial" panose="020B0604020202020204"/>
                <a:ea typeface="微软雅黑" panose="020B0503020204020204" charset="-122"/>
                <a:cs typeface="Arial" panose="020B0604020202020204"/>
              </a:endParaRPr>
            </a:p>
          </p:txBody>
        </p:sp>
        <p:sp>
          <p:nvSpPr>
            <p:cNvPr id="71" name="TextBox 71"/>
            <p:cNvSpPr txBox="1"/>
            <p:nvPr/>
          </p:nvSpPr>
          <p:spPr>
            <a:xfrm>
              <a:off x="11236500" y="6530816"/>
              <a:ext cx="394478"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panose="020B0604020202020204"/>
                  <a:ea typeface="微软雅黑" panose="020B0503020204020204" charset="-122"/>
                  <a:cs typeface="Arial" panose="020B0604020202020204"/>
                </a:rPr>
                <a:t>09 / 12</a:t>
              </a:r>
              <a:endParaRPr lang="zh-CN" sz="825" dirty="0">
                <a:solidFill>
                  <a:srgbClr val="9CA3AF"/>
                </a:solidFill>
                <a:latin typeface="Arial" panose="020B0604020202020204"/>
                <a:ea typeface="微软雅黑" panose="020B0503020204020204" charset="-122"/>
                <a:cs typeface="Arial" panose="020B0604020202020204"/>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fade">
                                      <p:cBhvr>
                                        <p:cTn id="7" dur="400"/>
                                        <p:tgtEl>
                                          <p:spTgt spid="61"/>
                                        </p:tgtEl>
                                      </p:cBhvr>
                                    </p:animEffect>
                                  </p:childTnLst>
                                </p:cTn>
                              </p:par>
                            </p:childTnLst>
                          </p:cTn>
                        </p:par>
                        <p:par>
                          <p:cTn id="8" fill="hold">
                            <p:stCondLst>
                              <p:cond delay="500"/>
                            </p:stCondLst>
                            <p:childTnLst>
                              <p:par>
                                <p:cTn id="9" presetID="50" presetClass="entr" presetSubtype="0" fill="hold" nodeType="afterEffect">
                                  <p:stCondLst>
                                    <p:cond delay="0"/>
                                  </p:stCondLst>
                                  <p:childTnLst>
                                    <p:set>
                                      <p:cBhvr>
                                        <p:cTn id="10" dur="1" fill="hold">
                                          <p:stCondLst>
                                            <p:cond delay="0"/>
                                          </p:stCondLst>
                                        </p:cTn>
                                        <p:tgtEl>
                                          <p:spTgt spid="69"/>
                                        </p:tgtEl>
                                        <p:attrNameLst>
                                          <p:attrName>style.visibility</p:attrName>
                                        </p:attrNameLst>
                                      </p:cBhvr>
                                      <p:to>
                                        <p:strVal val="visible"/>
                                      </p:to>
                                    </p:set>
                                    <p:animEffect transition="in" filter="stretch(across)">
                                      <p:cBhvr>
                                        <p:cTn id="11" dur="4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P spid="6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A"/>
          </a:solidFill>
          <a:ln>
            <a:noFill/>
          </a:ln>
        </p:spPr>
      </p:sp>
      <p:grpSp>
        <p:nvGrpSpPr>
          <p:cNvPr id="6" name="Group 6"/>
          <p:cNvGrpSpPr/>
          <p:nvPr/>
        </p:nvGrpSpPr>
        <p:grpSpPr>
          <a:xfrm>
            <a:off x="571500" y="280988"/>
            <a:ext cx="7464981" cy="561974"/>
            <a:chOff x="571500" y="280988"/>
            <a:chExt cx="7464981" cy="561974"/>
          </a:xfrm>
        </p:grpSpPr>
        <p:sp>
          <p:nvSpPr>
            <p:cNvPr id="3" name="Rectangle 3"/>
            <p:cNvSpPr/>
            <p:nvPr/>
          </p:nvSpPr>
          <p:spPr>
            <a:xfrm>
              <a:off x="571500" y="285750"/>
              <a:ext cx="38100" cy="342900"/>
            </a:xfrm>
            <a:prstGeom prst="rect">
              <a:avLst/>
            </a:prstGeom>
            <a:solidFill>
              <a:srgbClr val="1A3A5C"/>
            </a:solidFill>
            <a:ln>
              <a:noFill/>
            </a:ln>
          </p:spPr>
        </p:sp>
        <p:sp>
          <p:nvSpPr>
            <p:cNvPr id="4" name="TextBox 4"/>
            <p:cNvSpPr txBox="1"/>
            <p:nvPr/>
          </p:nvSpPr>
          <p:spPr>
            <a:xfrm>
              <a:off x="733425" y="280988"/>
              <a:ext cx="7303056" cy="457200"/>
            </a:xfrm>
            <a:prstGeom prst="rect">
              <a:avLst/>
            </a:prstGeom>
            <a:noFill/>
            <a:ln>
              <a:noFill/>
            </a:ln>
          </p:spPr>
          <p:txBody>
            <a:bodyPr wrap="none" lIns="0" tIns="0" rIns="0" bIns="0" anchor="t" anchorCtr="0">
              <a:spAutoFit/>
            </a:bodyPr>
            <a:lstStyle/>
            <a:p>
              <a:pPr algn="l"/>
              <a:r>
                <a:rPr lang="zh-CN" sz="2250" b="1" dirty="0">
                  <a:solidFill>
                    <a:srgbClr val="1A3A5C"/>
                  </a:solidFill>
                  <a:latin typeface="Georgia" panose="02040502050405020303"/>
                  <a:ea typeface="楷体" panose="02010609060101010101" charset="-122"/>
                  <a:cs typeface="Georgia" panose="02040502050405020303"/>
                </a:rPr>
                <a:t>模型比较：分段最小二乘更适合冲击型社会数据</a:t>
              </a:r>
              <a:endParaRPr lang="zh-CN" sz="2250" b="1" dirty="0">
                <a:solidFill>
                  <a:srgbClr val="1A3A5C"/>
                </a:solidFill>
                <a:latin typeface="Georgia" panose="02040502050405020303"/>
                <a:ea typeface="楷体" panose="02010609060101010101" charset="-122"/>
                <a:cs typeface="Georgia" panose="02040502050405020303"/>
              </a:endParaRPr>
            </a:p>
          </p:txBody>
        </p:sp>
        <p:sp>
          <p:nvSpPr>
            <p:cNvPr id="5" name="TextBox 5"/>
            <p:cNvSpPr txBox="1"/>
            <p:nvPr/>
          </p:nvSpPr>
          <p:spPr>
            <a:xfrm>
              <a:off x="748665" y="629602"/>
              <a:ext cx="4167188"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panose="020B0604020202020204"/>
                  <a:ea typeface="微软雅黑" panose="020B0503020204020204" charset="-122"/>
                  <a:cs typeface="Arial" panose="020B0604020202020204"/>
                </a:rPr>
                <a:t>用 RMSE 和留一误差比较模型，说明分段低次最小二乘更稳。</a:t>
              </a:r>
              <a:endParaRPr lang="zh-CN" sz="1050" dirty="0">
                <a:solidFill>
                  <a:srgbClr val="6B7280"/>
                </a:solidFill>
                <a:latin typeface="Arial" panose="020B0604020202020204"/>
                <a:ea typeface="微软雅黑" panose="020B0503020204020204" charset="-122"/>
                <a:cs typeface="Arial" panose="020B0604020202020204"/>
              </a:endParaRPr>
            </a:p>
          </p:txBody>
        </p:sp>
      </p:grpSp>
      <p:grpSp>
        <p:nvGrpSpPr>
          <p:cNvPr id="29" name="Group 29"/>
          <p:cNvGrpSpPr/>
          <p:nvPr/>
        </p:nvGrpSpPr>
        <p:grpSpPr>
          <a:xfrm>
            <a:off x="571500" y="1143000"/>
            <a:ext cx="6080760" cy="2667000"/>
            <a:chOff x="571500" y="1143000"/>
            <a:chExt cx="6080760" cy="2667000"/>
          </a:xfrm>
        </p:grpSpPr>
        <p:sp>
          <p:nvSpPr>
            <p:cNvPr id="7" name="Rectangle 7"/>
            <p:cNvSpPr/>
            <p:nvPr/>
          </p:nvSpPr>
          <p:spPr>
            <a:xfrm>
              <a:off x="571500" y="1143000"/>
              <a:ext cx="3714750" cy="2667000"/>
            </a:xfrm>
            <a:prstGeom prst="roundRect">
              <a:avLst>
                <a:gd name="adj" fmla="val 2857"/>
              </a:avLst>
            </a:prstGeom>
            <a:solidFill>
              <a:srgbClr val="FFFFFF"/>
            </a:solidFill>
            <a:ln w="9525">
              <a:solidFill>
                <a:srgbClr val="D1D5DB"/>
              </a:solidFill>
            </a:ln>
            <a:effectLst>
              <a:outerShdw blurRad="38100" dist="9525" dir="5400000" algn="ctr" rotWithShape="0">
                <a:srgbClr val="0F172A">
                  <a:alpha val="11250"/>
                </a:srgbClr>
              </a:outerShdw>
            </a:effectLst>
          </p:spPr>
        </p:sp>
        <p:sp>
          <p:nvSpPr>
            <p:cNvPr id="8" name="Rectangle 8"/>
            <p:cNvSpPr/>
            <p:nvPr/>
          </p:nvSpPr>
          <p:spPr>
            <a:xfrm>
              <a:off x="571500" y="1143000"/>
              <a:ext cx="3714750" cy="381000"/>
            </a:xfrm>
            <a:prstGeom prst="roundRect">
              <a:avLst>
                <a:gd name="adj" fmla="val 20000"/>
              </a:avLst>
            </a:prstGeom>
            <a:solidFill>
              <a:srgbClr val="1A3A5C"/>
            </a:solidFill>
            <a:ln>
              <a:noFill/>
            </a:ln>
          </p:spPr>
        </p:sp>
        <p:sp>
          <p:nvSpPr>
            <p:cNvPr id="9" name="Rectangle 9"/>
            <p:cNvSpPr/>
            <p:nvPr/>
          </p:nvSpPr>
          <p:spPr>
            <a:xfrm>
              <a:off x="571500" y="1333500"/>
              <a:ext cx="3714750" cy="190500"/>
            </a:xfrm>
            <a:prstGeom prst="rect">
              <a:avLst/>
            </a:prstGeom>
            <a:solidFill>
              <a:srgbClr val="1A3A5C"/>
            </a:solidFill>
            <a:ln>
              <a:noFill/>
            </a:ln>
          </p:spPr>
        </p:sp>
        <p:sp>
          <p:nvSpPr>
            <p:cNvPr id="10" name="TextBox 10"/>
            <p:cNvSpPr txBox="1"/>
            <p:nvPr/>
          </p:nvSpPr>
          <p:spPr>
            <a:xfrm>
              <a:off x="1578235" y="1277302"/>
              <a:ext cx="1701279"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panose="020B0604020202020204"/>
                  <a:ea typeface="微软雅黑" panose="020B0503020204020204" charset="-122"/>
                  <a:cs typeface="Arial" panose="020B0604020202020204"/>
                </a:rPr>
                <a:t>模型误差比较（RMSE）</a:t>
              </a:r>
              <a:endParaRPr lang="zh-CN" sz="1050" b="1" dirty="0">
                <a:solidFill>
                  <a:srgbClr val="FFFFFF"/>
                </a:solidFill>
                <a:latin typeface="Arial" panose="020B0604020202020204"/>
                <a:ea typeface="微软雅黑" panose="020B0503020204020204" charset="-122"/>
                <a:cs typeface="Arial" panose="020B0604020202020204"/>
              </a:endParaRPr>
            </a:p>
          </p:txBody>
        </p:sp>
        <p:sp>
          <p:nvSpPr>
            <p:cNvPr id="11" name="TextBox 11"/>
            <p:cNvSpPr txBox="1"/>
            <p:nvPr/>
          </p:nvSpPr>
          <p:spPr>
            <a:xfrm>
              <a:off x="749618" y="1656874"/>
              <a:ext cx="323802" cy="198120"/>
            </a:xfrm>
            <a:prstGeom prst="rect">
              <a:avLst/>
            </a:prstGeom>
            <a:noFill/>
            <a:ln>
              <a:noFill/>
            </a:ln>
          </p:spPr>
          <p:txBody>
            <a:bodyPr wrap="none" lIns="0" tIns="0" rIns="0" bIns="0" anchor="t" anchorCtr="0">
              <a:spAutoFit/>
            </a:bodyPr>
            <a:lstStyle/>
            <a:p>
              <a:pPr algn="l"/>
              <a:r>
                <a:rPr lang="zh-CN" sz="975" b="1" dirty="0">
                  <a:solidFill>
                    <a:srgbClr val="6B7280"/>
                  </a:solidFill>
                  <a:latin typeface="Arial" panose="020B0604020202020204"/>
                  <a:ea typeface="微软雅黑" panose="020B0503020204020204" charset="-122"/>
                  <a:cs typeface="Arial" panose="020B0604020202020204"/>
                </a:rPr>
                <a:t>指标</a:t>
              </a:r>
              <a:endParaRPr lang="zh-CN" sz="975" b="1" dirty="0">
                <a:solidFill>
                  <a:srgbClr val="6B7280"/>
                </a:solidFill>
                <a:latin typeface="Arial" panose="020B0604020202020204"/>
                <a:ea typeface="微软雅黑" panose="020B0503020204020204" charset="-122"/>
                <a:cs typeface="Arial" panose="020B0604020202020204"/>
              </a:endParaRPr>
            </a:p>
          </p:txBody>
        </p:sp>
        <p:sp>
          <p:nvSpPr>
            <p:cNvPr id="12" name="TextBox 12"/>
            <p:cNvSpPr txBox="1"/>
            <p:nvPr/>
          </p:nvSpPr>
          <p:spPr>
            <a:xfrm>
              <a:off x="2110811" y="1656874"/>
              <a:ext cx="921877" cy="198120"/>
            </a:xfrm>
            <a:prstGeom prst="rect">
              <a:avLst/>
            </a:prstGeom>
            <a:noFill/>
            <a:ln>
              <a:noFill/>
            </a:ln>
          </p:spPr>
          <p:txBody>
            <a:bodyPr wrap="none" lIns="0" tIns="0" rIns="0" bIns="0" anchor="t" anchorCtr="0">
              <a:spAutoFit/>
            </a:bodyPr>
            <a:lstStyle/>
            <a:p>
              <a:pPr algn="ctr"/>
              <a:r>
                <a:rPr lang="zh-CN" sz="975" b="1" dirty="0">
                  <a:solidFill>
                    <a:srgbClr val="6B7280"/>
                  </a:solidFill>
                  <a:latin typeface="Arial" panose="020B0604020202020204"/>
                  <a:ea typeface="微软雅黑" panose="020B0503020204020204" charset="-122"/>
                  <a:cs typeface="Arial" panose="020B0604020202020204"/>
                </a:rPr>
                <a:t>分段最小二乘</a:t>
              </a:r>
              <a:endParaRPr lang="zh-CN" sz="975" b="1" dirty="0">
                <a:solidFill>
                  <a:srgbClr val="6B7280"/>
                </a:solidFill>
                <a:latin typeface="Arial" panose="020B0604020202020204"/>
                <a:ea typeface="微软雅黑" panose="020B0503020204020204" charset="-122"/>
                <a:cs typeface="Arial" panose="020B0604020202020204"/>
              </a:endParaRPr>
            </a:p>
          </p:txBody>
        </p:sp>
        <p:sp>
          <p:nvSpPr>
            <p:cNvPr id="13" name="TextBox 13"/>
            <p:cNvSpPr txBox="1"/>
            <p:nvPr/>
          </p:nvSpPr>
          <p:spPr>
            <a:xfrm>
              <a:off x="3097649" y="1656874"/>
              <a:ext cx="772358" cy="198120"/>
            </a:xfrm>
            <a:prstGeom prst="rect">
              <a:avLst/>
            </a:prstGeom>
            <a:noFill/>
            <a:ln>
              <a:noFill/>
            </a:ln>
          </p:spPr>
          <p:txBody>
            <a:bodyPr wrap="none" lIns="0" tIns="0" rIns="0" bIns="0" anchor="t" anchorCtr="0">
              <a:spAutoFit/>
            </a:bodyPr>
            <a:lstStyle/>
            <a:p>
              <a:pPr algn="r"/>
              <a:r>
                <a:rPr lang="zh-CN" sz="975" b="1" dirty="0">
                  <a:solidFill>
                    <a:srgbClr val="6B7280"/>
                  </a:solidFill>
                  <a:latin typeface="Arial" panose="020B0604020202020204"/>
                  <a:ea typeface="微软雅黑" panose="020B0503020204020204" charset="-122"/>
                  <a:cs typeface="Arial" panose="020B0604020202020204"/>
                </a:rPr>
                <a:t>全周期线性</a:t>
              </a:r>
              <a:endParaRPr lang="zh-CN" sz="975" b="1" dirty="0">
                <a:solidFill>
                  <a:srgbClr val="6B7280"/>
                </a:solidFill>
                <a:latin typeface="Arial" panose="020B0604020202020204"/>
                <a:ea typeface="微软雅黑" panose="020B0503020204020204" charset="-122"/>
                <a:cs typeface="Arial" panose="020B0604020202020204"/>
              </a:endParaRPr>
            </a:p>
          </p:txBody>
        </p:sp>
        <p:sp>
          <p:nvSpPr>
            <p:cNvPr id="14" name="Line 14"/>
            <p:cNvSpPr/>
            <p:nvPr/>
          </p:nvSpPr>
          <p:spPr>
            <a:xfrm>
              <a:off x="666750" y="1885950"/>
              <a:ext cx="3524250" cy="9525"/>
            </a:xfrm>
            <a:custGeom>
              <a:avLst/>
              <a:gdLst/>
              <a:ahLst/>
              <a:cxnLst/>
              <a:rect l="l" t="t" r="r" b="b"/>
              <a:pathLst>
                <a:path w="3524250" h="9525">
                  <a:moveTo>
                    <a:pt x="0" y="0"/>
                  </a:moveTo>
                  <a:lnTo>
                    <a:pt x="3524250" y="0"/>
                  </a:lnTo>
                </a:path>
              </a:pathLst>
            </a:custGeom>
            <a:noFill/>
            <a:ln w="9525">
              <a:solidFill>
                <a:srgbClr val="E2E8F0"/>
              </a:solidFill>
            </a:ln>
          </p:spPr>
        </p:sp>
        <p:sp>
          <p:nvSpPr>
            <p:cNvPr id="15" name="TextBox 15"/>
            <p:cNvSpPr txBox="1"/>
            <p:nvPr/>
          </p:nvSpPr>
          <p:spPr>
            <a:xfrm>
              <a:off x="748665" y="2029778"/>
              <a:ext cx="670750" cy="213360"/>
            </a:xfrm>
            <a:prstGeom prst="rect">
              <a:avLst/>
            </a:prstGeom>
            <a:noFill/>
            <a:ln>
              <a:noFill/>
            </a:ln>
          </p:spPr>
          <p:txBody>
            <a:bodyPr wrap="none" lIns="0" tIns="0" rIns="0" bIns="0" anchor="t" anchorCtr="0">
              <a:spAutoFit/>
            </a:bodyPr>
            <a:lstStyle/>
            <a:p>
              <a:pPr algn="l"/>
              <a:r>
                <a:rPr lang="zh-CN" sz="1050" b="1" dirty="0">
                  <a:solidFill>
                    <a:srgbClr val="1A1A2E"/>
                  </a:solidFill>
                  <a:latin typeface="Arial" panose="020B0604020202020204"/>
                  <a:ea typeface="微软雅黑" panose="020B0503020204020204" charset="-122"/>
                  <a:cs typeface="Arial" panose="020B0604020202020204"/>
                </a:rPr>
                <a:t>国内游客</a:t>
              </a:r>
              <a:endParaRPr lang="zh-CN" sz="1050" b="1" dirty="0">
                <a:solidFill>
                  <a:srgbClr val="1A1A2E"/>
                </a:solidFill>
                <a:latin typeface="Arial" panose="020B0604020202020204"/>
                <a:ea typeface="微软雅黑" panose="020B0503020204020204" charset="-122"/>
                <a:cs typeface="Arial" panose="020B0604020202020204"/>
              </a:endParaRPr>
            </a:p>
          </p:txBody>
        </p:sp>
        <p:sp>
          <p:nvSpPr>
            <p:cNvPr id="16" name="TextBox 16"/>
            <p:cNvSpPr txBox="1"/>
            <p:nvPr/>
          </p:nvSpPr>
          <p:spPr>
            <a:xfrm>
              <a:off x="2236410" y="1981200"/>
              <a:ext cx="670679" cy="304800"/>
            </a:xfrm>
            <a:prstGeom prst="rect">
              <a:avLst/>
            </a:prstGeom>
            <a:noFill/>
            <a:ln>
              <a:noFill/>
            </a:ln>
          </p:spPr>
          <p:txBody>
            <a:bodyPr wrap="none" lIns="0" tIns="0" rIns="0" bIns="0" anchor="t" anchorCtr="0">
              <a:spAutoFit/>
            </a:bodyPr>
            <a:lstStyle/>
            <a:p>
              <a:pPr algn="ctr"/>
              <a:r>
                <a:rPr lang="zh-CN" sz="1500" b="1" dirty="0">
                  <a:solidFill>
                    <a:srgbClr val="2E7D32"/>
                  </a:solidFill>
                  <a:latin typeface="Arial" panose="020B0604020202020204"/>
                  <a:ea typeface="微软雅黑" panose="020B0503020204020204" charset="-122"/>
                  <a:cs typeface="Arial" panose="020B0604020202020204"/>
                </a:rPr>
                <a:t>432.8</a:t>
              </a:r>
              <a:endParaRPr lang="zh-CN" sz="1500" b="1" dirty="0">
                <a:solidFill>
                  <a:srgbClr val="2E7D32"/>
                </a:solidFill>
                <a:latin typeface="Arial" panose="020B0604020202020204"/>
                <a:ea typeface="微软雅黑" panose="020B0503020204020204" charset="-122"/>
                <a:cs typeface="Arial" panose="020B0604020202020204"/>
              </a:endParaRPr>
            </a:p>
          </p:txBody>
        </p:sp>
        <p:sp>
          <p:nvSpPr>
            <p:cNvPr id="17" name="TextBox 17"/>
            <p:cNvSpPr txBox="1"/>
            <p:nvPr/>
          </p:nvSpPr>
          <p:spPr>
            <a:xfrm>
              <a:off x="3307842" y="2013585"/>
              <a:ext cx="565023" cy="243840"/>
            </a:xfrm>
            <a:prstGeom prst="rect">
              <a:avLst/>
            </a:prstGeom>
            <a:noFill/>
            <a:ln>
              <a:noFill/>
            </a:ln>
          </p:spPr>
          <p:txBody>
            <a:bodyPr wrap="none" lIns="0" tIns="0" rIns="0" bIns="0" anchor="t" anchorCtr="0">
              <a:spAutoFit/>
            </a:bodyPr>
            <a:lstStyle/>
            <a:p>
              <a:pPr algn="r"/>
              <a:r>
                <a:rPr lang="zh-CN" sz="1200" dirty="0">
                  <a:solidFill>
                    <a:srgbClr val="C62828"/>
                  </a:solidFill>
                  <a:latin typeface="Arial" panose="020B0604020202020204"/>
                  <a:ea typeface="微软雅黑" panose="020B0503020204020204" charset="-122"/>
                  <a:cs typeface="Arial" panose="020B0604020202020204"/>
                </a:rPr>
                <a:t>1082.5</a:t>
              </a:r>
              <a:endParaRPr lang="zh-CN" sz="1200" dirty="0">
                <a:solidFill>
                  <a:srgbClr val="C62828"/>
                </a:solidFill>
                <a:latin typeface="Arial" panose="020B0604020202020204"/>
                <a:ea typeface="微软雅黑" panose="020B0503020204020204" charset="-122"/>
                <a:cs typeface="Arial" panose="020B0604020202020204"/>
              </a:endParaRPr>
            </a:p>
          </p:txBody>
        </p:sp>
        <p:sp>
          <p:nvSpPr>
            <p:cNvPr id="18" name="Line 18"/>
            <p:cNvSpPr/>
            <p:nvPr/>
          </p:nvSpPr>
          <p:spPr>
            <a:xfrm>
              <a:off x="666750" y="2286000"/>
              <a:ext cx="3524250" cy="9525"/>
            </a:xfrm>
            <a:custGeom>
              <a:avLst/>
              <a:gdLst/>
              <a:ahLst/>
              <a:cxnLst/>
              <a:rect l="l" t="t" r="r" b="b"/>
              <a:pathLst>
                <a:path w="3524250" h="9525">
                  <a:moveTo>
                    <a:pt x="0" y="0"/>
                  </a:moveTo>
                  <a:lnTo>
                    <a:pt x="3524250" y="0"/>
                  </a:lnTo>
                </a:path>
              </a:pathLst>
            </a:custGeom>
            <a:noFill/>
            <a:ln w="9525">
              <a:solidFill>
                <a:srgbClr val="F1F5F9"/>
              </a:solidFill>
            </a:ln>
          </p:spPr>
        </p:sp>
        <p:sp>
          <p:nvSpPr>
            <p:cNvPr id="19" name="TextBox 19"/>
            <p:cNvSpPr txBox="1"/>
            <p:nvPr/>
          </p:nvSpPr>
          <p:spPr>
            <a:xfrm>
              <a:off x="748665" y="2439352"/>
              <a:ext cx="831771" cy="213360"/>
            </a:xfrm>
            <a:prstGeom prst="rect">
              <a:avLst/>
            </a:prstGeom>
            <a:noFill/>
            <a:ln>
              <a:noFill/>
            </a:ln>
          </p:spPr>
          <p:txBody>
            <a:bodyPr wrap="none" lIns="0" tIns="0" rIns="0" bIns="0" anchor="t" anchorCtr="0">
              <a:spAutoFit/>
            </a:bodyPr>
            <a:lstStyle/>
            <a:p>
              <a:pPr algn="l"/>
              <a:r>
                <a:rPr lang="zh-CN" sz="1050" b="1" dirty="0">
                  <a:solidFill>
                    <a:srgbClr val="1A1A2E"/>
                  </a:solidFill>
                  <a:latin typeface="Arial" panose="020B0604020202020204"/>
                  <a:ea typeface="微软雅黑" panose="020B0503020204020204" charset="-122"/>
                  <a:cs typeface="Arial" panose="020B0604020202020204"/>
                </a:rPr>
                <a:t>旅游总花费</a:t>
              </a:r>
              <a:endParaRPr lang="zh-CN" sz="1050" b="1" dirty="0">
                <a:solidFill>
                  <a:srgbClr val="1A1A2E"/>
                </a:solidFill>
                <a:latin typeface="Arial" panose="020B0604020202020204"/>
                <a:ea typeface="微软雅黑" panose="020B0503020204020204" charset="-122"/>
                <a:cs typeface="Arial" panose="020B0604020202020204"/>
              </a:endParaRPr>
            </a:p>
          </p:txBody>
        </p:sp>
        <p:sp>
          <p:nvSpPr>
            <p:cNvPr id="20" name="TextBox 20"/>
            <p:cNvSpPr txBox="1"/>
            <p:nvPr/>
          </p:nvSpPr>
          <p:spPr>
            <a:xfrm>
              <a:off x="2230660" y="2390775"/>
              <a:ext cx="682180" cy="304800"/>
            </a:xfrm>
            <a:prstGeom prst="rect">
              <a:avLst/>
            </a:prstGeom>
            <a:noFill/>
            <a:ln>
              <a:noFill/>
            </a:ln>
          </p:spPr>
          <p:txBody>
            <a:bodyPr wrap="none" lIns="0" tIns="0" rIns="0" bIns="0" anchor="t" anchorCtr="0">
              <a:spAutoFit/>
            </a:bodyPr>
            <a:lstStyle/>
            <a:p>
              <a:pPr algn="ctr"/>
              <a:r>
                <a:rPr lang="zh-CN" sz="1500" b="1" dirty="0">
                  <a:solidFill>
                    <a:srgbClr val="2E7D32"/>
                  </a:solidFill>
                  <a:latin typeface="Arial" panose="020B0604020202020204"/>
                  <a:ea typeface="微软雅黑" panose="020B0503020204020204" charset="-122"/>
                  <a:cs typeface="Arial" panose="020B0604020202020204"/>
                </a:rPr>
                <a:t>5118.5</a:t>
              </a:r>
              <a:endParaRPr lang="zh-CN" sz="1500" b="1" dirty="0">
                <a:solidFill>
                  <a:srgbClr val="2E7D32"/>
                </a:solidFill>
                <a:latin typeface="Arial" panose="020B0604020202020204"/>
                <a:ea typeface="微软雅黑" panose="020B0503020204020204" charset="-122"/>
                <a:cs typeface="Arial" panose="020B0604020202020204"/>
              </a:endParaRPr>
            </a:p>
          </p:txBody>
        </p:sp>
        <p:sp>
          <p:nvSpPr>
            <p:cNvPr id="21" name="TextBox 21"/>
            <p:cNvSpPr txBox="1"/>
            <p:nvPr/>
          </p:nvSpPr>
          <p:spPr>
            <a:xfrm>
              <a:off x="3255264" y="2423160"/>
              <a:ext cx="617601" cy="243840"/>
            </a:xfrm>
            <a:prstGeom prst="rect">
              <a:avLst/>
            </a:prstGeom>
            <a:noFill/>
            <a:ln>
              <a:noFill/>
            </a:ln>
          </p:spPr>
          <p:txBody>
            <a:bodyPr wrap="none" lIns="0" tIns="0" rIns="0" bIns="0" anchor="t" anchorCtr="0">
              <a:spAutoFit/>
            </a:bodyPr>
            <a:lstStyle/>
            <a:p>
              <a:pPr algn="r"/>
              <a:r>
                <a:rPr lang="zh-CN" sz="1200" dirty="0">
                  <a:solidFill>
                    <a:srgbClr val="C62828"/>
                  </a:solidFill>
                  <a:latin typeface="Arial" panose="020B0604020202020204"/>
                  <a:ea typeface="微软雅黑" panose="020B0503020204020204" charset="-122"/>
                  <a:cs typeface="Arial" panose="020B0604020202020204"/>
                </a:rPr>
                <a:t>11968.2</a:t>
              </a:r>
              <a:endParaRPr lang="zh-CN" sz="1200" dirty="0">
                <a:solidFill>
                  <a:srgbClr val="C62828"/>
                </a:solidFill>
                <a:latin typeface="Arial" panose="020B0604020202020204"/>
                <a:ea typeface="微软雅黑" panose="020B0503020204020204" charset="-122"/>
                <a:cs typeface="Arial" panose="020B0604020202020204"/>
              </a:endParaRPr>
            </a:p>
          </p:txBody>
        </p:sp>
        <p:sp>
          <p:nvSpPr>
            <p:cNvPr id="22" name="Line 22"/>
            <p:cNvSpPr/>
            <p:nvPr/>
          </p:nvSpPr>
          <p:spPr>
            <a:xfrm>
              <a:off x="666750" y="2695575"/>
              <a:ext cx="3524250" cy="9525"/>
            </a:xfrm>
            <a:custGeom>
              <a:avLst/>
              <a:gdLst/>
              <a:ahLst/>
              <a:cxnLst/>
              <a:rect l="l" t="t" r="r" b="b"/>
              <a:pathLst>
                <a:path w="3524250" h="9525">
                  <a:moveTo>
                    <a:pt x="0" y="0"/>
                  </a:moveTo>
                  <a:lnTo>
                    <a:pt x="3524250" y="0"/>
                  </a:lnTo>
                </a:path>
              </a:pathLst>
            </a:custGeom>
            <a:noFill/>
            <a:ln w="9525">
              <a:solidFill>
                <a:srgbClr val="F1F5F9"/>
              </a:solidFill>
            </a:ln>
          </p:spPr>
        </p:sp>
        <p:sp>
          <p:nvSpPr>
            <p:cNvPr id="23" name="TextBox 23"/>
            <p:cNvSpPr txBox="1"/>
            <p:nvPr/>
          </p:nvSpPr>
          <p:spPr>
            <a:xfrm>
              <a:off x="748665" y="2839402"/>
              <a:ext cx="1314831" cy="213360"/>
            </a:xfrm>
            <a:prstGeom prst="rect">
              <a:avLst/>
            </a:prstGeom>
            <a:noFill/>
            <a:ln>
              <a:noFill/>
            </a:ln>
          </p:spPr>
          <p:txBody>
            <a:bodyPr wrap="none" lIns="0" tIns="0" rIns="0" bIns="0" anchor="t" anchorCtr="0">
              <a:spAutoFit/>
            </a:bodyPr>
            <a:lstStyle/>
            <a:p>
              <a:pPr algn="l"/>
              <a:r>
                <a:rPr lang="zh-CN" sz="1050" b="1" dirty="0">
                  <a:solidFill>
                    <a:srgbClr val="1A1A2E"/>
                  </a:solidFill>
                  <a:latin typeface="Arial" panose="020B0604020202020204"/>
                  <a:ea typeface="微软雅黑" panose="020B0503020204020204" charset="-122"/>
                  <a:cs typeface="Arial" panose="020B0604020202020204"/>
                </a:rPr>
                <a:t>留一误差（游客）</a:t>
              </a:r>
              <a:endParaRPr lang="zh-CN" sz="1050" b="1" dirty="0">
                <a:solidFill>
                  <a:srgbClr val="1A1A2E"/>
                </a:solidFill>
                <a:latin typeface="Arial" panose="020B0604020202020204"/>
                <a:ea typeface="微软雅黑" panose="020B0503020204020204" charset="-122"/>
                <a:cs typeface="Arial" panose="020B0604020202020204"/>
              </a:endParaRPr>
            </a:p>
          </p:txBody>
        </p:sp>
        <p:sp>
          <p:nvSpPr>
            <p:cNvPr id="24" name="TextBox 24"/>
            <p:cNvSpPr txBox="1"/>
            <p:nvPr/>
          </p:nvSpPr>
          <p:spPr>
            <a:xfrm>
              <a:off x="2087690" y="2823210"/>
              <a:ext cx="968121" cy="243840"/>
            </a:xfrm>
            <a:prstGeom prst="rect">
              <a:avLst/>
            </a:prstGeom>
            <a:noFill/>
            <a:ln>
              <a:noFill/>
            </a:ln>
          </p:spPr>
          <p:txBody>
            <a:bodyPr wrap="none" lIns="0" tIns="0" rIns="0" bIns="0" anchor="t" anchorCtr="0">
              <a:spAutoFit/>
            </a:bodyPr>
            <a:lstStyle/>
            <a:p>
              <a:pPr algn="ctr"/>
              <a:r>
                <a:rPr lang="zh-CN" sz="1200" dirty="0">
                  <a:solidFill>
                    <a:srgbClr val="C8963E"/>
                  </a:solidFill>
                  <a:latin typeface="Arial" panose="020B0604020202020204"/>
                  <a:ea typeface="微软雅黑" panose="020B0503020204020204" charset="-122"/>
                  <a:cs typeface="Arial" panose="020B0604020202020204"/>
                </a:rPr>
                <a:t>二次 1747.7</a:t>
              </a:r>
              <a:endParaRPr lang="zh-CN" sz="1200" dirty="0">
                <a:solidFill>
                  <a:srgbClr val="C8963E"/>
                </a:solidFill>
                <a:latin typeface="Arial" panose="020B0604020202020204"/>
                <a:ea typeface="微软雅黑" panose="020B0503020204020204" charset="-122"/>
                <a:cs typeface="Arial" panose="020B0604020202020204"/>
              </a:endParaRPr>
            </a:p>
          </p:txBody>
        </p:sp>
        <p:sp>
          <p:nvSpPr>
            <p:cNvPr id="25" name="TextBox 25"/>
            <p:cNvSpPr txBox="1"/>
            <p:nvPr/>
          </p:nvSpPr>
          <p:spPr>
            <a:xfrm>
              <a:off x="2904744" y="2823210"/>
              <a:ext cx="968121" cy="243840"/>
            </a:xfrm>
            <a:prstGeom prst="rect">
              <a:avLst/>
            </a:prstGeom>
            <a:noFill/>
            <a:ln>
              <a:noFill/>
            </a:ln>
          </p:spPr>
          <p:txBody>
            <a:bodyPr wrap="none" lIns="0" tIns="0" rIns="0" bIns="0" anchor="t" anchorCtr="0">
              <a:spAutoFit/>
            </a:bodyPr>
            <a:lstStyle/>
            <a:p>
              <a:pPr algn="r"/>
              <a:r>
                <a:rPr lang="zh-CN" sz="1200" dirty="0">
                  <a:solidFill>
                    <a:srgbClr val="6B7280"/>
                  </a:solidFill>
                  <a:latin typeface="Arial" panose="020B0604020202020204"/>
                  <a:ea typeface="微软雅黑" panose="020B0503020204020204" charset="-122"/>
                  <a:cs typeface="Arial" panose="020B0604020202020204"/>
                </a:rPr>
                <a:t>线性 1340.5</a:t>
              </a:r>
              <a:endParaRPr lang="zh-CN" sz="1200" dirty="0">
                <a:solidFill>
                  <a:srgbClr val="6B7280"/>
                </a:solidFill>
                <a:latin typeface="Arial" panose="020B0604020202020204"/>
                <a:ea typeface="微软雅黑" panose="020B0503020204020204" charset="-122"/>
                <a:cs typeface="Arial" panose="020B0604020202020204"/>
              </a:endParaRPr>
            </a:p>
          </p:txBody>
        </p:sp>
        <p:sp>
          <p:nvSpPr>
            <p:cNvPr id="26" name="Rectangle 26"/>
            <p:cNvSpPr/>
            <p:nvPr/>
          </p:nvSpPr>
          <p:spPr>
            <a:xfrm>
              <a:off x="714375" y="3238500"/>
              <a:ext cx="3429000" cy="457200"/>
            </a:xfrm>
            <a:prstGeom prst="roundRect">
              <a:avLst>
                <a:gd name="adj" fmla="val 12500"/>
              </a:avLst>
            </a:prstGeom>
            <a:solidFill>
              <a:srgbClr val="F0F4F8"/>
            </a:solidFill>
            <a:ln>
              <a:noFill/>
            </a:ln>
          </p:spPr>
        </p:sp>
        <p:sp>
          <p:nvSpPr>
            <p:cNvPr id="27" name="TextBox 27"/>
            <p:cNvSpPr txBox="1"/>
            <p:nvPr/>
          </p:nvSpPr>
          <p:spPr>
            <a:xfrm>
              <a:off x="845820" y="3331845"/>
              <a:ext cx="5806440"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panose="020B0604020202020204"/>
                  <a:ea typeface="微软雅黑" panose="020B0503020204020204" charset="-122"/>
                  <a:cs typeface="Arial" panose="020B0604020202020204"/>
                </a:rPr>
                <a:t>二次模型样本内 RMSE 略低，但国内游客和旅游消费的留一误差更高，说明小样本下高阶拟合不稳。</a:t>
              </a:r>
              <a:endParaRPr lang="zh-CN" sz="900" dirty="0">
                <a:solidFill>
                  <a:srgbClr val="6B7280"/>
                </a:solidFill>
                <a:latin typeface="Arial" panose="020B0604020202020204"/>
                <a:ea typeface="微软雅黑" panose="020B0503020204020204" charset="-122"/>
                <a:cs typeface="Arial" panose="020B0604020202020204"/>
              </a:endParaRPr>
            </a:p>
          </p:txBody>
        </p:sp>
        <p:sp>
          <p:nvSpPr>
            <p:cNvPr id="28" name="TextBox 28"/>
            <p:cNvSpPr txBox="1"/>
            <p:nvPr/>
          </p:nvSpPr>
          <p:spPr>
            <a:xfrm>
              <a:off x="845820" y="3503295"/>
              <a:ext cx="1731645" cy="182880"/>
            </a:xfrm>
            <a:prstGeom prst="rect">
              <a:avLst/>
            </a:prstGeom>
            <a:noFill/>
            <a:ln>
              <a:noFill/>
            </a:ln>
          </p:spPr>
          <p:txBody>
            <a:bodyPr wrap="none" lIns="0" tIns="0" rIns="0" bIns="0" anchor="t" anchorCtr="0">
              <a:spAutoFit/>
            </a:bodyPr>
            <a:lstStyle/>
            <a:p>
              <a:pPr algn="l"/>
              <a:r>
                <a:rPr lang="zh-CN" sz="900" dirty="0">
                  <a:solidFill>
                    <a:srgbClr val="6B7280"/>
                  </a:solidFill>
                  <a:latin typeface="Arial" panose="020B0604020202020204"/>
                  <a:ea typeface="微软雅黑" panose="020B0503020204020204" charset="-122"/>
                  <a:cs typeface="Arial" panose="020B0604020202020204"/>
                </a:rPr>
                <a:t>因此采用分段低次最小二乘。</a:t>
              </a:r>
              <a:endParaRPr lang="zh-CN" sz="900" dirty="0">
                <a:solidFill>
                  <a:srgbClr val="6B7280"/>
                </a:solidFill>
                <a:latin typeface="Arial" panose="020B0604020202020204"/>
                <a:ea typeface="微软雅黑" panose="020B0503020204020204" charset="-122"/>
                <a:cs typeface="Arial" panose="020B0604020202020204"/>
              </a:endParaRPr>
            </a:p>
          </p:txBody>
        </p:sp>
      </p:grpSp>
      <p:grpSp>
        <p:nvGrpSpPr>
          <p:cNvPr id="60" name="Group 60"/>
          <p:cNvGrpSpPr/>
          <p:nvPr/>
        </p:nvGrpSpPr>
        <p:grpSpPr>
          <a:xfrm>
            <a:off x="4102894" y="1143000"/>
            <a:ext cx="7671054" cy="2705100"/>
            <a:chOff x="4102894" y="1143000"/>
            <a:chExt cx="7671054" cy="2705100"/>
          </a:xfrm>
        </p:grpSpPr>
        <p:sp>
          <p:nvSpPr>
            <p:cNvPr id="30" name="Rectangle 30"/>
            <p:cNvSpPr/>
            <p:nvPr/>
          </p:nvSpPr>
          <p:spPr>
            <a:xfrm>
              <a:off x="4667250" y="1143000"/>
              <a:ext cx="6953250" cy="2667000"/>
            </a:xfrm>
            <a:prstGeom prst="roundRect">
              <a:avLst>
                <a:gd name="adj" fmla="val 2857"/>
              </a:avLst>
            </a:prstGeom>
            <a:solidFill>
              <a:srgbClr val="FFFFFF"/>
            </a:solidFill>
            <a:ln w="9525">
              <a:solidFill>
                <a:srgbClr val="D1D5DB"/>
              </a:solidFill>
            </a:ln>
            <a:effectLst>
              <a:outerShdw blurRad="38100" dist="9525" dir="5400000" algn="ctr" rotWithShape="0">
                <a:srgbClr val="0F172A">
                  <a:alpha val="11250"/>
                </a:srgbClr>
              </a:outerShdw>
            </a:effectLst>
          </p:spPr>
        </p:sp>
        <p:sp>
          <p:nvSpPr>
            <p:cNvPr id="31" name="Line 31"/>
            <p:cNvSpPr/>
            <p:nvPr/>
          </p:nvSpPr>
          <p:spPr>
            <a:xfrm>
              <a:off x="5429250" y="3429000"/>
              <a:ext cx="5905500" cy="9525"/>
            </a:xfrm>
            <a:custGeom>
              <a:avLst/>
              <a:gdLst/>
              <a:ahLst/>
              <a:cxnLst/>
              <a:rect l="l" t="t" r="r" b="b"/>
              <a:pathLst>
                <a:path w="5905500" h="9525">
                  <a:moveTo>
                    <a:pt x="0" y="0"/>
                  </a:moveTo>
                  <a:lnTo>
                    <a:pt x="5905500" y="0"/>
                  </a:lnTo>
                </a:path>
              </a:pathLst>
            </a:custGeom>
            <a:noFill/>
            <a:ln w="9525">
              <a:solidFill>
                <a:srgbClr val="E2E8F0"/>
              </a:solidFill>
            </a:ln>
          </p:spPr>
        </p:sp>
        <p:sp>
          <p:nvSpPr>
            <p:cNvPr id="32" name="Line 32"/>
            <p:cNvSpPr/>
            <p:nvPr/>
          </p:nvSpPr>
          <p:spPr>
            <a:xfrm>
              <a:off x="5429250" y="2952750"/>
              <a:ext cx="5905500" cy="9525"/>
            </a:xfrm>
            <a:custGeom>
              <a:avLst/>
              <a:gdLst/>
              <a:ahLst/>
              <a:cxnLst/>
              <a:rect l="l" t="t" r="r" b="b"/>
              <a:pathLst>
                <a:path w="5905500" h="9525">
                  <a:moveTo>
                    <a:pt x="0" y="0"/>
                  </a:moveTo>
                  <a:lnTo>
                    <a:pt x="5905500" y="0"/>
                  </a:lnTo>
                </a:path>
              </a:pathLst>
            </a:custGeom>
            <a:noFill/>
            <a:ln w="4762">
              <a:solidFill>
                <a:srgbClr val="F1F5F9"/>
              </a:solidFill>
            </a:ln>
          </p:spPr>
        </p:sp>
        <p:sp>
          <p:nvSpPr>
            <p:cNvPr id="33" name="Line 33"/>
            <p:cNvSpPr/>
            <p:nvPr/>
          </p:nvSpPr>
          <p:spPr>
            <a:xfrm>
              <a:off x="5429250" y="2476500"/>
              <a:ext cx="5905500" cy="9525"/>
            </a:xfrm>
            <a:custGeom>
              <a:avLst/>
              <a:gdLst/>
              <a:ahLst/>
              <a:cxnLst/>
              <a:rect l="l" t="t" r="r" b="b"/>
              <a:pathLst>
                <a:path w="5905500" h="9525">
                  <a:moveTo>
                    <a:pt x="0" y="0"/>
                  </a:moveTo>
                  <a:lnTo>
                    <a:pt x="5905500" y="0"/>
                  </a:lnTo>
                </a:path>
              </a:pathLst>
            </a:custGeom>
            <a:noFill/>
            <a:ln w="4762">
              <a:solidFill>
                <a:srgbClr val="F1F5F9"/>
              </a:solidFill>
            </a:ln>
          </p:spPr>
        </p:sp>
        <p:sp>
          <p:nvSpPr>
            <p:cNvPr id="34" name="Line 34"/>
            <p:cNvSpPr/>
            <p:nvPr/>
          </p:nvSpPr>
          <p:spPr>
            <a:xfrm>
              <a:off x="5429250" y="2000250"/>
              <a:ext cx="5905500" cy="9525"/>
            </a:xfrm>
            <a:custGeom>
              <a:avLst/>
              <a:gdLst/>
              <a:ahLst/>
              <a:cxnLst/>
              <a:rect l="l" t="t" r="r" b="b"/>
              <a:pathLst>
                <a:path w="5905500" h="9525">
                  <a:moveTo>
                    <a:pt x="0" y="0"/>
                  </a:moveTo>
                  <a:lnTo>
                    <a:pt x="5905500" y="0"/>
                  </a:lnTo>
                </a:path>
              </a:pathLst>
            </a:custGeom>
            <a:noFill/>
            <a:ln w="4762">
              <a:solidFill>
                <a:srgbClr val="F1F5F9"/>
              </a:solidFill>
            </a:ln>
          </p:spPr>
        </p:sp>
        <p:sp>
          <p:nvSpPr>
            <p:cNvPr id="35" name="Line 35"/>
            <p:cNvSpPr/>
            <p:nvPr/>
          </p:nvSpPr>
          <p:spPr>
            <a:xfrm>
              <a:off x="5429250" y="1524000"/>
              <a:ext cx="5905500" cy="9525"/>
            </a:xfrm>
            <a:custGeom>
              <a:avLst/>
              <a:gdLst/>
              <a:ahLst/>
              <a:cxnLst/>
              <a:rect l="l" t="t" r="r" b="b"/>
              <a:pathLst>
                <a:path w="5905500" h="9525">
                  <a:moveTo>
                    <a:pt x="0" y="0"/>
                  </a:moveTo>
                  <a:lnTo>
                    <a:pt x="5905500" y="0"/>
                  </a:lnTo>
                </a:path>
              </a:pathLst>
            </a:custGeom>
            <a:noFill/>
            <a:ln w="9525">
              <a:solidFill>
                <a:srgbClr val="E2E8F0"/>
              </a:solidFill>
            </a:ln>
          </p:spPr>
        </p:sp>
        <p:sp>
          <p:nvSpPr>
            <p:cNvPr id="36" name="TextBox 36"/>
            <p:cNvSpPr txBox="1"/>
            <p:nvPr/>
          </p:nvSpPr>
          <p:spPr>
            <a:xfrm>
              <a:off x="4985766" y="3379470"/>
              <a:ext cx="312039" cy="182880"/>
            </a:xfrm>
            <a:prstGeom prst="rect">
              <a:avLst/>
            </a:prstGeom>
            <a:noFill/>
            <a:ln>
              <a:noFill/>
            </a:ln>
          </p:spPr>
          <p:txBody>
            <a:bodyPr wrap="none" lIns="0" tIns="0" rIns="0" bIns="0" anchor="t" anchorCtr="0">
              <a:spAutoFit/>
            </a:bodyPr>
            <a:lstStyle/>
            <a:p>
              <a:pPr algn="r"/>
              <a:r>
                <a:rPr lang="zh-CN" sz="900" dirty="0">
                  <a:solidFill>
                    <a:srgbClr val="6B7280"/>
                  </a:solidFill>
                  <a:latin typeface="Arial" panose="020B0604020202020204"/>
                  <a:ea typeface="微软雅黑" panose="020B0503020204020204" charset="-122"/>
                  <a:cs typeface="Arial" panose="020B0604020202020204"/>
                </a:rPr>
                <a:t>2000</a:t>
              </a:r>
              <a:endParaRPr lang="zh-CN" sz="900" dirty="0">
                <a:solidFill>
                  <a:srgbClr val="6B7280"/>
                </a:solidFill>
                <a:latin typeface="Arial" panose="020B0604020202020204"/>
                <a:ea typeface="微软雅黑" panose="020B0503020204020204" charset="-122"/>
                <a:cs typeface="Arial" panose="020B0604020202020204"/>
              </a:endParaRPr>
            </a:p>
          </p:txBody>
        </p:sp>
        <p:sp>
          <p:nvSpPr>
            <p:cNvPr id="37" name="TextBox 37"/>
            <p:cNvSpPr txBox="1"/>
            <p:nvPr/>
          </p:nvSpPr>
          <p:spPr>
            <a:xfrm>
              <a:off x="4985766" y="1474470"/>
              <a:ext cx="312039" cy="182880"/>
            </a:xfrm>
            <a:prstGeom prst="rect">
              <a:avLst/>
            </a:prstGeom>
            <a:noFill/>
            <a:ln>
              <a:noFill/>
            </a:ln>
          </p:spPr>
          <p:txBody>
            <a:bodyPr wrap="none" lIns="0" tIns="0" rIns="0" bIns="0" anchor="t" anchorCtr="0">
              <a:spAutoFit/>
            </a:bodyPr>
            <a:lstStyle/>
            <a:p>
              <a:pPr algn="r"/>
              <a:r>
                <a:rPr lang="zh-CN" sz="900" dirty="0">
                  <a:solidFill>
                    <a:srgbClr val="6B7280"/>
                  </a:solidFill>
                  <a:latin typeface="Arial" panose="020B0604020202020204"/>
                  <a:ea typeface="微软雅黑" panose="020B0503020204020204" charset="-122"/>
                  <a:cs typeface="Arial" panose="020B0604020202020204"/>
                </a:rPr>
                <a:t>6000</a:t>
              </a:r>
              <a:endParaRPr lang="zh-CN" sz="900" dirty="0">
                <a:solidFill>
                  <a:srgbClr val="6B7280"/>
                </a:solidFill>
                <a:latin typeface="Arial" panose="020B0604020202020204"/>
                <a:ea typeface="微软雅黑" panose="020B0503020204020204" charset="-122"/>
                <a:cs typeface="Arial" panose="020B0604020202020204"/>
              </a:endParaRPr>
            </a:p>
          </p:txBody>
        </p:sp>
        <p:sp>
          <p:nvSpPr>
            <p:cNvPr id="38" name="TextBox 38"/>
            <p:cNvSpPr txBox="1"/>
            <p:nvPr/>
          </p:nvSpPr>
          <p:spPr>
            <a:xfrm rot="-5400000">
              <a:off x="4102894" y="2385060"/>
              <a:ext cx="1403032" cy="182880"/>
            </a:xfrm>
            <a:prstGeom prst="rect">
              <a:avLst/>
            </a:prstGeom>
            <a:noFill/>
            <a:ln>
              <a:noFill/>
            </a:ln>
          </p:spPr>
          <p:txBody>
            <a:bodyPr wrap="none" lIns="0" tIns="0" rIns="0" bIns="0" anchor="t" anchorCtr="0">
              <a:spAutoFit/>
            </a:bodyPr>
            <a:lstStyle/>
            <a:p>
              <a:pPr algn="ctr"/>
              <a:r>
                <a:rPr lang="zh-CN" sz="900" b="1" dirty="0">
                  <a:solidFill>
                    <a:srgbClr val="6B7280"/>
                  </a:solidFill>
                  <a:latin typeface="Arial" panose="020B0604020202020204"/>
                  <a:ea typeface="微软雅黑" panose="020B0503020204020204" charset="-122"/>
                  <a:cs typeface="Arial" panose="020B0604020202020204"/>
                </a:rPr>
                <a:t>国内游客（百万人次）</a:t>
              </a:r>
              <a:endParaRPr lang="zh-CN" sz="900" b="1" dirty="0">
                <a:solidFill>
                  <a:srgbClr val="6B7280"/>
                </a:solidFill>
                <a:latin typeface="Arial" panose="020B0604020202020204"/>
                <a:ea typeface="微软雅黑" panose="020B0503020204020204" charset="-122"/>
                <a:cs typeface="Arial" panose="020B0604020202020204"/>
              </a:endParaRPr>
            </a:p>
          </p:txBody>
        </p:sp>
        <p:sp>
          <p:nvSpPr>
            <p:cNvPr id="39" name="TextBox 39"/>
            <p:cNvSpPr txBox="1"/>
            <p:nvPr/>
          </p:nvSpPr>
          <p:spPr>
            <a:xfrm>
              <a:off x="5273230" y="3569970"/>
              <a:ext cx="312039" cy="182880"/>
            </a:xfrm>
            <a:prstGeom prst="rect">
              <a:avLst/>
            </a:prstGeom>
            <a:noFill/>
            <a:ln>
              <a:noFill/>
            </a:ln>
          </p:spPr>
          <p:txBody>
            <a:bodyPr wrap="none" lIns="0" tIns="0" rIns="0" bIns="0" anchor="t" anchorCtr="0">
              <a:spAutoFit/>
            </a:bodyPr>
            <a:lstStyle/>
            <a:p>
              <a:pPr algn="ctr"/>
              <a:r>
                <a:rPr lang="zh-CN" sz="900" dirty="0">
                  <a:solidFill>
                    <a:srgbClr val="6B7280"/>
                  </a:solidFill>
                  <a:latin typeface="Arial" panose="020B0604020202020204"/>
                  <a:ea typeface="微软雅黑" panose="020B0503020204020204" charset="-122"/>
                  <a:cs typeface="Arial" panose="020B0604020202020204"/>
                </a:rPr>
                <a:t>3500</a:t>
              </a:r>
              <a:endParaRPr lang="zh-CN" sz="900" dirty="0">
                <a:solidFill>
                  <a:srgbClr val="6B7280"/>
                </a:solidFill>
                <a:latin typeface="Arial" panose="020B0604020202020204"/>
                <a:ea typeface="微软雅黑" panose="020B0503020204020204" charset="-122"/>
                <a:cs typeface="Arial" panose="020B0604020202020204"/>
              </a:endParaRPr>
            </a:p>
          </p:txBody>
        </p:sp>
        <p:sp>
          <p:nvSpPr>
            <p:cNvPr id="40" name="TextBox 40"/>
            <p:cNvSpPr txBox="1"/>
            <p:nvPr/>
          </p:nvSpPr>
          <p:spPr>
            <a:xfrm>
              <a:off x="8225980" y="3569970"/>
              <a:ext cx="312039" cy="182880"/>
            </a:xfrm>
            <a:prstGeom prst="rect">
              <a:avLst/>
            </a:prstGeom>
            <a:noFill/>
            <a:ln>
              <a:noFill/>
            </a:ln>
          </p:spPr>
          <p:txBody>
            <a:bodyPr wrap="none" lIns="0" tIns="0" rIns="0" bIns="0" anchor="t" anchorCtr="0">
              <a:spAutoFit/>
            </a:bodyPr>
            <a:lstStyle/>
            <a:p>
              <a:pPr algn="ctr"/>
              <a:r>
                <a:rPr lang="zh-CN" sz="900" dirty="0">
                  <a:solidFill>
                    <a:srgbClr val="6B7280"/>
                  </a:solidFill>
                  <a:latin typeface="Arial" panose="020B0604020202020204"/>
                  <a:ea typeface="微软雅黑" panose="020B0503020204020204" charset="-122"/>
                  <a:cs typeface="Arial" panose="020B0604020202020204"/>
                </a:rPr>
                <a:t>5000</a:t>
              </a:r>
              <a:endParaRPr lang="zh-CN" sz="900" dirty="0">
                <a:solidFill>
                  <a:srgbClr val="6B7280"/>
                </a:solidFill>
                <a:latin typeface="Arial" panose="020B0604020202020204"/>
                <a:ea typeface="微软雅黑" panose="020B0503020204020204" charset="-122"/>
                <a:cs typeface="Arial" panose="020B0604020202020204"/>
              </a:endParaRPr>
            </a:p>
          </p:txBody>
        </p:sp>
        <p:sp>
          <p:nvSpPr>
            <p:cNvPr id="41" name="TextBox 41"/>
            <p:cNvSpPr txBox="1"/>
            <p:nvPr/>
          </p:nvSpPr>
          <p:spPr>
            <a:xfrm>
              <a:off x="11178730" y="3569970"/>
              <a:ext cx="312039" cy="182880"/>
            </a:xfrm>
            <a:prstGeom prst="rect">
              <a:avLst/>
            </a:prstGeom>
            <a:noFill/>
            <a:ln>
              <a:noFill/>
            </a:ln>
          </p:spPr>
          <p:txBody>
            <a:bodyPr wrap="none" lIns="0" tIns="0" rIns="0" bIns="0" anchor="t" anchorCtr="0">
              <a:spAutoFit/>
            </a:bodyPr>
            <a:lstStyle/>
            <a:p>
              <a:pPr algn="ctr"/>
              <a:r>
                <a:rPr lang="zh-CN" sz="900" dirty="0">
                  <a:solidFill>
                    <a:srgbClr val="6B7280"/>
                  </a:solidFill>
                  <a:latin typeface="Arial" panose="020B0604020202020204"/>
                  <a:ea typeface="微软雅黑" panose="020B0503020204020204" charset="-122"/>
                  <a:cs typeface="Arial" panose="020B0604020202020204"/>
                </a:rPr>
                <a:t>7000</a:t>
              </a:r>
              <a:endParaRPr lang="zh-CN" sz="900" dirty="0">
                <a:solidFill>
                  <a:srgbClr val="6B7280"/>
                </a:solidFill>
                <a:latin typeface="Arial" panose="020B0604020202020204"/>
                <a:ea typeface="微软雅黑" panose="020B0503020204020204" charset="-122"/>
                <a:cs typeface="Arial" panose="020B0604020202020204"/>
              </a:endParaRPr>
            </a:p>
          </p:txBody>
        </p:sp>
        <p:sp>
          <p:nvSpPr>
            <p:cNvPr id="42" name="TextBox 42"/>
            <p:cNvSpPr txBox="1"/>
            <p:nvPr/>
          </p:nvSpPr>
          <p:spPr>
            <a:xfrm>
              <a:off x="7818501" y="3665220"/>
              <a:ext cx="1126998" cy="182880"/>
            </a:xfrm>
            <a:prstGeom prst="rect">
              <a:avLst/>
            </a:prstGeom>
            <a:noFill/>
            <a:ln>
              <a:noFill/>
            </a:ln>
          </p:spPr>
          <p:txBody>
            <a:bodyPr wrap="none" lIns="0" tIns="0" rIns="0" bIns="0" anchor="t" anchorCtr="0">
              <a:spAutoFit/>
            </a:bodyPr>
            <a:lstStyle/>
            <a:p>
              <a:pPr algn="ctr"/>
              <a:r>
                <a:rPr lang="zh-CN" sz="900" b="1" dirty="0">
                  <a:solidFill>
                    <a:srgbClr val="6B7280"/>
                  </a:solidFill>
                  <a:latin typeface="Arial" panose="020B0604020202020204"/>
                  <a:ea typeface="微软雅黑" panose="020B0503020204020204" charset="-122"/>
                  <a:cs typeface="Arial" panose="020B0604020202020204"/>
                </a:rPr>
                <a:t>博物馆数量（个）</a:t>
              </a:r>
              <a:endParaRPr lang="zh-CN" sz="900" b="1" dirty="0">
                <a:solidFill>
                  <a:srgbClr val="6B7280"/>
                </a:solidFill>
                <a:latin typeface="Arial" panose="020B0604020202020204"/>
                <a:ea typeface="微软雅黑" panose="020B0503020204020204" charset="-122"/>
                <a:cs typeface="Arial" panose="020B0604020202020204"/>
              </a:endParaRPr>
            </a:p>
          </p:txBody>
        </p:sp>
        <p:sp>
          <p:nvSpPr>
            <p:cNvPr id="43" name="Line 43"/>
            <p:cNvSpPr/>
            <p:nvPr/>
          </p:nvSpPr>
          <p:spPr>
            <a:xfrm>
              <a:off x="5429250" y="1524000"/>
              <a:ext cx="9525" cy="1905000"/>
            </a:xfrm>
            <a:custGeom>
              <a:avLst/>
              <a:gdLst/>
              <a:ahLst/>
              <a:cxnLst/>
              <a:rect l="l" t="t" r="r" b="b"/>
              <a:pathLst>
                <a:path w="9525" h="1905000">
                  <a:moveTo>
                    <a:pt x="0" y="0"/>
                  </a:moveTo>
                  <a:lnTo>
                    <a:pt x="0" y="1905000"/>
                  </a:lnTo>
                </a:path>
              </a:pathLst>
            </a:custGeom>
            <a:noFill/>
            <a:ln w="14288">
              <a:solidFill>
                <a:srgbClr val="94A3B8"/>
              </a:solidFill>
            </a:ln>
          </p:spPr>
        </p:sp>
        <p:sp>
          <p:nvSpPr>
            <p:cNvPr id="44" name="Line 44"/>
            <p:cNvSpPr/>
            <p:nvPr/>
          </p:nvSpPr>
          <p:spPr>
            <a:xfrm>
              <a:off x="5429250" y="3429000"/>
              <a:ext cx="5905500" cy="9525"/>
            </a:xfrm>
            <a:custGeom>
              <a:avLst/>
              <a:gdLst/>
              <a:ahLst/>
              <a:cxnLst/>
              <a:rect l="l" t="t" r="r" b="b"/>
              <a:pathLst>
                <a:path w="5905500" h="9525">
                  <a:moveTo>
                    <a:pt x="0" y="0"/>
                  </a:moveTo>
                  <a:lnTo>
                    <a:pt x="5905500" y="0"/>
                  </a:lnTo>
                </a:path>
              </a:pathLst>
            </a:custGeom>
            <a:noFill/>
            <a:ln w="14288">
              <a:solidFill>
                <a:srgbClr val="94A3B8"/>
              </a:solidFill>
            </a:ln>
          </p:spPr>
        </p:sp>
        <p:sp>
          <p:nvSpPr>
            <p:cNvPr id="45" name="Ellipse 45"/>
            <p:cNvSpPr/>
            <p:nvPr/>
          </p:nvSpPr>
          <p:spPr>
            <a:xfrm>
              <a:off x="5448300" y="3133725"/>
              <a:ext cx="114300" cy="114300"/>
            </a:xfrm>
            <a:prstGeom prst="ellipse">
              <a:avLst/>
            </a:prstGeom>
            <a:solidFill>
              <a:srgbClr val="1A3A5C">
                <a:alpha val="80000"/>
              </a:srgbClr>
            </a:solidFill>
            <a:ln w="14288">
              <a:solidFill>
                <a:srgbClr val="FFFFFF"/>
              </a:solidFill>
            </a:ln>
            <a:effectLst>
              <a:outerShdw blurRad="38100" dist="9525" dir="5400000" algn="ctr" rotWithShape="0">
                <a:srgbClr val="0F172A">
                  <a:alpha val="11250"/>
                </a:srgbClr>
              </a:outerShdw>
            </a:effectLst>
          </p:spPr>
        </p:sp>
        <p:sp>
          <p:nvSpPr>
            <p:cNvPr id="46" name="Ellipse 46"/>
            <p:cNvSpPr/>
            <p:nvPr/>
          </p:nvSpPr>
          <p:spPr>
            <a:xfrm>
              <a:off x="5915025" y="2914650"/>
              <a:ext cx="114300" cy="114300"/>
            </a:xfrm>
            <a:prstGeom prst="ellipse">
              <a:avLst/>
            </a:prstGeom>
            <a:solidFill>
              <a:srgbClr val="1A3A5C">
                <a:alpha val="80000"/>
              </a:srgbClr>
            </a:solidFill>
            <a:ln w="14288">
              <a:solidFill>
                <a:srgbClr val="FFFFFF"/>
              </a:solidFill>
            </a:ln>
            <a:effectLst>
              <a:outerShdw blurRad="38100" dist="9525" dir="5400000" algn="ctr" rotWithShape="0">
                <a:srgbClr val="0F172A">
                  <a:alpha val="11250"/>
                </a:srgbClr>
              </a:outerShdw>
            </a:effectLst>
          </p:spPr>
        </p:sp>
        <p:sp>
          <p:nvSpPr>
            <p:cNvPr id="47" name="Ellipse 47"/>
            <p:cNvSpPr/>
            <p:nvPr/>
          </p:nvSpPr>
          <p:spPr>
            <a:xfrm>
              <a:off x="6419850" y="2705100"/>
              <a:ext cx="114300" cy="114300"/>
            </a:xfrm>
            <a:prstGeom prst="ellipse">
              <a:avLst/>
            </a:prstGeom>
            <a:solidFill>
              <a:srgbClr val="1A3A5C">
                <a:alpha val="80000"/>
              </a:srgbClr>
            </a:solidFill>
            <a:ln w="14288">
              <a:solidFill>
                <a:srgbClr val="FFFFFF"/>
              </a:solidFill>
            </a:ln>
            <a:effectLst>
              <a:outerShdw blurRad="38100" dist="9525" dir="5400000" algn="ctr" rotWithShape="0">
                <a:srgbClr val="0F172A">
                  <a:alpha val="11250"/>
                </a:srgbClr>
              </a:outerShdw>
            </a:effectLst>
          </p:spPr>
        </p:sp>
        <p:sp>
          <p:nvSpPr>
            <p:cNvPr id="48" name="Ellipse 48"/>
            <p:cNvSpPr/>
            <p:nvPr/>
          </p:nvSpPr>
          <p:spPr>
            <a:xfrm>
              <a:off x="7305675" y="2305050"/>
              <a:ext cx="114300" cy="114300"/>
            </a:xfrm>
            <a:prstGeom prst="ellipse">
              <a:avLst/>
            </a:prstGeom>
            <a:solidFill>
              <a:srgbClr val="1A3A5C">
                <a:alpha val="80000"/>
              </a:srgbClr>
            </a:solidFill>
            <a:ln w="14288">
              <a:solidFill>
                <a:srgbClr val="FFFFFF"/>
              </a:solidFill>
            </a:ln>
            <a:effectLst>
              <a:outerShdw blurRad="38100" dist="9525" dir="5400000" algn="ctr" rotWithShape="0">
                <a:srgbClr val="0F172A">
                  <a:alpha val="11250"/>
                </a:srgbClr>
              </a:outerShdw>
            </a:effectLst>
          </p:spPr>
        </p:sp>
        <p:sp>
          <p:nvSpPr>
            <p:cNvPr id="49" name="Ellipse 49"/>
            <p:cNvSpPr/>
            <p:nvPr/>
          </p:nvSpPr>
          <p:spPr>
            <a:xfrm>
              <a:off x="7610475" y="1962150"/>
              <a:ext cx="114300" cy="114300"/>
            </a:xfrm>
            <a:prstGeom prst="ellipse">
              <a:avLst/>
            </a:prstGeom>
            <a:solidFill>
              <a:srgbClr val="1A3A5C">
                <a:alpha val="80000"/>
              </a:srgbClr>
            </a:solidFill>
            <a:ln w="14288">
              <a:solidFill>
                <a:srgbClr val="FFFFFF"/>
              </a:solidFill>
            </a:ln>
            <a:effectLst>
              <a:outerShdw blurRad="38100" dist="9525" dir="5400000" algn="ctr" rotWithShape="0">
                <a:srgbClr val="0F172A">
                  <a:alpha val="11250"/>
                </a:srgbClr>
              </a:outerShdw>
            </a:effectLst>
          </p:spPr>
        </p:sp>
        <p:sp>
          <p:nvSpPr>
            <p:cNvPr id="50" name="Ellipse 50"/>
            <p:cNvSpPr/>
            <p:nvPr/>
          </p:nvSpPr>
          <p:spPr>
            <a:xfrm>
              <a:off x="7915275" y="1743075"/>
              <a:ext cx="133350" cy="133350"/>
            </a:xfrm>
            <a:prstGeom prst="ellipse">
              <a:avLst/>
            </a:prstGeom>
            <a:solidFill>
              <a:srgbClr val="1A3A5C"/>
            </a:solidFill>
            <a:ln w="19050">
              <a:solidFill>
                <a:srgbClr val="FFFFFF"/>
              </a:solidFill>
            </a:ln>
            <a:effectLst>
              <a:outerShdw blurRad="38100" dist="9525" dir="5400000" algn="ctr" rotWithShape="0">
                <a:srgbClr val="0F172A">
                  <a:alpha val="11250"/>
                </a:srgbClr>
              </a:outerShdw>
            </a:effectLst>
          </p:spPr>
        </p:sp>
        <p:sp>
          <p:nvSpPr>
            <p:cNvPr id="51" name="Ellipse 51"/>
            <p:cNvSpPr/>
            <p:nvPr/>
          </p:nvSpPr>
          <p:spPr>
            <a:xfrm>
              <a:off x="8343900" y="2838450"/>
              <a:ext cx="114300" cy="114300"/>
            </a:xfrm>
            <a:prstGeom prst="ellipse">
              <a:avLst/>
            </a:prstGeom>
            <a:solidFill>
              <a:srgbClr val="C62828">
                <a:alpha val="70000"/>
              </a:srgbClr>
            </a:solidFill>
            <a:ln w="14288">
              <a:solidFill>
                <a:srgbClr val="FFFFFF"/>
              </a:solidFill>
            </a:ln>
            <a:effectLst>
              <a:outerShdw blurRad="38100" dist="9525" dir="5400000" algn="ctr" rotWithShape="0">
                <a:srgbClr val="0F172A">
                  <a:alpha val="11250"/>
                </a:srgbClr>
              </a:outerShdw>
            </a:effectLst>
          </p:spPr>
        </p:sp>
        <p:sp>
          <p:nvSpPr>
            <p:cNvPr id="52" name="Ellipse 52"/>
            <p:cNvSpPr/>
            <p:nvPr/>
          </p:nvSpPr>
          <p:spPr>
            <a:xfrm>
              <a:off x="8924925" y="2705100"/>
              <a:ext cx="114300" cy="114300"/>
            </a:xfrm>
            <a:prstGeom prst="ellipse">
              <a:avLst/>
            </a:prstGeom>
            <a:solidFill>
              <a:srgbClr val="C62828">
                <a:alpha val="70000"/>
              </a:srgbClr>
            </a:solidFill>
            <a:ln w="14288">
              <a:solidFill>
                <a:srgbClr val="FFFFFF"/>
              </a:solidFill>
            </a:ln>
            <a:effectLst>
              <a:outerShdw blurRad="38100" dist="9525" dir="5400000" algn="ctr" rotWithShape="0">
                <a:srgbClr val="0F172A">
                  <a:alpha val="11250"/>
                </a:srgbClr>
              </a:outerShdw>
            </a:effectLst>
          </p:spPr>
        </p:sp>
        <p:sp>
          <p:nvSpPr>
            <p:cNvPr id="53" name="Ellipse 53"/>
            <p:cNvSpPr/>
            <p:nvPr/>
          </p:nvSpPr>
          <p:spPr>
            <a:xfrm>
              <a:off x="10172700" y="3038475"/>
              <a:ext cx="114300" cy="114300"/>
            </a:xfrm>
            <a:prstGeom prst="ellipse">
              <a:avLst/>
            </a:prstGeom>
            <a:solidFill>
              <a:srgbClr val="C62828">
                <a:alpha val="70000"/>
              </a:srgbClr>
            </a:solidFill>
            <a:ln w="14288">
              <a:solidFill>
                <a:srgbClr val="FFFFFF"/>
              </a:solidFill>
            </a:ln>
            <a:effectLst>
              <a:outerShdw blurRad="38100" dist="9525" dir="5400000" algn="ctr" rotWithShape="0">
                <a:srgbClr val="0F172A">
                  <a:alpha val="11250"/>
                </a:srgbClr>
              </a:outerShdw>
            </a:effectLst>
          </p:spPr>
        </p:sp>
        <p:sp>
          <p:nvSpPr>
            <p:cNvPr id="54" name="Ellipse 54"/>
            <p:cNvSpPr/>
            <p:nvPr/>
          </p:nvSpPr>
          <p:spPr>
            <a:xfrm>
              <a:off x="10696575" y="2295525"/>
              <a:ext cx="133350" cy="133350"/>
            </a:xfrm>
            <a:prstGeom prst="ellipse">
              <a:avLst/>
            </a:prstGeom>
            <a:solidFill>
              <a:srgbClr val="2E6B8F"/>
            </a:solidFill>
            <a:ln w="19050">
              <a:solidFill>
                <a:srgbClr val="FFFFFF"/>
              </a:solidFill>
            </a:ln>
            <a:effectLst>
              <a:outerShdw blurRad="38100" dist="9525" dir="5400000" algn="ctr" rotWithShape="0">
                <a:srgbClr val="0F172A">
                  <a:alpha val="11250"/>
                </a:srgbClr>
              </a:outerShdw>
            </a:effectLst>
          </p:spPr>
        </p:sp>
        <p:sp>
          <p:nvSpPr>
            <p:cNvPr id="55" name="Line 55"/>
            <p:cNvSpPr/>
            <p:nvPr/>
          </p:nvSpPr>
          <p:spPr>
            <a:xfrm>
              <a:off x="5429250" y="1733550"/>
              <a:ext cx="2609850" cy="1504950"/>
            </a:xfrm>
            <a:custGeom>
              <a:avLst/>
              <a:gdLst/>
              <a:ahLst/>
              <a:cxnLst/>
              <a:rect l="l" t="t" r="r" b="b"/>
              <a:pathLst>
                <a:path w="2609850" h="1504950">
                  <a:moveTo>
                    <a:pt x="0" y="1504950"/>
                  </a:moveTo>
                  <a:lnTo>
                    <a:pt x="2609850" y="0"/>
                  </a:lnTo>
                </a:path>
              </a:pathLst>
            </a:custGeom>
            <a:noFill/>
            <a:ln w="19050">
              <a:solidFill>
                <a:srgbClr val="1A3A5C"/>
              </a:solidFill>
              <a:prstDash val="dash"/>
            </a:ln>
          </p:spPr>
        </p:sp>
        <p:sp>
          <p:nvSpPr>
            <p:cNvPr id="56" name="Rectangle 56"/>
            <p:cNvSpPr/>
            <p:nvPr/>
          </p:nvSpPr>
          <p:spPr>
            <a:xfrm>
              <a:off x="10001250" y="1619250"/>
              <a:ext cx="133350" cy="133350"/>
            </a:xfrm>
            <a:prstGeom prst="roundRect">
              <a:avLst>
                <a:gd name="adj" fmla="val 21429"/>
              </a:avLst>
            </a:prstGeom>
            <a:solidFill>
              <a:srgbClr val="1A3A5C">
                <a:alpha val="70000"/>
              </a:srgbClr>
            </a:solidFill>
            <a:ln>
              <a:noFill/>
            </a:ln>
          </p:spPr>
        </p:sp>
        <p:sp>
          <p:nvSpPr>
            <p:cNvPr id="57" name="TextBox 57"/>
            <p:cNvSpPr txBox="1"/>
            <p:nvPr/>
          </p:nvSpPr>
          <p:spPr>
            <a:xfrm>
              <a:off x="10180320" y="1636395"/>
              <a:ext cx="1376743"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panose="020B0604020202020204"/>
                  <a:ea typeface="微软雅黑" panose="020B0503020204020204" charset="-122"/>
                  <a:cs typeface="Arial" panose="020B0604020202020204"/>
                </a:rPr>
                <a:t>2014-2019（r=0.988）</a:t>
              </a:r>
              <a:endParaRPr lang="zh-CN" sz="900" dirty="0">
                <a:solidFill>
                  <a:srgbClr val="1A1A2E"/>
                </a:solidFill>
                <a:latin typeface="Arial" panose="020B0604020202020204"/>
                <a:ea typeface="微软雅黑" panose="020B0503020204020204" charset="-122"/>
                <a:cs typeface="Arial" panose="020B0604020202020204"/>
              </a:endParaRPr>
            </a:p>
          </p:txBody>
        </p:sp>
        <p:sp>
          <p:nvSpPr>
            <p:cNvPr id="58" name="Rectangle 58"/>
            <p:cNvSpPr/>
            <p:nvPr/>
          </p:nvSpPr>
          <p:spPr>
            <a:xfrm>
              <a:off x="10001250" y="1828800"/>
              <a:ext cx="133350" cy="133350"/>
            </a:xfrm>
            <a:prstGeom prst="roundRect">
              <a:avLst>
                <a:gd name="adj" fmla="val 21429"/>
              </a:avLst>
            </a:prstGeom>
            <a:solidFill>
              <a:srgbClr val="C62828">
                <a:alpha val="50000"/>
              </a:srgbClr>
            </a:solidFill>
            <a:ln>
              <a:noFill/>
            </a:ln>
          </p:spPr>
        </p:sp>
        <p:sp>
          <p:nvSpPr>
            <p:cNvPr id="59" name="TextBox 59"/>
            <p:cNvSpPr txBox="1"/>
            <p:nvPr/>
          </p:nvSpPr>
          <p:spPr>
            <a:xfrm>
              <a:off x="10180320" y="1845945"/>
              <a:ext cx="1593628"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panose="020B0604020202020204"/>
                  <a:ea typeface="微软雅黑" panose="020B0503020204020204" charset="-122"/>
                  <a:cs typeface="Arial" panose="020B0604020202020204"/>
                </a:rPr>
                <a:t>2020-2023（被冲击拉低）</a:t>
              </a:r>
              <a:endParaRPr lang="zh-CN" sz="900" dirty="0">
                <a:solidFill>
                  <a:srgbClr val="1A1A2E"/>
                </a:solidFill>
                <a:latin typeface="Arial" panose="020B0604020202020204"/>
                <a:ea typeface="微软雅黑" panose="020B0503020204020204" charset="-122"/>
                <a:cs typeface="Arial" panose="020B0604020202020204"/>
              </a:endParaRPr>
            </a:p>
          </p:txBody>
        </p:sp>
      </p:grpSp>
      <p:grpSp>
        <p:nvGrpSpPr>
          <p:cNvPr id="68" name="Group 68"/>
          <p:cNvGrpSpPr/>
          <p:nvPr/>
        </p:nvGrpSpPr>
        <p:grpSpPr>
          <a:xfrm>
            <a:off x="571500" y="4048125"/>
            <a:ext cx="11049000" cy="571500"/>
            <a:chOff x="571500" y="4048125"/>
            <a:chExt cx="11049000" cy="571500"/>
          </a:xfrm>
        </p:grpSpPr>
        <p:sp>
          <p:nvSpPr>
            <p:cNvPr id="61" name="Rectangle 61"/>
            <p:cNvSpPr/>
            <p:nvPr/>
          </p:nvSpPr>
          <p:spPr>
            <a:xfrm>
              <a:off x="571500" y="4048125"/>
              <a:ext cx="11049000" cy="571500"/>
            </a:xfrm>
            <a:prstGeom prst="roundRect">
              <a:avLst>
                <a:gd name="adj" fmla="val 13333"/>
              </a:avLst>
            </a:prstGeom>
            <a:solidFill>
              <a:srgbClr val="F0F4F8"/>
            </a:solidFill>
            <a:ln>
              <a:noFill/>
            </a:ln>
          </p:spPr>
        </p:sp>
        <p:grpSp>
          <p:nvGrpSpPr>
            <p:cNvPr id="64" name="Group 64"/>
            <p:cNvGrpSpPr/>
            <p:nvPr/>
          </p:nvGrpSpPr>
          <p:grpSpPr>
            <a:xfrm>
              <a:off x="839197" y="4326306"/>
              <a:ext cx="131214" cy="167113"/>
              <a:chOff x="839197" y="4326306"/>
              <a:chExt cx="131214" cy="167113"/>
            </a:xfrm>
          </p:grpSpPr>
          <p:sp>
            <p:nvSpPr>
              <p:cNvPr id="62" name="Freeform 62"/>
              <p:cNvSpPr/>
              <p:nvPr/>
            </p:nvSpPr>
            <p:spPr>
              <a:xfrm>
                <a:off x="845165" y="4332297"/>
                <a:ext cx="119257" cy="131356"/>
              </a:xfrm>
              <a:custGeom>
                <a:avLst/>
                <a:gdLst/>
                <a:ahLst/>
                <a:cxnLst/>
                <a:rect l="l" t="t" r="r" b="b"/>
                <a:pathLst>
                  <a:path w="119257" h="131356">
                    <a:moveTo>
                      <a:pt x="119241" y="59918"/>
                    </a:moveTo>
                    <a:cubicBezTo>
                      <a:pt x="119257" y="78195"/>
                      <a:pt x="110862" y="95463"/>
                      <a:pt x="96478" y="106740"/>
                    </a:cubicBezTo>
                    <a:cubicBezTo>
                      <a:pt x="92085" y="110144"/>
                      <a:pt x="89503" y="115380"/>
                      <a:pt x="89475" y="120938"/>
                    </a:cubicBezTo>
                    <a:lnTo>
                      <a:pt x="89475" y="125403"/>
                    </a:lnTo>
                    <a:cubicBezTo>
                      <a:pt x="89475" y="128690"/>
                      <a:pt x="86810" y="131356"/>
                      <a:pt x="83522" y="131356"/>
                    </a:cubicBezTo>
                    <a:lnTo>
                      <a:pt x="35897" y="131356"/>
                    </a:lnTo>
                    <a:cubicBezTo>
                      <a:pt x="32610" y="131356"/>
                      <a:pt x="29944" y="128690"/>
                      <a:pt x="29944" y="125403"/>
                    </a:cubicBezTo>
                    <a:lnTo>
                      <a:pt x="29944" y="120938"/>
                    </a:lnTo>
                    <a:cubicBezTo>
                      <a:pt x="29938" y="115410"/>
                      <a:pt x="27385" y="110194"/>
                      <a:pt x="23024" y="106799"/>
                    </a:cubicBezTo>
                    <a:cubicBezTo>
                      <a:pt x="8686" y="95598"/>
                      <a:pt x="268" y="78447"/>
                      <a:pt x="179" y="60253"/>
                    </a:cubicBezTo>
                    <a:cubicBezTo>
                      <a:pt x="0" y="27987"/>
                      <a:pt x="26015" y="1131"/>
                      <a:pt x="58274" y="387"/>
                    </a:cubicBezTo>
                    <a:cubicBezTo>
                      <a:pt x="74310" y="0"/>
                      <a:pt x="89823" y="6101"/>
                      <a:pt x="101300" y="17307"/>
                    </a:cubicBezTo>
                    <a:cubicBezTo>
                      <a:pt x="112777" y="28514"/>
                      <a:pt x="119246" y="43878"/>
                      <a:pt x="119241" y="59918"/>
                    </a:cubicBezTo>
                    <a:close/>
                  </a:path>
                </a:pathLst>
              </a:custGeom>
              <a:solidFill>
                <a:srgbClr val="C8963E">
                  <a:alpha val="20000"/>
                </a:srgbClr>
              </a:solidFill>
              <a:ln>
                <a:noFill/>
              </a:ln>
            </p:spPr>
          </p:sp>
          <p:sp>
            <p:nvSpPr>
              <p:cNvPr id="63" name="Freeform 63"/>
              <p:cNvSpPr/>
              <p:nvPr/>
            </p:nvSpPr>
            <p:spPr>
              <a:xfrm>
                <a:off x="839197" y="4326306"/>
                <a:ext cx="131214" cy="167113"/>
              </a:xfrm>
              <a:custGeom>
                <a:avLst/>
                <a:gdLst/>
                <a:ahLst/>
                <a:cxnLst/>
                <a:rect l="l" t="t" r="r" b="b"/>
                <a:pathLst>
                  <a:path w="131214" h="167113">
                    <a:moveTo>
                      <a:pt x="101397" y="161159"/>
                    </a:moveTo>
                    <a:cubicBezTo>
                      <a:pt x="101397" y="164447"/>
                      <a:pt x="98731" y="167113"/>
                      <a:pt x="95443" y="167113"/>
                    </a:cubicBezTo>
                    <a:lnTo>
                      <a:pt x="35912" y="167113"/>
                    </a:lnTo>
                    <a:cubicBezTo>
                      <a:pt x="32624" y="167113"/>
                      <a:pt x="29959" y="164447"/>
                      <a:pt x="29959" y="161159"/>
                    </a:cubicBezTo>
                    <a:cubicBezTo>
                      <a:pt x="29959" y="157872"/>
                      <a:pt x="32624" y="155206"/>
                      <a:pt x="35912" y="155206"/>
                    </a:cubicBezTo>
                    <a:lnTo>
                      <a:pt x="95443" y="155206"/>
                    </a:lnTo>
                    <a:cubicBezTo>
                      <a:pt x="98731" y="155206"/>
                      <a:pt x="101397" y="157872"/>
                      <a:pt x="101397" y="161159"/>
                    </a:cubicBezTo>
                    <a:close/>
                    <a:moveTo>
                      <a:pt x="131162" y="65909"/>
                    </a:moveTo>
                    <a:cubicBezTo>
                      <a:pt x="131214" y="86020"/>
                      <a:pt x="121975" y="105028"/>
                      <a:pt x="106129" y="117411"/>
                    </a:cubicBezTo>
                    <a:cubicBezTo>
                      <a:pt x="103166" y="119683"/>
                      <a:pt x="101419" y="123196"/>
                      <a:pt x="101397" y="126929"/>
                    </a:cubicBezTo>
                    <a:lnTo>
                      <a:pt x="101397" y="131394"/>
                    </a:lnTo>
                    <a:cubicBezTo>
                      <a:pt x="101397" y="137969"/>
                      <a:pt x="96066" y="143300"/>
                      <a:pt x="89490" y="143300"/>
                    </a:cubicBezTo>
                    <a:lnTo>
                      <a:pt x="41865" y="143300"/>
                    </a:lnTo>
                    <a:cubicBezTo>
                      <a:pt x="35290" y="143300"/>
                      <a:pt x="29959" y="137969"/>
                      <a:pt x="29959" y="131394"/>
                    </a:cubicBezTo>
                    <a:lnTo>
                      <a:pt x="29959" y="126929"/>
                    </a:lnTo>
                    <a:cubicBezTo>
                      <a:pt x="29957" y="123240"/>
                      <a:pt x="28244" y="119761"/>
                      <a:pt x="25323" y="117508"/>
                    </a:cubicBezTo>
                    <a:cubicBezTo>
                      <a:pt x="9518" y="105199"/>
                      <a:pt x="252" y="86306"/>
                      <a:pt x="193" y="66274"/>
                    </a:cubicBezTo>
                    <a:cubicBezTo>
                      <a:pt x="0" y="30808"/>
                      <a:pt x="28664" y="1273"/>
                      <a:pt x="64100" y="425"/>
                    </a:cubicBezTo>
                    <a:cubicBezTo>
                      <a:pt x="81740" y="0"/>
                      <a:pt x="98804" y="6711"/>
                      <a:pt x="111428" y="19038"/>
                    </a:cubicBezTo>
                    <a:cubicBezTo>
                      <a:pt x="124052" y="31365"/>
                      <a:pt x="131167" y="48265"/>
                      <a:pt x="131162" y="65909"/>
                    </a:cubicBezTo>
                    <a:close/>
                    <a:moveTo>
                      <a:pt x="119256" y="65909"/>
                    </a:moveTo>
                    <a:cubicBezTo>
                      <a:pt x="119260" y="51472"/>
                      <a:pt x="113438" y="37645"/>
                      <a:pt x="103108" y="27559"/>
                    </a:cubicBezTo>
                    <a:cubicBezTo>
                      <a:pt x="92779" y="17473"/>
                      <a:pt x="78816" y="11982"/>
                      <a:pt x="64383" y="12331"/>
                    </a:cubicBezTo>
                    <a:cubicBezTo>
                      <a:pt x="35362" y="13016"/>
                      <a:pt x="11943" y="37178"/>
                      <a:pt x="12100" y="66200"/>
                    </a:cubicBezTo>
                    <a:cubicBezTo>
                      <a:pt x="12155" y="82583"/>
                      <a:pt x="19739" y="98032"/>
                      <a:pt x="32668" y="108095"/>
                    </a:cubicBezTo>
                    <a:cubicBezTo>
                      <a:pt x="38480" y="112613"/>
                      <a:pt x="41876" y="119567"/>
                      <a:pt x="41865" y="126929"/>
                    </a:cubicBezTo>
                    <a:lnTo>
                      <a:pt x="41865" y="131394"/>
                    </a:lnTo>
                    <a:lnTo>
                      <a:pt x="89490" y="131394"/>
                    </a:lnTo>
                    <a:lnTo>
                      <a:pt x="89490" y="126929"/>
                    </a:lnTo>
                    <a:cubicBezTo>
                      <a:pt x="89507" y="119546"/>
                      <a:pt x="92932" y="112584"/>
                      <a:pt x="98770" y="108065"/>
                    </a:cubicBezTo>
                    <a:cubicBezTo>
                      <a:pt x="111740" y="97929"/>
                      <a:pt x="119301" y="82370"/>
                      <a:pt x="119256" y="65909"/>
                    </a:cubicBezTo>
                    <a:close/>
                    <a:moveTo>
                      <a:pt x="107268" y="58959"/>
                    </a:moveTo>
                    <a:cubicBezTo>
                      <a:pt x="104106" y="41300"/>
                      <a:pt x="90281" y="27477"/>
                      <a:pt x="72621" y="24319"/>
                    </a:cubicBezTo>
                    <a:cubicBezTo>
                      <a:pt x="69378" y="23773"/>
                      <a:pt x="66306" y="25958"/>
                      <a:pt x="65760" y="29201"/>
                    </a:cubicBezTo>
                    <a:cubicBezTo>
                      <a:pt x="65213" y="32444"/>
                      <a:pt x="67399" y="35515"/>
                      <a:pt x="70641" y="36062"/>
                    </a:cubicBezTo>
                    <a:cubicBezTo>
                      <a:pt x="82972" y="38138"/>
                      <a:pt x="93434" y="48601"/>
                      <a:pt x="95525" y="60953"/>
                    </a:cubicBezTo>
                    <a:cubicBezTo>
                      <a:pt x="96012" y="63816"/>
                      <a:pt x="98493" y="65911"/>
                      <a:pt x="101397" y="65909"/>
                    </a:cubicBezTo>
                    <a:cubicBezTo>
                      <a:pt x="101733" y="65907"/>
                      <a:pt x="102069" y="65880"/>
                      <a:pt x="102401" y="65828"/>
                    </a:cubicBezTo>
                    <a:cubicBezTo>
                      <a:pt x="105641" y="65274"/>
                      <a:pt x="107820" y="62200"/>
                      <a:pt x="107268" y="58959"/>
                    </a:cubicBezTo>
                    <a:close/>
                  </a:path>
                </a:pathLst>
              </a:custGeom>
              <a:solidFill>
                <a:srgbClr val="C8963E"/>
              </a:solidFill>
              <a:ln>
                <a:noFill/>
              </a:ln>
            </p:spPr>
          </p:sp>
        </p:grpSp>
        <p:sp>
          <p:nvSpPr>
            <p:cNvPr id="65" name="TextBox 65"/>
            <p:cNvSpPr txBox="1"/>
            <p:nvPr/>
          </p:nvSpPr>
          <p:spPr>
            <a:xfrm>
              <a:off x="1082040" y="4172902"/>
              <a:ext cx="670750" cy="213360"/>
            </a:xfrm>
            <a:prstGeom prst="rect">
              <a:avLst/>
            </a:prstGeom>
            <a:noFill/>
            <a:ln>
              <a:noFill/>
            </a:ln>
          </p:spPr>
          <p:txBody>
            <a:bodyPr wrap="none" lIns="0" tIns="0" rIns="0" bIns="0" anchor="t" anchorCtr="0">
              <a:spAutoFit/>
            </a:bodyPr>
            <a:lstStyle/>
            <a:p>
              <a:pPr algn="l"/>
              <a:r>
                <a:rPr lang="zh-CN" sz="1050" b="1" dirty="0">
                  <a:solidFill>
                    <a:srgbClr val="1A3A5C"/>
                  </a:solidFill>
                  <a:latin typeface="Arial" panose="020B0604020202020204"/>
                  <a:ea typeface="微软雅黑" panose="020B0503020204020204" charset="-122"/>
                  <a:cs typeface="Arial" panose="020B0604020202020204"/>
                </a:rPr>
                <a:t>解释要点</a:t>
              </a:r>
              <a:endParaRPr lang="zh-CN" sz="1050" b="1" dirty="0">
                <a:solidFill>
                  <a:srgbClr val="1A3A5C"/>
                </a:solidFill>
                <a:latin typeface="Arial" panose="020B0604020202020204"/>
                <a:ea typeface="微软雅黑" panose="020B0503020204020204" charset="-122"/>
                <a:cs typeface="Arial" panose="020B0604020202020204"/>
              </a:endParaRPr>
            </a:p>
          </p:txBody>
        </p:sp>
        <p:sp>
          <p:nvSpPr>
            <p:cNvPr id="66" name="TextBox 66"/>
            <p:cNvSpPr txBox="1"/>
            <p:nvPr/>
          </p:nvSpPr>
          <p:spPr>
            <a:xfrm>
              <a:off x="2272665" y="4172902"/>
              <a:ext cx="4059841"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panose="020B0604020202020204"/>
                  <a:ea typeface="微软雅黑" panose="020B0503020204020204" charset="-122"/>
                  <a:cs typeface="Arial" panose="020B0604020202020204"/>
                </a:rPr>
                <a:t>课程对应：函数逼近 + 最小二乘残差平方和 + 分段低次思想</a:t>
              </a:r>
              <a:endParaRPr lang="zh-CN" sz="1050" dirty="0">
                <a:solidFill>
                  <a:srgbClr val="6B7280"/>
                </a:solidFill>
                <a:latin typeface="Arial" panose="020B0604020202020204"/>
                <a:ea typeface="微软雅黑" panose="020B0503020204020204" charset="-122"/>
                <a:cs typeface="Arial" panose="020B0604020202020204"/>
              </a:endParaRPr>
            </a:p>
          </p:txBody>
        </p:sp>
        <p:sp>
          <p:nvSpPr>
            <p:cNvPr id="67" name="TextBox 67"/>
            <p:cNvSpPr txBox="1"/>
            <p:nvPr/>
          </p:nvSpPr>
          <p:spPr>
            <a:xfrm>
              <a:off x="2272665" y="4363402"/>
              <a:ext cx="5700712"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panose="020B0604020202020204"/>
                  <a:ea typeface="微软雅黑" panose="020B0503020204020204" charset="-122"/>
                  <a:cs typeface="Arial" panose="020B0604020202020204"/>
                </a:rPr>
                <a:t>相关不等于因果，但平稳期高度同向说明公共文化供给与文旅需求有共同增长背景。</a:t>
              </a:r>
              <a:endParaRPr lang="zh-CN" sz="1050" dirty="0">
                <a:solidFill>
                  <a:srgbClr val="6B7280"/>
                </a:solidFill>
                <a:latin typeface="Arial" panose="020B0604020202020204"/>
                <a:ea typeface="微软雅黑" panose="020B0503020204020204" charset="-122"/>
                <a:cs typeface="Arial" panose="020B0604020202020204"/>
              </a:endParaRPr>
            </a:p>
          </p:txBody>
        </p:sp>
      </p:grpSp>
      <p:grpSp>
        <p:nvGrpSpPr>
          <p:cNvPr id="71" name="Group 71"/>
          <p:cNvGrpSpPr/>
          <p:nvPr/>
        </p:nvGrpSpPr>
        <p:grpSpPr>
          <a:xfrm>
            <a:off x="560070" y="6522720"/>
            <a:ext cx="11070907" cy="182880"/>
            <a:chOff x="560070" y="6522720"/>
            <a:chExt cx="11070907" cy="182880"/>
          </a:xfrm>
        </p:grpSpPr>
        <p:sp>
          <p:nvSpPr>
            <p:cNvPr id="69" name="TextBox 69"/>
            <p:cNvSpPr txBox="1"/>
            <p:nvPr/>
          </p:nvSpPr>
          <p:spPr>
            <a:xfrm>
              <a:off x="560070" y="6522720"/>
              <a:ext cx="2204847" cy="182880"/>
            </a:xfrm>
            <a:prstGeom prst="rect">
              <a:avLst/>
            </a:prstGeom>
            <a:noFill/>
            <a:ln>
              <a:noFill/>
            </a:ln>
          </p:spPr>
          <p:txBody>
            <a:bodyPr wrap="none" lIns="0" tIns="0" rIns="0" bIns="0" anchor="t" anchorCtr="0">
              <a:spAutoFit/>
            </a:bodyPr>
            <a:lstStyle/>
            <a:p>
              <a:pPr algn="l"/>
              <a:r>
                <a:rPr lang="zh-CN" sz="900" dirty="0">
                  <a:solidFill>
                    <a:srgbClr val="9CA3AF"/>
                  </a:solidFill>
                  <a:latin typeface="Arial" panose="020B0604020202020204"/>
                  <a:ea typeface="微软雅黑" panose="020B0503020204020204" charset="-122"/>
                  <a:cs typeface="Arial" panose="020B0604020202020204"/>
                </a:rPr>
                <a:t>Source: 团队 Pearson 相关系数计算</a:t>
              </a:r>
              <a:endParaRPr lang="zh-CN" sz="900" dirty="0">
                <a:solidFill>
                  <a:srgbClr val="9CA3AF"/>
                </a:solidFill>
                <a:latin typeface="Arial" panose="020B0604020202020204"/>
                <a:ea typeface="微软雅黑" panose="020B0503020204020204" charset="-122"/>
                <a:cs typeface="Arial" panose="020B0604020202020204"/>
              </a:endParaRPr>
            </a:p>
          </p:txBody>
        </p:sp>
        <p:sp>
          <p:nvSpPr>
            <p:cNvPr id="70" name="TextBox 70"/>
            <p:cNvSpPr txBox="1"/>
            <p:nvPr/>
          </p:nvSpPr>
          <p:spPr>
            <a:xfrm>
              <a:off x="11266622" y="6530816"/>
              <a:ext cx="364355"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panose="020B0604020202020204"/>
                  <a:ea typeface="微软雅黑" panose="020B0503020204020204" charset="-122"/>
                  <a:cs typeface="Arial" panose="020B0604020202020204"/>
                </a:rPr>
                <a:t>10 / 12</a:t>
              </a:r>
              <a:endParaRPr lang="zh-CN" sz="825" dirty="0">
                <a:solidFill>
                  <a:srgbClr val="9CA3AF"/>
                </a:solidFill>
                <a:latin typeface="Arial" panose="020B0604020202020204"/>
                <a:ea typeface="微软雅黑" panose="020B0503020204020204" charset="-122"/>
                <a:cs typeface="Arial" panose="020B0604020202020204"/>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400"/>
                                        <p:tgtEl>
                                          <p:spTgt spid="29"/>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60"/>
                                        </p:tgtEl>
                                        <p:attrNameLst>
                                          <p:attrName>style.visibility</p:attrName>
                                        </p:attrNameLst>
                                      </p:cBhvr>
                                      <p:to>
                                        <p:strVal val="visible"/>
                                      </p:to>
                                    </p:set>
                                    <p:animEffect transition="in" filter="fade">
                                      <p:cBhvr>
                                        <p:cTn id="11" dur="400"/>
                                        <p:tgtEl>
                                          <p:spTgt spid="60"/>
                                        </p:tgtEl>
                                      </p:cBhvr>
                                    </p:animEffect>
                                  </p:childTnLst>
                                </p:cTn>
                              </p:par>
                            </p:childTnLst>
                          </p:cTn>
                        </p:par>
                        <p:par>
                          <p:cTn id="12" fill="hold">
                            <p:stCondLst>
                              <p:cond delay="1000"/>
                            </p:stCondLst>
                            <p:childTnLst>
                              <p:par>
                                <p:cTn id="13" presetID="19" presetClass="entr" presetSubtype="5" fill="hold" nodeType="afterEffect">
                                  <p:stCondLst>
                                    <p:cond delay="0"/>
                                  </p:stCondLst>
                                  <p:childTnLst>
                                    <p:set>
                                      <p:cBhvr>
                                        <p:cTn id="14" dur="1" fill="hold">
                                          <p:stCondLst>
                                            <p:cond delay="0"/>
                                          </p:stCondLst>
                                        </p:cTn>
                                        <p:tgtEl>
                                          <p:spTgt spid="68"/>
                                        </p:tgtEl>
                                        <p:attrNameLst>
                                          <p:attrName>style.visibility</p:attrName>
                                        </p:attrNameLst>
                                      </p:cBhvr>
                                      <p:to>
                                        <p:strVal val="visible"/>
                                      </p:to>
                                    </p:set>
                                    <p:animEffect transition="in" filter="wheel(1)">
                                      <p:cBhvr>
                                        <p:cTn id="15" dur="4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60" grpId="0"/>
      <p:bldP spid="6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A"/>
          </a:solidFill>
          <a:ln>
            <a:noFill/>
          </a:ln>
        </p:spPr>
      </p:sp>
      <p:grpSp>
        <p:nvGrpSpPr>
          <p:cNvPr id="6" name="Group 6"/>
          <p:cNvGrpSpPr/>
          <p:nvPr/>
        </p:nvGrpSpPr>
        <p:grpSpPr>
          <a:xfrm>
            <a:off x="571500" y="280988"/>
            <a:ext cx="8155067" cy="561974"/>
            <a:chOff x="571500" y="280988"/>
            <a:chExt cx="8155067" cy="561974"/>
          </a:xfrm>
        </p:grpSpPr>
        <p:sp>
          <p:nvSpPr>
            <p:cNvPr id="3" name="Rectangle 3"/>
            <p:cNvSpPr/>
            <p:nvPr/>
          </p:nvSpPr>
          <p:spPr>
            <a:xfrm>
              <a:off x="571500" y="285750"/>
              <a:ext cx="38100" cy="342900"/>
            </a:xfrm>
            <a:prstGeom prst="rect">
              <a:avLst/>
            </a:prstGeom>
            <a:solidFill>
              <a:srgbClr val="1A3A5C"/>
            </a:solidFill>
            <a:ln>
              <a:noFill/>
            </a:ln>
          </p:spPr>
        </p:sp>
        <p:sp>
          <p:nvSpPr>
            <p:cNvPr id="4" name="TextBox 4"/>
            <p:cNvSpPr txBox="1"/>
            <p:nvPr/>
          </p:nvSpPr>
          <p:spPr>
            <a:xfrm>
              <a:off x="733425" y="280988"/>
              <a:ext cx="7993142" cy="457200"/>
            </a:xfrm>
            <a:prstGeom prst="rect">
              <a:avLst/>
            </a:prstGeom>
            <a:noFill/>
            <a:ln>
              <a:noFill/>
            </a:ln>
          </p:spPr>
          <p:txBody>
            <a:bodyPr wrap="none" lIns="0" tIns="0" rIns="0" bIns="0" anchor="t" anchorCtr="0">
              <a:spAutoFit/>
            </a:bodyPr>
            <a:lstStyle/>
            <a:p>
              <a:pPr algn="l"/>
              <a:r>
                <a:rPr lang="zh-CN" sz="2250" b="1" dirty="0">
                  <a:solidFill>
                    <a:srgbClr val="1A3A5C"/>
                  </a:solidFill>
                  <a:latin typeface="Georgia" panose="02040502050405020303"/>
                  <a:ea typeface="楷体" panose="02010609060101010101" charset="-122"/>
                  <a:cs typeface="Georgia" panose="02040502050405020303"/>
                </a:rPr>
                <a:t>反事实缺口：衡量文旅需求相对正常趋势的恢复程度</a:t>
              </a:r>
              <a:endParaRPr lang="zh-CN" sz="2250" b="1" dirty="0">
                <a:solidFill>
                  <a:srgbClr val="1A3A5C"/>
                </a:solidFill>
                <a:latin typeface="Georgia" panose="02040502050405020303"/>
                <a:ea typeface="楷体" panose="02010609060101010101" charset="-122"/>
                <a:cs typeface="Georgia" panose="02040502050405020303"/>
              </a:endParaRPr>
            </a:p>
          </p:txBody>
        </p:sp>
        <p:sp>
          <p:nvSpPr>
            <p:cNvPr id="5" name="TextBox 5"/>
            <p:cNvSpPr txBox="1"/>
            <p:nvPr/>
          </p:nvSpPr>
          <p:spPr>
            <a:xfrm>
              <a:off x="748665" y="629602"/>
              <a:ext cx="6099429"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panose="020B0604020202020204"/>
                  <a:ea typeface="微软雅黑" panose="020B0503020204020204" charset="-122"/>
                  <a:cs typeface="Arial" panose="020B0604020202020204"/>
                </a:rPr>
                <a:t>以 2014-2019 年平稳增长趋势作为无冲击基准，对比 2020-2023 年真实游客与消费水平。</a:t>
              </a:r>
              <a:endParaRPr lang="zh-CN" sz="1050" dirty="0">
                <a:solidFill>
                  <a:srgbClr val="6B7280"/>
                </a:solidFill>
                <a:latin typeface="Arial" panose="020B0604020202020204"/>
                <a:ea typeface="微软雅黑" panose="020B0503020204020204" charset="-122"/>
                <a:cs typeface="Arial" panose="020B0604020202020204"/>
              </a:endParaRPr>
            </a:p>
          </p:txBody>
        </p:sp>
      </p:grpSp>
      <p:grpSp>
        <p:nvGrpSpPr>
          <p:cNvPr id="39" name="Group 39"/>
          <p:cNvGrpSpPr/>
          <p:nvPr/>
        </p:nvGrpSpPr>
        <p:grpSpPr>
          <a:xfrm>
            <a:off x="571500" y="1095375"/>
            <a:ext cx="7498771" cy="2857500"/>
            <a:chOff x="571500" y="1095375"/>
            <a:chExt cx="7498771" cy="2857500"/>
          </a:xfrm>
        </p:grpSpPr>
        <p:sp>
          <p:nvSpPr>
            <p:cNvPr id="7" name="Rectangle 7"/>
            <p:cNvSpPr/>
            <p:nvPr/>
          </p:nvSpPr>
          <p:spPr>
            <a:xfrm>
              <a:off x="571500" y="1095375"/>
              <a:ext cx="6953250" cy="2857500"/>
            </a:xfrm>
            <a:prstGeom prst="roundRect">
              <a:avLst>
                <a:gd name="adj" fmla="val 2667"/>
              </a:avLst>
            </a:prstGeom>
            <a:solidFill>
              <a:srgbClr val="FFFFFF"/>
            </a:solidFill>
            <a:ln w="9525">
              <a:solidFill>
                <a:srgbClr val="D1D5DB"/>
              </a:solidFill>
            </a:ln>
            <a:effectLst>
              <a:outerShdw blurRad="38100" dist="9525" dir="5400000" algn="ctr" rotWithShape="0">
                <a:srgbClr val="0F172A">
                  <a:alpha val="9000"/>
                </a:srgbClr>
              </a:outerShdw>
            </a:effectLst>
          </p:spPr>
        </p:sp>
        <p:sp>
          <p:nvSpPr>
            <p:cNvPr id="8" name="Line 8"/>
            <p:cNvSpPr/>
            <p:nvPr/>
          </p:nvSpPr>
          <p:spPr>
            <a:xfrm>
              <a:off x="1524000" y="3571875"/>
              <a:ext cx="5715000" cy="9525"/>
            </a:xfrm>
            <a:custGeom>
              <a:avLst/>
              <a:gdLst/>
              <a:ahLst/>
              <a:cxnLst/>
              <a:rect l="l" t="t" r="r" b="b"/>
              <a:pathLst>
                <a:path w="5715000" h="9525">
                  <a:moveTo>
                    <a:pt x="0" y="0"/>
                  </a:moveTo>
                  <a:lnTo>
                    <a:pt x="5715000" y="0"/>
                  </a:lnTo>
                </a:path>
              </a:pathLst>
            </a:custGeom>
            <a:noFill/>
            <a:ln w="9525">
              <a:solidFill>
                <a:srgbClr val="E2E8F0"/>
              </a:solidFill>
            </a:ln>
          </p:spPr>
        </p:sp>
        <p:sp>
          <p:nvSpPr>
            <p:cNvPr id="9" name="Line 9"/>
            <p:cNvSpPr/>
            <p:nvPr/>
          </p:nvSpPr>
          <p:spPr>
            <a:xfrm>
              <a:off x="1524000" y="3000375"/>
              <a:ext cx="5715000" cy="9525"/>
            </a:xfrm>
            <a:custGeom>
              <a:avLst/>
              <a:gdLst/>
              <a:ahLst/>
              <a:cxnLst/>
              <a:rect l="l" t="t" r="r" b="b"/>
              <a:pathLst>
                <a:path w="5715000" h="9525">
                  <a:moveTo>
                    <a:pt x="0" y="0"/>
                  </a:moveTo>
                  <a:lnTo>
                    <a:pt x="5715000" y="0"/>
                  </a:lnTo>
                </a:path>
              </a:pathLst>
            </a:custGeom>
            <a:noFill/>
            <a:ln w="4762">
              <a:solidFill>
                <a:srgbClr val="F1F5F9"/>
              </a:solidFill>
            </a:ln>
          </p:spPr>
        </p:sp>
        <p:sp>
          <p:nvSpPr>
            <p:cNvPr id="10" name="Line 10"/>
            <p:cNvSpPr/>
            <p:nvPr/>
          </p:nvSpPr>
          <p:spPr>
            <a:xfrm>
              <a:off x="1524000" y="2428875"/>
              <a:ext cx="5715000" cy="9525"/>
            </a:xfrm>
            <a:custGeom>
              <a:avLst/>
              <a:gdLst/>
              <a:ahLst/>
              <a:cxnLst/>
              <a:rect l="l" t="t" r="r" b="b"/>
              <a:pathLst>
                <a:path w="5715000" h="9525">
                  <a:moveTo>
                    <a:pt x="0" y="0"/>
                  </a:moveTo>
                  <a:lnTo>
                    <a:pt x="5715000" y="0"/>
                  </a:lnTo>
                </a:path>
              </a:pathLst>
            </a:custGeom>
            <a:noFill/>
            <a:ln w="4762">
              <a:solidFill>
                <a:srgbClr val="F1F5F9"/>
              </a:solidFill>
            </a:ln>
          </p:spPr>
        </p:sp>
        <p:sp>
          <p:nvSpPr>
            <p:cNvPr id="11" name="Line 11"/>
            <p:cNvSpPr/>
            <p:nvPr/>
          </p:nvSpPr>
          <p:spPr>
            <a:xfrm>
              <a:off x="1524000" y="1857375"/>
              <a:ext cx="5715000" cy="9525"/>
            </a:xfrm>
            <a:custGeom>
              <a:avLst/>
              <a:gdLst/>
              <a:ahLst/>
              <a:cxnLst/>
              <a:rect l="l" t="t" r="r" b="b"/>
              <a:pathLst>
                <a:path w="5715000" h="9525">
                  <a:moveTo>
                    <a:pt x="0" y="0"/>
                  </a:moveTo>
                  <a:lnTo>
                    <a:pt x="5715000" y="0"/>
                  </a:lnTo>
                </a:path>
              </a:pathLst>
            </a:custGeom>
            <a:noFill/>
            <a:ln w="4762">
              <a:solidFill>
                <a:srgbClr val="F1F5F9"/>
              </a:solidFill>
            </a:ln>
          </p:spPr>
        </p:sp>
        <p:sp>
          <p:nvSpPr>
            <p:cNvPr id="12" name="Line 12"/>
            <p:cNvSpPr/>
            <p:nvPr/>
          </p:nvSpPr>
          <p:spPr>
            <a:xfrm>
              <a:off x="1524000" y="1285875"/>
              <a:ext cx="5715000" cy="9525"/>
            </a:xfrm>
            <a:custGeom>
              <a:avLst/>
              <a:gdLst/>
              <a:ahLst/>
              <a:cxnLst/>
              <a:rect l="l" t="t" r="r" b="b"/>
              <a:pathLst>
                <a:path w="5715000" h="9525">
                  <a:moveTo>
                    <a:pt x="0" y="0"/>
                  </a:moveTo>
                  <a:lnTo>
                    <a:pt x="5715000" y="0"/>
                  </a:lnTo>
                </a:path>
              </a:pathLst>
            </a:custGeom>
            <a:noFill/>
            <a:ln w="9525">
              <a:solidFill>
                <a:srgbClr val="E2E8F0"/>
              </a:solidFill>
            </a:ln>
          </p:spPr>
        </p:sp>
        <p:sp>
          <p:nvSpPr>
            <p:cNvPr id="13" name="TextBox 13"/>
            <p:cNvSpPr txBox="1"/>
            <p:nvPr/>
          </p:nvSpPr>
          <p:spPr>
            <a:xfrm>
              <a:off x="1204272" y="3514249"/>
              <a:ext cx="189236" cy="198120"/>
            </a:xfrm>
            <a:prstGeom prst="rect">
              <a:avLst/>
            </a:prstGeom>
            <a:noFill/>
            <a:ln>
              <a:noFill/>
            </a:ln>
          </p:spPr>
          <p:txBody>
            <a:bodyPr wrap="none" lIns="0" tIns="0" rIns="0" bIns="0" anchor="t" anchorCtr="0">
              <a:spAutoFit/>
            </a:bodyPr>
            <a:lstStyle/>
            <a:p>
              <a:pPr algn="r"/>
              <a:r>
                <a:rPr lang="zh-CN" sz="975" b="1" dirty="0">
                  <a:solidFill>
                    <a:srgbClr val="6B7280"/>
                  </a:solidFill>
                  <a:latin typeface="Arial" panose="020B0604020202020204"/>
                  <a:ea typeface="微软雅黑" panose="020B0503020204020204" charset="-122"/>
                  <a:cs typeface="Arial" panose="020B0604020202020204"/>
                </a:rPr>
                <a:t>0%</a:t>
              </a:r>
              <a:endParaRPr lang="zh-CN" sz="975" b="1" dirty="0">
                <a:solidFill>
                  <a:srgbClr val="6B7280"/>
                </a:solidFill>
                <a:latin typeface="Arial" panose="020B0604020202020204"/>
                <a:ea typeface="微软雅黑" panose="020B0503020204020204" charset="-122"/>
                <a:cs typeface="Arial" panose="020B0604020202020204"/>
              </a:endParaRPr>
            </a:p>
          </p:txBody>
        </p:sp>
        <p:sp>
          <p:nvSpPr>
            <p:cNvPr id="14" name="TextBox 14"/>
            <p:cNvSpPr txBox="1"/>
            <p:nvPr/>
          </p:nvSpPr>
          <p:spPr>
            <a:xfrm>
              <a:off x="1152811" y="2950845"/>
              <a:ext cx="239744" cy="182880"/>
            </a:xfrm>
            <a:prstGeom prst="rect">
              <a:avLst/>
            </a:prstGeom>
            <a:noFill/>
            <a:ln>
              <a:noFill/>
            </a:ln>
          </p:spPr>
          <p:txBody>
            <a:bodyPr wrap="none" lIns="0" tIns="0" rIns="0" bIns="0" anchor="t" anchorCtr="0">
              <a:spAutoFit/>
            </a:bodyPr>
            <a:lstStyle/>
            <a:p>
              <a:pPr algn="r"/>
              <a:r>
                <a:rPr lang="zh-CN" sz="900" dirty="0">
                  <a:solidFill>
                    <a:srgbClr val="6B7280"/>
                  </a:solidFill>
                  <a:latin typeface="Arial" panose="020B0604020202020204"/>
                  <a:ea typeface="微软雅黑" panose="020B0503020204020204" charset="-122"/>
                  <a:cs typeface="Arial" panose="020B0604020202020204"/>
                </a:rPr>
                <a:t>25%</a:t>
              </a:r>
              <a:endParaRPr lang="zh-CN" sz="900" dirty="0">
                <a:solidFill>
                  <a:srgbClr val="6B7280"/>
                </a:solidFill>
                <a:latin typeface="Arial" panose="020B0604020202020204"/>
                <a:ea typeface="微软雅黑" panose="020B0503020204020204" charset="-122"/>
                <a:cs typeface="Arial" panose="020B0604020202020204"/>
              </a:endParaRPr>
            </a:p>
          </p:txBody>
        </p:sp>
        <p:sp>
          <p:nvSpPr>
            <p:cNvPr id="15" name="TextBox 15"/>
            <p:cNvSpPr txBox="1"/>
            <p:nvPr/>
          </p:nvSpPr>
          <p:spPr>
            <a:xfrm>
              <a:off x="1152811" y="2379345"/>
              <a:ext cx="239744" cy="182880"/>
            </a:xfrm>
            <a:prstGeom prst="rect">
              <a:avLst/>
            </a:prstGeom>
            <a:noFill/>
            <a:ln>
              <a:noFill/>
            </a:ln>
          </p:spPr>
          <p:txBody>
            <a:bodyPr wrap="none" lIns="0" tIns="0" rIns="0" bIns="0" anchor="t" anchorCtr="0">
              <a:spAutoFit/>
            </a:bodyPr>
            <a:lstStyle/>
            <a:p>
              <a:pPr algn="r"/>
              <a:r>
                <a:rPr lang="zh-CN" sz="900" dirty="0">
                  <a:solidFill>
                    <a:srgbClr val="6B7280"/>
                  </a:solidFill>
                  <a:latin typeface="Arial" panose="020B0604020202020204"/>
                  <a:ea typeface="微软雅黑" panose="020B0503020204020204" charset="-122"/>
                  <a:cs typeface="Arial" panose="020B0604020202020204"/>
                </a:rPr>
                <a:t>50%</a:t>
              </a:r>
              <a:endParaRPr lang="zh-CN" sz="900" dirty="0">
                <a:solidFill>
                  <a:srgbClr val="6B7280"/>
                </a:solidFill>
                <a:latin typeface="Arial" panose="020B0604020202020204"/>
                <a:ea typeface="微软雅黑" panose="020B0503020204020204" charset="-122"/>
                <a:cs typeface="Arial" panose="020B0604020202020204"/>
              </a:endParaRPr>
            </a:p>
          </p:txBody>
        </p:sp>
        <p:sp>
          <p:nvSpPr>
            <p:cNvPr id="16" name="TextBox 16"/>
            <p:cNvSpPr txBox="1"/>
            <p:nvPr/>
          </p:nvSpPr>
          <p:spPr>
            <a:xfrm>
              <a:off x="1152811" y="1807845"/>
              <a:ext cx="239744" cy="182880"/>
            </a:xfrm>
            <a:prstGeom prst="rect">
              <a:avLst/>
            </a:prstGeom>
            <a:noFill/>
            <a:ln>
              <a:noFill/>
            </a:ln>
          </p:spPr>
          <p:txBody>
            <a:bodyPr wrap="none" lIns="0" tIns="0" rIns="0" bIns="0" anchor="t" anchorCtr="0">
              <a:spAutoFit/>
            </a:bodyPr>
            <a:lstStyle/>
            <a:p>
              <a:pPr algn="r"/>
              <a:r>
                <a:rPr lang="zh-CN" sz="900" dirty="0">
                  <a:solidFill>
                    <a:srgbClr val="6B7280"/>
                  </a:solidFill>
                  <a:latin typeface="Arial" panose="020B0604020202020204"/>
                  <a:ea typeface="微软雅黑" panose="020B0503020204020204" charset="-122"/>
                  <a:cs typeface="Arial" panose="020B0604020202020204"/>
                </a:rPr>
                <a:t>75%</a:t>
              </a:r>
              <a:endParaRPr lang="zh-CN" sz="900" dirty="0">
                <a:solidFill>
                  <a:srgbClr val="6B7280"/>
                </a:solidFill>
                <a:latin typeface="Arial" panose="020B0604020202020204"/>
                <a:ea typeface="微软雅黑" panose="020B0503020204020204" charset="-122"/>
                <a:cs typeface="Arial" panose="020B0604020202020204"/>
              </a:endParaRPr>
            </a:p>
          </p:txBody>
        </p:sp>
        <p:sp>
          <p:nvSpPr>
            <p:cNvPr id="17" name="TextBox 17"/>
            <p:cNvSpPr txBox="1"/>
            <p:nvPr/>
          </p:nvSpPr>
          <p:spPr>
            <a:xfrm>
              <a:off x="1077181" y="1228249"/>
              <a:ext cx="316326" cy="198120"/>
            </a:xfrm>
            <a:prstGeom prst="rect">
              <a:avLst/>
            </a:prstGeom>
            <a:noFill/>
            <a:ln>
              <a:noFill/>
            </a:ln>
          </p:spPr>
          <p:txBody>
            <a:bodyPr wrap="none" lIns="0" tIns="0" rIns="0" bIns="0" anchor="t" anchorCtr="0">
              <a:spAutoFit/>
            </a:bodyPr>
            <a:lstStyle/>
            <a:p>
              <a:pPr algn="r"/>
              <a:r>
                <a:rPr lang="zh-CN" sz="975" b="1" dirty="0">
                  <a:solidFill>
                    <a:srgbClr val="6B7280"/>
                  </a:solidFill>
                  <a:latin typeface="Arial" panose="020B0604020202020204"/>
                  <a:ea typeface="微软雅黑" panose="020B0503020204020204" charset="-122"/>
                  <a:cs typeface="Arial" panose="020B0604020202020204"/>
                </a:rPr>
                <a:t>100%</a:t>
              </a:r>
              <a:endParaRPr lang="zh-CN" sz="975" b="1" dirty="0">
                <a:solidFill>
                  <a:srgbClr val="6B7280"/>
                </a:solidFill>
                <a:latin typeface="Arial" panose="020B0604020202020204"/>
                <a:ea typeface="微软雅黑" panose="020B0503020204020204" charset="-122"/>
                <a:cs typeface="Arial" panose="020B0604020202020204"/>
              </a:endParaRPr>
            </a:p>
          </p:txBody>
        </p:sp>
        <p:sp>
          <p:nvSpPr>
            <p:cNvPr id="18" name="TextBox 18"/>
            <p:cNvSpPr txBox="1"/>
            <p:nvPr/>
          </p:nvSpPr>
          <p:spPr>
            <a:xfrm>
              <a:off x="3214222" y="3704749"/>
              <a:ext cx="1953556" cy="198120"/>
            </a:xfrm>
            <a:prstGeom prst="rect">
              <a:avLst/>
            </a:prstGeom>
            <a:noFill/>
            <a:ln>
              <a:noFill/>
            </a:ln>
          </p:spPr>
          <p:txBody>
            <a:bodyPr wrap="none" lIns="0" tIns="0" rIns="0" bIns="0" anchor="t" anchorCtr="0">
              <a:spAutoFit/>
            </a:bodyPr>
            <a:lstStyle/>
            <a:p>
              <a:pPr algn="ctr"/>
              <a:r>
                <a:rPr lang="zh-CN" sz="975" b="1" dirty="0">
                  <a:solidFill>
                    <a:srgbClr val="6B7280"/>
                  </a:solidFill>
                  <a:latin typeface="Arial" panose="020B0604020202020204"/>
                  <a:ea typeface="微软雅黑" panose="020B0503020204020204" charset="-122"/>
                  <a:cs typeface="Arial" panose="020B0604020202020204"/>
                </a:rPr>
                <a:t>实际值 / 2014-2019 平稳趋势</a:t>
              </a:r>
              <a:endParaRPr lang="zh-CN" sz="975" b="1" dirty="0">
                <a:solidFill>
                  <a:srgbClr val="6B7280"/>
                </a:solidFill>
                <a:latin typeface="Arial" panose="020B0604020202020204"/>
                <a:ea typeface="微软雅黑" panose="020B0503020204020204" charset="-122"/>
                <a:cs typeface="Arial" panose="020B0604020202020204"/>
              </a:endParaRPr>
            </a:p>
          </p:txBody>
        </p:sp>
        <p:sp>
          <p:nvSpPr>
            <p:cNvPr id="19" name="Line 19"/>
            <p:cNvSpPr/>
            <p:nvPr/>
          </p:nvSpPr>
          <p:spPr>
            <a:xfrm>
              <a:off x="1524000" y="1285875"/>
              <a:ext cx="5715000" cy="9525"/>
            </a:xfrm>
            <a:custGeom>
              <a:avLst/>
              <a:gdLst/>
              <a:ahLst/>
              <a:cxnLst/>
              <a:rect l="l" t="t" r="r" b="b"/>
              <a:pathLst>
                <a:path w="5715000" h="9525">
                  <a:moveTo>
                    <a:pt x="0" y="0"/>
                  </a:moveTo>
                  <a:lnTo>
                    <a:pt x="5715000" y="0"/>
                  </a:lnTo>
                </a:path>
              </a:pathLst>
            </a:custGeom>
            <a:noFill/>
            <a:ln w="14288">
              <a:solidFill>
                <a:srgbClr val="9CA3AF"/>
              </a:solidFill>
              <a:prstDash val="dash"/>
            </a:ln>
          </p:spPr>
        </p:sp>
        <p:sp>
          <p:nvSpPr>
            <p:cNvPr id="20" name="TextBox 20"/>
            <p:cNvSpPr txBox="1"/>
            <p:nvPr/>
          </p:nvSpPr>
          <p:spPr>
            <a:xfrm>
              <a:off x="7322820" y="1207770"/>
              <a:ext cx="747451" cy="182880"/>
            </a:xfrm>
            <a:prstGeom prst="rect">
              <a:avLst/>
            </a:prstGeom>
            <a:noFill/>
            <a:ln>
              <a:noFill/>
            </a:ln>
          </p:spPr>
          <p:txBody>
            <a:bodyPr wrap="none" lIns="0" tIns="0" rIns="0" bIns="0" anchor="t" anchorCtr="0">
              <a:spAutoFit/>
            </a:bodyPr>
            <a:lstStyle/>
            <a:p>
              <a:pPr algn="l"/>
              <a:r>
                <a:rPr lang="zh-CN" sz="900" b="1" dirty="0">
                  <a:solidFill>
                    <a:srgbClr val="9CA3AF"/>
                  </a:solidFill>
                  <a:latin typeface="Arial" panose="020B0604020202020204"/>
                  <a:ea typeface="微软雅黑" panose="020B0503020204020204" charset="-122"/>
                  <a:cs typeface="Arial" panose="020B0604020202020204"/>
                </a:rPr>
                <a:t>100% 趋势线</a:t>
              </a:r>
              <a:endParaRPr lang="zh-CN" sz="900" b="1" dirty="0">
                <a:solidFill>
                  <a:srgbClr val="9CA3AF"/>
                </a:solidFill>
                <a:latin typeface="Arial" panose="020B0604020202020204"/>
                <a:ea typeface="微软雅黑" panose="020B0503020204020204" charset="-122"/>
                <a:cs typeface="Arial" panose="020B0604020202020204"/>
              </a:endParaRPr>
            </a:p>
          </p:txBody>
        </p:sp>
        <p:sp>
          <p:nvSpPr>
            <p:cNvPr id="21" name="Rectangle 21"/>
            <p:cNvSpPr/>
            <p:nvPr/>
          </p:nvSpPr>
          <p:spPr>
            <a:xfrm>
              <a:off x="1809750" y="2457450"/>
              <a:ext cx="666750" cy="1114425"/>
            </a:xfrm>
            <a:prstGeom prst="roundRect">
              <a:avLst>
                <a:gd name="adj" fmla="val 5714"/>
              </a:avLst>
            </a:prstGeom>
            <a:solidFill>
              <a:srgbClr val="C62828">
                <a:alpha val="80000"/>
              </a:srgbClr>
            </a:solidFill>
            <a:ln>
              <a:noFill/>
            </a:ln>
            <a:effectLst>
              <a:outerShdw blurRad="38100" dist="9525" dir="5400000" algn="ctr" rotWithShape="0">
                <a:srgbClr val="0F172A">
                  <a:alpha val="9000"/>
                </a:srgbClr>
              </a:outerShdw>
            </a:effectLst>
          </p:spPr>
        </p:sp>
        <p:sp>
          <p:nvSpPr>
            <p:cNvPr id="22" name="TextBox 22"/>
            <p:cNvSpPr txBox="1"/>
            <p:nvPr/>
          </p:nvSpPr>
          <p:spPr>
            <a:xfrm>
              <a:off x="1874853" y="2251710"/>
              <a:ext cx="536543" cy="243840"/>
            </a:xfrm>
            <a:prstGeom prst="rect">
              <a:avLst/>
            </a:prstGeom>
            <a:noFill/>
            <a:ln>
              <a:noFill/>
            </a:ln>
          </p:spPr>
          <p:txBody>
            <a:bodyPr wrap="none" lIns="0" tIns="0" rIns="0" bIns="0" anchor="t" anchorCtr="0">
              <a:spAutoFit/>
            </a:bodyPr>
            <a:lstStyle/>
            <a:p>
              <a:pPr algn="ctr"/>
              <a:r>
                <a:rPr lang="zh-CN" sz="1200" b="1" dirty="0">
                  <a:solidFill>
                    <a:srgbClr val="C62828"/>
                  </a:solidFill>
                  <a:latin typeface="Arial" panose="020B0604020202020204"/>
                  <a:ea typeface="微软雅黑" panose="020B0503020204020204" charset="-122"/>
                  <a:cs typeface="Arial" panose="020B0604020202020204"/>
                </a:rPr>
                <a:t>44.4%</a:t>
              </a:r>
              <a:endParaRPr lang="zh-CN" sz="1200" b="1" dirty="0">
                <a:solidFill>
                  <a:srgbClr val="C62828"/>
                </a:solidFill>
                <a:latin typeface="Arial" panose="020B0604020202020204"/>
                <a:ea typeface="微软雅黑" panose="020B0503020204020204" charset="-122"/>
                <a:cs typeface="Arial" panose="020B0604020202020204"/>
              </a:endParaRPr>
            </a:p>
          </p:txBody>
        </p:sp>
        <p:sp>
          <p:nvSpPr>
            <p:cNvPr id="23" name="TextBox 23"/>
            <p:cNvSpPr txBox="1"/>
            <p:nvPr/>
          </p:nvSpPr>
          <p:spPr>
            <a:xfrm>
              <a:off x="1667947" y="3638074"/>
              <a:ext cx="950357" cy="198120"/>
            </a:xfrm>
            <a:prstGeom prst="rect">
              <a:avLst/>
            </a:prstGeom>
            <a:noFill/>
            <a:ln>
              <a:noFill/>
            </a:ln>
          </p:spPr>
          <p:txBody>
            <a:bodyPr wrap="none" lIns="0" tIns="0" rIns="0" bIns="0" anchor="t" anchorCtr="0">
              <a:spAutoFit/>
            </a:bodyPr>
            <a:lstStyle/>
            <a:p>
              <a:pPr algn="ctr"/>
              <a:r>
                <a:rPr lang="zh-CN" sz="975" dirty="0">
                  <a:solidFill>
                    <a:srgbClr val="1A1A2E"/>
                  </a:solidFill>
                  <a:latin typeface="Arial" panose="020B0604020202020204"/>
                  <a:ea typeface="微软雅黑" panose="020B0503020204020204" charset="-122"/>
                  <a:cs typeface="Arial" panose="020B0604020202020204"/>
                </a:rPr>
                <a:t>国内游客 2020</a:t>
              </a:r>
              <a:endParaRPr lang="zh-CN" sz="975" dirty="0">
                <a:solidFill>
                  <a:srgbClr val="1A1A2E"/>
                </a:solidFill>
                <a:latin typeface="Arial" panose="020B0604020202020204"/>
                <a:ea typeface="微软雅黑" panose="020B0503020204020204" charset="-122"/>
                <a:cs typeface="Arial" panose="020B0604020202020204"/>
              </a:endParaRPr>
            </a:p>
          </p:txBody>
        </p:sp>
        <p:sp>
          <p:nvSpPr>
            <p:cNvPr id="24" name="Rectangle 24"/>
            <p:cNvSpPr/>
            <p:nvPr/>
          </p:nvSpPr>
          <p:spPr>
            <a:xfrm>
              <a:off x="2762250" y="2066925"/>
              <a:ext cx="666750" cy="1504950"/>
            </a:xfrm>
            <a:prstGeom prst="roundRect">
              <a:avLst>
                <a:gd name="adj" fmla="val 5714"/>
              </a:avLst>
            </a:prstGeom>
            <a:solidFill>
              <a:srgbClr val="C8963E">
                <a:alpha val="70000"/>
              </a:srgbClr>
            </a:solidFill>
            <a:ln>
              <a:noFill/>
            </a:ln>
            <a:effectLst>
              <a:outerShdw blurRad="38100" dist="9525" dir="5400000" algn="ctr" rotWithShape="0">
                <a:srgbClr val="0F172A">
                  <a:alpha val="9000"/>
                </a:srgbClr>
              </a:outerShdw>
            </a:effectLst>
          </p:spPr>
        </p:sp>
        <p:sp>
          <p:nvSpPr>
            <p:cNvPr id="25" name="TextBox 25"/>
            <p:cNvSpPr txBox="1"/>
            <p:nvPr/>
          </p:nvSpPr>
          <p:spPr>
            <a:xfrm>
              <a:off x="2850356" y="1851660"/>
              <a:ext cx="490538" cy="243840"/>
            </a:xfrm>
            <a:prstGeom prst="rect">
              <a:avLst/>
            </a:prstGeom>
            <a:noFill/>
            <a:ln>
              <a:noFill/>
            </a:ln>
          </p:spPr>
          <p:txBody>
            <a:bodyPr wrap="none" lIns="0" tIns="0" rIns="0" bIns="0" anchor="t" anchorCtr="0">
              <a:spAutoFit/>
            </a:bodyPr>
            <a:lstStyle/>
            <a:p>
              <a:pPr algn="ctr"/>
              <a:r>
                <a:rPr lang="zh-CN" sz="1200" b="1" dirty="0">
                  <a:solidFill>
                    <a:srgbClr val="C8963E"/>
                  </a:solidFill>
                  <a:latin typeface="Arial" panose="020B0604020202020204"/>
                  <a:ea typeface="微软雅黑" panose="020B0503020204020204" charset="-122"/>
                  <a:cs typeface="Arial" panose="020B0604020202020204"/>
                </a:rPr>
                <a:t>61.5%</a:t>
              </a:r>
              <a:endParaRPr lang="zh-CN" sz="1200" b="1" dirty="0">
                <a:solidFill>
                  <a:srgbClr val="C8963E"/>
                </a:solidFill>
                <a:latin typeface="Arial" panose="020B0604020202020204"/>
                <a:ea typeface="微软雅黑" panose="020B0503020204020204" charset="-122"/>
                <a:cs typeface="Arial" panose="020B0604020202020204"/>
              </a:endParaRPr>
            </a:p>
          </p:txBody>
        </p:sp>
        <p:sp>
          <p:nvSpPr>
            <p:cNvPr id="26" name="TextBox 26"/>
            <p:cNvSpPr txBox="1"/>
            <p:nvPr/>
          </p:nvSpPr>
          <p:spPr>
            <a:xfrm>
              <a:off x="2620447" y="3638074"/>
              <a:ext cx="950357" cy="198120"/>
            </a:xfrm>
            <a:prstGeom prst="rect">
              <a:avLst/>
            </a:prstGeom>
            <a:noFill/>
            <a:ln>
              <a:noFill/>
            </a:ln>
          </p:spPr>
          <p:txBody>
            <a:bodyPr wrap="none" lIns="0" tIns="0" rIns="0" bIns="0" anchor="t" anchorCtr="0">
              <a:spAutoFit/>
            </a:bodyPr>
            <a:lstStyle/>
            <a:p>
              <a:pPr algn="ctr"/>
              <a:r>
                <a:rPr lang="zh-CN" sz="975" dirty="0">
                  <a:solidFill>
                    <a:srgbClr val="1A1A2E"/>
                  </a:solidFill>
                  <a:latin typeface="Arial" panose="020B0604020202020204"/>
                  <a:ea typeface="微软雅黑" panose="020B0503020204020204" charset="-122"/>
                  <a:cs typeface="Arial" panose="020B0604020202020204"/>
                </a:rPr>
                <a:t>国内游客 2023</a:t>
              </a:r>
              <a:endParaRPr lang="zh-CN" sz="975" dirty="0">
                <a:solidFill>
                  <a:srgbClr val="1A1A2E"/>
                </a:solidFill>
                <a:latin typeface="Arial" panose="020B0604020202020204"/>
                <a:ea typeface="微软雅黑" panose="020B0503020204020204" charset="-122"/>
                <a:cs typeface="Arial" panose="020B0604020202020204"/>
              </a:endParaRPr>
            </a:p>
          </p:txBody>
        </p:sp>
        <p:sp>
          <p:nvSpPr>
            <p:cNvPr id="27" name="Rectangle 27"/>
            <p:cNvSpPr/>
            <p:nvPr/>
          </p:nvSpPr>
          <p:spPr>
            <a:xfrm>
              <a:off x="4000500" y="2686050"/>
              <a:ext cx="666750" cy="885825"/>
            </a:xfrm>
            <a:prstGeom prst="roundRect">
              <a:avLst>
                <a:gd name="adj" fmla="val 5714"/>
              </a:avLst>
            </a:prstGeom>
            <a:solidFill>
              <a:srgbClr val="C62828">
                <a:alpha val="80000"/>
              </a:srgbClr>
            </a:solidFill>
            <a:ln>
              <a:noFill/>
            </a:ln>
            <a:effectLst>
              <a:outerShdw blurRad="38100" dist="9525" dir="5400000" algn="ctr" rotWithShape="0">
                <a:srgbClr val="0F172A">
                  <a:alpha val="9000"/>
                </a:srgbClr>
              </a:outerShdw>
            </a:effectLst>
          </p:spPr>
        </p:sp>
        <p:sp>
          <p:nvSpPr>
            <p:cNvPr id="28" name="TextBox 28"/>
            <p:cNvSpPr txBox="1"/>
            <p:nvPr/>
          </p:nvSpPr>
          <p:spPr>
            <a:xfrm>
              <a:off x="4065603" y="2480310"/>
              <a:ext cx="536543" cy="243840"/>
            </a:xfrm>
            <a:prstGeom prst="rect">
              <a:avLst/>
            </a:prstGeom>
            <a:noFill/>
            <a:ln>
              <a:noFill/>
            </a:ln>
          </p:spPr>
          <p:txBody>
            <a:bodyPr wrap="none" lIns="0" tIns="0" rIns="0" bIns="0" anchor="t" anchorCtr="0">
              <a:spAutoFit/>
            </a:bodyPr>
            <a:lstStyle/>
            <a:p>
              <a:pPr algn="ctr"/>
              <a:r>
                <a:rPr lang="zh-CN" sz="1200" b="1" dirty="0">
                  <a:solidFill>
                    <a:srgbClr val="C62828"/>
                  </a:solidFill>
                  <a:latin typeface="Arial" panose="020B0604020202020204"/>
                  <a:ea typeface="微软雅黑" panose="020B0503020204020204" charset="-122"/>
                  <a:cs typeface="Arial" panose="020B0604020202020204"/>
                </a:rPr>
                <a:t>35.8%</a:t>
              </a:r>
              <a:endParaRPr lang="zh-CN" sz="1200" b="1" dirty="0">
                <a:solidFill>
                  <a:srgbClr val="C62828"/>
                </a:solidFill>
                <a:latin typeface="Arial" panose="020B0604020202020204"/>
                <a:ea typeface="微软雅黑" panose="020B0503020204020204" charset="-122"/>
                <a:cs typeface="Arial" panose="020B0604020202020204"/>
              </a:endParaRPr>
            </a:p>
          </p:txBody>
        </p:sp>
        <p:sp>
          <p:nvSpPr>
            <p:cNvPr id="29" name="TextBox 29"/>
            <p:cNvSpPr txBox="1"/>
            <p:nvPr/>
          </p:nvSpPr>
          <p:spPr>
            <a:xfrm>
              <a:off x="3858697" y="3638074"/>
              <a:ext cx="950357" cy="198120"/>
            </a:xfrm>
            <a:prstGeom prst="rect">
              <a:avLst/>
            </a:prstGeom>
            <a:noFill/>
            <a:ln>
              <a:noFill/>
            </a:ln>
          </p:spPr>
          <p:txBody>
            <a:bodyPr wrap="none" lIns="0" tIns="0" rIns="0" bIns="0" anchor="t" anchorCtr="0">
              <a:spAutoFit/>
            </a:bodyPr>
            <a:lstStyle/>
            <a:p>
              <a:pPr algn="ctr"/>
              <a:r>
                <a:rPr lang="zh-CN" sz="975" dirty="0">
                  <a:solidFill>
                    <a:srgbClr val="1A1A2E"/>
                  </a:solidFill>
                  <a:latin typeface="Arial" panose="020B0604020202020204"/>
                  <a:ea typeface="微软雅黑" panose="020B0503020204020204" charset="-122"/>
                  <a:cs typeface="Arial" panose="020B0604020202020204"/>
                </a:rPr>
                <a:t>旅游消费 2020</a:t>
              </a:r>
              <a:endParaRPr lang="zh-CN" sz="975" dirty="0">
                <a:solidFill>
                  <a:srgbClr val="1A1A2E"/>
                </a:solidFill>
                <a:latin typeface="Arial" panose="020B0604020202020204"/>
                <a:ea typeface="微软雅黑" panose="020B0503020204020204" charset="-122"/>
                <a:cs typeface="Arial" panose="020B0604020202020204"/>
              </a:endParaRPr>
            </a:p>
          </p:txBody>
        </p:sp>
        <p:sp>
          <p:nvSpPr>
            <p:cNvPr id="30" name="Rectangle 30"/>
            <p:cNvSpPr/>
            <p:nvPr/>
          </p:nvSpPr>
          <p:spPr>
            <a:xfrm>
              <a:off x="4953000" y="2028825"/>
              <a:ext cx="666750" cy="1543050"/>
            </a:xfrm>
            <a:prstGeom prst="roundRect">
              <a:avLst>
                <a:gd name="adj" fmla="val 5714"/>
              </a:avLst>
            </a:prstGeom>
            <a:solidFill>
              <a:srgbClr val="C8963E">
                <a:alpha val="70000"/>
              </a:srgbClr>
            </a:solidFill>
            <a:ln>
              <a:noFill/>
            </a:ln>
            <a:effectLst>
              <a:outerShdw blurRad="38100" dist="9525" dir="5400000" algn="ctr" rotWithShape="0">
                <a:srgbClr val="0F172A">
                  <a:alpha val="9000"/>
                </a:srgbClr>
              </a:outerShdw>
            </a:effectLst>
          </p:spPr>
        </p:sp>
        <p:sp>
          <p:nvSpPr>
            <p:cNvPr id="31" name="TextBox 31"/>
            <p:cNvSpPr txBox="1"/>
            <p:nvPr/>
          </p:nvSpPr>
          <p:spPr>
            <a:xfrm>
              <a:off x="5018103" y="1813560"/>
              <a:ext cx="536543" cy="243840"/>
            </a:xfrm>
            <a:prstGeom prst="rect">
              <a:avLst/>
            </a:prstGeom>
            <a:noFill/>
            <a:ln>
              <a:noFill/>
            </a:ln>
          </p:spPr>
          <p:txBody>
            <a:bodyPr wrap="none" lIns="0" tIns="0" rIns="0" bIns="0" anchor="t" anchorCtr="0">
              <a:spAutoFit/>
            </a:bodyPr>
            <a:lstStyle/>
            <a:p>
              <a:pPr algn="ctr"/>
              <a:r>
                <a:rPr lang="zh-CN" sz="1200" b="1" dirty="0">
                  <a:solidFill>
                    <a:srgbClr val="C8963E"/>
                  </a:solidFill>
                  <a:latin typeface="Arial" panose="020B0604020202020204"/>
                  <a:ea typeface="微软雅黑" panose="020B0503020204020204" charset="-122"/>
                  <a:cs typeface="Arial" panose="020B0604020202020204"/>
                </a:rPr>
                <a:t>62.4%</a:t>
              </a:r>
              <a:endParaRPr lang="zh-CN" sz="1200" b="1" dirty="0">
                <a:solidFill>
                  <a:srgbClr val="C8963E"/>
                </a:solidFill>
                <a:latin typeface="Arial" panose="020B0604020202020204"/>
                <a:ea typeface="微软雅黑" panose="020B0503020204020204" charset="-122"/>
                <a:cs typeface="Arial" panose="020B0604020202020204"/>
              </a:endParaRPr>
            </a:p>
          </p:txBody>
        </p:sp>
        <p:sp>
          <p:nvSpPr>
            <p:cNvPr id="32" name="TextBox 32"/>
            <p:cNvSpPr txBox="1"/>
            <p:nvPr/>
          </p:nvSpPr>
          <p:spPr>
            <a:xfrm>
              <a:off x="4811197" y="3638074"/>
              <a:ext cx="950357" cy="198120"/>
            </a:xfrm>
            <a:prstGeom prst="rect">
              <a:avLst/>
            </a:prstGeom>
            <a:noFill/>
            <a:ln>
              <a:noFill/>
            </a:ln>
          </p:spPr>
          <p:txBody>
            <a:bodyPr wrap="none" lIns="0" tIns="0" rIns="0" bIns="0" anchor="t" anchorCtr="0">
              <a:spAutoFit/>
            </a:bodyPr>
            <a:lstStyle/>
            <a:p>
              <a:pPr algn="ctr"/>
              <a:r>
                <a:rPr lang="zh-CN" sz="975" dirty="0">
                  <a:solidFill>
                    <a:srgbClr val="1A1A2E"/>
                  </a:solidFill>
                  <a:latin typeface="Arial" panose="020B0604020202020204"/>
                  <a:ea typeface="微软雅黑" panose="020B0503020204020204" charset="-122"/>
                  <a:cs typeface="Arial" panose="020B0604020202020204"/>
                </a:rPr>
                <a:t>旅游消费 2023</a:t>
              </a:r>
              <a:endParaRPr lang="zh-CN" sz="975" dirty="0">
                <a:solidFill>
                  <a:srgbClr val="1A1A2E"/>
                </a:solidFill>
                <a:latin typeface="Arial" panose="020B0604020202020204"/>
                <a:ea typeface="微软雅黑" panose="020B0503020204020204" charset="-122"/>
                <a:cs typeface="Arial" panose="020B0604020202020204"/>
              </a:endParaRPr>
            </a:p>
          </p:txBody>
        </p:sp>
        <p:sp>
          <p:nvSpPr>
            <p:cNvPr id="33" name="TextBox 33"/>
            <p:cNvSpPr txBox="1"/>
            <p:nvPr/>
          </p:nvSpPr>
          <p:spPr>
            <a:xfrm>
              <a:off x="1503081" y="2435066"/>
              <a:ext cx="1280089" cy="167640"/>
            </a:xfrm>
            <a:prstGeom prst="rect">
              <a:avLst/>
            </a:prstGeom>
            <a:noFill/>
            <a:ln>
              <a:noFill/>
            </a:ln>
          </p:spPr>
          <p:txBody>
            <a:bodyPr wrap="none" lIns="0" tIns="0" rIns="0" bIns="0" anchor="t" anchorCtr="0">
              <a:spAutoFit/>
            </a:bodyPr>
            <a:lstStyle/>
            <a:p>
              <a:pPr algn="ctr"/>
              <a:r>
                <a:rPr lang="zh-CN" sz="825" dirty="0">
                  <a:solidFill>
                    <a:srgbClr val="C62828"/>
                  </a:solidFill>
                  <a:latin typeface="Arial" panose="020B0604020202020204"/>
                  <a:ea typeface="微软雅黑" panose="020B0503020204020204" charset="-122"/>
                  <a:cs typeface="Arial" panose="020B0604020202020204"/>
                </a:rPr>
                <a:t>缺口 -3602.5 百万人次</a:t>
              </a:r>
              <a:endParaRPr lang="zh-CN" sz="825" dirty="0">
                <a:solidFill>
                  <a:srgbClr val="C62828"/>
                </a:solidFill>
                <a:latin typeface="Arial" panose="020B0604020202020204"/>
                <a:ea typeface="微软雅黑" panose="020B0503020204020204" charset="-122"/>
                <a:cs typeface="Arial" panose="020B0604020202020204"/>
              </a:endParaRPr>
            </a:p>
          </p:txBody>
        </p:sp>
        <p:sp>
          <p:nvSpPr>
            <p:cNvPr id="34" name="TextBox 34"/>
            <p:cNvSpPr txBox="1"/>
            <p:nvPr/>
          </p:nvSpPr>
          <p:spPr>
            <a:xfrm>
              <a:off x="3781187" y="2663666"/>
              <a:ext cx="1105376" cy="167640"/>
            </a:xfrm>
            <a:prstGeom prst="rect">
              <a:avLst/>
            </a:prstGeom>
            <a:noFill/>
            <a:ln>
              <a:noFill/>
            </a:ln>
          </p:spPr>
          <p:txBody>
            <a:bodyPr wrap="none" lIns="0" tIns="0" rIns="0" bIns="0" anchor="t" anchorCtr="0">
              <a:spAutoFit/>
            </a:bodyPr>
            <a:lstStyle/>
            <a:p>
              <a:pPr algn="ctr"/>
              <a:r>
                <a:rPr lang="zh-CN" sz="825" dirty="0">
                  <a:solidFill>
                    <a:srgbClr val="C62828"/>
                  </a:solidFill>
                  <a:latin typeface="Arial" panose="020B0604020202020204"/>
                  <a:ea typeface="微软雅黑" panose="020B0503020204020204" charset="-122"/>
                  <a:cs typeface="Arial" panose="020B0604020202020204"/>
                </a:rPr>
                <a:t>缺口 -39949.8 亿元</a:t>
              </a:r>
              <a:endParaRPr lang="zh-CN" sz="825" dirty="0">
                <a:solidFill>
                  <a:srgbClr val="C62828"/>
                </a:solidFill>
                <a:latin typeface="Arial" panose="020B0604020202020204"/>
                <a:ea typeface="微软雅黑" panose="020B0503020204020204" charset="-122"/>
                <a:cs typeface="Arial" panose="020B0604020202020204"/>
              </a:endParaRPr>
            </a:p>
          </p:txBody>
        </p:sp>
        <p:sp>
          <p:nvSpPr>
            <p:cNvPr id="35" name="Rectangle 35"/>
            <p:cNvSpPr/>
            <p:nvPr/>
          </p:nvSpPr>
          <p:spPr>
            <a:xfrm>
              <a:off x="6000750" y="1666875"/>
              <a:ext cx="133350" cy="133350"/>
            </a:xfrm>
            <a:prstGeom prst="roundRect">
              <a:avLst>
                <a:gd name="adj" fmla="val 21429"/>
              </a:avLst>
            </a:prstGeom>
            <a:solidFill>
              <a:srgbClr val="C62828">
                <a:alpha val="80000"/>
              </a:srgbClr>
            </a:solidFill>
            <a:ln>
              <a:noFill/>
            </a:ln>
          </p:spPr>
        </p:sp>
        <p:sp>
          <p:nvSpPr>
            <p:cNvPr id="36" name="TextBox 36"/>
            <p:cNvSpPr txBox="1"/>
            <p:nvPr/>
          </p:nvSpPr>
          <p:spPr>
            <a:xfrm>
              <a:off x="6179820" y="1684020"/>
              <a:ext cx="482917"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panose="020B0604020202020204"/>
                  <a:ea typeface="微软雅黑" panose="020B0503020204020204" charset="-122"/>
                  <a:cs typeface="Arial" panose="020B0604020202020204"/>
                </a:rPr>
                <a:t>2020 年</a:t>
              </a:r>
              <a:endParaRPr lang="zh-CN" sz="900" dirty="0">
                <a:solidFill>
                  <a:srgbClr val="1A1A2E"/>
                </a:solidFill>
                <a:latin typeface="Arial" panose="020B0604020202020204"/>
                <a:ea typeface="微软雅黑" panose="020B0503020204020204" charset="-122"/>
                <a:cs typeface="Arial" panose="020B0604020202020204"/>
              </a:endParaRPr>
            </a:p>
          </p:txBody>
        </p:sp>
        <p:sp>
          <p:nvSpPr>
            <p:cNvPr id="37" name="Rectangle 37"/>
            <p:cNvSpPr/>
            <p:nvPr/>
          </p:nvSpPr>
          <p:spPr>
            <a:xfrm>
              <a:off x="6667500" y="1666875"/>
              <a:ext cx="133350" cy="133350"/>
            </a:xfrm>
            <a:prstGeom prst="roundRect">
              <a:avLst>
                <a:gd name="adj" fmla="val 21429"/>
              </a:avLst>
            </a:prstGeom>
            <a:solidFill>
              <a:srgbClr val="C8963E">
                <a:alpha val="70000"/>
              </a:srgbClr>
            </a:solidFill>
            <a:ln>
              <a:noFill/>
            </a:ln>
          </p:spPr>
        </p:sp>
        <p:sp>
          <p:nvSpPr>
            <p:cNvPr id="38" name="TextBox 38"/>
            <p:cNvSpPr txBox="1"/>
            <p:nvPr/>
          </p:nvSpPr>
          <p:spPr>
            <a:xfrm>
              <a:off x="6846570" y="1684020"/>
              <a:ext cx="482917" cy="182880"/>
            </a:xfrm>
            <a:prstGeom prst="rect">
              <a:avLst/>
            </a:prstGeom>
            <a:noFill/>
            <a:ln>
              <a:noFill/>
            </a:ln>
          </p:spPr>
          <p:txBody>
            <a:bodyPr wrap="none" lIns="0" tIns="0" rIns="0" bIns="0" anchor="t" anchorCtr="0">
              <a:spAutoFit/>
            </a:bodyPr>
            <a:lstStyle/>
            <a:p>
              <a:pPr algn="l"/>
              <a:r>
                <a:rPr lang="zh-CN" sz="900" dirty="0">
                  <a:solidFill>
                    <a:srgbClr val="1A1A2E"/>
                  </a:solidFill>
                  <a:latin typeface="Arial" panose="020B0604020202020204"/>
                  <a:ea typeface="微软雅黑" panose="020B0503020204020204" charset="-122"/>
                  <a:cs typeface="Arial" panose="020B0604020202020204"/>
                </a:rPr>
                <a:t>2023 年</a:t>
              </a:r>
              <a:endParaRPr lang="zh-CN" sz="900" dirty="0">
                <a:solidFill>
                  <a:srgbClr val="1A1A2E"/>
                </a:solidFill>
                <a:latin typeface="Arial" panose="020B0604020202020204"/>
                <a:ea typeface="微软雅黑" panose="020B0503020204020204" charset="-122"/>
                <a:cs typeface="Arial" panose="020B0604020202020204"/>
              </a:endParaRPr>
            </a:p>
          </p:txBody>
        </p:sp>
      </p:grpSp>
      <p:grpSp>
        <p:nvGrpSpPr>
          <p:cNvPr id="66" name="Group 66"/>
          <p:cNvGrpSpPr/>
          <p:nvPr/>
        </p:nvGrpSpPr>
        <p:grpSpPr>
          <a:xfrm>
            <a:off x="7810500" y="1095375"/>
            <a:ext cx="4147995" cy="1716881"/>
            <a:chOff x="7810500" y="1095375"/>
            <a:chExt cx="4147995" cy="1716881"/>
          </a:xfrm>
        </p:grpSpPr>
        <p:sp>
          <p:nvSpPr>
            <p:cNvPr id="40" name="Rectangle 40"/>
            <p:cNvSpPr/>
            <p:nvPr/>
          </p:nvSpPr>
          <p:spPr>
            <a:xfrm>
              <a:off x="7810500" y="1095375"/>
              <a:ext cx="4000500" cy="1714500"/>
            </a:xfrm>
            <a:prstGeom prst="roundRect">
              <a:avLst>
                <a:gd name="adj" fmla="val 4444"/>
              </a:avLst>
            </a:prstGeom>
            <a:solidFill>
              <a:srgbClr val="FFFFFF"/>
            </a:solidFill>
            <a:ln w="9525">
              <a:solidFill>
                <a:srgbClr val="D1D5DB"/>
              </a:solidFill>
            </a:ln>
            <a:effectLst>
              <a:outerShdw blurRad="38100" dist="9525" dir="5400000" algn="ctr" rotWithShape="0">
                <a:srgbClr val="0F172A">
                  <a:alpha val="9000"/>
                </a:srgbClr>
              </a:outerShdw>
            </a:effectLst>
          </p:spPr>
        </p:sp>
        <p:sp>
          <p:nvSpPr>
            <p:cNvPr id="41" name="Rectangle 41"/>
            <p:cNvSpPr/>
            <p:nvPr/>
          </p:nvSpPr>
          <p:spPr>
            <a:xfrm>
              <a:off x="7810500" y="1095375"/>
              <a:ext cx="4000500" cy="323850"/>
            </a:xfrm>
            <a:prstGeom prst="roundRect">
              <a:avLst>
                <a:gd name="adj" fmla="val 23529"/>
              </a:avLst>
            </a:prstGeom>
            <a:solidFill>
              <a:srgbClr val="2E6B8F"/>
            </a:solidFill>
            <a:ln>
              <a:noFill/>
            </a:ln>
          </p:spPr>
        </p:sp>
        <p:sp>
          <p:nvSpPr>
            <p:cNvPr id="42" name="Rectangle 42"/>
            <p:cNvSpPr/>
            <p:nvPr/>
          </p:nvSpPr>
          <p:spPr>
            <a:xfrm>
              <a:off x="7810500" y="1257300"/>
              <a:ext cx="4000500" cy="161925"/>
            </a:xfrm>
            <a:prstGeom prst="rect">
              <a:avLst/>
            </a:prstGeom>
            <a:solidFill>
              <a:srgbClr val="2E6B8F"/>
            </a:solidFill>
            <a:ln>
              <a:noFill/>
            </a:ln>
          </p:spPr>
        </p:sp>
        <p:sp>
          <p:nvSpPr>
            <p:cNvPr id="43" name="TextBox 43"/>
            <p:cNvSpPr txBox="1"/>
            <p:nvPr/>
          </p:nvSpPr>
          <p:spPr>
            <a:xfrm>
              <a:off x="8972187" y="1191578"/>
              <a:ext cx="1677126"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panose="020B0604020202020204"/>
                  <a:ea typeface="微软雅黑" panose="020B0503020204020204" charset="-122"/>
                  <a:cs typeface="Arial" panose="020B0604020202020204"/>
                </a:rPr>
                <a:t>2024-2026 年短期情景</a:t>
              </a:r>
              <a:endParaRPr lang="zh-CN" sz="1050" b="1" dirty="0">
                <a:solidFill>
                  <a:srgbClr val="FFFFFF"/>
                </a:solidFill>
                <a:latin typeface="Arial" panose="020B0604020202020204"/>
                <a:ea typeface="微软雅黑" panose="020B0503020204020204" charset="-122"/>
                <a:cs typeface="Arial" panose="020B0604020202020204"/>
              </a:endParaRPr>
            </a:p>
          </p:txBody>
        </p:sp>
        <p:sp>
          <p:nvSpPr>
            <p:cNvPr id="44" name="TextBox 44"/>
            <p:cNvSpPr txBox="1"/>
            <p:nvPr/>
          </p:nvSpPr>
          <p:spPr>
            <a:xfrm>
              <a:off x="7940992" y="1542574"/>
              <a:ext cx="323802" cy="198120"/>
            </a:xfrm>
            <a:prstGeom prst="rect">
              <a:avLst/>
            </a:prstGeom>
            <a:noFill/>
            <a:ln>
              <a:noFill/>
            </a:ln>
          </p:spPr>
          <p:txBody>
            <a:bodyPr wrap="none" lIns="0" tIns="0" rIns="0" bIns="0" anchor="t" anchorCtr="0">
              <a:spAutoFit/>
            </a:bodyPr>
            <a:lstStyle/>
            <a:p>
              <a:pPr algn="l"/>
              <a:r>
                <a:rPr lang="zh-CN" sz="975" b="1" dirty="0">
                  <a:solidFill>
                    <a:srgbClr val="1A3A5C"/>
                  </a:solidFill>
                  <a:latin typeface="Arial" panose="020B0604020202020204"/>
                  <a:ea typeface="微软雅黑" panose="020B0503020204020204" charset="-122"/>
                  <a:cs typeface="Arial" panose="020B0604020202020204"/>
                </a:rPr>
                <a:t>年份</a:t>
              </a:r>
              <a:endParaRPr lang="zh-CN" sz="975" b="1" dirty="0">
                <a:solidFill>
                  <a:srgbClr val="1A3A5C"/>
                </a:solidFill>
                <a:latin typeface="Arial" panose="020B0604020202020204"/>
                <a:ea typeface="微软雅黑" panose="020B0503020204020204" charset="-122"/>
                <a:cs typeface="Arial" panose="020B0604020202020204"/>
              </a:endParaRPr>
            </a:p>
          </p:txBody>
        </p:sp>
        <p:sp>
          <p:nvSpPr>
            <p:cNvPr id="45" name="TextBox 45"/>
            <p:cNvSpPr txBox="1"/>
            <p:nvPr/>
          </p:nvSpPr>
          <p:spPr>
            <a:xfrm>
              <a:off x="8702992" y="1542574"/>
              <a:ext cx="622840" cy="198120"/>
            </a:xfrm>
            <a:prstGeom prst="rect">
              <a:avLst/>
            </a:prstGeom>
            <a:noFill/>
            <a:ln>
              <a:noFill/>
            </a:ln>
          </p:spPr>
          <p:txBody>
            <a:bodyPr wrap="none" lIns="0" tIns="0" rIns="0" bIns="0" anchor="t" anchorCtr="0">
              <a:spAutoFit/>
            </a:bodyPr>
            <a:lstStyle/>
            <a:p>
              <a:pPr algn="l"/>
              <a:r>
                <a:rPr lang="zh-CN" sz="975" b="1" dirty="0">
                  <a:solidFill>
                    <a:srgbClr val="1A3A5C"/>
                  </a:solidFill>
                  <a:latin typeface="Arial" panose="020B0604020202020204"/>
                  <a:ea typeface="微软雅黑" panose="020B0503020204020204" charset="-122"/>
                  <a:cs typeface="Arial" panose="020B0604020202020204"/>
                </a:rPr>
                <a:t>博物馆数</a:t>
              </a:r>
              <a:endParaRPr lang="zh-CN" sz="975" b="1" dirty="0">
                <a:solidFill>
                  <a:srgbClr val="1A3A5C"/>
                </a:solidFill>
                <a:latin typeface="Arial" panose="020B0604020202020204"/>
                <a:ea typeface="微软雅黑" panose="020B0503020204020204" charset="-122"/>
                <a:cs typeface="Arial" panose="020B0604020202020204"/>
              </a:endParaRPr>
            </a:p>
          </p:txBody>
        </p:sp>
        <p:sp>
          <p:nvSpPr>
            <p:cNvPr id="46" name="TextBox 46"/>
            <p:cNvSpPr txBox="1"/>
            <p:nvPr/>
          </p:nvSpPr>
          <p:spPr>
            <a:xfrm>
              <a:off x="9750742" y="1542574"/>
              <a:ext cx="323802" cy="198120"/>
            </a:xfrm>
            <a:prstGeom prst="rect">
              <a:avLst/>
            </a:prstGeom>
            <a:noFill/>
            <a:ln>
              <a:noFill/>
            </a:ln>
          </p:spPr>
          <p:txBody>
            <a:bodyPr wrap="none" lIns="0" tIns="0" rIns="0" bIns="0" anchor="t" anchorCtr="0">
              <a:spAutoFit/>
            </a:bodyPr>
            <a:lstStyle/>
            <a:p>
              <a:pPr algn="l"/>
              <a:r>
                <a:rPr lang="zh-CN" sz="975" b="1" dirty="0">
                  <a:solidFill>
                    <a:srgbClr val="1A3A5C"/>
                  </a:solidFill>
                  <a:latin typeface="Arial" panose="020B0604020202020204"/>
                  <a:ea typeface="微软雅黑" panose="020B0503020204020204" charset="-122"/>
                  <a:cs typeface="Arial" panose="020B0604020202020204"/>
                </a:rPr>
                <a:t>游客</a:t>
              </a:r>
              <a:endParaRPr lang="zh-CN" sz="975" b="1" dirty="0">
                <a:solidFill>
                  <a:srgbClr val="1A3A5C"/>
                </a:solidFill>
                <a:latin typeface="Arial" panose="020B0604020202020204"/>
                <a:ea typeface="微软雅黑" panose="020B0503020204020204" charset="-122"/>
                <a:cs typeface="Arial" panose="020B0604020202020204"/>
              </a:endParaRPr>
            </a:p>
          </p:txBody>
        </p:sp>
        <p:sp>
          <p:nvSpPr>
            <p:cNvPr id="47" name="TextBox 47"/>
            <p:cNvSpPr txBox="1"/>
            <p:nvPr/>
          </p:nvSpPr>
          <p:spPr>
            <a:xfrm>
              <a:off x="11036618" y="1542574"/>
              <a:ext cx="921877" cy="198120"/>
            </a:xfrm>
            <a:prstGeom prst="rect">
              <a:avLst/>
            </a:prstGeom>
            <a:noFill/>
            <a:ln>
              <a:noFill/>
            </a:ln>
          </p:spPr>
          <p:txBody>
            <a:bodyPr wrap="none" lIns="0" tIns="0" rIns="0" bIns="0" anchor="t" anchorCtr="0">
              <a:spAutoFit/>
            </a:bodyPr>
            <a:lstStyle/>
            <a:p>
              <a:pPr algn="l"/>
              <a:r>
                <a:rPr lang="zh-CN" sz="975" b="1" dirty="0">
                  <a:solidFill>
                    <a:srgbClr val="1A3A5C"/>
                  </a:solidFill>
                  <a:latin typeface="Arial" panose="020B0604020202020204"/>
                  <a:ea typeface="微软雅黑" panose="020B0503020204020204" charset="-122"/>
                  <a:cs typeface="Arial" panose="020B0604020202020204"/>
                </a:rPr>
                <a:t>消费（亿元）</a:t>
              </a:r>
              <a:endParaRPr lang="zh-CN" sz="975" b="1" dirty="0">
                <a:solidFill>
                  <a:srgbClr val="1A3A5C"/>
                </a:solidFill>
                <a:latin typeface="Arial" panose="020B0604020202020204"/>
                <a:ea typeface="微软雅黑" panose="020B0503020204020204" charset="-122"/>
                <a:cs typeface="Arial" panose="020B0604020202020204"/>
              </a:endParaRPr>
            </a:p>
          </p:txBody>
        </p:sp>
        <p:sp>
          <p:nvSpPr>
            <p:cNvPr id="48" name="Line 48"/>
            <p:cNvSpPr/>
            <p:nvPr/>
          </p:nvSpPr>
          <p:spPr>
            <a:xfrm>
              <a:off x="7858125" y="1743075"/>
              <a:ext cx="3905250" cy="9525"/>
            </a:xfrm>
            <a:custGeom>
              <a:avLst/>
              <a:gdLst/>
              <a:ahLst/>
              <a:cxnLst/>
              <a:rect l="l" t="t" r="r" b="b"/>
              <a:pathLst>
                <a:path w="3905250" h="9525">
                  <a:moveTo>
                    <a:pt x="0" y="0"/>
                  </a:moveTo>
                  <a:lnTo>
                    <a:pt x="3905250" y="0"/>
                  </a:lnTo>
                </a:path>
              </a:pathLst>
            </a:custGeom>
            <a:noFill/>
            <a:ln w="4762">
              <a:solidFill>
                <a:srgbClr val="E2E8F0"/>
              </a:solidFill>
            </a:ln>
          </p:spPr>
        </p:sp>
        <p:sp>
          <p:nvSpPr>
            <p:cNvPr id="49" name="Rectangle 49"/>
            <p:cNvSpPr/>
            <p:nvPr/>
          </p:nvSpPr>
          <p:spPr>
            <a:xfrm>
              <a:off x="7810500" y="1743075"/>
              <a:ext cx="4000500" cy="285750"/>
            </a:xfrm>
            <a:prstGeom prst="rect">
              <a:avLst/>
            </a:prstGeom>
            <a:solidFill>
              <a:srgbClr val="F0F4F8">
                <a:alpha val="50000"/>
              </a:srgbClr>
            </a:solidFill>
            <a:ln>
              <a:noFill/>
            </a:ln>
          </p:spPr>
        </p:sp>
        <p:sp>
          <p:nvSpPr>
            <p:cNvPr id="50" name="TextBox 50"/>
            <p:cNvSpPr txBox="1"/>
            <p:nvPr/>
          </p:nvSpPr>
          <p:spPr>
            <a:xfrm>
              <a:off x="7940040" y="1820228"/>
              <a:ext cx="380914" cy="213360"/>
            </a:xfrm>
            <a:prstGeom prst="rect">
              <a:avLst/>
            </a:prstGeom>
            <a:noFill/>
            <a:ln>
              <a:noFill/>
            </a:ln>
          </p:spPr>
          <p:txBody>
            <a:bodyPr wrap="none" lIns="0" tIns="0" rIns="0" bIns="0" anchor="t" anchorCtr="0">
              <a:spAutoFit/>
            </a:bodyPr>
            <a:lstStyle/>
            <a:p>
              <a:pPr algn="l"/>
              <a:r>
                <a:rPr lang="zh-CN" sz="1050" b="1" dirty="0">
                  <a:solidFill>
                    <a:srgbClr val="2E6B8F"/>
                  </a:solidFill>
                  <a:latin typeface="Arial" panose="020B0604020202020204"/>
                  <a:ea typeface="微软雅黑" panose="020B0503020204020204" charset="-122"/>
                  <a:cs typeface="Arial" panose="020B0604020202020204"/>
                </a:rPr>
                <a:t>2024</a:t>
              </a:r>
              <a:endParaRPr lang="zh-CN" sz="1050" b="1" dirty="0">
                <a:solidFill>
                  <a:srgbClr val="2E6B8F"/>
                </a:solidFill>
                <a:latin typeface="Arial" panose="020B0604020202020204"/>
                <a:ea typeface="微软雅黑" panose="020B0503020204020204" charset="-122"/>
                <a:cs typeface="Arial" panose="020B0604020202020204"/>
              </a:endParaRPr>
            </a:p>
          </p:txBody>
        </p:sp>
        <p:sp>
          <p:nvSpPr>
            <p:cNvPr id="51" name="TextBox 51"/>
            <p:cNvSpPr txBox="1"/>
            <p:nvPr/>
          </p:nvSpPr>
          <p:spPr>
            <a:xfrm>
              <a:off x="8702040" y="1820228"/>
              <a:ext cx="532733" cy="213360"/>
            </a:xfrm>
            <a:prstGeom prst="rect">
              <a:avLst/>
            </a:prstGeom>
            <a:noFill/>
            <a:ln>
              <a:noFill/>
            </a:ln>
          </p:spPr>
          <p:txBody>
            <a:bodyPr wrap="none" lIns="0" tIns="0" rIns="0" bIns="0" anchor="t" anchorCtr="0">
              <a:spAutoFit/>
            </a:bodyPr>
            <a:lstStyle/>
            <a:p>
              <a:pPr algn="l"/>
              <a:r>
                <a:rPr lang="zh-CN" sz="1050" dirty="0">
                  <a:solidFill>
                    <a:srgbClr val="1A1A2E"/>
                  </a:solidFill>
                  <a:latin typeface="Arial" panose="020B0604020202020204"/>
                  <a:ea typeface="微软雅黑" panose="020B0503020204020204" charset="-122"/>
                  <a:cs typeface="Arial" panose="020B0604020202020204"/>
                </a:rPr>
                <a:t>7392.5</a:t>
              </a:r>
              <a:endParaRPr lang="zh-CN" sz="1050" dirty="0">
                <a:solidFill>
                  <a:srgbClr val="1A1A2E"/>
                </a:solidFill>
                <a:latin typeface="Arial" panose="020B0604020202020204"/>
                <a:ea typeface="微软雅黑" panose="020B0503020204020204" charset="-122"/>
                <a:cs typeface="Arial" panose="020B0604020202020204"/>
              </a:endParaRPr>
            </a:p>
          </p:txBody>
        </p:sp>
        <p:sp>
          <p:nvSpPr>
            <p:cNvPr id="52" name="TextBox 52"/>
            <p:cNvSpPr txBox="1"/>
            <p:nvPr/>
          </p:nvSpPr>
          <p:spPr>
            <a:xfrm>
              <a:off x="9749790" y="1820228"/>
              <a:ext cx="494395" cy="213360"/>
            </a:xfrm>
            <a:prstGeom prst="rect">
              <a:avLst/>
            </a:prstGeom>
            <a:noFill/>
            <a:ln>
              <a:noFill/>
            </a:ln>
          </p:spPr>
          <p:txBody>
            <a:bodyPr wrap="none" lIns="0" tIns="0" rIns="0" bIns="0" anchor="t" anchorCtr="0">
              <a:spAutoFit/>
            </a:bodyPr>
            <a:lstStyle/>
            <a:p>
              <a:pPr algn="l"/>
              <a:r>
                <a:rPr lang="zh-CN" sz="1050" dirty="0">
                  <a:solidFill>
                    <a:srgbClr val="1A1A2E"/>
                  </a:solidFill>
                  <a:latin typeface="Arial" panose="020B0604020202020204"/>
                  <a:ea typeface="微软雅黑" panose="020B0503020204020204" charset="-122"/>
                  <a:cs typeface="Arial" panose="020B0604020202020204"/>
                </a:rPr>
                <a:t>4716.5</a:t>
              </a:r>
              <a:endParaRPr lang="zh-CN" sz="1050" dirty="0">
                <a:solidFill>
                  <a:srgbClr val="1A1A2E"/>
                </a:solidFill>
                <a:latin typeface="Arial" panose="020B0604020202020204"/>
                <a:ea typeface="微软雅黑" panose="020B0503020204020204" charset="-122"/>
                <a:cs typeface="Arial" panose="020B0604020202020204"/>
              </a:endParaRPr>
            </a:p>
          </p:txBody>
        </p:sp>
        <p:sp>
          <p:nvSpPr>
            <p:cNvPr id="53" name="TextBox 53"/>
            <p:cNvSpPr txBox="1"/>
            <p:nvPr/>
          </p:nvSpPr>
          <p:spPr>
            <a:xfrm>
              <a:off x="11035665" y="1820228"/>
              <a:ext cx="540401" cy="213360"/>
            </a:xfrm>
            <a:prstGeom prst="rect">
              <a:avLst/>
            </a:prstGeom>
            <a:noFill/>
            <a:ln>
              <a:noFill/>
            </a:ln>
          </p:spPr>
          <p:txBody>
            <a:bodyPr wrap="none" lIns="0" tIns="0" rIns="0" bIns="0" anchor="t" anchorCtr="0">
              <a:spAutoFit/>
            </a:bodyPr>
            <a:lstStyle/>
            <a:p>
              <a:pPr algn="l"/>
              <a:r>
                <a:rPr lang="zh-CN" sz="1050" dirty="0">
                  <a:solidFill>
                    <a:srgbClr val="1A1A2E"/>
                  </a:solidFill>
                  <a:latin typeface="Arial" panose="020B0604020202020204"/>
                  <a:ea typeface="微软雅黑" panose="020B0503020204020204" charset="-122"/>
                  <a:cs typeface="Arial" panose="020B0604020202020204"/>
                </a:rPr>
                <a:t>48211.9</a:t>
              </a:r>
              <a:endParaRPr lang="zh-CN" sz="1050" dirty="0">
                <a:solidFill>
                  <a:srgbClr val="1A1A2E"/>
                </a:solidFill>
                <a:latin typeface="Arial" panose="020B0604020202020204"/>
                <a:ea typeface="微软雅黑" panose="020B0503020204020204" charset="-122"/>
                <a:cs typeface="Arial" panose="020B0604020202020204"/>
              </a:endParaRPr>
            </a:p>
          </p:txBody>
        </p:sp>
        <p:sp>
          <p:nvSpPr>
            <p:cNvPr id="54" name="Line 54"/>
            <p:cNvSpPr/>
            <p:nvPr/>
          </p:nvSpPr>
          <p:spPr>
            <a:xfrm>
              <a:off x="7858125" y="2028825"/>
              <a:ext cx="3905250" cy="9525"/>
            </a:xfrm>
            <a:custGeom>
              <a:avLst/>
              <a:gdLst/>
              <a:ahLst/>
              <a:cxnLst/>
              <a:rect l="l" t="t" r="r" b="b"/>
              <a:pathLst>
                <a:path w="3905250" h="9525">
                  <a:moveTo>
                    <a:pt x="0" y="0"/>
                  </a:moveTo>
                  <a:lnTo>
                    <a:pt x="3905250" y="0"/>
                  </a:lnTo>
                </a:path>
              </a:pathLst>
            </a:custGeom>
            <a:noFill/>
            <a:ln w="4762">
              <a:solidFill>
                <a:srgbClr val="E2E8F0"/>
              </a:solidFill>
            </a:ln>
          </p:spPr>
        </p:sp>
        <p:sp>
          <p:nvSpPr>
            <p:cNvPr id="55" name="TextBox 55"/>
            <p:cNvSpPr txBox="1"/>
            <p:nvPr/>
          </p:nvSpPr>
          <p:spPr>
            <a:xfrm>
              <a:off x="7940040" y="2105978"/>
              <a:ext cx="380914" cy="213360"/>
            </a:xfrm>
            <a:prstGeom prst="rect">
              <a:avLst/>
            </a:prstGeom>
            <a:noFill/>
            <a:ln>
              <a:noFill/>
            </a:ln>
          </p:spPr>
          <p:txBody>
            <a:bodyPr wrap="none" lIns="0" tIns="0" rIns="0" bIns="0" anchor="t" anchorCtr="0">
              <a:spAutoFit/>
            </a:bodyPr>
            <a:lstStyle/>
            <a:p>
              <a:pPr algn="l"/>
              <a:r>
                <a:rPr lang="zh-CN" sz="1050" b="1" dirty="0">
                  <a:solidFill>
                    <a:srgbClr val="2E6B8F"/>
                  </a:solidFill>
                  <a:latin typeface="Arial" panose="020B0604020202020204"/>
                  <a:ea typeface="微软雅黑" panose="020B0503020204020204" charset="-122"/>
                  <a:cs typeface="Arial" panose="020B0604020202020204"/>
                </a:rPr>
                <a:t>2025</a:t>
              </a:r>
              <a:endParaRPr lang="zh-CN" sz="1050" b="1" dirty="0">
                <a:solidFill>
                  <a:srgbClr val="2E6B8F"/>
                </a:solidFill>
                <a:latin typeface="Arial" panose="020B0604020202020204"/>
                <a:ea typeface="微软雅黑" panose="020B0503020204020204" charset="-122"/>
                <a:cs typeface="Arial" panose="020B0604020202020204"/>
              </a:endParaRPr>
            </a:p>
          </p:txBody>
        </p:sp>
        <p:sp>
          <p:nvSpPr>
            <p:cNvPr id="56" name="TextBox 56"/>
            <p:cNvSpPr txBox="1"/>
            <p:nvPr/>
          </p:nvSpPr>
          <p:spPr>
            <a:xfrm>
              <a:off x="8702040" y="2105978"/>
              <a:ext cx="532733" cy="213360"/>
            </a:xfrm>
            <a:prstGeom prst="rect">
              <a:avLst/>
            </a:prstGeom>
            <a:noFill/>
            <a:ln>
              <a:noFill/>
            </a:ln>
          </p:spPr>
          <p:txBody>
            <a:bodyPr wrap="none" lIns="0" tIns="0" rIns="0" bIns="0" anchor="t" anchorCtr="0">
              <a:spAutoFit/>
            </a:bodyPr>
            <a:lstStyle/>
            <a:p>
              <a:pPr algn="l"/>
              <a:r>
                <a:rPr lang="zh-CN" sz="1050" dirty="0">
                  <a:solidFill>
                    <a:srgbClr val="1A1A2E"/>
                  </a:solidFill>
                  <a:latin typeface="Arial" panose="020B0604020202020204"/>
                  <a:ea typeface="微软雅黑" panose="020B0503020204020204" charset="-122"/>
                  <a:cs typeface="Arial" panose="020B0604020202020204"/>
                </a:rPr>
                <a:t>7887.9</a:t>
              </a:r>
              <a:endParaRPr lang="zh-CN" sz="1050" dirty="0">
                <a:solidFill>
                  <a:srgbClr val="1A1A2E"/>
                </a:solidFill>
                <a:latin typeface="Arial" panose="020B0604020202020204"/>
                <a:ea typeface="微软雅黑" panose="020B0503020204020204" charset="-122"/>
                <a:cs typeface="Arial" panose="020B0604020202020204"/>
              </a:endParaRPr>
            </a:p>
          </p:txBody>
        </p:sp>
        <p:sp>
          <p:nvSpPr>
            <p:cNvPr id="57" name="TextBox 57"/>
            <p:cNvSpPr txBox="1"/>
            <p:nvPr/>
          </p:nvSpPr>
          <p:spPr>
            <a:xfrm>
              <a:off x="9749790" y="2105978"/>
              <a:ext cx="532733" cy="213360"/>
            </a:xfrm>
            <a:prstGeom prst="rect">
              <a:avLst/>
            </a:prstGeom>
            <a:noFill/>
            <a:ln>
              <a:noFill/>
            </a:ln>
          </p:spPr>
          <p:txBody>
            <a:bodyPr wrap="none" lIns="0" tIns="0" rIns="0" bIns="0" anchor="t" anchorCtr="0">
              <a:spAutoFit/>
            </a:bodyPr>
            <a:lstStyle/>
            <a:p>
              <a:pPr algn="l"/>
              <a:r>
                <a:rPr lang="zh-CN" sz="1050" dirty="0">
                  <a:solidFill>
                    <a:srgbClr val="1A1A2E"/>
                  </a:solidFill>
                  <a:latin typeface="Arial" panose="020B0604020202020204"/>
                  <a:ea typeface="微软雅黑" panose="020B0503020204020204" charset="-122"/>
                  <a:cs typeface="Arial" panose="020B0604020202020204"/>
                </a:rPr>
                <a:t>5248.5</a:t>
              </a:r>
              <a:endParaRPr lang="zh-CN" sz="1050" dirty="0">
                <a:solidFill>
                  <a:srgbClr val="1A1A2E"/>
                </a:solidFill>
                <a:latin typeface="Arial" panose="020B0604020202020204"/>
                <a:ea typeface="微软雅黑" panose="020B0503020204020204" charset="-122"/>
                <a:cs typeface="Arial" panose="020B0604020202020204"/>
              </a:endParaRPr>
            </a:p>
          </p:txBody>
        </p:sp>
        <p:sp>
          <p:nvSpPr>
            <p:cNvPr id="58" name="TextBox 58"/>
            <p:cNvSpPr txBox="1"/>
            <p:nvPr/>
          </p:nvSpPr>
          <p:spPr>
            <a:xfrm>
              <a:off x="11035665" y="2105978"/>
              <a:ext cx="578739" cy="213360"/>
            </a:xfrm>
            <a:prstGeom prst="rect">
              <a:avLst/>
            </a:prstGeom>
            <a:noFill/>
            <a:ln>
              <a:noFill/>
            </a:ln>
          </p:spPr>
          <p:txBody>
            <a:bodyPr wrap="none" lIns="0" tIns="0" rIns="0" bIns="0" anchor="t" anchorCtr="0">
              <a:spAutoFit/>
            </a:bodyPr>
            <a:lstStyle/>
            <a:p>
              <a:pPr algn="l"/>
              <a:r>
                <a:rPr lang="zh-CN" sz="1050" dirty="0">
                  <a:solidFill>
                    <a:srgbClr val="1A1A2E"/>
                  </a:solidFill>
                  <a:latin typeface="Arial" panose="020B0604020202020204"/>
                  <a:ea typeface="微软雅黑" panose="020B0503020204020204" charset="-122"/>
                  <a:cs typeface="Arial" panose="020B0604020202020204"/>
                </a:rPr>
                <a:t>55391.3</a:t>
              </a:r>
              <a:endParaRPr lang="zh-CN" sz="1050" dirty="0">
                <a:solidFill>
                  <a:srgbClr val="1A1A2E"/>
                </a:solidFill>
                <a:latin typeface="Arial" panose="020B0604020202020204"/>
                <a:ea typeface="微软雅黑" panose="020B0503020204020204" charset="-122"/>
                <a:cs typeface="Arial" panose="020B0604020202020204"/>
              </a:endParaRPr>
            </a:p>
          </p:txBody>
        </p:sp>
        <p:sp>
          <p:nvSpPr>
            <p:cNvPr id="59" name="Line 59"/>
            <p:cNvSpPr/>
            <p:nvPr/>
          </p:nvSpPr>
          <p:spPr>
            <a:xfrm>
              <a:off x="7858125" y="2314575"/>
              <a:ext cx="3905250" cy="9525"/>
            </a:xfrm>
            <a:custGeom>
              <a:avLst/>
              <a:gdLst/>
              <a:ahLst/>
              <a:cxnLst/>
              <a:rect l="l" t="t" r="r" b="b"/>
              <a:pathLst>
                <a:path w="3905250" h="9525">
                  <a:moveTo>
                    <a:pt x="0" y="0"/>
                  </a:moveTo>
                  <a:lnTo>
                    <a:pt x="3905250" y="0"/>
                  </a:lnTo>
                </a:path>
              </a:pathLst>
            </a:custGeom>
            <a:noFill/>
            <a:ln w="4762">
              <a:solidFill>
                <a:srgbClr val="E2E8F0"/>
              </a:solidFill>
            </a:ln>
          </p:spPr>
        </p:sp>
        <p:sp>
          <p:nvSpPr>
            <p:cNvPr id="60" name="Rectangle 60"/>
            <p:cNvSpPr/>
            <p:nvPr/>
          </p:nvSpPr>
          <p:spPr>
            <a:xfrm>
              <a:off x="7810500" y="2314575"/>
              <a:ext cx="4000500" cy="285750"/>
            </a:xfrm>
            <a:prstGeom prst="rect">
              <a:avLst/>
            </a:prstGeom>
            <a:solidFill>
              <a:srgbClr val="F0F4F8">
                <a:alpha val="50000"/>
              </a:srgbClr>
            </a:solidFill>
            <a:ln>
              <a:noFill/>
            </a:ln>
          </p:spPr>
        </p:sp>
        <p:sp>
          <p:nvSpPr>
            <p:cNvPr id="61" name="TextBox 61"/>
            <p:cNvSpPr txBox="1"/>
            <p:nvPr/>
          </p:nvSpPr>
          <p:spPr>
            <a:xfrm>
              <a:off x="7940040" y="2391728"/>
              <a:ext cx="380914" cy="213360"/>
            </a:xfrm>
            <a:prstGeom prst="rect">
              <a:avLst/>
            </a:prstGeom>
            <a:noFill/>
            <a:ln>
              <a:noFill/>
            </a:ln>
          </p:spPr>
          <p:txBody>
            <a:bodyPr wrap="none" lIns="0" tIns="0" rIns="0" bIns="0" anchor="t" anchorCtr="0">
              <a:spAutoFit/>
            </a:bodyPr>
            <a:lstStyle/>
            <a:p>
              <a:pPr algn="l"/>
              <a:r>
                <a:rPr lang="zh-CN" sz="1050" b="1" dirty="0">
                  <a:solidFill>
                    <a:srgbClr val="2E6B8F"/>
                  </a:solidFill>
                  <a:latin typeface="Arial" panose="020B0604020202020204"/>
                  <a:ea typeface="微软雅黑" panose="020B0503020204020204" charset="-122"/>
                  <a:cs typeface="Arial" panose="020B0604020202020204"/>
                </a:rPr>
                <a:t>2026</a:t>
              </a:r>
              <a:endParaRPr lang="zh-CN" sz="1050" b="1" dirty="0">
                <a:solidFill>
                  <a:srgbClr val="2E6B8F"/>
                </a:solidFill>
                <a:latin typeface="Arial" panose="020B0604020202020204"/>
                <a:ea typeface="微软雅黑" panose="020B0503020204020204" charset="-122"/>
                <a:cs typeface="Arial" panose="020B0604020202020204"/>
              </a:endParaRPr>
            </a:p>
          </p:txBody>
        </p:sp>
        <p:sp>
          <p:nvSpPr>
            <p:cNvPr id="62" name="TextBox 62"/>
            <p:cNvSpPr txBox="1"/>
            <p:nvPr/>
          </p:nvSpPr>
          <p:spPr>
            <a:xfrm>
              <a:off x="8702040" y="2391728"/>
              <a:ext cx="532733" cy="213360"/>
            </a:xfrm>
            <a:prstGeom prst="rect">
              <a:avLst/>
            </a:prstGeom>
            <a:noFill/>
            <a:ln>
              <a:noFill/>
            </a:ln>
          </p:spPr>
          <p:txBody>
            <a:bodyPr wrap="none" lIns="0" tIns="0" rIns="0" bIns="0" anchor="t" anchorCtr="0">
              <a:spAutoFit/>
            </a:bodyPr>
            <a:lstStyle/>
            <a:p>
              <a:pPr algn="l"/>
              <a:r>
                <a:rPr lang="zh-CN" sz="1050" dirty="0">
                  <a:solidFill>
                    <a:srgbClr val="1A1A2E"/>
                  </a:solidFill>
                  <a:latin typeface="Arial" panose="020B0604020202020204"/>
                  <a:ea typeface="微软雅黑" panose="020B0503020204020204" charset="-122"/>
                  <a:cs typeface="Arial" panose="020B0604020202020204"/>
                </a:rPr>
                <a:t>8383.3</a:t>
              </a:r>
              <a:endParaRPr lang="zh-CN" sz="1050" dirty="0">
                <a:solidFill>
                  <a:srgbClr val="1A1A2E"/>
                </a:solidFill>
                <a:latin typeface="Arial" panose="020B0604020202020204"/>
                <a:ea typeface="微软雅黑" panose="020B0503020204020204" charset="-122"/>
                <a:cs typeface="Arial" panose="020B0604020202020204"/>
              </a:endParaRPr>
            </a:p>
          </p:txBody>
        </p:sp>
        <p:sp>
          <p:nvSpPr>
            <p:cNvPr id="63" name="TextBox 63"/>
            <p:cNvSpPr txBox="1"/>
            <p:nvPr/>
          </p:nvSpPr>
          <p:spPr>
            <a:xfrm>
              <a:off x="9749790" y="2391728"/>
              <a:ext cx="532733" cy="213360"/>
            </a:xfrm>
            <a:prstGeom prst="rect">
              <a:avLst/>
            </a:prstGeom>
            <a:noFill/>
            <a:ln>
              <a:noFill/>
            </a:ln>
          </p:spPr>
          <p:txBody>
            <a:bodyPr wrap="none" lIns="0" tIns="0" rIns="0" bIns="0" anchor="t" anchorCtr="0">
              <a:spAutoFit/>
            </a:bodyPr>
            <a:lstStyle/>
            <a:p>
              <a:pPr algn="l"/>
              <a:r>
                <a:rPr lang="zh-CN" sz="1050" dirty="0">
                  <a:solidFill>
                    <a:srgbClr val="1A1A2E"/>
                  </a:solidFill>
                  <a:latin typeface="Arial" panose="020B0604020202020204"/>
                  <a:ea typeface="微软雅黑" panose="020B0503020204020204" charset="-122"/>
                  <a:cs typeface="Arial" panose="020B0604020202020204"/>
                </a:rPr>
                <a:t>5780.5</a:t>
              </a:r>
              <a:endParaRPr lang="zh-CN" sz="1050" dirty="0">
                <a:solidFill>
                  <a:srgbClr val="1A1A2E"/>
                </a:solidFill>
                <a:latin typeface="Arial" panose="020B0604020202020204"/>
                <a:ea typeface="微软雅黑" panose="020B0503020204020204" charset="-122"/>
                <a:cs typeface="Arial" panose="020B0604020202020204"/>
              </a:endParaRPr>
            </a:p>
          </p:txBody>
        </p:sp>
        <p:sp>
          <p:nvSpPr>
            <p:cNvPr id="64" name="TextBox 64"/>
            <p:cNvSpPr txBox="1"/>
            <p:nvPr/>
          </p:nvSpPr>
          <p:spPr>
            <a:xfrm>
              <a:off x="11035665" y="2391728"/>
              <a:ext cx="617077" cy="213360"/>
            </a:xfrm>
            <a:prstGeom prst="rect">
              <a:avLst/>
            </a:prstGeom>
            <a:noFill/>
            <a:ln>
              <a:noFill/>
            </a:ln>
          </p:spPr>
          <p:txBody>
            <a:bodyPr wrap="none" lIns="0" tIns="0" rIns="0" bIns="0" anchor="t" anchorCtr="0">
              <a:spAutoFit/>
            </a:bodyPr>
            <a:lstStyle/>
            <a:p>
              <a:pPr algn="l"/>
              <a:r>
                <a:rPr lang="zh-CN" sz="1050" dirty="0">
                  <a:solidFill>
                    <a:srgbClr val="1A1A2E"/>
                  </a:solidFill>
                  <a:latin typeface="Arial" panose="020B0604020202020204"/>
                  <a:ea typeface="微软雅黑" panose="020B0503020204020204" charset="-122"/>
                  <a:cs typeface="Arial" panose="020B0604020202020204"/>
                </a:rPr>
                <a:t>62570.6</a:t>
              </a:r>
              <a:endParaRPr lang="zh-CN" sz="1050" dirty="0">
                <a:solidFill>
                  <a:srgbClr val="1A1A2E"/>
                </a:solidFill>
                <a:latin typeface="Arial" panose="020B0604020202020204"/>
                <a:ea typeface="微软雅黑" panose="020B0503020204020204" charset="-122"/>
                <a:cs typeface="Arial" panose="020B0604020202020204"/>
              </a:endParaRPr>
            </a:p>
          </p:txBody>
        </p:sp>
        <p:sp>
          <p:nvSpPr>
            <p:cNvPr id="65" name="TextBox 65"/>
            <p:cNvSpPr txBox="1"/>
            <p:nvPr/>
          </p:nvSpPr>
          <p:spPr>
            <a:xfrm>
              <a:off x="8592348" y="2644616"/>
              <a:ext cx="2436805" cy="167640"/>
            </a:xfrm>
            <a:prstGeom prst="rect">
              <a:avLst/>
            </a:prstGeom>
            <a:noFill/>
            <a:ln>
              <a:noFill/>
            </a:ln>
          </p:spPr>
          <p:txBody>
            <a:bodyPr wrap="none" lIns="0" tIns="0" rIns="0" bIns="0" anchor="t" anchorCtr="0">
              <a:spAutoFit/>
            </a:bodyPr>
            <a:lstStyle/>
            <a:p>
              <a:pPr algn="ctr"/>
              <a:r>
                <a:rPr lang="zh-CN" sz="825" dirty="0">
                  <a:solidFill>
                    <a:srgbClr val="9CA3AF"/>
                  </a:solidFill>
                  <a:latin typeface="Arial" panose="020B0604020202020204"/>
                  <a:ea typeface="微软雅黑" panose="020B0503020204020204" charset="-122"/>
                  <a:cs typeface="Arial" panose="020B0604020202020204"/>
                </a:rPr>
                <a:t>模型：y = ax + b，仅使用 2020-2023 恢复段</a:t>
              </a:r>
              <a:endParaRPr lang="zh-CN" sz="825" dirty="0">
                <a:solidFill>
                  <a:srgbClr val="9CA3AF"/>
                </a:solidFill>
                <a:latin typeface="Arial" panose="020B0604020202020204"/>
                <a:ea typeface="微软雅黑" panose="020B0503020204020204" charset="-122"/>
                <a:cs typeface="Arial" panose="020B0604020202020204"/>
              </a:endParaRPr>
            </a:p>
          </p:txBody>
        </p:sp>
      </p:grpSp>
      <p:grpSp>
        <p:nvGrpSpPr>
          <p:cNvPr id="73" name="Group 73"/>
          <p:cNvGrpSpPr/>
          <p:nvPr/>
        </p:nvGrpSpPr>
        <p:grpSpPr>
          <a:xfrm>
            <a:off x="7810500" y="2952750"/>
            <a:ext cx="4000500" cy="1000125"/>
            <a:chOff x="7810500" y="2952750"/>
            <a:chExt cx="4000500" cy="1000125"/>
          </a:xfrm>
        </p:grpSpPr>
        <p:sp>
          <p:nvSpPr>
            <p:cNvPr id="67" name="Rectangle 67"/>
            <p:cNvSpPr/>
            <p:nvPr/>
          </p:nvSpPr>
          <p:spPr>
            <a:xfrm>
              <a:off x="7810500" y="2952750"/>
              <a:ext cx="4000500" cy="1000125"/>
            </a:xfrm>
            <a:prstGeom prst="roundRect">
              <a:avLst>
                <a:gd name="adj" fmla="val 7619"/>
              </a:avLst>
            </a:prstGeom>
            <a:solidFill>
              <a:srgbClr val="FFFFFF"/>
            </a:solidFill>
            <a:ln w="9525">
              <a:solidFill>
                <a:srgbClr val="D1D5DB"/>
              </a:solidFill>
            </a:ln>
          </p:spPr>
        </p:sp>
        <p:sp>
          <p:nvSpPr>
            <p:cNvPr id="68" name="Rectangle 68"/>
            <p:cNvSpPr/>
            <p:nvPr/>
          </p:nvSpPr>
          <p:spPr>
            <a:xfrm>
              <a:off x="7810500" y="2952750"/>
              <a:ext cx="38100" cy="1000125"/>
            </a:xfrm>
            <a:prstGeom prst="roundRect">
              <a:avLst>
                <a:gd name="adj" fmla="val 50000"/>
              </a:avLst>
            </a:prstGeom>
            <a:solidFill>
              <a:srgbClr val="C8963E"/>
            </a:solidFill>
            <a:ln>
              <a:noFill/>
            </a:ln>
          </p:spPr>
        </p:sp>
        <p:sp>
          <p:nvSpPr>
            <p:cNvPr id="69" name="TextBox 69"/>
            <p:cNvSpPr txBox="1"/>
            <p:nvPr/>
          </p:nvSpPr>
          <p:spPr>
            <a:xfrm>
              <a:off x="7987665" y="3048952"/>
              <a:ext cx="1153811" cy="213360"/>
            </a:xfrm>
            <a:prstGeom prst="rect">
              <a:avLst/>
            </a:prstGeom>
            <a:noFill/>
            <a:ln>
              <a:noFill/>
            </a:ln>
          </p:spPr>
          <p:txBody>
            <a:bodyPr wrap="none" lIns="0" tIns="0" rIns="0" bIns="0" anchor="t" anchorCtr="0">
              <a:spAutoFit/>
            </a:bodyPr>
            <a:lstStyle/>
            <a:p>
              <a:pPr algn="l"/>
              <a:r>
                <a:rPr lang="zh-CN" sz="1050" b="1" dirty="0">
                  <a:solidFill>
                    <a:srgbClr val="1A3A5C"/>
                  </a:solidFill>
                  <a:latin typeface="Arial" panose="020B0604020202020204"/>
                  <a:ea typeface="微软雅黑" panose="020B0503020204020204" charset="-122"/>
                  <a:cs typeface="Arial" panose="020B0604020202020204"/>
                </a:rPr>
                <a:t>误差来源与边界</a:t>
              </a:r>
              <a:endParaRPr lang="zh-CN" sz="1050" b="1" dirty="0">
                <a:solidFill>
                  <a:srgbClr val="1A3A5C"/>
                </a:solidFill>
                <a:latin typeface="Arial" panose="020B0604020202020204"/>
                <a:ea typeface="微软雅黑" panose="020B0503020204020204" charset="-122"/>
                <a:cs typeface="Arial" panose="020B0604020202020204"/>
              </a:endParaRPr>
            </a:p>
          </p:txBody>
        </p:sp>
        <p:sp>
          <p:nvSpPr>
            <p:cNvPr id="70" name="TextBox 70"/>
            <p:cNvSpPr txBox="1"/>
            <p:nvPr/>
          </p:nvSpPr>
          <p:spPr>
            <a:xfrm>
              <a:off x="7988618" y="3276124"/>
              <a:ext cx="1940028" cy="198120"/>
            </a:xfrm>
            <a:prstGeom prst="rect">
              <a:avLst/>
            </a:prstGeom>
            <a:noFill/>
            <a:ln>
              <a:noFill/>
            </a:ln>
          </p:spPr>
          <p:txBody>
            <a:bodyPr wrap="none" lIns="0" tIns="0" rIns="0" bIns="0" anchor="t" anchorCtr="0">
              <a:spAutoFit/>
            </a:bodyPr>
            <a:lstStyle/>
            <a:p>
              <a:pPr algn="l"/>
              <a:r>
                <a:rPr lang="zh-CN" sz="975" dirty="0">
                  <a:solidFill>
                    <a:srgbClr val="6B7280"/>
                  </a:solidFill>
                  <a:latin typeface="Arial" panose="020B0604020202020204"/>
                  <a:ea typeface="微软雅黑" panose="020B0503020204020204" charset="-122"/>
                  <a:cs typeface="Arial" panose="020B0604020202020204"/>
                </a:rPr>
                <a:t>年度采样间隔较大（仅 10 点）</a:t>
              </a:r>
              <a:endParaRPr lang="zh-CN" sz="975" dirty="0">
                <a:solidFill>
                  <a:srgbClr val="6B7280"/>
                </a:solidFill>
                <a:latin typeface="Arial" panose="020B0604020202020204"/>
                <a:ea typeface="微软雅黑" panose="020B0503020204020204" charset="-122"/>
                <a:cs typeface="Arial" panose="020B0604020202020204"/>
              </a:endParaRPr>
            </a:p>
          </p:txBody>
        </p:sp>
        <p:sp>
          <p:nvSpPr>
            <p:cNvPr id="71" name="TextBox 71"/>
            <p:cNvSpPr txBox="1"/>
            <p:nvPr/>
          </p:nvSpPr>
          <p:spPr>
            <a:xfrm>
              <a:off x="7988618" y="3466624"/>
              <a:ext cx="1733550" cy="198120"/>
            </a:xfrm>
            <a:prstGeom prst="rect">
              <a:avLst/>
            </a:prstGeom>
            <a:noFill/>
            <a:ln>
              <a:noFill/>
            </a:ln>
          </p:spPr>
          <p:txBody>
            <a:bodyPr wrap="none" lIns="0" tIns="0" rIns="0" bIns="0" anchor="t" anchorCtr="0">
              <a:spAutoFit/>
            </a:bodyPr>
            <a:lstStyle/>
            <a:p>
              <a:pPr algn="l"/>
              <a:r>
                <a:rPr lang="zh-CN" sz="975" dirty="0">
                  <a:solidFill>
                    <a:srgbClr val="6B7280"/>
                  </a:solidFill>
                  <a:latin typeface="Arial" panose="020B0604020202020204"/>
                  <a:ea typeface="微软雅黑" panose="020B0503020204020204" charset="-122"/>
                  <a:cs typeface="Arial" panose="020B0604020202020204"/>
                </a:rPr>
                <a:t>平稳趋势本身也有模型误差</a:t>
              </a:r>
              <a:endParaRPr lang="zh-CN" sz="975" dirty="0">
                <a:solidFill>
                  <a:srgbClr val="6B7280"/>
                </a:solidFill>
                <a:latin typeface="Arial" panose="020B0604020202020204"/>
                <a:ea typeface="微软雅黑" panose="020B0503020204020204" charset="-122"/>
                <a:cs typeface="Arial" panose="020B0604020202020204"/>
              </a:endParaRPr>
            </a:p>
          </p:txBody>
        </p:sp>
        <p:sp>
          <p:nvSpPr>
            <p:cNvPr id="72" name="TextBox 72"/>
            <p:cNvSpPr txBox="1"/>
            <p:nvPr/>
          </p:nvSpPr>
          <p:spPr>
            <a:xfrm>
              <a:off x="7988618" y="3657124"/>
              <a:ext cx="2303145" cy="198120"/>
            </a:xfrm>
            <a:prstGeom prst="rect">
              <a:avLst/>
            </a:prstGeom>
            <a:noFill/>
            <a:ln>
              <a:noFill/>
            </a:ln>
          </p:spPr>
          <p:txBody>
            <a:bodyPr wrap="none" lIns="0" tIns="0" rIns="0" bIns="0" anchor="t" anchorCtr="0">
              <a:spAutoFit/>
            </a:bodyPr>
            <a:lstStyle/>
            <a:p>
              <a:pPr algn="l"/>
              <a:r>
                <a:rPr lang="zh-CN" sz="975" dirty="0">
                  <a:solidFill>
                    <a:srgbClr val="6B7280"/>
                  </a:solidFill>
                  <a:latin typeface="Arial" panose="020B0604020202020204"/>
                  <a:ea typeface="微软雅黑" panose="020B0503020204020204" charset="-122"/>
                  <a:cs typeface="Arial" panose="020B0604020202020204"/>
                </a:rPr>
                <a:t>外生冲击和政策变化会改变恢复速度</a:t>
              </a:r>
              <a:endParaRPr lang="zh-CN" sz="975" dirty="0">
                <a:solidFill>
                  <a:srgbClr val="6B7280"/>
                </a:solidFill>
                <a:latin typeface="Arial" panose="020B0604020202020204"/>
                <a:ea typeface="微软雅黑" panose="020B0503020204020204" charset="-122"/>
                <a:cs typeface="Arial" panose="020B0604020202020204"/>
              </a:endParaRPr>
            </a:p>
          </p:txBody>
        </p:sp>
      </p:grpSp>
      <p:grpSp>
        <p:nvGrpSpPr>
          <p:cNvPr id="79" name="Group 79"/>
          <p:cNvGrpSpPr/>
          <p:nvPr/>
        </p:nvGrpSpPr>
        <p:grpSpPr>
          <a:xfrm>
            <a:off x="571500" y="4286250"/>
            <a:ext cx="11049000" cy="401146"/>
            <a:chOff x="571500" y="4286250"/>
            <a:chExt cx="11049000" cy="401146"/>
          </a:xfrm>
        </p:grpSpPr>
        <p:sp>
          <p:nvSpPr>
            <p:cNvPr id="74" name="Rectangle 74"/>
            <p:cNvSpPr/>
            <p:nvPr/>
          </p:nvSpPr>
          <p:spPr>
            <a:xfrm>
              <a:off x="571500" y="4286250"/>
              <a:ext cx="11049000" cy="381000"/>
            </a:xfrm>
            <a:prstGeom prst="roundRect">
              <a:avLst>
                <a:gd name="adj" fmla="val 15000"/>
              </a:avLst>
            </a:prstGeom>
            <a:solidFill>
              <a:srgbClr val="1A3A5C">
                <a:alpha val="6000"/>
              </a:srgbClr>
            </a:solidFill>
            <a:ln>
              <a:noFill/>
            </a:ln>
          </p:spPr>
        </p:sp>
        <p:grpSp>
          <p:nvGrpSpPr>
            <p:cNvPr id="77" name="Group 77"/>
            <p:cNvGrpSpPr/>
            <p:nvPr/>
          </p:nvGrpSpPr>
          <p:grpSpPr>
            <a:xfrm>
              <a:off x="819233" y="4515986"/>
              <a:ext cx="172605" cy="171410"/>
              <a:chOff x="819233" y="4515986"/>
              <a:chExt cx="172605" cy="171410"/>
            </a:xfrm>
          </p:grpSpPr>
          <p:sp>
            <p:nvSpPr>
              <p:cNvPr id="75" name="Freeform 75"/>
              <p:cNvSpPr/>
              <p:nvPr/>
            </p:nvSpPr>
            <p:spPr>
              <a:xfrm>
                <a:off x="869156" y="4564856"/>
                <a:ext cx="71438" cy="71438"/>
              </a:xfrm>
              <a:custGeom>
                <a:avLst/>
                <a:gdLst/>
                <a:ahLst/>
                <a:cxnLst/>
                <a:rect l="l" t="t" r="r" b="b"/>
                <a:pathLst>
                  <a:path w="71438" h="71438">
                    <a:moveTo>
                      <a:pt x="71438" y="35719"/>
                    </a:moveTo>
                    <a:cubicBezTo>
                      <a:pt x="71438" y="55446"/>
                      <a:pt x="55446" y="71438"/>
                      <a:pt x="35719" y="71438"/>
                    </a:cubicBezTo>
                    <a:cubicBezTo>
                      <a:pt x="15992" y="71438"/>
                      <a:pt x="0" y="55446"/>
                      <a:pt x="0" y="35719"/>
                    </a:cubicBezTo>
                    <a:cubicBezTo>
                      <a:pt x="0" y="15992"/>
                      <a:pt x="15992" y="0"/>
                      <a:pt x="35719" y="0"/>
                    </a:cubicBezTo>
                    <a:cubicBezTo>
                      <a:pt x="55446" y="0"/>
                      <a:pt x="71438" y="15992"/>
                      <a:pt x="71438" y="35719"/>
                    </a:cubicBezTo>
                    <a:close/>
                  </a:path>
                </a:pathLst>
              </a:custGeom>
              <a:solidFill>
                <a:srgbClr val="1A3A5C">
                  <a:alpha val="20000"/>
                </a:srgbClr>
              </a:solidFill>
              <a:ln>
                <a:noFill/>
              </a:ln>
            </p:spPr>
          </p:sp>
          <p:sp>
            <p:nvSpPr>
              <p:cNvPr id="76" name="Freeform 76"/>
              <p:cNvSpPr/>
              <p:nvPr/>
            </p:nvSpPr>
            <p:spPr>
              <a:xfrm>
                <a:off x="819233" y="4515986"/>
                <a:ext cx="172605" cy="171410"/>
              </a:xfrm>
              <a:custGeom>
                <a:avLst/>
                <a:gdLst/>
                <a:ahLst/>
                <a:cxnLst/>
                <a:rect l="l" t="t" r="r" b="b"/>
                <a:pathLst>
                  <a:path w="172605" h="171410">
                    <a:moveTo>
                      <a:pt x="155495" y="51222"/>
                    </a:moveTo>
                    <a:cubicBezTo>
                      <a:pt x="172605" y="87007"/>
                      <a:pt x="159919" y="129935"/>
                      <a:pt x="126107" y="150673"/>
                    </a:cubicBezTo>
                    <a:cubicBezTo>
                      <a:pt x="92294" y="171410"/>
                      <a:pt x="48280" y="163256"/>
                      <a:pt x="24140" y="131782"/>
                    </a:cubicBezTo>
                    <a:cubicBezTo>
                      <a:pt x="0" y="100308"/>
                      <a:pt x="3535" y="55684"/>
                      <a:pt x="32329" y="28404"/>
                    </a:cubicBezTo>
                    <a:cubicBezTo>
                      <a:pt x="61123" y="1123"/>
                      <a:pt x="105872" y="0"/>
                      <a:pt x="135998" y="25802"/>
                    </a:cubicBezTo>
                    <a:lnTo>
                      <a:pt x="152868" y="8925"/>
                    </a:lnTo>
                    <a:cubicBezTo>
                      <a:pt x="155194" y="6599"/>
                      <a:pt x="158965" y="6599"/>
                      <a:pt x="161291" y="8925"/>
                    </a:cubicBezTo>
                    <a:cubicBezTo>
                      <a:pt x="163618" y="11251"/>
                      <a:pt x="163618" y="15023"/>
                      <a:pt x="161291" y="17349"/>
                    </a:cubicBezTo>
                    <a:lnTo>
                      <a:pt x="89854" y="88786"/>
                    </a:lnTo>
                    <a:cubicBezTo>
                      <a:pt x="87528" y="91112"/>
                      <a:pt x="83756" y="91112"/>
                      <a:pt x="81430" y="88786"/>
                    </a:cubicBezTo>
                    <a:cubicBezTo>
                      <a:pt x="79104" y="86460"/>
                      <a:pt x="79104" y="82689"/>
                      <a:pt x="81430" y="80363"/>
                    </a:cubicBezTo>
                    <a:lnTo>
                      <a:pt x="102058" y="59735"/>
                    </a:lnTo>
                    <a:cubicBezTo>
                      <a:pt x="90549" y="52123"/>
                      <a:pt x="75318" y="53419"/>
                      <a:pt x="65260" y="62866"/>
                    </a:cubicBezTo>
                    <a:cubicBezTo>
                      <a:pt x="55203" y="72312"/>
                      <a:pt x="52956" y="87432"/>
                      <a:pt x="59832" y="99395"/>
                    </a:cubicBezTo>
                    <a:cubicBezTo>
                      <a:pt x="66708" y="111358"/>
                      <a:pt x="80904" y="117027"/>
                      <a:pt x="94129" y="113091"/>
                    </a:cubicBezTo>
                    <a:cubicBezTo>
                      <a:pt x="107354" y="109155"/>
                      <a:pt x="116140" y="96646"/>
                      <a:pt x="115356" y="82870"/>
                    </a:cubicBezTo>
                    <a:cubicBezTo>
                      <a:pt x="115171" y="79582"/>
                      <a:pt x="117686" y="76767"/>
                      <a:pt x="120974" y="76582"/>
                    </a:cubicBezTo>
                    <a:cubicBezTo>
                      <a:pt x="124262" y="76397"/>
                      <a:pt x="127077" y="78913"/>
                      <a:pt x="127262" y="82201"/>
                    </a:cubicBezTo>
                    <a:cubicBezTo>
                      <a:pt x="128380" y="101712"/>
                      <a:pt x="115788" y="119379"/>
                      <a:pt x="96980" y="124689"/>
                    </a:cubicBezTo>
                    <a:cubicBezTo>
                      <a:pt x="78172" y="129999"/>
                      <a:pt x="58201" y="121525"/>
                      <a:pt x="48950" y="104309"/>
                    </a:cubicBezTo>
                    <a:cubicBezTo>
                      <a:pt x="39700" y="87094"/>
                      <a:pt x="43656" y="65762"/>
                      <a:pt x="58464" y="53009"/>
                    </a:cubicBezTo>
                    <a:cubicBezTo>
                      <a:pt x="73273" y="40255"/>
                      <a:pt x="94955" y="39506"/>
                      <a:pt x="110608" y="51207"/>
                    </a:cubicBezTo>
                    <a:lnTo>
                      <a:pt x="127537" y="34278"/>
                    </a:lnTo>
                    <a:cubicBezTo>
                      <a:pt x="101846" y="12948"/>
                      <a:pt x="64211" y="14399"/>
                      <a:pt x="40239" y="37645"/>
                    </a:cubicBezTo>
                    <a:cubicBezTo>
                      <a:pt x="16267" y="60891"/>
                      <a:pt x="13659" y="98463"/>
                      <a:pt x="34189" y="124798"/>
                    </a:cubicBezTo>
                    <a:cubicBezTo>
                      <a:pt x="54719" y="151133"/>
                      <a:pt x="91793" y="157771"/>
                      <a:pt x="120185" y="140195"/>
                    </a:cubicBezTo>
                    <a:cubicBezTo>
                      <a:pt x="148577" y="122619"/>
                      <a:pt x="159167" y="86476"/>
                      <a:pt x="144749" y="56357"/>
                    </a:cubicBezTo>
                    <a:cubicBezTo>
                      <a:pt x="143331" y="53389"/>
                      <a:pt x="144587" y="49834"/>
                      <a:pt x="147555" y="48417"/>
                    </a:cubicBezTo>
                    <a:cubicBezTo>
                      <a:pt x="150522" y="46999"/>
                      <a:pt x="154077" y="48255"/>
                      <a:pt x="155495" y="51222"/>
                    </a:cubicBezTo>
                    <a:close/>
                  </a:path>
                </a:pathLst>
              </a:custGeom>
              <a:solidFill>
                <a:srgbClr val="1A3A5C"/>
              </a:solidFill>
              <a:ln>
                <a:noFill/>
              </a:ln>
            </p:spPr>
          </p:sp>
        </p:grpSp>
        <p:sp>
          <p:nvSpPr>
            <p:cNvPr id="78" name="TextBox 78"/>
            <p:cNvSpPr txBox="1"/>
            <p:nvPr/>
          </p:nvSpPr>
          <p:spPr>
            <a:xfrm>
              <a:off x="1082040" y="4420552"/>
              <a:ext cx="6950535" cy="213360"/>
            </a:xfrm>
            <a:prstGeom prst="rect">
              <a:avLst/>
            </a:prstGeom>
            <a:noFill/>
            <a:ln>
              <a:noFill/>
            </a:ln>
          </p:spPr>
          <p:txBody>
            <a:bodyPr wrap="none" lIns="0" tIns="0" rIns="0" bIns="0" anchor="t" anchorCtr="0">
              <a:spAutoFit/>
            </a:bodyPr>
            <a:lstStyle/>
            <a:p>
              <a:pPr algn="l"/>
              <a:r>
                <a:rPr lang="zh-CN" sz="1050" b="1" dirty="0">
                  <a:solidFill>
                    <a:srgbClr val="1A3A5C"/>
                  </a:solidFill>
                  <a:latin typeface="Arial" panose="020B0604020202020204"/>
                  <a:ea typeface="微软雅黑" panose="020B0503020204020204" charset="-122"/>
                  <a:cs typeface="Arial" panose="020B0604020202020204"/>
                </a:rPr>
                <a:t>结论：分段拟合用于解释结构变化，反事实缺口用于衡量恢复程度；两者都不替代正式统计预测。</a:t>
              </a:r>
              <a:endParaRPr lang="zh-CN" sz="1050" b="1" dirty="0">
                <a:solidFill>
                  <a:srgbClr val="1A3A5C"/>
                </a:solidFill>
                <a:latin typeface="Arial" panose="020B0604020202020204"/>
                <a:ea typeface="微软雅黑" panose="020B0503020204020204" charset="-122"/>
                <a:cs typeface="Arial" panose="020B0604020202020204"/>
              </a:endParaRPr>
            </a:p>
          </p:txBody>
        </p:sp>
      </p:grpSp>
      <p:grpSp>
        <p:nvGrpSpPr>
          <p:cNvPr id="82" name="Group 82"/>
          <p:cNvGrpSpPr/>
          <p:nvPr/>
        </p:nvGrpSpPr>
        <p:grpSpPr>
          <a:xfrm>
            <a:off x="560070" y="6522720"/>
            <a:ext cx="11070907" cy="182880"/>
            <a:chOff x="560070" y="6522720"/>
            <a:chExt cx="11070907" cy="182880"/>
          </a:xfrm>
        </p:grpSpPr>
        <p:sp>
          <p:nvSpPr>
            <p:cNvPr id="80" name="TextBox 80"/>
            <p:cNvSpPr txBox="1"/>
            <p:nvPr/>
          </p:nvSpPr>
          <p:spPr>
            <a:xfrm>
              <a:off x="560070" y="6522720"/>
              <a:ext cx="2277142" cy="182880"/>
            </a:xfrm>
            <a:prstGeom prst="rect">
              <a:avLst/>
            </a:prstGeom>
            <a:noFill/>
            <a:ln>
              <a:noFill/>
            </a:ln>
          </p:spPr>
          <p:txBody>
            <a:bodyPr wrap="none" lIns="0" tIns="0" rIns="0" bIns="0" anchor="t" anchorCtr="0">
              <a:spAutoFit/>
            </a:bodyPr>
            <a:lstStyle/>
            <a:p>
              <a:pPr algn="l"/>
              <a:r>
                <a:rPr lang="zh-CN" sz="900" dirty="0">
                  <a:solidFill>
                    <a:srgbClr val="9CA3AF"/>
                  </a:solidFill>
                  <a:latin typeface="Arial" panose="020B0604020202020204"/>
                  <a:ea typeface="微软雅黑" panose="020B0503020204020204" charset="-122"/>
                  <a:cs typeface="Arial" panose="020B0604020202020204"/>
                </a:rPr>
                <a:t>Source: 团队最小二乘拟合与误差分析</a:t>
              </a:r>
              <a:endParaRPr lang="zh-CN" sz="900" dirty="0">
                <a:solidFill>
                  <a:srgbClr val="9CA3AF"/>
                </a:solidFill>
                <a:latin typeface="Arial" panose="020B0604020202020204"/>
                <a:ea typeface="微软雅黑" panose="020B0503020204020204" charset="-122"/>
                <a:cs typeface="Arial" panose="020B0604020202020204"/>
              </a:endParaRPr>
            </a:p>
          </p:txBody>
        </p:sp>
        <p:sp>
          <p:nvSpPr>
            <p:cNvPr id="81" name="TextBox 81"/>
            <p:cNvSpPr txBox="1"/>
            <p:nvPr/>
          </p:nvSpPr>
          <p:spPr>
            <a:xfrm>
              <a:off x="11296745" y="6530816"/>
              <a:ext cx="334232"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panose="020B0604020202020204"/>
                  <a:ea typeface="微软雅黑" panose="020B0503020204020204" charset="-122"/>
                  <a:cs typeface="Arial" panose="020B0604020202020204"/>
                </a:rPr>
                <a:t>11 / 12</a:t>
              </a:r>
              <a:endParaRPr lang="zh-CN" sz="825" dirty="0">
                <a:solidFill>
                  <a:srgbClr val="9CA3AF"/>
                </a:solidFill>
                <a:latin typeface="Arial" panose="020B0604020202020204"/>
                <a:ea typeface="微软雅黑" panose="020B0503020204020204" charset="-122"/>
                <a:cs typeface="Arial" panose="020B0604020202020204"/>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fade">
                                      <p:cBhvr>
                                        <p:cTn id="7" dur="400"/>
                                        <p:tgtEl>
                                          <p:spTgt spid="39"/>
                                        </p:tgtEl>
                                      </p:cBhvr>
                                    </p:animEffect>
                                  </p:childTnLst>
                                </p:cTn>
                              </p:par>
                            </p:childTnLst>
                          </p:cTn>
                        </p:par>
                        <p:par>
                          <p:cTn id="8" fill="hold">
                            <p:stCondLst>
                              <p:cond delay="500"/>
                            </p:stCondLst>
                            <p:childTnLst>
                              <p:par>
                                <p:cTn id="9" presetID="23" presetClass="entr" presetSubtype="16" fill="hold" nodeType="afterEffect">
                                  <p:stCondLst>
                                    <p:cond delay="0"/>
                                  </p:stCondLst>
                                  <p:childTnLst>
                                    <p:set>
                                      <p:cBhvr>
                                        <p:cTn id="10" dur="1" fill="hold">
                                          <p:stCondLst>
                                            <p:cond delay="0"/>
                                          </p:stCondLst>
                                        </p:cTn>
                                        <p:tgtEl>
                                          <p:spTgt spid="66"/>
                                        </p:tgtEl>
                                        <p:attrNameLst>
                                          <p:attrName>style.visibility</p:attrName>
                                        </p:attrNameLst>
                                      </p:cBhvr>
                                      <p:to>
                                        <p:strVal val="visible"/>
                                      </p:to>
                                    </p:set>
                                    <p:animEffect transition="in" filter="image">
                                      <p:cBhvr>
                                        <p:cTn id="11" dur="400"/>
                                        <p:tgtEl>
                                          <p:spTgt spid="66"/>
                                        </p:tgtEl>
                                      </p:cBhvr>
                                    </p:animEffect>
                                  </p:childTnLst>
                                </p:cTn>
                              </p:par>
                            </p:childTnLst>
                          </p:cTn>
                        </p:par>
                        <p:par>
                          <p:cTn id="12" fill="hold">
                            <p:stCondLst>
                              <p:cond delay="1000"/>
                            </p:stCondLst>
                            <p:childTnLst>
                              <p:par>
                                <p:cTn id="13" presetID="3" presetClass="entr" presetSubtype="10" fill="hold" nodeType="afterEffect">
                                  <p:stCondLst>
                                    <p:cond delay="0"/>
                                  </p:stCondLst>
                                  <p:childTnLst>
                                    <p:set>
                                      <p:cBhvr>
                                        <p:cTn id="14" dur="1" fill="hold">
                                          <p:stCondLst>
                                            <p:cond delay="0"/>
                                          </p:stCondLst>
                                        </p:cTn>
                                        <p:tgtEl>
                                          <p:spTgt spid="73"/>
                                        </p:tgtEl>
                                        <p:attrNameLst>
                                          <p:attrName>style.visibility</p:attrName>
                                        </p:attrNameLst>
                                      </p:cBhvr>
                                      <p:to>
                                        <p:strVal val="visible"/>
                                      </p:to>
                                    </p:set>
                                    <p:animEffect transition="in" filter="blinds(horizontal)">
                                      <p:cBhvr>
                                        <p:cTn id="15" dur="400"/>
                                        <p:tgtEl>
                                          <p:spTgt spid="73"/>
                                        </p:tgtEl>
                                      </p:cBhvr>
                                    </p:animEffect>
                                  </p:childTnLst>
                                </p:cTn>
                              </p:par>
                            </p:childTnLst>
                          </p:cTn>
                        </p:par>
                        <p:par>
                          <p:cTn id="16" fill="hold">
                            <p:stCondLst>
                              <p:cond delay="1500"/>
                            </p:stCondLst>
                            <p:childTnLst>
                              <p:par>
                                <p:cTn id="17" presetID="5" presetClass="entr" presetSubtype="5" fill="hold" nodeType="afterEffect">
                                  <p:stCondLst>
                                    <p:cond delay="0"/>
                                  </p:stCondLst>
                                  <p:childTnLst>
                                    <p:set>
                                      <p:cBhvr>
                                        <p:cTn id="18" dur="1" fill="hold">
                                          <p:stCondLst>
                                            <p:cond delay="0"/>
                                          </p:stCondLst>
                                        </p:cTn>
                                        <p:tgtEl>
                                          <p:spTgt spid="79"/>
                                        </p:tgtEl>
                                        <p:attrNameLst>
                                          <p:attrName>style.visibility</p:attrName>
                                        </p:attrNameLst>
                                      </p:cBhvr>
                                      <p:to>
                                        <p:strVal val="visible"/>
                                      </p:to>
                                    </p:set>
                                    <p:animEffect transition="in" filter="checkerboard(across)">
                                      <p:cBhvr>
                                        <p:cTn id="19" dur="4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66" grpId="0"/>
      <p:bldP spid="73" grpId="0"/>
      <p:bldP spid="7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AFAFA"/>
          </a:solidFill>
          <a:ln>
            <a:noFill/>
          </a:ln>
        </p:spPr>
      </p:sp>
      <p:sp>
        <p:nvSpPr>
          <p:cNvPr id="3" name="Ellipse 3"/>
          <p:cNvSpPr/>
          <p:nvPr/>
        </p:nvSpPr>
        <p:spPr>
          <a:xfrm>
            <a:off x="8096250" y="-952500"/>
            <a:ext cx="4762500" cy="4762500"/>
          </a:xfrm>
          <a:prstGeom prst="ellipse">
            <a:avLst/>
          </a:prstGeom>
          <a:solidFill>
            <a:srgbClr val="1A3A5C">
              <a:alpha val="3000"/>
            </a:srgbClr>
          </a:solidFill>
          <a:ln>
            <a:noFill/>
          </a:ln>
        </p:spPr>
      </p:sp>
      <p:grpSp>
        <p:nvGrpSpPr>
          <p:cNvPr id="7" name="Group 7"/>
          <p:cNvGrpSpPr/>
          <p:nvPr/>
        </p:nvGrpSpPr>
        <p:grpSpPr>
          <a:xfrm>
            <a:off x="1457325" y="438150"/>
            <a:ext cx="9277350" cy="976312"/>
            <a:chOff x="1457325" y="438150"/>
            <a:chExt cx="9277350" cy="976312"/>
          </a:xfrm>
        </p:grpSpPr>
        <p:sp>
          <p:nvSpPr>
            <p:cNvPr id="4" name="TextBox 4"/>
            <p:cNvSpPr txBox="1"/>
            <p:nvPr/>
          </p:nvSpPr>
          <p:spPr>
            <a:xfrm>
              <a:off x="1457325" y="438150"/>
              <a:ext cx="9277350" cy="609600"/>
            </a:xfrm>
            <a:prstGeom prst="rect">
              <a:avLst/>
            </a:prstGeom>
            <a:noFill/>
            <a:ln>
              <a:noFill/>
            </a:ln>
          </p:spPr>
          <p:txBody>
            <a:bodyPr wrap="none" lIns="0" tIns="0" rIns="0" bIns="0" anchor="t" anchorCtr="0">
              <a:spAutoFit/>
            </a:bodyPr>
            <a:lstStyle/>
            <a:p>
              <a:pPr algn="ctr"/>
              <a:r>
                <a:rPr lang="zh-CN" sz="3000" b="1" dirty="0">
                  <a:solidFill>
                    <a:srgbClr val="1A3A5C"/>
                  </a:solidFill>
                  <a:latin typeface="Georgia" panose="02040502050405020303"/>
                  <a:ea typeface="楷体" panose="02010609060101010101" charset="-122"/>
                  <a:cs typeface="Georgia" panose="02040502050405020303"/>
                </a:rPr>
                <a:t>结论：数字经济提升文化供给的消费转化效率</a:t>
              </a:r>
              <a:endParaRPr lang="zh-CN" sz="3000" b="1" dirty="0">
                <a:solidFill>
                  <a:srgbClr val="1A3A5C"/>
                </a:solidFill>
                <a:latin typeface="Georgia" panose="02040502050405020303"/>
                <a:ea typeface="楷体" panose="02010609060101010101" charset="-122"/>
                <a:cs typeface="Georgia" panose="02040502050405020303"/>
              </a:endParaRPr>
            </a:p>
          </p:txBody>
        </p:sp>
        <p:sp>
          <p:nvSpPr>
            <p:cNvPr id="5" name="Rectangle 5"/>
            <p:cNvSpPr/>
            <p:nvPr/>
          </p:nvSpPr>
          <p:spPr>
            <a:xfrm>
              <a:off x="4191000" y="952500"/>
              <a:ext cx="3810000" cy="19050"/>
            </a:xfrm>
            <a:prstGeom prst="roundRect">
              <a:avLst>
                <a:gd name="adj" fmla="val 50000"/>
              </a:avLst>
            </a:prstGeom>
            <a:solidFill>
              <a:srgbClr val="C8963E"/>
            </a:solidFill>
            <a:ln>
              <a:noFill/>
            </a:ln>
          </p:spPr>
        </p:sp>
        <p:sp>
          <p:nvSpPr>
            <p:cNvPr id="6" name="TextBox 6"/>
            <p:cNvSpPr txBox="1"/>
            <p:nvPr/>
          </p:nvSpPr>
          <p:spPr>
            <a:xfrm>
              <a:off x="3614261" y="1140142"/>
              <a:ext cx="4963478" cy="274320"/>
            </a:xfrm>
            <a:prstGeom prst="rect">
              <a:avLst/>
            </a:prstGeom>
            <a:noFill/>
            <a:ln>
              <a:noFill/>
            </a:ln>
          </p:spPr>
          <p:txBody>
            <a:bodyPr wrap="none" lIns="0" tIns="0" rIns="0" bIns="0" anchor="t" anchorCtr="0">
              <a:spAutoFit/>
            </a:bodyPr>
            <a:lstStyle/>
            <a:p>
              <a:pPr algn="ctr"/>
              <a:r>
                <a:rPr lang="zh-CN" sz="1350" dirty="0">
                  <a:solidFill>
                    <a:srgbClr val="6B7280"/>
                  </a:solidFill>
                  <a:latin typeface="Arial" panose="020B0604020202020204"/>
                  <a:ea typeface="微软雅黑" panose="020B0503020204020204" charset="-122"/>
                  <a:cs typeface="Arial" panose="020B0604020202020204"/>
                </a:rPr>
                <a:t>博物馆数量增长提供供给基础，数字化连接决定转化效率</a:t>
              </a:r>
              <a:endParaRPr lang="zh-CN" sz="1350" dirty="0">
                <a:solidFill>
                  <a:srgbClr val="6B7280"/>
                </a:solidFill>
                <a:latin typeface="Arial" panose="020B0604020202020204"/>
                <a:ea typeface="微软雅黑" panose="020B0503020204020204" charset="-122"/>
                <a:cs typeface="Arial" panose="020B0604020202020204"/>
              </a:endParaRPr>
            </a:p>
          </p:txBody>
        </p:sp>
      </p:grpSp>
      <p:sp>
        <p:nvSpPr>
          <p:cNvPr id="8" name="Line 8"/>
          <p:cNvSpPr/>
          <p:nvPr/>
        </p:nvSpPr>
        <p:spPr>
          <a:xfrm>
            <a:off x="1714500" y="1666875"/>
            <a:ext cx="9525" cy="3762375"/>
          </a:xfrm>
          <a:custGeom>
            <a:avLst/>
            <a:gdLst/>
            <a:ahLst/>
            <a:cxnLst/>
            <a:rect l="l" t="t" r="r" b="b"/>
            <a:pathLst>
              <a:path w="9525" h="3762375">
                <a:moveTo>
                  <a:pt x="0" y="0"/>
                </a:moveTo>
                <a:lnTo>
                  <a:pt x="0" y="3762375"/>
                </a:lnTo>
              </a:path>
            </a:pathLst>
          </a:custGeom>
          <a:noFill/>
          <a:ln w="38100" cap="rnd">
            <a:gradFill>
              <a:gsLst>
                <a:gs pos="0">
                  <a:srgbClr val="1A3A5C"/>
                </a:gs>
                <a:gs pos="40000">
                  <a:srgbClr val="2E6B8F"/>
                </a:gs>
                <a:gs pos="100000">
                  <a:srgbClr val="C8963E"/>
                </a:gs>
              </a:gsLst>
              <a:lin ang="5400000" scaled="1"/>
            </a:gradFill>
          </a:ln>
        </p:spPr>
      </p:sp>
      <p:sp>
        <p:nvSpPr>
          <p:cNvPr id="9" name="Polygon 9"/>
          <p:cNvSpPr/>
          <p:nvPr/>
        </p:nvSpPr>
        <p:spPr>
          <a:xfrm>
            <a:off x="1619250" y="5410200"/>
            <a:ext cx="190500" cy="114300"/>
          </a:xfrm>
          <a:custGeom>
            <a:avLst/>
            <a:gdLst/>
            <a:ahLst/>
            <a:cxnLst/>
            <a:rect l="l" t="t" r="r" b="b"/>
            <a:pathLst>
              <a:path w="190500" h="114300">
                <a:moveTo>
                  <a:pt x="95250" y="114300"/>
                </a:moveTo>
                <a:lnTo>
                  <a:pt x="0" y="0"/>
                </a:lnTo>
                <a:lnTo>
                  <a:pt x="190500" y="0"/>
                </a:lnTo>
                <a:close/>
              </a:path>
            </a:pathLst>
          </a:custGeom>
          <a:solidFill>
            <a:srgbClr val="C8963E"/>
          </a:solidFill>
          <a:ln>
            <a:noFill/>
          </a:ln>
        </p:spPr>
      </p:sp>
      <p:grpSp>
        <p:nvGrpSpPr>
          <p:cNvPr id="17" name="Group 17"/>
          <p:cNvGrpSpPr/>
          <p:nvPr/>
        </p:nvGrpSpPr>
        <p:grpSpPr>
          <a:xfrm>
            <a:off x="1466850" y="1800225"/>
            <a:ext cx="5818251" cy="757237"/>
            <a:chOff x="1466850" y="1800225"/>
            <a:chExt cx="5818251" cy="757237"/>
          </a:xfrm>
        </p:grpSpPr>
        <p:sp>
          <p:nvSpPr>
            <p:cNvPr id="10" name="Ellipse 10"/>
            <p:cNvSpPr/>
            <p:nvPr/>
          </p:nvSpPr>
          <p:spPr>
            <a:xfrm>
              <a:off x="1466850" y="1800225"/>
              <a:ext cx="495300" cy="495300"/>
            </a:xfrm>
            <a:prstGeom prst="ellipse">
              <a:avLst/>
            </a:prstGeom>
            <a:solidFill>
              <a:srgbClr val="1A3A5C">
                <a:alpha val="12000"/>
              </a:srgbClr>
            </a:solidFill>
            <a:ln>
              <a:noFill/>
            </a:ln>
          </p:spPr>
        </p:sp>
        <p:sp>
          <p:nvSpPr>
            <p:cNvPr id="11" name="Ellipse 11"/>
            <p:cNvSpPr/>
            <p:nvPr/>
          </p:nvSpPr>
          <p:spPr>
            <a:xfrm>
              <a:off x="1562100" y="1895475"/>
              <a:ext cx="304800" cy="304800"/>
            </a:xfrm>
            <a:prstGeom prst="ellipse">
              <a:avLst/>
            </a:prstGeom>
            <a:solidFill>
              <a:srgbClr val="1A3A5C"/>
            </a:solidFill>
            <a:ln>
              <a:noFill/>
            </a:ln>
          </p:spPr>
        </p:sp>
        <p:sp>
          <p:nvSpPr>
            <p:cNvPr id="12" name="TextBox 12"/>
            <p:cNvSpPr txBox="1"/>
            <p:nvPr/>
          </p:nvSpPr>
          <p:spPr>
            <a:xfrm>
              <a:off x="1638572" y="1990249"/>
              <a:ext cx="151856"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panose="020B0604020202020204"/>
                  <a:ea typeface="微软雅黑" panose="020B0503020204020204" charset="-122"/>
                  <a:cs typeface="Arial" panose="020B0604020202020204"/>
                </a:rPr>
                <a:t>01</a:t>
              </a:r>
              <a:endParaRPr lang="zh-CN" sz="975" b="1" dirty="0">
                <a:solidFill>
                  <a:srgbClr val="FFFFFF"/>
                </a:solidFill>
                <a:latin typeface="Arial" panose="020B0604020202020204"/>
                <a:ea typeface="微软雅黑" panose="020B0503020204020204" charset="-122"/>
                <a:cs typeface="Arial" panose="020B0604020202020204"/>
              </a:endParaRPr>
            </a:p>
          </p:txBody>
        </p:sp>
        <p:sp>
          <p:nvSpPr>
            <p:cNvPr id="13" name="Line 13"/>
            <p:cNvSpPr/>
            <p:nvPr/>
          </p:nvSpPr>
          <p:spPr>
            <a:xfrm>
              <a:off x="1962150" y="2047875"/>
              <a:ext cx="419100" cy="9525"/>
            </a:xfrm>
            <a:custGeom>
              <a:avLst/>
              <a:gdLst/>
              <a:ahLst/>
              <a:cxnLst/>
              <a:rect l="l" t="t" r="r" b="b"/>
              <a:pathLst>
                <a:path w="419100" h="9525">
                  <a:moveTo>
                    <a:pt x="0" y="0"/>
                  </a:moveTo>
                  <a:lnTo>
                    <a:pt x="419100" y="0"/>
                  </a:lnTo>
                </a:path>
              </a:pathLst>
            </a:custGeom>
            <a:noFill/>
            <a:ln w="19050">
              <a:solidFill>
                <a:srgbClr val="1A3A5C"/>
              </a:solidFill>
              <a:custDash>
                <a:ds d="200000" sp="150000"/>
              </a:custDash>
            </a:ln>
          </p:spPr>
        </p:sp>
        <p:sp>
          <p:nvSpPr>
            <p:cNvPr id="14" name="TextBox 14"/>
            <p:cNvSpPr txBox="1"/>
            <p:nvPr/>
          </p:nvSpPr>
          <p:spPr>
            <a:xfrm>
              <a:off x="2455545" y="1803082"/>
              <a:ext cx="1054036" cy="335280"/>
            </a:xfrm>
            <a:prstGeom prst="rect">
              <a:avLst/>
            </a:prstGeom>
            <a:noFill/>
            <a:ln>
              <a:noFill/>
            </a:ln>
          </p:spPr>
          <p:txBody>
            <a:bodyPr wrap="none" lIns="0" tIns="0" rIns="0" bIns="0" anchor="t" anchorCtr="0">
              <a:spAutoFit/>
            </a:bodyPr>
            <a:lstStyle/>
            <a:p>
              <a:pPr algn="l"/>
              <a:r>
                <a:rPr lang="zh-CN" sz="1650" b="1" dirty="0">
                  <a:solidFill>
                    <a:srgbClr val="1A3A5C"/>
                  </a:solidFill>
                  <a:latin typeface="Arial" panose="020B0604020202020204"/>
                  <a:ea typeface="微软雅黑" panose="020B0503020204020204" charset="-122"/>
                  <a:cs typeface="Arial" panose="020B0604020202020204"/>
                </a:rPr>
                <a:t>数据结论</a:t>
              </a:r>
              <a:endParaRPr lang="zh-CN" sz="1650" b="1" dirty="0">
                <a:solidFill>
                  <a:srgbClr val="1A3A5C"/>
                </a:solidFill>
                <a:latin typeface="Arial" panose="020B0604020202020204"/>
                <a:ea typeface="微软雅黑" panose="020B0503020204020204" charset="-122"/>
                <a:cs typeface="Arial" panose="020B0604020202020204"/>
              </a:endParaRPr>
            </a:p>
          </p:txBody>
        </p:sp>
        <p:sp>
          <p:nvSpPr>
            <p:cNvPr id="15" name="TextBox 15"/>
            <p:cNvSpPr txBox="1"/>
            <p:nvPr/>
          </p:nvSpPr>
          <p:spPr>
            <a:xfrm>
              <a:off x="2461260" y="2118360"/>
              <a:ext cx="4823841" cy="243840"/>
            </a:xfrm>
            <a:prstGeom prst="rect">
              <a:avLst/>
            </a:prstGeom>
            <a:noFill/>
            <a:ln>
              <a:noFill/>
            </a:ln>
          </p:spPr>
          <p:txBody>
            <a:bodyPr wrap="none" lIns="0" tIns="0" rIns="0" bIns="0" anchor="t" anchorCtr="0">
              <a:spAutoFit/>
            </a:bodyPr>
            <a:lstStyle/>
            <a:p>
              <a:pPr algn="l"/>
              <a:r>
                <a:rPr lang="zh-CN" sz="1200" dirty="0">
                  <a:solidFill>
                    <a:srgbClr val="1A1A2E"/>
                  </a:solidFill>
                  <a:latin typeface="Arial" panose="020B0604020202020204"/>
                  <a:ea typeface="微软雅黑" panose="020B0503020204020204" charset="-122"/>
                  <a:cs typeface="Arial" panose="020B0604020202020204"/>
                </a:rPr>
                <a:t>博物馆数量 2014-2023 年增长 </a:t>
              </a:r>
              <a:r>
                <a:rPr lang="zh-CN" sz="1200" b="1" dirty="0">
                  <a:solidFill>
                    <a:srgbClr val="1A3A5C"/>
                  </a:solidFill>
                  <a:latin typeface="Arial" panose="020B0604020202020204"/>
                  <a:ea typeface="微软雅黑" panose="020B0503020204020204" charset="-122"/>
                  <a:cs typeface="Arial" panose="020B0604020202020204"/>
                </a:rPr>
                <a:t>86.8%</a:t>
              </a:r>
              <a:r>
                <a:rPr lang="zh-CN" sz="1200" dirty="0">
                  <a:solidFill>
                    <a:srgbClr val="1A1A2E"/>
                  </a:solidFill>
                  <a:latin typeface="Arial" panose="020B0604020202020204"/>
                  <a:ea typeface="微软雅黑" panose="020B0503020204020204" charset="-122"/>
                  <a:cs typeface="Arial" panose="020B0604020202020204"/>
                </a:rPr>
                <a:t>，供给侧保持长期扩张。</a:t>
              </a:r>
              <a:endParaRPr lang="zh-CN" sz="1200" dirty="0">
                <a:solidFill>
                  <a:srgbClr val="1A1A2E"/>
                </a:solidFill>
                <a:latin typeface="Arial" panose="020B0604020202020204"/>
                <a:ea typeface="微软雅黑" panose="020B0503020204020204" charset="-122"/>
                <a:cs typeface="Arial" panose="020B0604020202020204"/>
              </a:endParaRPr>
            </a:p>
          </p:txBody>
        </p:sp>
        <p:sp>
          <p:nvSpPr>
            <p:cNvPr id="16" name="TextBox 16"/>
            <p:cNvSpPr txBox="1"/>
            <p:nvPr/>
          </p:nvSpPr>
          <p:spPr>
            <a:xfrm>
              <a:off x="2463165" y="2344102"/>
              <a:ext cx="3860482"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panose="020B0604020202020204"/>
                  <a:ea typeface="微软雅黑" panose="020B0503020204020204" charset="-122"/>
                  <a:cs typeface="Arial" panose="020B0604020202020204"/>
                </a:rPr>
                <a:t>文化设施供给持续增长，为文旅消费转化提供基础条件。</a:t>
              </a:r>
              <a:endParaRPr lang="zh-CN" sz="1050" dirty="0">
                <a:solidFill>
                  <a:srgbClr val="6B7280"/>
                </a:solidFill>
                <a:latin typeface="Arial" panose="020B0604020202020204"/>
                <a:ea typeface="微软雅黑" panose="020B0503020204020204" charset="-122"/>
                <a:cs typeface="Arial" panose="020B0604020202020204"/>
              </a:endParaRPr>
            </a:p>
          </p:txBody>
        </p:sp>
      </p:grpSp>
      <p:grpSp>
        <p:nvGrpSpPr>
          <p:cNvPr id="25" name="Group 25"/>
          <p:cNvGrpSpPr/>
          <p:nvPr/>
        </p:nvGrpSpPr>
        <p:grpSpPr>
          <a:xfrm>
            <a:off x="1466850" y="2990850"/>
            <a:ext cx="6282690" cy="757238"/>
            <a:chOff x="1466850" y="2990850"/>
            <a:chExt cx="6282690" cy="757238"/>
          </a:xfrm>
        </p:grpSpPr>
        <p:sp>
          <p:nvSpPr>
            <p:cNvPr id="18" name="Ellipse 18"/>
            <p:cNvSpPr/>
            <p:nvPr/>
          </p:nvSpPr>
          <p:spPr>
            <a:xfrm>
              <a:off x="1466850" y="2990850"/>
              <a:ext cx="495300" cy="495300"/>
            </a:xfrm>
            <a:prstGeom prst="ellipse">
              <a:avLst/>
            </a:prstGeom>
            <a:solidFill>
              <a:srgbClr val="2E6B8F">
                <a:alpha val="12000"/>
              </a:srgbClr>
            </a:solidFill>
            <a:ln>
              <a:noFill/>
            </a:ln>
          </p:spPr>
        </p:sp>
        <p:sp>
          <p:nvSpPr>
            <p:cNvPr id="19" name="Ellipse 19"/>
            <p:cNvSpPr/>
            <p:nvPr/>
          </p:nvSpPr>
          <p:spPr>
            <a:xfrm>
              <a:off x="1562100" y="3086100"/>
              <a:ext cx="304800" cy="304800"/>
            </a:xfrm>
            <a:prstGeom prst="ellipse">
              <a:avLst/>
            </a:prstGeom>
            <a:solidFill>
              <a:srgbClr val="2E6B8F"/>
            </a:solidFill>
            <a:ln>
              <a:noFill/>
            </a:ln>
          </p:spPr>
        </p:sp>
        <p:sp>
          <p:nvSpPr>
            <p:cNvPr id="20" name="TextBox 20"/>
            <p:cNvSpPr txBox="1"/>
            <p:nvPr/>
          </p:nvSpPr>
          <p:spPr>
            <a:xfrm>
              <a:off x="1619882" y="3180874"/>
              <a:ext cx="189236"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panose="020B0604020202020204"/>
                  <a:ea typeface="微软雅黑" panose="020B0503020204020204" charset="-122"/>
                  <a:cs typeface="Arial" panose="020B0604020202020204"/>
                </a:rPr>
                <a:t>02</a:t>
              </a:r>
              <a:endParaRPr lang="zh-CN" sz="975" b="1" dirty="0">
                <a:solidFill>
                  <a:srgbClr val="FFFFFF"/>
                </a:solidFill>
                <a:latin typeface="Arial" panose="020B0604020202020204"/>
                <a:ea typeface="微软雅黑" panose="020B0503020204020204" charset="-122"/>
                <a:cs typeface="Arial" panose="020B0604020202020204"/>
              </a:endParaRPr>
            </a:p>
          </p:txBody>
        </p:sp>
        <p:sp>
          <p:nvSpPr>
            <p:cNvPr id="21" name="Line 21"/>
            <p:cNvSpPr/>
            <p:nvPr/>
          </p:nvSpPr>
          <p:spPr>
            <a:xfrm>
              <a:off x="1962150" y="3238500"/>
              <a:ext cx="419100" cy="9525"/>
            </a:xfrm>
            <a:custGeom>
              <a:avLst/>
              <a:gdLst/>
              <a:ahLst/>
              <a:cxnLst/>
              <a:rect l="l" t="t" r="r" b="b"/>
              <a:pathLst>
                <a:path w="419100" h="9525">
                  <a:moveTo>
                    <a:pt x="0" y="0"/>
                  </a:moveTo>
                  <a:lnTo>
                    <a:pt x="419100" y="0"/>
                  </a:lnTo>
                </a:path>
              </a:pathLst>
            </a:custGeom>
            <a:noFill/>
            <a:ln w="19050">
              <a:solidFill>
                <a:srgbClr val="2E6B8F"/>
              </a:solidFill>
              <a:custDash>
                <a:ds d="200000" sp="150000"/>
              </a:custDash>
            </a:ln>
          </p:spPr>
        </p:sp>
        <p:sp>
          <p:nvSpPr>
            <p:cNvPr id="22" name="TextBox 22"/>
            <p:cNvSpPr txBox="1"/>
            <p:nvPr/>
          </p:nvSpPr>
          <p:spPr>
            <a:xfrm>
              <a:off x="2455545" y="2993708"/>
              <a:ext cx="1054036" cy="335280"/>
            </a:xfrm>
            <a:prstGeom prst="rect">
              <a:avLst/>
            </a:prstGeom>
            <a:noFill/>
            <a:ln>
              <a:noFill/>
            </a:ln>
          </p:spPr>
          <p:txBody>
            <a:bodyPr wrap="none" lIns="0" tIns="0" rIns="0" bIns="0" anchor="t" anchorCtr="0">
              <a:spAutoFit/>
            </a:bodyPr>
            <a:lstStyle/>
            <a:p>
              <a:pPr algn="l"/>
              <a:r>
                <a:rPr lang="zh-CN" sz="1650" b="1" dirty="0">
                  <a:solidFill>
                    <a:srgbClr val="2E6B8F"/>
                  </a:solidFill>
                  <a:latin typeface="Arial" panose="020B0604020202020204"/>
                  <a:ea typeface="微软雅黑" panose="020B0503020204020204" charset="-122"/>
                  <a:cs typeface="Arial" panose="020B0604020202020204"/>
                </a:rPr>
                <a:t>算法结论</a:t>
              </a:r>
              <a:endParaRPr lang="zh-CN" sz="1650" b="1" dirty="0">
                <a:solidFill>
                  <a:srgbClr val="2E6B8F"/>
                </a:solidFill>
                <a:latin typeface="Arial" panose="020B0604020202020204"/>
                <a:ea typeface="微软雅黑" panose="020B0503020204020204" charset="-122"/>
                <a:cs typeface="Arial" panose="020B0604020202020204"/>
              </a:endParaRPr>
            </a:p>
          </p:txBody>
        </p:sp>
        <p:sp>
          <p:nvSpPr>
            <p:cNvPr id="23" name="TextBox 23"/>
            <p:cNvSpPr txBox="1"/>
            <p:nvPr/>
          </p:nvSpPr>
          <p:spPr>
            <a:xfrm>
              <a:off x="2461260" y="3308985"/>
              <a:ext cx="5288280" cy="243840"/>
            </a:xfrm>
            <a:prstGeom prst="rect">
              <a:avLst/>
            </a:prstGeom>
            <a:noFill/>
            <a:ln>
              <a:noFill/>
            </a:ln>
          </p:spPr>
          <p:txBody>
            <a:bodyPr wrap="none" lIns="0" tIns="0" rIns="0" bIns="0" anchor="t" anchorCtr="0">
              <a:spAutoFit/>
            </a:bodyPr>
            <a:lstStyle/>
            <a:p>
              <a:pPr algn="l"/>
              <a:r>
                <a:rPr lang="zh-CN" sz="1200" dirty="0">
                  <a:solidFill>
                    <a:srgbClr val="1A1A2E"/>
                  </a:solidFill>
                  <a:latin typeface="Arial" panose="020B0604020202020204"/>
                  <a:ea typeface="微软雅黑" panose="020B0503020204020204" charset="-122"/>
                  <a:cs typeface="Arial" panose="020B0604020202020204"/>
                </a:rPr>
                <a:t>三点差分识别冲击，分段最小二乘比较模型，反事实缺口衡量恢复。</a:t>
              </a:r>
              <a:endParaRPr lang="zh-CN" sz="1200" dirty="0">
                <a:solidFill>
                  <a:srgbClr val="1A1A2E"/>
                </a:solidFill>
                <a:latin typeface="Arial" panose="020B0604020202020204"/>
                <a:ea typeface="微软雅黑" panose="020B0503020204020204" charset="-122"/>
                <a:cs typeface="Arial" panose="020B0604020202020204"/>
              </a:endParaRPr>
            </a:p>
          </p:txBody>
        </p:sp>
        <p:sp>
          <p:nvSpPr>
            <p:cNvPr id="24" name="TextBox 24"/>
            <p:cNvSpPr txBox="1"/>
            <p:nvPr/>
          </p:nvSpPr>
          <p:spPr>
            <a:xfrm>
              <a:off x="2463165" y="3534728"/>
              <a:ext cx="4013835"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panose="020B0604020202020204"/>
                  <a:ea typeface="微软雅黑" panose="020B0503020204020204" charset="-122"/>
                  <a:cs typeface="Arial" panose="020B0604020202020204"/>
                </a:rPr>
                <a:t>数值方法有效提取年度序列中的趋势、冲击和阶段性特征。</a:t>
              </a:r>
              <a:endParaRPr lang="zh-CN" sz="1050" dirty="0">
                <a:solidFill>
                  <a:srgbClr val="6B7280"/>
                </a:solidFill>
                <a:latin typeface="Arial" panose="020B0604020202020204"/>
                <a:ea typeface="微软雅黑" panose="020B0503020204020204" charset="-122"/>
                <a:cs typeface="Arial" panose="020B0604020202020204"/>
              </a:endParaRPr>
            </a:p>
          </p:txBody>
        </p:sp>
      </p:grpSp>
      <p:grpSp>
        <p:nvGrpSpPr>
          <p:cNvPr id="33" name="Group 33"/>
          <p:cNvGrpSpPr/>
          <p:nvPr/>
        </p:nvGrpSpPr>
        <p:grpSpPr>
          <a:xfrm>
            <a:off x="1466850" y="4181475"/>
            <a:ext cx="5932170" cy="757237"/>
            <a:chOff x="1466850" y="4181475"/>
            <a:chExt cx="5932170" cy="757237"/>
          </a:xfrm>
        </p:grpSpPr>
        <p:sp>
          <p:nvSpPr>
            <p:cNvPr id="26" name="Ellipse 26"/>
            <p:cNvSpPr/>
            <p:nvPr/>
          </p:nvSpPr>
          <p:spPr>
            <a:xfrm>
              <a:off x="1466850" y="4181475"/>
              <a:ext cx="495300" cy="495300"/>
            </a:xfrm>
            <a:prstGeom prst="ellipse">
              <a:avLst/>
            </a:prstGeom>
            <a:solidFill>
              <a:srgbClr val="C8963E">
                <a:alpha val="12000"/>
              </a:srgbClr>
            </a:solidFill>
            <a:ln>
              <a:noFill/>
            </a:ln>
          </p:spPr>
        </p:sp>
        <p:sp>
          <p:nvSpPr>
            <p:cNvPr id="27" name="Ellipse 27"/>
            <p:cNvSpPr/>
            <p:nvPr/>
          </p:nvSpPr>
          <p:spPr>
            <a:xfrm>
              <a:off x="1562100" y="4276725"/>
              <a:ext cx="304800" cy="304800"/>
            </a:xfrm>
            <a:prstGeom prst="ellipse">
              <a:avLst/>
            </a:prstGeom>
            <a:solidFill>
              <a:srgbClr val="C8963E"/>
            </a:solidFill>
            <a:ln>
              <a:noFill/>
            </a:ln>
          </p:spPr>
        </p:sp>
        <p:sp>
          <p:nvSpPr>
            <p:cNvPr id="28" name="TextBox 28"/>
            <p:cNvSpPr txBox="1"/>
            <p:nvPr/>
          </p:nvSpPr>
          <p:spPr>
            <a:xfrm>
              <a:off x="1619882" y="4371499"/>
              <a:ext cx="189236"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panose="020B0604020202020204"/>
                  <a:ea typeface="微软雅黑" panose="020B0503020204020204" charset="-122"/>
                  <a:cs typeface="Arial" panose="020B0604020202020204"/>
                </a:rPr>
                <a:t>03</a:t>
              </a:r>
              <a:endParaRPr lang="zh-CN" sz="975" b="1" dirty="0">
                <a:solidFill>
                  <a:srgbClr val="FFFFFF"/>
                </a:solidFill>
                <a:latin typeface="Arial" panose="020B0604020202020204"/>
                <a:ea typeface="微软雅黑" panose="020B0503020204020204" charset="-122"/>
                <a:cs typeface="Arial" panose="020B0604020202020204"/>
              </a:endParaRPr>
            </a:p>
          </p:txBody>
        </p:sp>
        <p:sp>
          <p:nvSpPr>
            <p:cNvPr id="29" name="Line 29"/>
            <p:cNvSpPr/>
            <p:nvPr/>
          </p:nvSpPr>
          <p:spPr>
            <a:xfrm>
              <a:off x="1962150" y="4429125"/>
              <a:ext cx="419100" cy="9525"/>
            </a:xfrm>
            <a:custGeom>
              <a:avLst/>
              <a:gdLst/>
              <a:ahLst/>
              <a:cxnLst/>
              <a:rect l="l" t="t" r="r" b="b"/>
              <a:pathLst>
                <a:path w="419100" h="9525">
                  <a:moveTo>
                    <a:pt x="0" y="0"/>
                  </a:moveTo>
                  <a:lnTo>
                    <a:pt x="419100" y="0"/>
                  </a:lnTo>
                </a:path>
              </a:pathLst>
            </a:custGeom>
            <a:noFill/>
            <a:ln w="19050">
              <a:solidFill>
                <a:srgbClr val="C8963E"/>
              </a:solidFill>
              <a:custDash>
                <a:ds d="200000" sp="150000"/>
              </a:custDash>
            </a:ln>
          </p:spPr>
        </p:sp>
        <p:sp>
          <p:nvSpPr>
            <p:cNvPr id="30" name="TextBox 30"/>
            <p:cNvSpPr txBox="1"/>
            <p:nvPr/>
          </p:nvSpPr>
          <p:spPr>
            <a:xfrm>
              <a:off x="2455545" y="4184332"/>
              <a:ext cx="1054036" cy="335280"/>
            </a:xfrm>
            <a:prstGeom prst="rect">
              <a:avLst/>
            </a:prstGeom>
            <a:noFill/>
            <a:ln>
              <a:noFill/>
            </a:ln>
          </p:spPr>
          <p:txBody>
            <a:bodyPr wrap="none" lIns="0" tIns="0" rIns="0" bIns="0" anchor="t" anchorCtr="0">
              <a:spAutoFit/>
            </a:bodyPr>
            <a:lstStyle/>
            <a:p>
              <a:pPr algn="l"/>
              <a:r>
                <a:rPr lang="zh-CN" sz="1650" b="1" dirty="0">
                  <a:solidFill>
                    <a:srgbClr val="C8963E"/>
                  </a:solidFill>
                  <a:latin typeface="Arial" panose="020B0604020202020204"/>
                  <a:ea typeface="微软雅黑" panose="020B0503020204020204" charset="-122"/>
                  <a:cs typeface="Arial" panose="020B0604020202020204"/>
                </a:rPr>
                <a:t>政策结论</a:t>
              </a:r>
              <a:endParaRPr lang="zh-CN" sz="1650" b="1" dirty="0">
                <a:solidFill>
                  <a:srgbClr val="C8963E"/>
                </a:solidFill>
                <a:latin typeface="Arial" panose="020B0604020202020204"/>
                <a:ea typeface="微软雅黑" panose="020B0503020204020204" charset="-122"/>
                <a:cs typeface="Arial" panose="020B0604020202020204"/>
              </a:endParaRPr>
            </a:p>
          </p:txBody>
        </p:sp>
        <p:sp>
          <p:nvSpPr>
            <p:cNvPr id="31" name="TextBox 31"/>
            <p:cNvSpPr txBox="1"/>
            <p:nvPr/>
          </p:nvSpPr>
          <p:spPr>
            <a:xfrm>
              <a:off x="2461260" y="4499610"/>
              <a:ext cx="4937760" cy="243840"/>
            </a:xfrm>
            <a:prstGeom prst="rect">
              <a:avLst/>
            </a:prstGeom>
            <a:noFill/>
            <a:ln>
              <a:noFill/>
            </a:ln>
          </p:spPr>
          <p:txBody>
            <a:bodyPr wrap="none" lIns="0" tIns="0" rIns="0" bIns="0" anchor="t" anchorCtr="0">
              <a:spAutoFit/>
            </a:bodyPr>
            <a:lstStyle/>
            <a:p>
              <a:pPr algn="l"/>
              <a:r>
                <a:rPr lang="zh-CN" sz="1200" dirty="0">
                  <a:solidFill>
                    <a:srgbClr val="1A1A2E"/>
                  </a:solidFill>
                  <a:latin typeface="Arial" panose="020B0604020202020204"/>
                  <a:ea typeface="微软雅黑" panose="020B0503020204020204" charset="-122"/>
                  <a:cs typeface="Arial" panose="020B0604020202020204"/>
                </a:rPr>
                <a:t>线上预约、智慧导览与数字展陈提升连接效率，推动消费转化。</a:t>
              </a:r>
              <a:endParaRPr lang="zh-CN" sz="1200" dirty="0">
                <a:solidFill>
                  <a:srgbClr val="1A1A2E"/>
                </a:solidFill>
                <a:latin typeface="Arial" panose="020B0604020202020204"/>
                <a:ea typeface="微软雅黑" panose="020B0503020204020204" charset="-122"/>
                <a:cs typeface="Arial" panose="020B0604020202020204"/>
              </a:endParaRPr>
            </a:p>
          </p:txBody>
        </p:sp>
        <p:sp>
          <p:nvSpPr>
            <p:cNvPr id="32" name="TextBox 32"/>
            <p:cNvSpPr txBox="1"/>
            <p:nvPr/>
          </p:nvSpPr>
          <p:spPr>
            <a:xfrm>
              <a:off x="2463165" y="4725352"/>
              <a:ext cx="4013835" cy="213360"/>
            </a:xfrm>
            <a:prstGeom prst="rect">
              <a:avLst/>
            </a:prstGeom>
            <a:noFill/>
            <a:ln>
              <a:noFill/>
            </a:ln>
          </p:spPr>
          <p:txBody>
            <a:bodyPr wrap="none" lIns="0" tIns="0" rIns="0" bIns="0" anchor="t" anchorCtr="0">
              <a:spAutoFit/>
            </a:bodyPr>
            <a:lstStyle/>
            <a:p>
              <a:pPr algn="l"/>
              <a:r>
                <a:rPr lang="zh-CN" sz="1050" dirty="0">
                  <a:solidFill>
                    <a:srgbClr val="6B7280"/>
                  </a:solidFill>
                  <a:latin typeface="Arial" panose="020B0604020202020204"/>
                  <a:ea typeface="微软雅黑" panose="020B0503020204020204" charset="-122"/>
                  <a:cs typeface="Arial" panose="020B0604020202020204"/>
                </a:rPr>
                <a:t>数字技术连接文化供给与文旅消费，提升转化效率是关键。</a:t>
              </a:r>
              <a:endParaRPr lang="zh-CN" sz="1050" dirty="0">
                <a:solidFill>
                  <a:srgbClr val="6B7280"/>
                </a:solidFill>
                <a:latin typeface="Arial" panose="020B0604020202020204"/>
                <a:ea typeface="微软雅黑" panose="020B0503020204020204" charset="-122"/>
                <a:cs typeface="Arial" panose="020B0604020202020204"/>
              </a:endParaRPr>
            </a:p>
          </p:txBody>
        </p:sp>
      </p:grpSp>
      <p:grpSp>
        <p:nvGrpSpPr>
          <p:cNvPr id="39" name="Group 39"/>
          <p:cNvGrpSpPr/>
          <p:nvPr/>
        </p:nvGrpSpPr>
        <p:grpSpPr>
          <a:xfrm>
            <a:off x="2476500" y="5143500"/>
            <a:ext cx="9144000" cy="457200"/>
            <a:chOff x="2476500" y="5143500"/>
            <a:chExt cx="9144000" cy="457200"/>
          </a:xfrm>
        </p:grpSpPr>
        <p:sp>
          <p:nvSpPr>
            <p:cNvPr id="34" name="Rectangle 34"/>
            <p:cNvSpPr/>
            <p:nvPr/>
          </p:nvSpPr>
          <p:spPr>
            <a:xfrm>
              <a:off x="2476500" y="5143500"/>
              <a:ext cx="9144000" cy="457200"/>
            </a:xfrm>
            <a:prstGeom prst="roundRect">
              <a:avLst>
                <a:gd name="adj" fmla="val 16667"/>
              </a:avLst>
            </a:prstGeom>
            <a:solidFill>
              <a:srgbClr val="1A3A5C">
                <a:alpha val="6000"/>
              </a:srgbClr>
            </a:solidFill>
            <a:ln>
              <a:noFill/>
            </a:ln>
          </p:spPr>
        </p:sp>
        <p:grpSp>
          <p:nvGrpSpPr>
            <p:cNvPr id="37" name="Group 37"/>
            <p:cNvGrpSpPr/>
            <p:nvPr/>
          </p:nvGrpSpPr>
          <p:grpSpPr>
            <a:xfrm>
              <a:off x="2744197" y="5364531"/>
              <a:ext cx="131214" cy="167113"/>
              <a:chOff x="2744197" y="5364531"/>
              <a:chExt cx="131214" cy="167113"/>
            </a:xfrm>
          </p:grpSpPr>
          <p:sp>
            <p:nvSpPr>
              <p:cNvPr id="35" name="Freeform 35"/>
              <p:cNvSpPr/>
              <p:nvPr/>
            </p:nvSpPr>
            <p:spPr>
              <a:xfrm>
                <a:off x="2750165" y="5370522"/>
                <a:ext cx="119257" cy="131356"/>
              </a:xfrm>
              <a:custGeom>
                <a:avLst/>
                <a:gdLst/>
                <a:ahLst/>
                <a:cxnLst/>
                <a:rect l="l" t="t" r="r" b="b"/>
                <a:pathLst>
                  <a:path w="119257" h="131356">
                    <a:moveTo>
                      <a:pt x="119241" y="59918"/>
                    </a:moveTo>
                    <a:cubicBezTo>
                      <a:pt x="119257" y="78195"/>
                      <a:pt x="110862" y="95463"/>
                      <a:pt x="96478" y="106740"/>
                    </a:cubicBezTo>
                    <a:cubicBezTo>
                      <a:pt x="92085" y="110144"/>
                      <a:pt x="89503" y="115380"/>
                      <a:pt x="89475" y="120938"/>
                    </a:cubicBezTo>
                    <a:lnTo>
                      <a:pt x="89475" y="125403"/>
                    </a:lnTo>
                    <a:cubicBezTo>
                      <a:pt x="89475" y="128690"/>
                      <a:pt x="86810" y="131356"/>
                      <a:pt x="83522" y="131356"/>
                    </a:cubicBezTo>
                    <a:lnTo>
                      <a:pt x="35897" y="131356"/>
                    </a:lnTo>
                    <a:cubicBezTo>
                      <a:pt x="32610" y="131356"/>
                      <a:pt x="29944" y="128690"/>
                      <a:pt x="29944" y="125403"/>
                    </a:cubicBezTo>
                    <a:lnTo>
                      <a:pt x="29944" y="120938"/>
                    </a:lnTo>
                    <a:cubicBezTo>
                      <a:pt x="29938" y="115410"/>
                      <a:pt x="27385" y="110194"/>
                      <a:pt x="23024" y="106799"/>
                    </a:cubicBezTo>
                    <a:cubicBezTo>
                      <a:pt x="8686" y="95598"/>
                      <a:pt x="268" y="78447"/>
                      <a:pt x="179" y="60253"/>
                    </a:cubicBezTo>
                    <a:cubicBezTo>
                      <a:pt x="0" y="27987"/>
                      <a:pt x="26015" y="1131"/>
                      <a:pt x="58274" y="387"/>
                    </a:cubicBezTo>
                    <a:cubicBezTo>
                      <a:pt x="74310" y="0"/>
                      <a:pt x="89823" y="6101"/>
                      <a:pt x="101300" y="17307"/>
                    </a:cubicBezTo>
                    <a:cubicBezTo>
                      <a:pt x="112777" y="28514"/>
                      <a:pt x="119246" y="43878"/>
                      <a:pt x="119241" y="59918"/>
                    </a:cubicBezTo>
                    <a:close/>
                  </a:path>
                </a:pathLst>
              </a:custGeom>
              <a:solidFill>
                <a:srgbClr val="C8963E">
                  <a:alpha val="20000"/>
                </a:srgbClr>
              </a:solidFill>
              <a:ln>
                <a:noFill/>
              </a:ln>
            </p:spPr>
          </p:sp>
          <p:sp>
            <p:nvSpPr>
              <p:cNvPr id="36" name="Freeform 36"/>
              <p:cNvSpPr/>
              <p:nvPr/>
            </p:nvSpPr>
            <p:spPr>
              <a:xfrm>
                <a:off x="2744197" y="5364531"/>
                <a:ext cx="131214" cy="167113"/>
              </a:xfrm>
              <a:custGeom>
                <a:avLst/>
                <a:gdLst/>
                <a:ahLst/>
                <a:cxnLst/>
                <a:rect l="l" t="t" r="r" b="b"/>
                <a:pathLst>
                  <a:path w="131214" h="167113">
                    <a:moveTo>
                      <a:pt x="101397" y="161159"/>
                    </a:moveTo>
                    <a:cubicBezTo>
                      <a:pt x="101397" y="164447"/>
                      <a:pt x="98731" y="167113"/>
                      <a:pt x="95443" y="167113"/>
                    </a:cubicBezTo>
                    <a:lnTo>
                      <a:pt x="35912" y="167113"/>
                    </a:lnTo>
                    <a:cubicBezTo>
                      <a:pt x="32624" y="167113"/>
                      <a:pt x="29959" y="164447"/>
                      <a:pt x="29959" y="161159"/>
                    </a:cubicBezTo>
                    <a:cubicBezTo>
                      <a:pt x="29959" y="157872"/>
                      <a:pt x="32624" y="155206"/>
                      <a:pt x="35912" y="155206"/>
                    </a:cubicBezTo>
                    <a:lnTo>
                      <a:pt x="95443" y="155206"/>
                    </a:lnTo>
                    <a:cubicBezTo>
                      <a:pt x="98731" y="155206"/>
                      <a:pt x="101397" y="157872"/>
                      <a:pt x="101397" y="161159"/>
                    </a:cubicBezTo>
                    <a:close/>
                    <a:moveTo>
                      <a:pt x="131162" y="65909"/>
                    </a:moveTo>
                    <a:cubicBezTo>
                      <a:pt x="131214" y="86020"/>
                      <a:pt x="121975" y="105028"/>
                      <a:pt x="106129" y="117411"/>
                    </a:cubicBezTo>
                    <a:cubicBezTo>
                      <a:pt x="103166" y="119683"/>
                      <a:pt x="101419" y="123196"/>
                      <a:pt x="101397" y="126929"/>
                    </a:cubicBezTo>
                    <a:lnTo>
                      <a:pt x="101397" y="131394"/>
                    </a:lnTo>
                    <a:cubicBezTo>
                      <a:pt x="101397" y="137969"/>
                      <a:pt x="96066" y="143300"/>
                      <a:pt x="89490" y="143300"/>
                    </a:cubicBezTo>
                    <a:lnTo>
                      <a:pt x="41865" y="143300"/>
                    </a:lnTo>
                    <a:cubicBezTo>
                      <a:pt x="35290" y="143300"/>
                      <a:pt x="29959" y="137969"/>
                      <a:pt x="29959" y="131394"/>
                    </a:cubicBezTo>
                    <a:lnTo>
                      <a:pt x="29959" y="126929"/>
                    </a:lnTo>
                    <a:cubicBezTo>
                      <a:pt x="29957" y="123240"/>
                      <a:pt x="28244" y="119761"/>
                      <a:pt x="25323" y="117508"/>
                    </a:cubicBezTo>
                    <a:cubicBezTo>
                      <a:pt x="9518" y="105199"/>
                      <a:pt x="252" y="86306"/>
                      <a:pt x="193" y="66274"/>
                    </a:cubicBezTo>
                    <a:cubicBezTo>
                      <a:pt x="0" y="30808"/>
                      <a:pt x="28664" y="1273"/>
                      <a:pt x="64100" y="425"/>
                    </a:cubicBezTo>
                    <a:cubicBezTo>
                      <a:pt x="81740" y="0"/>
                      <a:pt x="98804" y="6711"/>
                      <a:pt x="111428" y="19038"/>
                    </a:cubicBezTo>
                    <a:cubicBezTo>
                      <a:pt x="124052" y="31365"/>
                      <a:pt x="131167" y="48265"/>
                      <a:pt x="131162" y="65909"/>
                    </a:cubicBezTo>
                    <a:close/>
                    <a:moveTo>
                      <a:pt x="119256" y="65909"/>
                    </a:moveTo>
                    <a:cubicBezTo>
                      <a:pt x="119260" y="51472"/>
                      <a:pt x="113438" y="37645"/>
                      <a:pt x="103108" y="27559"/>
                    </a:cubicBezTo>
                    <a:cubicBezTo>
                      <a:pt x="92779" y="17473"/>
                      <a:pt x="78816" y="11982"/>
                      <a:pt x="64383" y="12331"/>
                    </a:cubicBezTo>
                    <a:cubicBezTo>
                      <a:pt x="35362" y="13016"/>
                      <a:pt x="11943" y="37178"/>
                      <a:pt x="12100" y="66200"/>
                    </a:cubicBezTo>
                    <a:cubicBezTo>
                      <a:pt x="12155" y="82583"/>
                      <a:pt x="19739" y="98032"/>
                      <a:pt x="32668" y="108095"/>
                    </a:cubicBezTo>
                    <a:cubicBezTo>
                      <a:pt x="38480" y="112613"/>
                      <a:pt x="41876" y="119567"/>
                      <a:pt x="41865" y="126929"/>
                    </a:cubicBezTo>
                    <a:lnTo>
                      <a:pt x="41865" y="131394"/>
                    </a:lnTo>
                    <a:lnTo>
                      <a:pt x="89490" y="131394"/>
                    </a:lnTo>
                    <a:lnTo>
                      <a:pt x="89490" y="126929"/>
                    </a:lnTo>
                    <a:cubicBezTo>
                      <a:pt x="89507" y="119546"/>
                      <a:pt x="92932" y="112584"/>
                      <a:pt x="98770" y="108065"/>
                    </a:cubicBezTo>
                    <a:cubicBezTo>
                      <a:pt x="111740" y="97929"/>
                      <a:pt x="119301" y="82370"/>
                      <a:pt x="119256" y="65909"/>
                    </a:cubicBezTo>
                    <a:close/>
                    <a:moveTo>
                      <a:pt x="107268" y="58959"/>
                    </a:moveTo>
                    <a:cubicBezTo>
                      <a:pt x="104106" y="41300"/>
                      <a:pt x="90281" y="27477"/>
                      <a:pt x="72621" y="24319"/>
                    </a:cubicBezTo>
                    <a:cubicBezTo>
                      <a:pt x="69378" y="23773"/>
                      <a:pt x="66306" y="25958"/>
                      <a:pt x="65760" y="29201"/>
                    </a:cubicBezTo>
                    <a:cubicBezTo>
                      <a:pt x="65213" y="32444"/>
                      <a:pt x="67399" y="35515"/>
                      <a:pt x="70641" y="36062"/>
                    </a:cubicBezTo>
                    <a:cubicBezTo>
                      <a:pt x="82972" y="38138"/>
                      <a:pt x="93434" y="48601"/>
                      <a:pt x="95525" y="60953"/>
                    </a:cubicBezTo>
                    <a:cubicBezTo>
                      <a:pt x="96012" y="63816"/>
                      <a:pt x="98493" y="65911"/>
                      <a:pt x="101397" y="65909"/>
                    </a:cubicBezTo>
                    <a:cubicBezTo>
                      <a:pt x="101733" y="65907"/>
                      <a:pt x="102069" y="65880"/>
                      <a:pt x="102401" y="65828"/>
                    </a:cubicBezTo>
                    <a:cubicBezTo>
                      <a:pt x="105641" y="65274"/>
                      <a:pt x="107820" y="62200"/>
                      <a:pt x="107268" y="58959"/>
                    </a:cubicBezTo>
                    <a:close/>
                  </a:path>
                </a:pathLst>
              </a:custGeom>
              <a:solidFill>
                <a:srgbClr val="C8963E"/>
              </a:solidFill>
              <a:ln>
                <a:noFill/>
              </a:ln>
            </p:spPr>
          </p:sp>
        </p:grpSp>
        <p:sp>
          <p:nvSpPr>
            <p:cNvPr id="38" name="TextBox 38"/>
            <p:cNvSpPr txBox="1"/>
            <p:nvPr/>
          </p:nvSpPr>
          <p:spPr>
            <a:xfrm>
              <a:off x="2985135" y="5299710"/>
              <a:ext cx="6728917" cy="243840"/>
            </a:xfrm>
            <a:prstGeom prst="rect">
              <a:avLst/>
            </a:prstGeom>
            <a:noFill/>
            <a:ln>
              <a:noFill/>
            </a:ln>
          </p:spPr>
          <p:txBody>
            <a:bodyPr wrap="none" lIns="0" tIns="0" rIns="0" bIns="0" anchor="t" anchorCtr="0">
              <a:spAutoFit/>
            </a:bodyPr>
            <a:lstStyle/>
            <a:p>
              <a:pPr algn="l"/>
              <a:r>
                <a:rPr lang="zh-CN" sz="1200" b="1" dirty="0">
                  <a:solidFill>
                    <a:srgbClr val="1A3A5C"/>
                  </a:solidFill>
                  <a:latin typeface="Arial" panose="020B0604020202020204"/>
                  <a:ea typeface="微软雅黑" panose="020B0503020204020204" charset="-122"/>
                  <a:cs typeface="Arial" panose="020B0604020202020204"/>
                </a:rPr>
                <a:t>汇报亮点：用数值方法解释"文化供给扩张 — 数字化连接 — 文旅消费转化"的链条。</a:t>
              </a:r>
              <a:endParaRPr lang="zh-CN" sz="1200" b="1" dirty="0">
                <a:solidFill>
                  <a:srgbClr val="1A3A5C"/>
                </a:solidFill>
                <a:latin typeface="Arial" panose="020B0604020202020204"/>
                <a:ea typeface="微软雅黑" panose="020B0503020204020204" charset="-122"/>
                <a:cs typeface="Arial" panose="020B0604020202020204"/>
              </a:endParaRPr>
            </a:p>
          </p:txBody>
        </p:sp>
      </p:grpSp>
      <p:grpSp>
        <p:nvGrpSpPr>
          <p:cNvPr id="42" name="Group 42"/>
          <p:cNvGrpSpPr/>
          <p:nvPr/>
        </p:nvGrpSpPr>
        <p:grpSpPr>
          <a:xfrm>
            <a:off x="560070" y="6522720"/>
            <a:ext cx="11070907" cy="182880"/>
            <a:chOff x="560070" y="6522720"/>
            <a:chExt cx="11070907" cy="182880"/>
          </a:xfrm>
        </p:grpSpPr>
        <p:sp>
          <p:nvSpPr>
            <p:cNvPr id="40" name="TextBox 40"/>
            <p:cNvSpPr txBox="1"/>
            <p:nvPr/>
          </p:nvSpPr>
          <p:spPr>
            <a:xfrm>
              <a:off x="560070" y="6522720"/>
              <a:ext cx="1357027" cy="182880"/>
            </a:xfrm>
            <a:prstGeom prst="rect">
              <a:avLst/>
            </a:prstGeom>
            <a:noFill/>
            <a:ln>
              <a:noFill/>
            </a:ln>
          </p:spPr>
          <p:txBody>
            <a:bodyPr wrap="none" lIns="0" tIns="0" rIns="0" bIns="0" anchor="t" anchorCtr="0">
              <a:spAutoFit/>
            </a:bodyPr>
            <a:lstStyle/>
            <a:p>
              <a:pPr algn="l"/>
              <a:r>
                <a:rPr lang="zh-CN" sz="900" dirty="0">
                  <a:solidFill>
                    <a:srgbClr val="9CA3AF"/>
                  </a:solidFill>
                  <a:latin typeface="Arial" panose="020B0604020202020204"/>
                  <a:ea typeface="微软雅黑" panose="020B0503020204020204" charset="-122"/>
                  <a:cs typeface="Arial" panose="020B0604020202020204"/>
                </a:rPr>
                <a:t>Source: 团队综合分析</a:t>
              </a:r>
              <a:endParaRPr lang="zh-CN" sz="900" dirty="0">
                <a:solidFill>
                  <a:srgbClr val="9CA3AF"/>
                </a:solidFill>
                <a:latin typeface="Arial" panose="020B0604020202020204"/>
                <a:ea typeface="微软雅黑" panose="020B0503020204020204" charset="-122"/>
                <a:cs typeface="Arial" panose="020B0604020202020204"/>
              </a:endParaRPr>
            </a:p>
          </p:txBody>
        </p:sp>
        <p:sp>
          <p:nvSpPr>
            <p:cNvPr id="41" name="TextBox 41"/>
            <p:cNvSpPr txBox="1"/>
            <p:nvPr/>
          </p:nvSpPr>
          <p:spPr>
            <a:xfrm>
              <a:off x="11266622" y="6530816"/>
              <a:ext cx="364355" cy="167640"/>
            </a:xfrm>
            <a:prstGeom prst="rect">
              <a:avLst/>
            </a:prstGeom>
            <a:noFill/>
            <a:ln>
              <a:noFill/>
            </a:ln>
          </p:spPr>
          <p:txBody>
            <a:bodyPr wrap="none" lIns="0" tIns="0" rIns="0" bIns="0" anchor="t" anchorCtr="0">
              <a:spAutoFit/>
            </a:bodyPr>
            <a:lstStyle/>
            <a:p>
              <a:pPr algn="r"/>
              <a:r>
                <a:rPr lang="zh-CN" sz="825" dirty="0">
                  <a:solidFill>
                    <a:srgbClr val="9CA3AF"/>
                  </a:solidFill>
                  <a:latin typeface="Arial" panose="020B0604020202020204"/>
                  <a:ea typeface="微软雅黑" panose="020B0503020204020204" charset="-122"/>
                  <a:cs typeface="Arial" panose="020B0604020202020204"/>
                </a:rPr>
                <a:t>12 / 12</a:t>
              </a:r>
              <a:endParaRPr lang="zh-CN" sz="825" dirty="0">
                <a:solidFill>
                  <a:srgbClr val="9CA3AF"/>
                </a:solidFill>
                <a:latin typeface="Arial" panose="020B0604020202020204"/>
                <a:ea typeface="微软雅黑" panose="020B0503020204020204" charset="-122"/>
                <a:cs typeface="Arial" panose="020B0604020202020204"/>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dissolve">
                                      <p:cBhvr>
                                        <p:cTn id="11" dur="400"/>
                                        <p:tgtEl>
                                          <p:spTgt spid="25"/>
                                        </p:tgtEl>
                                      </p:cBhvr>
                                    </p:animEffect>
                                  </p:childTnLst>
                                </p:cTn>
                              </p:par>
                            </p:childTnLst>
                          </p:cTn>
                        </p:par>
                        <p:par>
                          <p:cTn id="12" fill="hold">
                            <p:stCondLst>
                              <p:cond delay="1000"/>
                            </p:stCondLst>
                            <p:childTnLst>
                              <p:par>
                                <p:cTn id="13" presetID="2" presetClass="entr" presetSubtype="4"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slide(fromBottom)">
                                      <p:cBhvr>
                                        <p:cTn id="15" dur="400"/>
                                        <p:tgtEl>
                                          <p:spTgt spid="33"/>
                                        </p:tgtEl>
                                      </p:cBhvr>
                                    </p:animEffect>
                                  </p:childTnLst>
                                </p:cTn>
                              </p:par>
                            </p:childTnLst>
                          </p:cTn>
                        </p:par>
                        <p:par>
                          <p:cTn id="16" fill="hold">
                            <p:stCondLst>
                              <p:cond delay="1500"/>
                            </p:stCondLst>
                            <p:childTnLst>
                              <p:par>
                                <p:cTn id="17" presetID="42" presetClass="entr" presetSubtype="0" fill="hold" nodeType="afterEffect">
                                  <p:stCondLst>
                                    <p:cond delay="0"/>
                                  </p:stCondLst>
                                  <p:childTnLst>
                                    <p:set>
                                      <p:cBhvr>
                                        <p:cTn id="18" dur="1" fill="hold">
                                          <p:stCondLst>
                                            <p:cond delay="0"/>
                                          </p:stCondLst>
                                        </p:cTn>
                                        <p:tgtEl>
                                          <p:spTgt spid="39"/>
                                        </p:tgtEl>
                                        <p:attrNameLst>
                                          <p:attrName>style.visibility</p:attrName>
                                        </p:attrNameLst>
                                      </p:cBhvr>
                                      <p:to>
                                        <p:strVal val="visible"/>
                                      </p:to>
                                    </p:set>
                                    <p:animEffect transition="in" filter="slide(fromLeft)">
                                      <p:cBhvr>
                                        <p:cTn id="19" dur="4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5" grpId="0"/>
      <p:bldP spid="33" grpId="0"/>
      <p:bldP spid="39"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4199</Words>
  <Application>WPS 演示</Application>
  <PresentationFormat>On-screen Show (4:3)</PresentationFormat>
  <Paragraphs>717</Paragraphs>
  <Slides>12</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12</vt:i4>
      </vt:variant>
    </vt:vector>
  </HeadingPairs>
  <TitlesOfParts>
    <vt:vector size="23" baseType="lpstr">
      <vt:lpstr>Arial</vt:lpstr>
      <vt:lpstr>宋体</vt:lpstr>
      <vt:lpstr>Wingdings</vt:lpstr>
      <vt:lpstr>Arial</vt:lpstr>
      <vt:lpstr>Georgia</vt:lpstr>
      <vt:lpstr>楷体</vt:lpstr>
      <vt:lpstr>微软雅黑</vt:lpstr>
      <vt:lpstr>Consolas</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丁逸夫</cp:lastModifiedBy>
  <cp:revision>2</cp:revision>
  <dcterms:created xsi:type="dcterms:W3CDTF">2013-01-27T09:14:00Z</dcterms:created>
  <dcterms:modified xsi:type="dcterms:W3CDTF">2026-05-21T19:02:46Z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2052-12.1.0.25865</vt:lpwstr>
  </property>
  <property fmtid="{D5CDD505-2E9C-101B-9397-08002B2CF9AE}" pid="3" name="ICV">
    <vt:lpwstr>391AFD4C861A49FFB75EF0A9C533EDED_13</vt:lpwstr>
  </property>
</Properties>
</file>