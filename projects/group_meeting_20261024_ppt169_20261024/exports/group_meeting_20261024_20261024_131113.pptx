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各位老师同学好，今天汇报我这两周的工作。主线是一件事：我们是怎么对照 drawio 图重构 subcore RTL 的，这样做带来了什么，暴露了什么问题，以及我们想用 FML 作为中间 IR，把这套做法变成一个固定的流程。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先给一条线。第一，我们先画目标图，再让 AI 对照图一条一条改 RTL，两周一百三十个提交，每个都过三道检查。第二，改完之后顶层少了百分之四十三，一级一个模块，结构检查零不一致，周期也没有变差。第三，问题在于现在的标准是一张图，它只说有什么、怎么连，不说每一拍做什么，所以还是有六个功能全过、问题照样漏掉的案例。第四，我们的解法是把标准换成一个能跑的 FML 模型，S1 原型上第四十八拍、一秒之内就抓到了当时 RTL 端到端判过的错误。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第一部分，先讲我们是怎么重构的。概括起来就三个字：图、改、验。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这是现在的流程。源头是一份结构数据，由它生成十一号目标图；把图和现有 RTL 对比，得到一份修改清单，分 A 到 D 四类；AI 按清单一条一个提交地去改，每次改完过功能、断言、结构三道检查。关键的一点是图先于代码，AI 不自己决定结构。实现中发现设计问题时，先回去改结构数据、重新出图，再继续写，这就是红色虚线。右下角是一个完整的例子：变长 VALU 走 credit 这一条，先定决策、改图，再写 RTL，最后验收时 port_pressure 快了百分之七点二。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这是对照的那张图，十一号图 v2。主干是七个大级，每级一个模块；变长指令在 S3 推进队列交给各自的前门；反向只走寄存的事件通道。细节今天不展开，大家知道 RTL 是对照这张图改的就可以。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第二部分，重构前后的 RTL 到底有什么区别，好处是什么。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先看原来的写法是怎么来的。左下角是它的蓝本，性能模型的 process_issue，一个函数大约八百行：选候选、选 warp、查预约、算读几轮哪拍写回、算 credit 什么时候还、算依赖什么时候释放，全在发射这一个事件里算完。后面几级在模型里不是一级，只是一个时间偏移，比如发射后两拍到达队列头，就是 tick 加二。这对性能模型没问题，它要的就是又快又准的拍数。但 AI 照着它翻译 RTL，就成了上面这一拍：今天的 S2、S3 和 S4 的 allocate 挤在一起，模型里的未来第几拍，在 RTL 里变成了现在忙不忙，执行单元当拍给出 busy，S2 当拍看它决定发不发。数据依赖原来就靠 stall 和 scoreboard，这部分没变。这种写法功能正确、性能也够，但划不出级边界，这是可维护性和可验证性的问题。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流水结构不清晰，麻烦出在维护和验证上。第一，可维护性：资源冲突靠现查当拍的 busy，S2 和执行单元之间就插不了寄存器。G3b 加 S2/S3 寄存器时，第一步只能先用保守的 allocate 兜住，下一步换成 S4 预约表才算稳。第二，可验证性：状态都堆在顶层和一个五千行的执行模块里，没有可以单独检查的一级，验证只剩端到端用例，只知道结果错了，不知道错在哪。第三，也是真正出过事的：约束是隐式的。原来每个 warp 只有一个 head，天然隔拍发射，ITS 发射后下一拍才推进 PC，两者正好对上，但没人写下来。G2 改成两项 FIFO 后，iadd3 照样通过，PC 却晚了一拍，最后靠看波形才找到。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这张表和前两页对应。一拍组合链按级切开，S2 的发射条件只剩选中、credit 够、S3 收得下；现查 busy 换成固定路径预约、变长路径 credit，级间就可以放寄存器；状态有了主人，顶层只剩连线；隐式约束写进了规范，反向只走寄存事件。重构后整体周期基本不变，代码多了百分之八，收益在结构清晰、每一级可以单独检查和替换，而不在性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样做有四个好处。能检查：同一份结构数据既出图又查网表，六级零不一致，第一次跑就报出五个功能测试看不见的结构分歧。能定位：出错可以指到哪一级、第几条指令。能和性能模型对齐：结构决定可以逐项同步回模型，大部分影响接近零。没有变慢：加了寄存器，但去掉了全局反压和空发，有的用例还快了百分之七八。代价是代码多了一些，同一个 warp 还是两拍一条，这个后面会收回。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但这套流程有痛点，根子在于标准本身不能执行。第一，图只能做静态比对，不知道寄存器里该是什么值。第二，时序契约没有载体，A8 慢了百分之六七，查了好几轮才发现是 WARPSYNC 分叉从六拍变成九拍。第三，设计问题到写 RTL 时才暴露，三十条决定是实现中新定的。第四，隐式契约一碰就坏。右边是六个功能全过、问题照样漏掉的案例，每一个都是事后、靠人、在端到端层面才发现的。所以我们需要一个中间层：能执行、能挂契约、能和 RTL 逐拍比。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在进入方案之前，先说为什么要约束 AI。我们提这个想法，是因为长程实现中 AI 会偏移，这在文献里有人提到，在我们自己的记录里也看得到。外部的证据，比如 Spec-Driven 硬件演化那篇用隔离的子代理防止指令漂移，消融去掉后直接失败；IncreRTL 提出了 structural drift 这个说法；还有组合出问题、上下文污染这些观察。软件架构一致性的研究也说明，人写代码同样会偏离架构，这是规格和实现分开维护的老问题，AI 只是让它更快、规模更大。我们自己的证据分四类：结构偏移、决策偏移、知识偏移，以及隐式约束被打破。方案主要管住结构偏移，对决策偏移部分有效，知识偏移留给第二篇。约束分两道：写之前规定每一级能拥有什么、能传什么，写之后用封闭世界门禁和 lockstep 拦住越界。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第三部分是方案：以 FML 为中间 IR，把流程固定下来。标准从一张图换成一个能跑的周期级模型，图、约束清单、契约都从模型派生，RTL 每一步都和模型逐拍比对。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先说定位：性能模型管做什么、多少拍；FML 规格管在哪一级做、每一级拥有什么状态、两级之间传什么。FML 是一门用普通 Rust 写周期级系统模型的语言。它有四个特点：模块加状态加 task，时钟和事件在同一个模型里；每个 task 在签名里声明读拍前的值、读本拍最新值还是写，虚拟机据此推出顺序，有组合环的程序加载时就拒绝；并行而结果确定；边界开放，可以接 trace 和 RTL。右边和我们手里现有的几种标准对比，最关键的一点是：读拍前的值和读本拍最新值，正好对应 RTL 的寄存器和组合连线，写模型的同时就把级边界写清楚了。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这是提议的新流程。设计决策带着来源进入 FML 结构模型，模型写完先自己跑，查契约和组合环。然后从模型派生三样东西：给人看的审查图，给 AI 的约束清单，给门禁的契约和结构规则。AI 按级写 RTL，门禁在原来的结构检查和功能用例之外，多了两项：在级边界上和 FML 逐拍 lockstep，以及契约零违例。实现中发现设计问题，改的是模型而不是图。下面的表对比了现在和提议的差别，最大的不同是设计问题可以在写模型、跑模型的时候就暴露，而出错时能直接给出第一拍和第一个信号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IR 的核心就两件事：每一级拥有什么状态，两级之间传什么。它是规格，不是另一种 RTL。规格必须写清的是四样东西：级边界上每拍传什么，每份状态的主人，事件通道，以及契约；RTL 在这些地方和模型逐拍比。级内怎么实现、数据通路、位宽和物理实现，都留给 RTL 自己决定，FML 只描述效果，比如 S4 只规定这一拍能不能预约成功、第几拍写回。右边是关键写法：普通引用读拍前的值，相当于触发器的输出，带 latest 的引用读本拍刚写完的值，相当于组合路径，view 写连线，commit 写寄存器，边界就由这个写法决定。要注意，S1 原型故意写到了逐信号精确，目的是先证明 FML 能和 RTL 完全一致，这不是目标粒度。规格比实现抽象、和实现独立，lockstep 检查的才是设计，而不只是翻译对不对。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 G2 首轮那个真实的错误来检验这套想法，做了三组实验。实验 A，把契约挂在模型上：发射时 ITS 的 PC 应该等于被发射指令的 PC。G2 在第四十八拍就被抓到，跑一百万拍约三秒；而当时在 RTL 上，构建要六百多秒，iadd3 还判了通过。实验 B，和 RTL 逐拍 lockstep：对角线上逐拍完全一致，版本对不上时直接报出第一拍和第一个信号。实验 C，结构规则：组合环写法在加载时就被拒绝，拆开写的版本由四十行的规则脚本报出违例。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原型说明了 FML 能把 S1 控制写到和 RTL 逐拍一致，契约和 lockstep 都能用。但也有没说明的：S2 和 ITS 还是抽象的，激励是随机的，也没有从 FML 生成 RTL。右边是写原型时遇到的摩擦，对应要补的规则，比如 view 和 commit 的约定要变成可检查的规则，要有位宽、级注解和 ghost 标记。把这些定下来，就是一个能落到 RTL 的 FML 子集，有了它才谈得上生成 RTL 骨架。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路线图分六个阶段。阶段零的 S1 原型已经完成。阶段一定义子集规则，写出 S2 和 ITS 的边界规格，在边界上和当前 RTL 比对，正好服务下一批 E15 的改动。阶段二建契约库，在 A8 和 b4 上回放。阶段三从模型生成审查图和约束清单，替代手写的结构数据。阶段四铺满整条流水线并接进门禁。阶段五探索从边界规格生成 RTL 骨架，级内行为不生成，以及模型能否兼作性能模型。要先想清楚的风险是，模型和 RTL 都由 AI 写，可能同错，所以仍然需要 ISS 和实卡作外部真值。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这条线和论文是一回事。论文 v2 的主线是以结构 IR 为需求规格，验收 AI 生成的大规模 RTL。论文里原来最缺的是事务间时序契约的载体，FML 的 monitor 正好补上。和最接近的工作比：HINT 做的是生成，不是验收，IR 也不能逐拍执行；Spec-Driven 的契约只到单事务等价，有意不约束结构；AmpereOne 用聚合 IPC 正负百分之十做判据，抓不到我们这种百分之六到八的回归。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这一页列一下从论文里借来的做法。已经在用的有：软件架构一致性里冻结基线、只拦新增的门禁；等价检查里只在一边出现的触发器算 Extra，对应我们的封闭世界；Spec-Driven 那篇一次只改一层、隔离子任务的做法；HINT 在 IR 里声明拥有的状态。计划要用的有：用变异区分已验证和盲区，作为逃逸分析的方法；AmpereOne 的累计周期漂移图，用来定位从哪段指令开始变慢；以及先把规格交给模型，约束清单改由 FML 边界规格派生。µhb 顺序公理用来写跨级时序契约，还在评估。每个机制单独都有先例，我们做的是把它们放进 AI 逐步重构 RTL 的回路里，并按流水级组织。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最后是想请大家讨论的问题：FML 当中间 IR 合不合适；它和性能模型怎么分工，我们倾向不合一；边界事务怎么定义；模型和 RTL 都由 AI 写怎么防同错；以及论文定位和外部案例。接下来两周，RTL 这边继续按现流程做 E15 批次和剩下的偏差；FML 这边先写下子集规则，写出 S2 的边界规格和 RTL 对齐，再把第一批契约挂上去，在 A8 上回放。我就讲到这里，谢谢大家。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b78a5975ebfa28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0" y="0"/>
            <a:ext cx="4267200" cy="6858000"/>
            <a:chOff x="0" y="0"/>
            <a:chExt cx="42672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4191000" cy="6858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191000" y="0"/>
              <a:ext cx="76200" cy="68580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3335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0764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764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07A1F">
                <a:alpha val="9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981200" y="20764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2465" y="2934652"/>
              <a:ext cx="9314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10-10 → 10-24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2465" y="5468302"/>
              <a:ext cx="1038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drawio ── RTL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2465" y="5696902"/>
              <a:ext cx="18975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FML IR ── RTL ── lockstep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03470" y="2012632"/>
            <a:ext cx="4625054" cy="2068830"/>
            <a:chOff x="4903470" y="2012632"/>
            <a:chExt cx="4625054" cy="2068830"/>
          </a:xfrm>
        </p:grpSpPr>
        <p:sp>
          <p:nvSpPr>
            <p:cNvPr id="14" name="TextBox 14"/>
            <p:cNvSpPr txBox="1"/>
            <p:nvPr/>
          </p:nvSpPr>
          <p:spPr>
            <a:xfrm>
              <a:off x="4932045" y="2012632"/>
              <a:ext cx="24583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curryGPU · 组会汇报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03470" y="2531745"/>
              <a:ext cx="368750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两周工作汇报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2045" y="3422332"/>
              <a:ext cx="38855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对照 drawio 图重构 subcore RTL，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2045" y="3746182"/>
              <a:ext cx="4596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以及以 FML 为中间 IR 把这套流程固定下来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35855" y="5334000"/>
            <a:ext cx="6303645" cy="766762"/>
            <a:chOff x="4935855" y="5334000"/>
            <a:chExt cx="6303645" cy="766762"/>
          </a:xfrm>
        </p:grpSpPr>
        <p:sp>
          <p:nvSpPr>
            <p:cNvPr id="19" name="Line 19"/>
            <p:cNvSpPr/>
            <p:nvPr/>
          </p:nvSpPr>
          <p:spPr>
            <a:xfrm>
              <a:off x="4953000" y="5334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35855" y="5569268"/>
              <a:ext cx="23608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汇报人：dyf</a:t>
              </a:r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 xml:space="preserve"> | 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2026-10-24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39665" y="58874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curryGPU 80ef456d2 · fml-rtl-proto ce2e086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606784" cy="659606"/>
            <a:chOff x="533400" y="438150"/>
            <a:chExt cx="760678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70270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今天讲的一条线：从"对照图重构"到"流程化"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4305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两周的重构做完了一轮，暴露出流程上的问题；用 FML 做中间 IR 是我们想到的解法，S1 原型已经跑通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219200"/>
            <a:ext cx="2533650" cy="2857500"/>
            <a:chOff x="533400" y="1219200"/>
            <a:chExt cx="253365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2533650" cy="2857500"/>
            </a:xfrm>
            <a:prstGeom prst="roundRect">
              <a:avLst>
                <a:gd name="adj" fmla="val 300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19200"/>
              <a:ext cx="253365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9612" y="14406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01 · 怎么做的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708" y="174831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先画 drawio 目标图，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708" y="1995964"/>
              <a:ext cx="18116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对照图逐条改 RTL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9610" y="2566035"/>
              <a:ext cx="6482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9918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个提交，每个都过三道检查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518" y="351424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修改清单 63 条，已关闭 23 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518" y="3723799"/>
              <a:ext cx="629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第 3–5 页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3086100" y="2647950"/>
            <a:ext cx="247650" cy="1"/>
          </a:xfrm>
          <a:prstGeom prst="line">
            <a:avLst/>
          </a:prstGeom>
          <a:noFill/>
          <a:ln w="19050">
            <a:solidFill>
              <a:srgbClr val="1F3A5F"/>
            </a:solidFill>
            <a:tailEnd type="triangle" w="lg" len="lg"/>
          </a:ln>
        </p:spPr>
      </p:sp>
      <p:grpSp>
        <p:nvGrpSpPr>
          <p:cNvPr id="27" name="Group 27"/>
          <p:cNvGrpSpPr/>
          <p:nvPr/>
        </p:nvGrpSpPr>
        <p:grpSpPr>
          <a:xfrm>
            <a:off x="3390900" y="1219200"/>
            <a:ext cx="2552986" cy="2857500"/>
            <a:chOff x="3390900" y="1219200"/>
            <a:chExt cx="2552986" cy="2857500"/>
          </a:xfrm>
        </p:grpSpPr>
        <p:sp>
          <p:nvSpPr>
            <p:cNvPr id="18" name="Rectangle 18"/>
            <p:cNvSpPr/>
            <p:nvPr/>
          </p:nvSpPr>
          <p:spPr>
            <a:xfrm>
              <a:off x="3390900" y="1219200"/>
              <a:ext cx="2533650" cy="2857500"/>
            </a:xfrm>
            <a:prstGeom prst="roundRect">
              <a:avLst>
                <a:gd name="adj" fmla="val 300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90900" y="1219200"/>
              <a:ext cx="253365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67112" y="1440656"/>
              <a:ext cx="1279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02 · 区别与优势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65208" y="1748314"/>
              <a:ext cx="23786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一级一个模块，边界寄存，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5208" y="19959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反向只走事件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47110" y="2566035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−43%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8065" y="299180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subcore_top 6169 → 3486 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9018" y="351424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结构检查六级 0 不一致；周期不变差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9018" y="3723799"/>
              <a:ext cx="672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第 6–10 页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5943600" y="2647950"/>
            <a:ext cx="247650" cy="1"/>
          </a:xfrm>
          <a:prstGeom prst="line">
            <a:avLst/>
          </a:prstGeom>
          <a:noFill/>
          <a:ln w="19050">
            <a:solidFill>
              <a:srgbClr val="1F3A5F"/>
            </a:solidFill>
            <a:tailEnd type="triangle" w="lg" len="lg"/>
          </a:ln>
        </p:spPr>
      </p:sp>
      <p:grpSp>
        <p:nvGrpSpPr>
          <p:cNvPr id="37" name="Group 37"/>
          <p:cNvGrpSpPr/>
          <p:nvPr/>
        </p:nvGrpSpPr>
        <p:grpSpPr>
          <a:xfrm>
            <a:off x="6248400" y="1219200"/>
            <a:ext cx="2573822" cy="2857500"/>
            <a:chOff x="6248400" y="1219200"/>
            <a:chExt cx="2573822" cy="2857500"/>
          </a:xfrm>
        </p:grpSpPr>
        <p:sp>
          <p:nvSpPr>
            <p:cNvPr id="29" name="Rectangle 29"/>
            <p:cNvSpPr/>
            <p:nvPr/>
          </p:nvSpPr>
          <p:spPr>
            <a:xfrm>
              <a:off x="6248400" y="1219200"/>
              <a:ext cx="2533650" cy="2857500"/>
            </a:xfrm>
            <a:prstGeom prst="roundRect">
              <a:avLst>
                <a:gd name="adj" fmla="val 3008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612" y="1440656"/>
              <a:ext cx="7617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03 · 痛点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708" y="174831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图不能执行，时序契约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2708" y="19959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没有载体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04610" y="25660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5565" y="29918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个功能全过、问题照样漏掉的案例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6518" y="3514249"/>
              <a:ext cx="23957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30 条设计决定是写 RTL 时才冒出来的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6518" y="3723799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第 11–12 页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8801100" y="2647950"/>
            <a:ext cx="247650" cy="1"/>
          </a:xfrm>
          <a:prstGeom prst="line">
            <a:avLst/>
          </a:prstGeom>
          <a:noFill/>
          <a:ln w="19050">
            <a:solidFill>
              <a:srgbClr val="1F3A5F"/>
            </a:solidFill>
            <a:tailEnd type="triangle" w="lg" len="lg"/>
          </a:ln>
        </p:spPr>
      </p:sp>
      <p:grpSp>
        <p:nvGrpSpPr>
          <p:cNvPr id="47" name="Group 47"/>
          <p:cNvGrpSpPr/>
          <p:nvPr/>
        </p:nvGrpSpPr>
        <p:grpSpPr>
          <a:xfrm>
            <a:off x="9105900" y="1219200"/>
            <a:ext cx="2611644" cy="2857500"/>
            <a:chOff x="9105900" y="1219200"/>
            <a:chExt cx="2611644" cy="2857500"/>
          </a:xfrm>
        </p:grpSpPr>
        <p:sp>
          <p:nvSpPr>
            <p:cNvPr id="39" name="Rectangle 39"/>
            <p:cNvSpPr/>
            <p:nvPr/>
          </p:nvSpPr>
          <p:spPr>
            <a:xfrm>
              <a:off x="9105900" y="1219200"/>
              <a:ext cx="2552700" cy="2857500"/>
            </a:xfrm>
            <a:prstGeom prst="roundRect">
              <a:avLst>
                <a:gd name="adj" fmla="val 298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2112" y="1440656"/>
              <a:ext cx="7617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04 · 方案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0208" y="1748314"/>
              <a:ext cx="24373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FML 可执行模型作中间 IR，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0208" y="1995964"/>
              <a:ext cx="1586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RTL 与它逐拍比对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2110" y="2566035"/>
              <a:ext cx="16005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第 48 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3065" y="2991802"/>
              <a:ext cx="2089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原型上抓到 G2 错误，1 秒内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84018" y="3514249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RTL 端到端当时判 PASS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84018" y="37237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第 13–19 页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4343400"/>
            <a:ext cx="11125200" cy="1828800"/>
            <a:chOff x="533400" y="4343400"/>
            <a:chExt cx="11125200" cy="1828800"/>
          </a:xfrm>
        </p:grpSpPr>
        <p:sp>
          <p:nvSpPr>
            <p:cNvPr id="48" name="Rectangle 48"/>
            <p:cNvSpPr/>
            <p:nvPr/>
          </p:nvSpPr>
          <p:spPr>
            <a:xfrm>
              <a:off x="533400" y="4343400"/>
              <a:ext cx="1112520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95338" y="4605338"/>
              <a:ext cx="200025" cy="200025"/>
              <a:chOff x="795338" y="4605338"/>
              <a:chExt cx="200025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95338" y="4605338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3" y="100012"/>
                    </a:lnTo>
                    <a:moveTo>
                      <a:pt x="100012" y="0"/>
                    </a:moveTo>
                    <a:lnTo>
                      <a:pt x="100012" y="11113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5076" y="4649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9791" y="4760912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144905" y="46262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4855" y="5035868"/>
              <a:ext cx="69252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现在的"标准"是一张 drawio 图，它只说</a:t>
              </a:r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有什么、怎么连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，不说</a:t>
              </a:r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每一拍做什么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855" y="5359718"/>
              <a:ext cx="76646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把标准换成一个能跑、能和 RTL 逐拍比的 FML 模型，图、约束清单、契约都从它派生，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4855" y="5683568"/>
              <a:ext cx="48451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写 RTL 的每一步就都有了可以机械判定的验收依据。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522922" y="654034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7" grpId="0"/>
      <p:bldP spid="47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693015" y="5557838"/>
            <a:ext cx="1051310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0" b="1" dirty="0">
                <a:solidFill>
                  <a:srgbClr val="FFFF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01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025968"/>
            <a:ext cx="6136596" cy="1269682"/>
            <a:chOff x="1097280" y="2025968"/>
            <a:chExt cx="6136596" cy="1269682"/>
          </a:xfrm>
        </p:grpSpPr>
        <p:sp>
          <p:nvSpPr>
            <p:cNvPr id="4" name="TextBox 4"/>
            <p:cNvSpPr txBox="1"/>
            <p:nvPr/>
          </p:nvSpPr>
          <p:spPr>
            <a:xfrm>
              <a:off x="1125855" y="2025968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PART 01 · 我们是怎么重构的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7280" y="2564130"/>
              <a:ext cx="613659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先有图，再对照图改 RTL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38500"/>
              <a:ext cx="9144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22045" y="3727132"/>
            <a:ext cx="5174837" cy="1211580"/>
            <a:chOff x="1122045" y="3727132"/>
            <a:chExt cx="5174837" cy="1211580"/>
          </a:xfrm>
        </p:grpSpPr>
        <p:sp>
          <p:nvSpPr>
            <p:cNvPr id="8" name="TextBox 8"/>
            <p:cNvSpPr txBox="1"/>
            <p:nvPr/>
          </p:nvSpPr>
          <p:spPr>
            <a:xfrm>
              <a:off x="1122045" y="3727132"/>
              <a:ext cx="51748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图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：11 号目标流水线图 v2，由一份结构数据生成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045" y="4165282"/>
              <a:ext cx="46205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改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：按修改清单一条一条改，一条一个提交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045" y="4603432"/>
              <a:ext cx="46205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验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：每个提交过功能、断言、结构三道检查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475339" cy="659606"/>
            <a:chOff x="533400" y="438150"/>
            <a:chExt cx="7475339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63196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重构流程：图是标准，AI 对照图逐条实现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2991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10-16 起的做法；图和清单在 PPT-generate，RTL 在 curryGPU 分支 subcore-pipeline-structure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3400" y="1428750"/>
            <a:ext cx="11125200" cy="1500188"/>
            <a:chOff x="533400" y="1428750"/>
            <a:chExt cx="11125200" cy="1500188"/>
          </a:xfrm>
        </p:grpSpPr>
        <p:sp>
          <p:nvSpPr>
            <p:cNvPr id="7" name="Rectangle 7"/>
            <p:cNvSpPr/>
            <p:nvPr/>
          </p:nvSpPr>
          <p:spPr>
            <a:xfrm>
              <a:off x="533400" y="1428750"/>
              <a:ext cx="1809750" cy="914400"/>
            </a:xfrm>
            <a:prstGeom prst="roundRect">
              <a:avLst>
                <a:gd name="adj" fmla="val 8333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20725" y="1588294"/>
              <a:ext cx="139700" cy="157162"/>
              <a:chOff x="720725" y="1588294"/>
              <a:chExt cx="139700" cy="1571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20725" y="1588294"/>
                <a:ext cx="13970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2388">
                    <a:moveTo>
                      <a:pt x="0" y="26194"/>
                    </a:moveTo>
                    <a:cubicBezTo>
                      <a:pt x="0" y="40660"/>
                      <a:pt x="31273" y="52388"/>
                      <a:pt x="69850" y="52388"/>
                    </a:cubicBezTo>
                    <a:cubicBezTo>
                      <a:pt x="108427" y="52388"/>
                      <a:pt x="139700" y="40660"/>
                      <a:pt x="139700" y="26194"/>
                    </a:cubicBezTo>
                    <a:cubicBezTo>
                      <a:pt x="139700" y="11727"/>
                      <a:pt x="108427" y="0"/>
                      <a:pt x="69850" y="0"/>
                    </a:cubicBezTo>
                    <a:cubicBezTo>
                      <a:pt x="31273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20725" y="1614488"/>
                <a:ext cx="139700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78581">
                    <a:moveTo>
                      <a:pt x="0" y="0"/>
                    </a:moveTo>
                    <a:lnTo>
                      <a:pt x="0" y="52388"/>
                    </a:lnTo>
                    <a:cubicBezTo>
                      <a:pt x="0" y="66854"/>
                      <a:pt x="31273" y="78581"/>
                      <a:pt x="69850" y="78581"/>
                    </a:cubicBezTo>
                    <a:cubicBezTo>
                      <a:pt x="108427" y="78581"/>
                      <a:pt x="139700" y="66854"/>
                      <a:pt x="139700" y="52388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20725" y="1666875"/>
                <a:ext cx="139700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78581">
                    <a:moveTo>
                      <a:pt x="0" y="0"/>
                    </a:moveTo>
                    <a:lnTo>
                      <a:pt x="0" y="52388"/>
                    </a:lnTo>
                    <a:cubicBezTo>
                      <a:pt x="0" y="66854"/>
                      <a:pt x="31273" y="78581"/>
                      <a:pt x="69850" y="78581"/>
                    </a:cubicBezTo>
                    <a:cubicBezTo>
                      <a:pt x="108427" y="78581"/>
                      <a:pt x="139700" y="66854"/>
                      <a:pt x="139700" y="52388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5631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19221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Consolas"/>
                  <a:ea typeface="Microsoft YaHei"/>
                  <a:cs typeface="Consolas"/>
                </a:rPr>
                <a:t>subcore_structure.py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1126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每项带出处和状态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43150" y="1885950"/>
              <a:ext cx="2857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86050" y="1428750"/>
              <a:ext cx="180975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864644" y="1588294"/>
              <a:ext cx="157162" cy="157162"/>
              <a:chOff x="2864644" y="1588294"/>
              <a:chExt cx="157162" cy="1571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864644" y="1710531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986881" y="1588294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17463" y="34925"/>
                    </a:move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  <a:cubicBezTo>
                      <a:pt x="0" y="27107"/>
                      <a:pt x="7818" y="34925"/>
                      <a:pt x="17463" y="349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882106" y="1605756"/>
                <a:ext cx="130969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22237">
                    <a:moveTo>
                      <a:pt x="52388" y="122237"/>
                    </a:moveTo>
                    <a:lnTo>
                      <a:pt x="100409" y="122237"/>
                    </a:lnTo>
                    <a:cubicBezTo>
                      <a:pt x="117287" y="122237"/>
                      <a:pt x="130969" y="108556"/>
                      <a:pt x="130969" y="91678"/>
                    </a:cubicBezTo>
                    <a:cubicBezTo>
                      <a:pt x="130969" y="74801"/>
                      <a:pt x="117287" y="61119"/>
                      <a:pt x="100409" y="61119"/>
                    </a:cubicBezTo>
                    <a:lnTo>
                      <a:pt x="30559" y="61119"/>
                    </a:lnTo>
                    <a:cubicBezTo>
                      <a:pt x="13682" y="61119"/>
                      <a:pt x="0" y="47437"/>
                      <a:pt x="0" y="30559"/>
                    </a:cubicBezTo>
                    <a:cubicBezTo>
                      <a:pt x="0" y="13682"/>
                      <a:pt x="13682" y="0"/>
                      <a:pt x="30559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108960" y="1604010"/>
              <a:ext cx="1235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drawio 目标图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27020" y="1922145"/>
              <a:ext cx="1376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11 号图 v2，脚本只排版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27020" y="2112645"/>
              <a:ext cx="601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26 次修订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495800" y="1885950"/>
              <a:ext cx="2857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38700" y="1428750"/>
              <a:ext cx="180975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021659" y="1601391"/>
              <a:ext cx="144066" cy="127396"/>
              <a:chOff x="5021659" y="1601391"/>
              <a:chExt cx="144066" cy="1273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21659" y="1601391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21659" y="1653778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21659" y="1706166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87144" y="1614488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87144" y="1666875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7144" y="1719262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26161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修改清单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79670" y="192214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图与 RTL 的差，分 A–D 四类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79670" y="2112645"/>
              <a:ext cx="509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共 63 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48450" y="1885950"/>
              <a:ext cx="2857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91350" y="1428750"/>
              <a:ext cx="200025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87406" y="1579562"/>
              <a:ext cx="122238" cy="165894"/>
              <a:chOff x="7187406" y="1579562"/>
              <a:chExt cx="122238" cy="16589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196138" y="15970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17463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3"/>
                    </a:cubicBezTo>
                    <a:lnTo>
                      <a:pt x="104775" y="52388"/>
                    </a:lnTo>
                    <a:cubicBezTo>
                      <a:pt x="104775" y="62032"/>
                      <a:pt x="96957" y="69850"/>
                      <a:pt x="87312" y="69850"/>
                    </a:cubicBezTo>
                    <a:lnTo>
                      <a:pt x="17463" y="69850"/>
                    </a:lnTo>
                    <a:cubicBezTo>
                      <a:pt x="7818" y="69850"/>
                      <a:pt x="0" y="62032"/>
                      <a:pt x="0" y="52388"/>
                    </a:cubicBez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48525" y="1579562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0"/>
                    </a:move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22331" y="1666875"/>
                <a:ext cx="9525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8581">
                    <a:moveTo>
                      <a:pt x="0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74719" y="1666875"/>
                <a:ext cx="9525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8581">
                    <a:moveTo>
                      <a:pt x="0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87406" y="1684338"/>
                <a:ext cx="349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7462">
                    <a:moveTo>
                      <a:pt x="0" y="17462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74719" y="1684338"/>
                <a:ext cx="349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7462">
                    <a:moveTo>
                      <a:pt x="0" y="0"/>
                    </a:moveTo>
                    <a:lnTo>
                      <a:pt x="34925" y="17462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22331" y="1719262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31062" y="163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5988" y="163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14260" y="1604010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对照实现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2320" y="19221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一条一个提交；先保行为的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2320" y="21126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搬迁，再做改拍数的改动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991600" y="1885950"/>
              <a:ext cx="2857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334500" y="1428750"/>
              <a:ext cx="2324100" cy="914400"/>
            </a:xfrm>
            <a:prstGeom prst="roundRect">
              <a:avLst>
                <a:gd name="adj" fmla="val 8333"/>
              </a:avLst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501310" y="1588294"/>
              <a:ext cx="170506" cy="157162"/>
              <a:chOff x="9501310" y="1588294"/>
              <a:chExt cx="170506" cy="15716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501310" y="158829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617869" y="17105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757410" y="1604010"/>
              <a:ext cx="13462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三道检查 → 提交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5470" y="19221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功能（14 + 5 用例，lockstep）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5470" y="211264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断言（50 个文件）· 网表结构检查</a:t>
              </a:r>
            </a:p>
          </p:txBody>
        </p:sp>
        <p:sp>
          <p:nvSpPr>
            <p:cNvPr id="59" name="Polyline 59"/>
            <p:cNvSpPr/>
            <p:nvPr/>
          </p:nvSpPr>
          <p:spPr>
            <a:xfrm>
              <a:off x="1438275" y="2343150"/>
              <a:ext cx="6553200" cy="438150"/>
            </a:xfrm>
            <a:custGeom>
              <a:avLst/>
              <a:gdLst/>
              <a:ahLst/>
              <a:cxnLst/>
              <a:rect l="l" t="t" r="r" b="b"/>
              <a:pathLst>
                <a:path w="6553200" h="438150">
                  <a:moveTo>
                    <a:pt x="6553200" y="0"/>
                  </a:moveTo>
                  <a:lnTo>
                    <a:pt x="6553200" y="438150"/>
                  </a:lnTo>
                  <a:lnTo>
                    <a:pt x="0" y="438150"/>
                  </a:ln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prstDash val="lgDash"/>
              <a:tailEnd type="triangle" w="lg" len="lg"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952750" y="2628900"/>
              <a:ext cx="3714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034665" y="27155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实现中发现设计问题：先改结构数据、重新出图，再继续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17208" y="3196114"/>
            <a:ext cx="3483292" cy="1794986"/>
            <a:chOff x="517208" y="3196114"/>
            <a:chExt cx="3483292" cy="1794986"/>
          </a:xfrm>
        </p:grpSpPr>
        <p:sp>
          <p:nvSpPr>
            <p:cNvPr id="63" name="TextBox 63"/>
            <p:cNvSpPr txBox="1"/>
            <p:nvPr/>
          </p:nvSpPr>
          <p:spPr>
            <a:xfrm>
              <a:off x="517208" y="31961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图里写了什么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467100"/>
              <a:ext cx="3467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0565" y="3639502"/>
              <a:ext cx="25876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7 个大级、各自的小级和级间寄存器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0565" y="38871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每份状态归哪一级（黄色块 = 存储）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0565" y="41348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变长路径的队列和前门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0565" y="43824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反向事件通道及来源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0565" y="46301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每项标 done / target / deviation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289108" y="3196114"/>
            <a:ext cx="3483292" cy="1794986"/>
            <a:chOff x="4289108" y="3196114"/>
            <a:chExt cx="3483292" cy="1794986"/>
          </a:xfrm>
        </p:grpSpPr>
        <p:sp>
          <p:nvSpPr>
            <p:cNvPr id="71" name="TextBox 71"/>
            <p:cNvSpPr txBox="1"/>
            <p:nvPr/>
          </p:nvSpPr>
          <p:spPr>
            <a:xfrm>
              <a:off x="4289108" y="31961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清单怎么来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305300" y="3467100"/>
              <a:ext cx="3467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82465" y="36395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A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按分级图同步总图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482465" y="388715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B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RTL 新加的约束：留还是删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2465" y="41348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C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顶层"没有主人"的功能归哪级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482465" y="4382452"/>
              <a:ext cx="2449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D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RTL 与图不一致：登记后逐条处理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482465" y="46301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实现中又新增 E1–E24、R1–R6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061008" y="3196114"/>
            <a:ext cx="3597592" cy="1794986"/>
            <a:chOff x="8061008" y="3196114"/>
            <a:chExt cx="3597592" cy="1794986"/>
          </a:xfrm>
        </p:grpSpPr>
        <p:sp>
          <p:nvSpPr>
            <p:cNvPr id="79" name="TextBox 79"/>
            <p:cNvSpPr txBox="1"/>
            <p:nvPr/>
          </p:nvSpPr>
          <p:spPr>
            <a:xfrm>
              <a:off x="8061008" y="3196114"/>
              <a:ext cx="15281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一条走一遍：E24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077200" y="3467100"/>
              <a:ext cx="35814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254365" y="363950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① 定：变长 VALU 走 credit，取 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54365" y="388715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② 改结构数据、重新出图（3 个图提交）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54365" y="413480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③ RTL：S1 标 valu_var 位，S2 按 credit 发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54365" y="438245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④ 验收：功能全过，port_pressure </a:t>
              </a:r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−7.2%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56270" y="4646295"/>
              <a:ext cx="2645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005fd20 · 508ac6f · b48efef → fecf774c8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33400" y="5219700"/>
            <a:ext cx="11125200" cy="952500"/>
            <a:chOff x="533400" y="5219700"/>
            <a:chExt cx="11125200" cy="952500"/>
          </a:xfrm>
        </p:grpSpPr>
        <p:sp>
          <p:nvSpPr>
            <p:cNvPr id="87" name="Rectangle 87"/>
            <p:cNvSpPr/>
            <p:nvPr/>
          </p:nvSpPr>
          <p:spPr>
            <a:xfrm>
              <a:off x="533400" y="5219700"/>
              <a:ext cx="11125200" cy="952500"/>
            </a:xfrm>
            <a:prstGeom prst="roundRect">
              <a:avLst>
                <a:gd name="adj" fmla="val 8000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92956" y="5479256"/>
              <a:ext cx="185738" cy="185737"/>
              <a:chOff x="792956" y="5479256"/>
              <a:chExt cx="185738" cy="185737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92956" y="547925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9856" y="5520531"/>
                <a:ext cx="111938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2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2"/>
                      <a:pt x="55969" y="144462"/>
                    </a:cubicBezTo>
                    <a:cubicBezTo>
                      <a:pt x="44571" y="144462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62092" y="562371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126808" y="5482114"/>
              <a:ext cx="50787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要点：</a:t>
              </a:r>
              <a:r>
                <a:rPr lang="zh-CN" sz="12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图先于代码</a:t>
              </a: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。AI 不自己决定结构，只把图翻译成 RTL；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6808" y="5786914"/>
              <a:ext cx="653124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图和 RTL 对不上时，要么改 RTL，要么先改图并留下记录 —— 两边始终能对照。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95" name="TextBox 95"/>
            <p:cNvSpPr txBox="1"/>
            <p:nvPr/>
          </p:nvSpPr>
          <p:spPr>
            <a:xfrm>
              <a:off x="522922" y="6540341"/>
              <a:ext cx="59551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依据：2026-10-16-fig11-v2-changes.md；runs/progress.md；fecf774c8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0" grpId="0"/>
      <p:bldP spid="78" grpId="0"/>
      <p:bldP spid="86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951827" cy="659606"/>
            <a:chOff x="533400" y="438150"/>
            <a:chExt cx="7951827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67509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目标流水线 v2：7 个大级 + 变长路径的前门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7756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11 号图 v2（10-21 版，PPT-generate 上 26 次修订）；固定延迟走主干，变长指令在 S3 推进队列交给前门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162050"/>
            <a:ext cx="5676900" cy="5143500"/>
            <a:chOff x="533400" y="1162050"/>
            <a:chExt cx="5676900" cy="5143500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5676900" cy="5143500"/>
            </a:xfrm>
            <a:prstGeom prst="roundRect">
              <a:avLst>
                <a:gd name="adj" fmla="val 1111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00150"/>
              <a:ext cx="5600700" cy="5038725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6498908" y="1253014"/>
            <a:ext cx="3004422" cy="2016442"/>
            <a:chOff x="6498908" y="1253014"/>
            <a:chExt cx="3004422" cy="2016442"/>
          </a:xfrm>
        </p:grpSpPr>
        <p:sp>
          <p:nvSpPr>
            <p:cNvPr id="10" name="TextBox 10"/>
            <p:cNvSpPr txBox="1"/>
            <p:nvPr/>
          </p:nvSpPr>
          <p:spPr>
            <a:xfrm>
              <a:off x="6498908" y="1253014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主干：每级一个模块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00812" y="155495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S0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取指，每 subcore 一份（本轮未搬）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00812" y="1802606"/>
              <a:ext cx="25671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S1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IB 读 + 译码一拍，标出目标前门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00812" y="2050256"/>
              <a:ext cx="2912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S2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单拍发射环：eligible → pick → issue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00812" y="2297906"/>
              <a:ext cx="2862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S3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payload 译码、取 lane mask、分流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00812" y="254555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S4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allocate 预约 + 读 0–3 拍操作数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0812" y="2793206"/>
              <a:ext cx="3002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S5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固定延迟单元：VALU 6 级、SALU 4 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0812" y="3040856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SW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RF、谓词、URF 写口仲裁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15100" y="3390900"/>
            <a:ext cx="5143500" cy="1600200"/>
            <a:chOff x="6515100" y="3390900"/>
            <a:chExt cx="5143500" cy="1600200"/>
          </a:xfrm>
        </p:grpSpPr>
        <p:sp>
          <p:nvSpPr>
            <p:cNvPr id="19" name="Rectangle 19"/>
            <p:cNvSpPr/>
            <p:nvPr/>
          </p:nvSpPr>
          <p:spPr>
            <a:xfrm>
              <a:off x="6515100" y="3390900"/>
              <a:ext cx="5143500" cy="1600200"/>
            </a:xfrm>
            <a:prstGeom prst="roundRect">
              <a:avLst>
                <a:gd name="adj" fmla="val 476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89408" y="3539014"/>
              <a:ext cx="2574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前门：每类变长指令一个模块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2265" y="3849052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fd_mem fd_sfx fd_cbu fd_fp64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2265" y="407765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fd_valu_var ctrl_fd frontdoor(TQ/async)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2265" y="4382452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队列是 S3 和前门之间的桥，不归任何一级；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2265" y="461105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跨前门的写口 / 事件仲裁统一归 SW。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66694" y="5250656"/>
            <a:ext cx="4027130" cy="819150"/>
            <a:chOff x="6566694" y="5250656"/>
            <a:chExt cx="4027130" cy="819150"/>
          </a:xfrm>
        </p:grpSpPr>
        <p:grpSp>
          <p:nvGrpSpPr>
            <p:cNvPr id="29" name="Group 29"/>
            <p:cNvGrpSpPr/>
            <p:nvPr/>
          </p:nvGrpSpPr>
          <p:grpSpPr>
            <a:xfrm>
              <a:off x="6566694" y="5250656"/>
              <a:ext cx="144463" cy="185738"/>
              <a:chOff x="6566694" y="5250656"/>
              <a:chExt cx="144463" cy="1857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66694" y="5333206"/>
                <a:ext cx="144463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03188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23825" y="0"/>
                    </a:lnTo>
                    <a:cubicBezTo>
                      <a:pt x="135223" y="0"/>
                      <a:pt x="144463" y="9240"/>
                      <a:pt x="144463" y="20638"/>
                    </a:cubicBezTo>
                    <a:lnTo>
                      <a:pt x="144463" y="82550"/>
                    </a:lnTo>
                    <a:cubicBezTo>
                      <a:pt x="144463" y="93948"/>
                      <a:pt x="135223" y="103188"/>
                      <a:pt x="123825" y="103188"/>
                    </a:cubicBezTo>
                    <a:lnTo>
                      <a:pt x="20638" y="103188"/>
                    </a:lnTo>
                    <a:cubicBezTo>
                      <a:pt x="9240" y="103188"/>
                      <a:pt x="0" y="93948"/>
                      <a:pt x="0" y="82550"/>
                    </a:cubicBez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28606" y="5374481"/>
                <a:ext cx="2063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97650" y="52506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1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843712" y="526970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反向只走</a:t>
              </a:r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寄存的事件通道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，目的级下一拍看到；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43712" y="551735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唯一的例外是 S3 / S4 在途掩码送 S2 的</a:t>
              </a:r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完成信号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43712" y="58412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顶层不再持有状态，也不再做上下文扫描。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34" name="TextBox 34"/>
            <p:cNvSpPr txBox="1"/>
            <p:nvPr/>
          </p:nvSpPr>
          <p:spPr>
            <a:xfrm>
              <a:off x="522922" y="6540341"/>
              <a:ext cx="71118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图：currygpu_subcore_ppt169_20261004/sources/11-target-pipeline-v2.drawio（4e2b425）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5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434233" y="5557838"/>
            <a:ext cx="1310092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0" b="1" dirty="0">
                <a:solidFill>
                  <a:srgbClr val="FFFF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025968"/>
            <a:ext cx="6164199" cy="1269682"/>
            <a:chOff x="1097280" y="2025968"/>
            <a:chExt cx="6164199" cy="1269682"/>
          </a:xfrm>
        </p:grpSpPr>
        <p:sp>
          <p:nvSpPr>
            <p:cNvPr id="4" name="TextBox 4"/>
            <p:cNvSpPr txBox="1"/>
            <p:nvPr/>
          </p:nvSpPr>
          <p:spPr>
            <a:xfrm>
              <a:off x="1125855" y="2025968"/>
              <a:ext cx="2341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PART 02 · 重构前后的 RTL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7280" y="2564130"/>
              <a:ext cx="61641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区别在哪里，好处是什么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38500"/>
              <a:ext cx="9144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22045" y="3727132"/>
            <a:ext cx="5584508" cy="1530668"/>
            <a:chOff x="1122045" y="3727132"/>
            <a:chExt cx="5584508" cy="1530668"/>
          </a:xfrm>
        </p:grpSpPr>
        <p:sp>
          <p:nvSpPr>
            <p:cNvPr id="8" name="TextBox 8"/>
            <p:cNvSpPr txBox="1"/>
            <p:nvPr/>
          </p:nvSpPr>
          <p:spPr>
            <a:xfrm>
              <a:off x="1122045" y="3727132"/>
              <a:ext cx="48615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之前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：照性能模型生成，发射那一刻一次算完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045" y="4165282"/>
              <a:ext cx="5584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之后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：一级一个模块，边界寄存，状态只有一个主人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7760" y="5013960"/>
              <a:ext cx="54547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对比基线：原 RTL 8c17f5d73（10-10），重构后 80ef456d2（10-22）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9118401" cy="659606"/>
            <a:chOff x="533400" y="438150"/>
            <a:chExt cx="9118401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86832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原写法：一个函数翻译成一拍，功能对，但看不出流水级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89421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性能模型在发射那一刻用一个函数算完所有判断；AI 照它翻译，就成了下面这一拍：今天的 S2、S3、S4 allocate 挤在一起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162050"/>
            <a:ext cx="11125200" cy="2028825"/>
            <a:chOff x="533400" y="1162050"/>
            <a:chExt cx="11125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11125200" cy="2019300"/>
            </a:xfrm>
            <a:prstGeom prst="roundRect">
              <a:avLst>
                <a:gd name="adj" fmla="val 3774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257300"/>
              <a:ext cx="57150" cy="1809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1257300"/>
              <a:ext cx="57150" cy="1809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8670" y="30079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时钟沿 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62678" y="3007995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时钟沿 t+1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4400" y="1333500"/>
            <a:ext cx="10401300" cy="981075"/>
            <a:chOff x="914400" y="1333500"/>
            <a:chExt cx="10401300" cy="981075"/>
          </a:xfrm>
        </p:grpSpPr>
        <p:sp>
          <p:nvSpPr>
            <p:cNvPr id="13" name="Rectangle 13"/>
            <p:cNvSpPr/>
            <p:nvPr/>
          </p:nvSpPr>
          <p:spPr>
            <a:xfrm>
              <a:off x="914400" y="1390650"/>
              <a:ext cx="9906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4646" y="1505902"/>
              <a:ext cx="870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head 寄存器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8808" y="1712595"/>
              <a:ext cx="5617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×16 warp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90500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114550" y="1390650"/>
              <a:ext cx="9906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35816" y="1505902"/>
              <a:ext cx="5480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eligible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55247" y="1712595"/>
              <a:ext cx="509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×16 判定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10515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14700" y="1390650"/>
              <a:ext cx="9906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47146" y="1505902"/>
              <a:ext cx="325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pick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86388" y="171259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→ sel_slot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30530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14850" y="1390650"/>
              <a:ext cx="12954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97467" y="15059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 sel_slot 选字段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8172" y="17125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读口数、目标单元、地址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81025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19800" y="1390650"/>
              <a:ext cx="142875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9050">
              <a:solidFill>
                <a:srgbClr val="C6282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41168" y="1505902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sched_allocate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34075" y="17125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rd / wb / fu / const 检查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44855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58100" y="1390650"/>
              <a:ext cx="1066800" cy="533400"/>
            </a:xfrm>
            <a:prstGeom prst="roundRect">
              <a:avLst>
                <a:gd name="adj" fmla="val 10714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51462" y="1591628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issue_valid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724900" y="1657350"/>
              <a:ext cx="1714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34450" y="1333500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55418" y="14377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同一拍内：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5418" y="1628299"/>
              <a:ext cx="12992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ITS 接受、推进 PC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55418" y="17997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scoreboard +1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55418" y="19711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指令发给 exec，RF 读地址 =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70670" y="2131695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sel_rd0_addr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01065" y="1962150"/>
            <a:ext cx="9224010" cy="1028700"/>
            <a:chOff x="901065" y="1962150"/>
            <a:chExt cx="9224010" cy="1028700"/>
          </a:xfrm>
        </p:grpSpPr>
        <p:sp>
          <p:nvSpPr>
            <p:cNvPr id="43" name="Rectangle 43"/>
            <p:cNvSpPr/>
            <p:nvPr/>
          </p:nvSpPr>
          <p:spPr>
            <a:xfrm>
              <a:off x="4514850" y="2514600"/>
              <a:ext cx="3619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54868" y="2618899"/>
              <a:ext cx="16993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exec_pipe_top 内部状态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5820" y="2798445"/>
              <a:ext cx="2171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pair、collect、访存响应、LSU 满……</a:t>
              </a:r>
            </a:p>
          </p:txBody>
        </p:sp>
        <p:sp>
          <p:nvSpPr>
            <p:cNvPr id="46" name="Line 46"/>
            <p:cNvSpPr/>
            <p:nvPr/>
          </p:nvSpPr>
          <p:spPr>
            <a:xfrm flipV="1">
              <a:off x="6734175" y="1962150"/>
              <a:ext cx="1" cy="552450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8470" y="2150745"/>
              <a:ext cx="1869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fu_busy / rd_busy / wb_busy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08470" y="230314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always @(*) 组合输出</a:t>
              </a:r>
            </a:p>
          </p:txBody>
        </p:sp>
        <p:sp>
          <p:nvSpPr>
            <p:cNvPr id="49" name="Polyline 49"/>
            <p:cNvSpPr/>
            <p:nvPr/>
          </p:nvSpPr>
          <p:spPr>
            <a:xfrm>
              <a:off x="8172450" y="2286000"/>
              <a:ext cx="1952625" cy="466725"/>
            </a:xfrm>
            <a:custGeom>
              <a:avLst/>
              <a:gdLst/>
              <a:ahLst/>
              <a:cxnLst/>
              <a:rect l="l" t="t" r="r" b="b"/>
              <a:pathLst>
                <a:path w="1952625" h="466725">
                  <a:moveTo>
                    <a:pt x="1952625" y="0"/>
                  </a:moveTo>
                  <a:lnTo>
                    <a:pt x="1952625" y="466725"/>
                  </a:lnTo>
                  <a:lnTo>
                    <a:pt x="0" y="466725"/>
                  </a:lnTo>
                </a:path>
              </a:pathLst>
            </a:cu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1070" y="25888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同拍启动单元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1065" y="2382202"/>
              <a:ext cx="25144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资源冲突靠"现查"：S2 当拍看 exe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1065" y="2591752"/>
              <a:ext cx="2892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的 busy 决定发不发，中间插不了寄存器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3352800"/>
            <a:ext cx="5410200" cy="2286000"/>
            <a:chOff x="533400" y="3352800"/>
            <a:chExt cx="5410200" cy="2286000"/>
          </a:xfrm>
        </p:grpSpPr>
        <p:sp>
          <p:nvSpPr>
            <p:cNvPr id="54" name="Rectangle 54"/>
            <p:cNvSpPr/>
            <p:nvPr/>
          </p:nvSpPr>
          <p:spPr>
            <a:xfrm>
              <a:off x="533400" y="3352800"/>
              <a:ext cx="5410200" cy="2286000"/>
            </a:xfrm>
            <a:prstGeom prst="roundRect">
              <a:avLst>
                <a:gd name="adj" fmla="val 3333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1518" y="3495199"/>
              <a:ext cx="3658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蓝本：性能模型 process_issue()，一个函数约 810 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518" y="3761899"/>
              <a:ext cx="32928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ready_candidates(tick);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S2：哪些 warp 可发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1518" y="3952399"/>
              <a:ext cx="24526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policy-&gt;select(...);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S2：选一个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1518" y="4142899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allocate_blocked(...);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S4：预约不上就不发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1518" y="4333399"/>
              <a:ext cx="31646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reserve_op_timing(...);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读几轮、哪拍写回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518" y="4523899"/>
              <a:ext cx="352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consume_queue_credit(...);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前门 credit 何时还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518" y="4714399"/>
              <a:ext cx="3008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allocate_scoreboard(...); </a:t>
              </a:r>
              <a:r>
                <a:rPr lang="zh-CN" sz="975" dirty="0">
                  <a:solidFill>
                    <a:srgbClr val="D8DEE6"/>
                  </a:solidFill>
                  <a:latin typeface="Consolas"/>
                  <a:ea typeface="Microsoft YaHei"/>
                  <a:cs typeface="Consolas"/>
                </a:rPr>
                <a:t>// 依赖何时释放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518" y="4904899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warp.ready_tick = tick + stall + ...;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518" y="519064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后面几级在模型里不是"一级"，只是一个时间偏移：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1518" y="5381149"/>
              <a:ext cx="3584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例如"发射后两拍到达队列头（S3、写队列）" = </a:t>
              </a:r>
              <a:r>
                <a:rPr lang="zh-CN" sz="97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tick + 2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48400" y="3352800"/>
            <a:ext cx="5410200" cy="2286000"/>
            <a:chOff x="6248400" y="3352800"/>
            <a:chExt cx="5410200" cy="2286000"/>
          </a:xfrm>
        </p:grpSpPr>
        <p:sp>
          <p:nvSpPr>
            <p:cNvPr id="66" name="Rectangle 66"/>
            <p:cNvSpPr/>
            <p:nvPr/>
          </p:nvSpPr>
          <p:spPr>
            <a:xfrm>
              <a:off x="6248400" y="3352800"/>
              <a:ext cx="5410200" cy="2286000"/>
            </a:xfrm>
            <a:prstGeom prst="roundRect">
              <a:avLst>
                <a:gd name="adj" fmla="val 3333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26518" y="3495199"/>
              <a:ext cx="26637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翻译成 RTL：同一拍组合（8c17f5d73）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26518" y="37618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sched_allocate.v:124–130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26518" y="3952399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rd_ok = rd_free_count &gt;= sel_read_ports_i;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6518" y="4142899"/>
              <a:ext cx="23957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fu_ok = !fu_busy_i[sel_target_i];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6518" y="4333399"/>
              <a:ext cx="31148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issue_valid_o = sel_valid_i &amp;&amp; rd_ok &amp;&amp; wb_ok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12368" y="45238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&amp;&amp; fu_ok &amp;&amp; const_ok &amp;&amp; ...;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26518" y="4771549"/>
              <a:ext cx="31076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exec_pipe_top.v:5064–5070，always @(*)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26518" y="496204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assign wb_busy_o = wb_en;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26518" y="515254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fu_busy_o[0] = |pair_pending_q || ...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79018" y="534304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|| mem_response_pending_q || ...;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33400" y="5772150"/>
            <a:ext cx="11125200" cy="419100"/>
            <a:chOff x="533400" y="5772150"/>
            <a:chExt cx="11125200" cy="419100"/>
          </a:xfrm>
        </p:grpSpPr>
        <p:sp>
          <p:nvSpPr>
            <p:cNvPr id="78" name="Rectangle 78"/>
            <p:cNvSpPr/>
            <p:nvPr/>
          </p:nvSpPr>
          <p:spPr>
            <a:xfrm>
              <a:off x="533400" y="5772150"/>
              <a:ext cx="111252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8660" y="5909310"/>
              <a:ext cx="9748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模型里"未来第几拍"在 RTL 里变成了"现在忙不忙"：功能正确、性能也够，但</a:t>
              </a:r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划不出级边界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，是可维护性和可验证性的问题。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81" name="TextBox 81"/>
            <p:cNvSpPr txBox="1"/>
            <p:nvPr/>
          </p:nvSpPr>
          <p:spPr>
            <a:xfrm>
              <a:off x="522922" y="6540341"/>
              <a:ext cx="92807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代码：simulator/binding/timing_model_event_issue_scheduler.cpp:1876–2686；8c17f5d73 的 sched_allocate.v、exec_pipe_top.v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2" grpId="0"/>
      <p:bldP spid="53" grpId="0"/>
      <p:bldP spid="65" grpId="0"/>
      <p:bldP spid="77" grpId="0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072788" cy="659606"/>
            <a:chOff x="533400" y="438150"/>
            <a:chExt cx="7072788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62679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流水结构不清晰，麻烦出在维护和验证上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8965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原写法功能一直是对的，重构后整体周期也基本不变 —— 问题不在性能，而在"改不动、查不清"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1018" y="1228249"/>
            <a:ext cx="8291842" cy="198120"/>
            <a:chOff x="521018" y="1228249"/>
            <a:chExt cx="8291842" cy="198120"/>
          </a:xfrm>
        </p:grpSpPr>
        <p:sp>
          <p:nvSpPr>
            <p:cNvPr id="7" name="TextBox 7"/>
            <p:cNvSpPr txBox="1"/>
            <p:nvPr/>
          </p:nvSpPr>
          <p:spPr>
            <a:xfrm>
              <a:off x="521018" y="12282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97518" y="12282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原代码里的样子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9518" y="1228249"/>
              <a:ext cx="1243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带来的麻烦 / 实例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1428750"/>
            <a:ext cx="11125200" cy="1466850"/>
            <a:chOff x="533400" y="1428750"/>
            <a:chExt cx="111252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533400" y="1428750"/>
              <a:ext cx="2324100" cy="1466850"/>
            </a:xfrm>
            <a:prstGeom prst="roundRect">
              <a:avLst>
                <a:gd name="adj" fmla="val 5195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1518" y="1609249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① 可维护性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6755" y="18735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划不出级边界，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6755" y="21212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改一处牵动几处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09900" y="1428750"/>
              <a:ext cx="4381500" cy="1466850"/>
            </a:xfrm>
            <a:prstGeom prst="roundRect">
              <a:avLst>
                <a:gd name="adj" fmla="val 519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68968" y="1590199"/>
              <a:ext cx="2865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资源冲突"现查"：exe 当拍组合给出 busy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68968" y="18187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assign wb_busy_o = wb_en;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68968" y="2009299"/>
              <a:ext cx="27232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fu_busy_o[0] = |pair_pending_q || ... 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68968" y="2199799"/>
              <a:ext cx="23957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fu_ok = !fu_busy_i[sel_target_i];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68968" y="2428399"/>
              <a:ext cx="24526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S2 发不发取决于 exe 此刻的状态，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68968" y="26188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所以 S2 和 exe 之间插不了寄存器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43800" y="1428750"/>
              <a:ext cx="41148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20965" y="1601152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想加一级寄存器，得先把"现查 busy"整套换掉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0965" y="1886902"/>
              <a:ext cx="1789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实例：G3b 加 S2/S3 reg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0965" y="209645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第一步只能先用"保守 allocate"兜住（84bf17d56），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20965" y="2306002"/>
              <a:ext cx="3040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下一步换成 S4 预约表才算稳（5ada43467）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0965" y="261080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busy 粒度粗也是真的，但对整体周期影响很小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3028950"/>
            <a:ext cx="11125200" cy="1466850"/>
            <a:chOff x="533400" y="3028950"/>
            <a:chExt cx="11125200" cy="1466850"/>
          </a:xfrm>
        </p:grpSpPr>
        <p:sp>
          <p:nvSpPr>
            <p:cNvPr id="29" name="Rectangle 29"/>
            <p:cNvSpPr/>
            <p:nvPr/>
          </p:nvSpPr>
          <p:spPr>
            <a:xfrm>
              <a:off x="533400" y="3028950"/>
              <a:ext cx="2324100" cy="1466850"/>
            </a:xfrm>
            <a:prstGeom prst="roundRect">
              <a:avLst>
                <a:gd name="adj" fmla="val 519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1518" y="3209449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② 可验证性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6755" y="34737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状态没有主人，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755" y="37214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出错说不清哪一级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09900" y="3028950"/>
              <a:ext cx="4381500" cy="1466850"/>
            </a:xfrm>
            <a:prstGeom prst="roundRect">
              <a:avLst>
                <a:gd name="adj" fmla="val 519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68968" y="3190399"/>
              <a:ext cx="2986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subcore_top.v，6169 行，顶层自己持有：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68968" y="3399949"/>
              <a:ext cx="29083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ITS、分支 / CONV 序列、SETMAXNREG 状态、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68968" y="35904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RF init 记账、读代理仲裁、上下文扫描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68968" y="38380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exec_pipe_top.v，5121 行：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68968" y="4028599"/>
              <a:ext cx="2865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分发 + 读口 + collect + 执行单元 + 写回仲裁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68968" y="423814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S4 有 11 个输出经 exe 绕回自己（U1）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43800" y="3028950"/>
              <a:ext cx="41148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0965" y="32013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没有可以单独检查的"一级"：每条状态谁写、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0965" y="341090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每根线从哪级到哪级，都没有边界可对照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0965" y="371570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验证只剩端到端用例：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只知道结果错了，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0965" y="3925252"/>
              <a:ext cx="3231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不知道错在哪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；mix 最后报 128 处输出不一致，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0965" y="41348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给不出第一条出错的指令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" y="4629150"/>
            <a:ext cx="11125200" cy="1466850"/>
            <a:chOff x="533400" y="4629150"/>
            <a:chExt cx="11125200" cy="1466850"/>
          </a:xfrm>
        </p:grpSpPr>
        <p:sp>
          <p:nvSpPr>
            <p:cNvPr id="47" name="Rectangle 47"/>
            <p:cNvSpPr/>
            <p:nvPr/>
          </p:nvSpPr>
          <p:spPr>
            <a:xfrm>
              <a:off x="533400" y="4629150"/>
              <a:ext cx="2324100" cy="1466850"/>
            </a:xfrm>
            <a:prstGeom prst="roundRect">
              <a:avLst>
                <a:gd name="adj" fmla="val 5195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518" y="48096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③ 可验证性 · 真出过事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755" y="50739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约束是隐式的，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6755" y="53216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一改就坏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009900" y="4629150"/>
              <a:ext cx="4381500" cy="1466850"/>
            </a:xfrm>
            <a:prstGeom prst="roundRect">
              <a:avLst>
                <a:gd name="adj" fmla="val 519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168968" y="4790599"/>
              <a:ext cx="2830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subcore_decode.v：每 warp 一个 head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168968" y="5000149"/>
              <a:ext cx="26805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head 空了才补 → 同一 warp </a:t>
              </a:r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隔拍</a:t>
              </a:r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才发一条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68968" y="5228749"/>
              <a:ext cx="2360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its_top：发射后下一拍才推进 PC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68968" y="5438299"/>
              <a:ext cx="2865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sched_issue_valid_q → its_cbu_advance_*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68968" y="566689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两者正好对上，但没有任何文档写过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68968" y="5857399"/>
              <a:ext cx="2231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"同 warp 至少隔一拍"这条约束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543800" y="4629150"/>
              <a:ext cx="41148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20965" y="4801552"/>
              <a:ext cx="23856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实例：G2 把 head 改成两项 FIFO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20965" y="5030152"/>
              <a:ext cx="28483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 warp 可以连拍发射了，但 ITS 的 PC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20965" y="5239702"/>
              <a:ext cx="1974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晚一拍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，同一个 PC 发了两次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20965" y="5544502"/>
              <a:ext cx="2994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iadd3 </a:t>
              </a:r>
              <a:r>
                <a:rPr lang="zh-CN" sz="105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PASS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；mix / control_flow 才报错，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20965" y="57540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最后靠看波形才找到原因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22922" y="6540341"/>
              <a:ext cx="66600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依据：8c17f5d73 源码；84bf17d56、5ada43467；runs/G2；fml-rtl-proto/README.md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46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842760" cy="659606"/>
            <a:chOff x="533400" y="438150"/>
            <a:chExt cx="6842760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9228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同一个问题，之前怎么写，之后怎么写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6665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与第 7、8 页对应；重构后整体周期基本不变 —— 收益在结构清晰、可以按级验证，不在性能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162050"/>
            <a:ext cx="11125200" cy="342900"/>
            <a:chOff x="533400" y="1162050"/>
            <a:chExt cx="11125200" cy="342900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1714500" cy="3429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512" y="12692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24100" y="1162050"/>
              <a:ext cx="4381500" cy="342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462212" y="1269206"/>
              <a:ext cx="15295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之前（8c17f5d73）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781800" y="1162050"/>
              <a:ext cx="48768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19912" y="1269206"/>
              <a:ext cx="15726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之后（80ef456d2）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543050"/>
            <a:ext cx="11125200" cy="819150"/>
            <a:chOff x="533400" y="1543050"/>
            <a:chExt cx="11125200" cy="819150"/>
          </a:xfrm>
        </p:grpSpPr>
        <p:sp>
          <p:nvSpPr>
            <p:cNvPr id="14" name="Rectangle 14"/>
            <p:cNvSpPr/>
            <p:nvPr/>
          </p:nvSpPr>
          <p:spPr>
            <a:xfrm>
              <a:off x="533400" y="1543050"/>
              <a:ext cx="11125200" cy="8191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1512" y="17454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一拍组合链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19983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第 7 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3165" y="1696402"/>
              <a:ext cx="2863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选 warp、查资源、ITS、分发、RF 读地址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3165" y="19059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全在发射这一拍里组合完成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5070" y="2131695"/>
              <a:ext cx="31315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issue_valid = sel &amp;&amp; rd_ok &amp;&amp; wb_ok &amp;&amp; fu_ok &amp;&amp; 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20865" y="16964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按级切开：S2 只做 eligible → pick → issue，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0865" y="190595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发射条件只剩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选中 &amp; credit 够 &amp; S3 收得下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20865" y="2115502"/>
              <a:ext cx="35844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S2/S3 reg、dispatch reg、S4 两个小级都是寄存器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1512" y="2515552"/>
            <a:ext cx="9971818" cy="632460"/>
            <a:chOff x="671512" y="2515552"/>
            <a:chExt cx="9971818" cy="632460"/>
          </a:xfrm>
        </p:grpSpPr>
        <p:sp>
          <p:nvSpPr>
            <p:cNvPr id="24" name="TextBox 24"/>
            <p:cNvSpPr txBox="1"/>
            <p:nvPr/>
          </p:nvSpPr>
          <p:spPr>
            <a:xfrm>
              <a:off x="671512" y="2564606"/>
              <a:ext cx="1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① 现查 busy，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512" y="27741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划不出边界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63165" y="2515552"/>
              <a:ext cx="3162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exe 用 always @(*) 算 fu_busy / rd_busy，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63165" y="2725102"/>
              <a:ext cx="2388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当拍组合送回 S2；访存响应一来，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3165" y="29346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读口、LSU、AGU、SFU 一起"忙"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2515552"/>
              <a:ext cx="3722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固定路径：S4 提前预约好拍数，S5 / SW 的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rdy 恒为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0865" y="2725102"/>
              <a:ext cx="35614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变长路径：S2 按 credit 发射，推入队列一定成功；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0865" y="2934652"/>
              <a:ext cx="3722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忙只影响自己那个前门。fu_busy、fp64_busy 已删除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3200400"/>
            <a:ext cx="11125200" cy="819150"/>
            <a:chOff x="533400" y="3200400"/>
            <a:chExt cx="11125200" cy="819150"/>
          </a:xfrm>
        </p:grpSpPr>
        <p:sp>
          <p:nvSpPr>
            <p:cNvPr id="33" name="Rectangle 33"/>
            <p:cNvSpPr/>
            <p:nvPr/>
          </p:nvSpPr>
          <p:spPr>
            <a:xfrm>
              <a:off x="533400" y="3200400"/>
              <a:ext cx="11125200" cy="8191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512" y="3402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资源检查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370" y="3636645"/>
              <a:ext cx="660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（同属 ①）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63165" y="33537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选中的 warp 查不过就整拍空发；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63165" y="3563302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读口按"空几个"、写口按"现在空不空"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65070" y="3789045"/>
              <a:ext cx="27897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rd_ok = rd_free_count &gt;= sel_read_ports_i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3353752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不再查读口 / 写口；S4 allocate 用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预约表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20865" y="3563302"/>
              <a:ext cx="38681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 bank 一张读口表，按写口（B0、B1、P、URF、UP）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0865" y="37728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一张写回拍表，读写都有防饿死保留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1512" y="4172902"/>
            <a:ext cx="9511761" cy="632460"/>
            <a:chOff x="671512" y="4172902"/>
            <a:chExt cx="9511761" cy="632460"/>
          </a:xfrm>
        </p:grpSpPr>
        <p:sp>
          <p:nvSpPr>
            <p:cNvPr id="43" name="TextBox 43"/>
            <p:cNvSpPr txBox="1"/>
            <p:nvPr/>
          </p:nvSpPr>
          <p:spPr>
            <a:xfrm>
              <a:off x="671512" y="4221956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② 状态没有主人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63165" y="4172902"/>
              <a:ext cx="3040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ITS、分支序列、SETMAXNREG、walker 都在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63165" y="4382452"/>
              <a:ext cx="3139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subcore_top（6169 行），顶层统一扫上下文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63165" y="459200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exe 5121 行，S4 的输出经 exe 绕回自己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0865" y="4172902"/>
              <a:ext cx="32624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每份状态一个主人，只有主人能写：ITS 归 S2，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0865" y="43824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RF 阵列归 SW，分支序列归控制前门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20865" y="45920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顶层 3486 行（−43%），只连线、只串上下文链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33400" y="4857750"/>
            <a:ext cx="11125200" cy="819150"/>
            <a:chOff x="533400" y="4857750"/>
            <a:chExt cx="11125200" cy="819150"/>
          </a:xfrm>
        </p:grpSpPr>
        <p:sp>
          <p:nvSpPr>
            <p:cNvPr id="51" name="Rectangle 51"/>
            <p:cNvSpPr/>
            <p:nvPr/>
          </p:nvSpPr>
          <p:spPr>
            <a:xfrm>
              <a:off x="533400" y="4857750"/>
              <a:ext cx="11125200" cy="8191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1512" y="5060156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③ 约束没写下来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63165" y="5011102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单项 head 让同 warp 隔拍才发，ITS 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63165" y="5220652"/>
              <a:ext cx="2388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PC 推进依赖它；没有任何文档写过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63165" y="543020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反向信号跨级当拍读（busy、warp_mask_o）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20865" y="5011102"/>
              <a:ext cx="3346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写进规范和结构数据（E22），作为已知差距登记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0865" y="52206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反向只走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寄存的事件通道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，下一拍才看到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20865" y="543020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结构检查对未登记的触发器、连线直接报错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3400" y="5791200"/>
            <a:ext cx="11125200" cy="400050"/>
            <a:chOff x="533400" y="5791200"/>
            <a:chExt cx="11125200" cy="400050"/>
          </a:xfrm>
        </p:grpSpPr>
        <p:sp>
          <p:nvSpPr>
            <p:cNvPr id="60" name="Rectangle 60"/>
            <p:cNvSpPr/>
            <p:nvPr/>
          </p:nvSpPr>
          <p:spPr>
            <a:xfrm>
              <a:off x="533400" y="5791200"/>
              <a:ext cx="11125200" cy="400050"/>
            </a:xfrm>
            <a:prstGeom prst="roundRect">
              <a:avLst>
                <a:gd name="adj" fmla="val 19048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9612" y="5926931"/>
              <a:ext cx="80713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代价：代码总量 +8%（多了级间寄存器和预约表）；换来的是</a:t>
              </a:r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每一级有边界、有主人，可以单独检查、单独替换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22922" y="6540341"/>
              <a:ext cx="65636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依据：git diff 8c17f5d73..80ef456d2 -- rtl/src；2026-10-16-fig11-v2-changes.md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852" y="65403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42" grpId="0"/>
      <p:bldP spid="50" grpId="0"/>
      <p:bldP spid="59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810024" cy="659606"/>
            <a:chOff x="533400" y="438150"/>
            <a:chExt cx="781002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76480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这样做的优势：能检查、能定位、能对齐、不变慢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826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结构清楚之后，验证从"整体跑通没有"变成"每一级是否和图一致"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181100"/>
            <a:ext cx="5410200" cy="2247900"/>
            <a:chOff x="533400" y="1181100"/>
            <a:chExt cx="5410200" cy="224790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54102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181100"/>
              <a:ext cx="38100" cy="22479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54856" y="1383506"/>
              <a:ext cx="185737" cy="185737"/>
              <a:chOff x="754856" y="1383506"/>
              <a:chExt cx="185737" cy="18573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54856" y="1383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8681" y="1507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49655" y="13877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能检查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9610" y="1765935"/>
              <a:ext cx="50164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S1–SW 六级结构"不一致"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2286952"/>
              <a:ext cx="4473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同一份结构数据既出图又查网表：层次、边界寄存器、表长、连线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2515552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网表里冒出 IR 没登记的触发器或连线，门禁直接拦下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820352"/>
              <a:ext cx="3960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首次跑就报出 5 个功能测试看不见的结构分歧（U1–U5），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3048952"/>
              <a:ext cx="24956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其中一个来自自称"行为不变"的提交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181100"/>
            <a:ext cx="5410200" cy="2247900"/>
            <a:chOff x="6248400" y="1181100"/>
            <a:chExt cx="5410200" cy="22479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181100"/>
              <a:ext cx="54102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48400" y="1181100"/>
              <a:ext cx="38100" cy="2247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469856" y="1383506"/>
              <a:ext cx="185738" cy="185738"/>
              <a:chOff x="6469856" y="13835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552406" y="1466056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11131" y="14247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69856" y="13835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64655" y="13877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能定位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4610" y="1765935"/>
              <a:ext cx="48508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第 2–3 条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指令处报出分歧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5565" y="2286952"/>
              <a:ext cx="4473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 trace 绑在 subcore_top 上，按线程和 ISS 比第一处分歧；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5565" y="2515552"/>
              <a:ext cx="30783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对 G2 错误版本直接指向"ITS PC 推进晚一拍"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5565" y="282035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边界清楚后，"哪一级错了"可以回答；顺带挖出多个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5565" y="3048952"/>
              <a:ext cx="37684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真实 bug（读后写漏洞、X 传播、ELECT 选错 lane 等）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3619500"/>
            <a:ext cx="5897299" cy="2247900"/>
            <a:chOff x="533400" y="3619500"/>
            <a:chExt cx="5897299" cy="2247900"/>
          </a:xfrm>
        </p:grpSpPr>
        <p:sp>
          <p:nvSpPr>
            <p:cNvPr id="32" name="Rectangle 32"/>
            <p:cNvSpPr/>
            <p:nvPr/>
          </p:nvSpPr>
          <p:spPr>
            <a:xfrm>
              <a:off x="533400" y="3619500"/>
              <a:ext cx="54102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619500"/>
              <a:ext cx="38100" cy="22479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65175" y="3821906"/>
              <a:ext cx="165100" cy="185737"/>
              <a:chOff x="765175" y="3821906"/>
              <a:chExt cx="165100" cy="18573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65175" y="38322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89000" y="3956050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7406" y="3852862"/>
                <a:ext cx="7223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103187">
                    <a:moveTo>
                      <a:pt x="0" y="0"/>
                    </a:moveTo>
                    <a:lnTo>
                      <a:pt x="51594" y="0"/>
                    </a:lnTo>
                    <a:cubicBezTo>
                      <a:pt x="62992" y="0"/>
                      <a:pt x="72231" y="9240"/>
                      <a:pt x="72231" y="20638"/>
                    </a:cubicBezTo>
                    <a:lnTo>
                      <a:pt x="72231" y="103187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7406" y="3821906"/>
                <a:ext cx="30956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61912">
                    <a:moveTo>
                      <a:pt x="30956" y="61912"/>
                    </a:moveTo>
                    <a:lnTo>
                      <a:pt x="0" y="30956"/>
                    </a:ln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85812" y="3873500"/>
                <a:ext cx="7223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103187">
                    <a:moveTo>
                      <a:pt x="72231" y="103187"/>
                    </a:moveTo>
                    <a:lnTo>
                      <a:pt x="20638" y="103187"/>
                    </a:lnTo>
                    <a:cubicBezTo>
                      <a:pt x="9240" y="103187"/>
                      <a:pt x="0" y="93948"/>
                      <a:pt x="0" y="825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3945731"/>
                <a:ext cx="30956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61912">
                    <a:moveTo>
                      <a:pt x="0" y="0"/>
                    </a:moveTo>
                    <a:lnTo>
                      <a:pt x="30956" y="30956"/>
                    </a:lnTo>
                    <a:lnTo>
                      <a:pt x="0" y="61912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9655" y="382619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能和性能模型对齐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610" y="4204335"/>
              <a:ext cx="57410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≈ 0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多数同步项的周期中位变化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565" y="4725352"/>
              <a:ext cx="47882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RTL 的结构决定（预约、credit、ELECT 延迟）可以逐项同步回模型；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0565" y="495395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模型发射事件与 ISS 逐条对齐 0 不一致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0565" y="5258752"/>
              <a:ext cx="3231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7–14× 的周期差拆开后，统一口径下 iadd3 只差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565" y="5487352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1.2–1.3×，剩下的差距能指到具体路径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48400" y="3619500"/>
            <a:ext cx="5410200" cy="2247900"/>
            <a:chOff x="6248400" y="3619500"/>
            <a:chExt cx="5410200" cy="2247900"/>
          </a:xfrm>
        </p:grpSpPr>
        <p:sp>
          <p:nvSpPr>
            <p:cNvPr id="48" name="Rectangle 48"/>
            <p:cNvSpPr/>
            <p:nvPr/>
          </p:nvSpPr>
          <p:spPr>
            <a:xfrm>
              <a:off x="6248400" y="3619500"/>
              <a:ext cx="54102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3619500"/>
              <a:ext cx="38100" cy="2247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69856" y="3832225"/>
              <a:ext cx="185737" cy="174625"/>
              <a:chOff x="6469856" y="3832225"/>
              <a:chExt cx="185737" cy="1746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69856" y="3914775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3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93681" y="3873500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3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31769" y="3832225"/>
                <a:ext cx="61912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10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3" y="165100"/>
                      <a:pt x="51594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80175" y="399732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64655" y="382619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没有变慢，部分变快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04610" y="4204335"/>
              <a:ext cx="44989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−7.9%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carry2_mw 周期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25565" y="4725352"/>
              <a:ext cx="41671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port_pressure −7.2%（固定 VALU 不再被变长序列挡住）；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5565" y="4953952"/>
              <a:ext cx="333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其余 sm_kernel 在 ±1.3% 内，SoC 周期基本不变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5565" y="52587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加了级间寄存器，但去掉了全局反压和空发，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25565" y="54873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两者大致抵消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59594" y="6026944"/>
            <a:ext cx="7200471" cy="235744"/>
            <a:chOff x="559594" y="6026944"/>
            <a:chExt cx="7200471" cy="235744"/>
          </a:xfrm>
        </p:grpSpPr>
        <p:grpSp>
          <p:nvGrpSpPr>
            <p:cNvPr id="67" name="Group 67"/>
            <p:cNvGrpSpPr/>
            <p:nvPr/>
          </p:nvGrpSpPr>
          <p:grpSpPr>
            <a:xfrm>
              <a:off x="559594" y="6026944"/>
              <a:ext cx="157163" cy="157956"/>
              <a:chOff x="559594" y="6026944"/>
              <a:chExt cx="157163" cy="15795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94519" y="6175375"/>
                <a:ext cx="87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9525">
                    <a:moveTo>
                      <a:pt x="0" y="0"/>
                    </a:moveTo>
                    <a:lnTo>
                      <a:pt x="87312" y="0"/>
                    </a:lnTo>
                  </a:path>
                </a:pathLst>
              </a:custGeom>
              <a:noFill/>
              <a:ln w="19050">
                <a:solidFill>
                  <a:srgbClr val="999999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85788" y="6044406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8731"/>
                    </a:moveTo>
                    <a:lnTo>
                      <a:pt x="52388" y="0"/>
                    </a:lnTo>
                    <a:lnTo>
                      <a:pt x="104775" y="8731"/>
                    </a:lnTo>
                  </a:path>
                </a:pathLst>
              </a:custGeom>
              <a:noFill/>
              <a:ln w="19050">
                <a:solidFill>
                  <a:srgbClr val="999999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38175" y="6026944"/>
                <a:ext cx="9525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1">
                    <a:moveTo>
                      <a:pt x="0" y="0"/>
                    </a:moveTo>
                    <a:lnTo>
                      <a:pt x="0" y="148431"/>
                    </a:lnTo>
                  </a:path>
                </a:pathLst>
              </a:custGeom>
              <a:noFill/>
              <a:ln w="19050">
                <a:solidFill>
                  <a:srgbClr val="999999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59594" y="6053138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52388" y="52388"/>
                    </a:moveTo>
                    <a:lnTo>
                      <a:pt x="26194" y="0"/>
                    </a:lnTo>
                    <a:lnTo>
                      <a:pt x="0" y="52388"/>
                    </a:lnTo>
                    <a:cubicBezTo>
                      <a:pt x="0" y="66854"/>
                      <a:pt x="11727" y="78581"/>
                      <a:pt x="26194" y="78581"/>
                    </a:cubicBezTo>
                    <a:cubicBezTo>
                      <a:pt x="40660" y="78581"/>
                      <a:pt x="52388" y="66854"/>
                      <a:pt x="52388" y="52388"/>
                    </a:cubicBezTo>
                  </a:path>
                </a:pathLst>
              </a:custGeom>
              <a:noFill/>
              <a:ln w="19050">
                <a:solidFill>
                  <a:srgbClr val="99999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4369" y="6053138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52388" y="52388"/>
                    </a:moveTo>
                    <a:lnTo>
                      <a:pt x="26194" y="0"/>
                    </a:lnTo>
                    <a:lnTo>
                      <a:pt x="0" y="52388"/>
                    </a:lnTo>
                    <a:cubicBezTo>
                      <a:pt x="0" y="66854"/>
                      <a:pt x="11727" y="78581"/>
                      <a:pt x="26194" y="78581"/>
                    </a:cubicBezTo>
                    <a:cubicBezTo>
                      <a:pt x="40660" y="78581"/>
                      <a:pt x="52388" y="66854"/>
                      <a:pt x="52388" y="52388"/>
                    </a:cubicBezTo>
                  </a:path>
                </a:pathLst>
              </a:custGeom>
              <a:noFill/>
              <a:ln w="19050">
                <a:solidFill>
                  <a:srgbClr val="999999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24865" y="6049328"/>
              <a:ext cx="69352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代价：代码总量 +8%；同 warp 仍两拍一条（E22），pred_branch_mw 暂时 +0.6%，等 E15 批次收回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0" name="TextBox 70"/>
            <p:cNvSpPr txBox="1"/>
            <p:nvPr/>
          </p:nvSpPr>
          <p:spPr>
            <a:xfrm>
              <a:off x="522922" y="6540341"/>
              <a:ext cx="69793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依据：runs/progress.md；runs/C1/summary.md；runs/perf-gap；runs/cycles/last.tsv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47" grpId="0"/>
      <p:bldP spid="61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407348" cy="659606"/>
            <a:chOff x="533400" y="438150"/>
            <a:chExt cx="6407348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9228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但这套流程有痛点：标准本身不能执行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231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drawio 图和结构数据只说"有什么、怎么连"；"每一拍做什么"仍然只在文档和人脑里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181100"/>
            <a:ext cx="5334000" cy="1123950"/>
            <a:chOff x="533400" y="1181100"/>
            <a:chExt cx="5334000" cy="112395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5334000" cy="1123950"/>
            </a:xfrm>
            <a:prstGeom prst="roundRect">
              <a:avLst>
                <a:gd name="adj" fmla="val 678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708" y="1329214"/>
              <a:ext cx="15672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① 图只能静态比对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0565" y="16392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结构检查比的是网表"连没连、有没有寄存"，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0565" y="1867852"/>
              <a:ext cx="4013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不知道寄存器里该是什么值；行为对不对只能靠端到端用例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2419350"/>
            <a:ext cx="5334000" cy="1123950"/>
            <a:chOff x="533400" y="2419350"/>
            <a:chExt cx="5334000" cy="1123950"/>
          </a:xfrm>
        </p:grpSpPr>
        <p:sp>
          <p:nvSpPr>
            <p:cNvPr id="12" name="Rectangle 12"/>
            <p:cNvSpPr/>
            <p:nvPr/>
          </p:nvSpPr>
          <p:spPr>
            <a:xfrm>
              <a:off x="533400" y="2419350"/>
              <a:ext cx="5334000" cy="1123950"/>
            </a:xfrm>
            <a:prstGeom prst="roundRect">
              <a:avLst>
                <a:gd name="adj" fmla="val 678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7708" y="2567464"/>
              <a:ext cx="17627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② 时序契约没有载体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2877502"/>
              <a:ext cx="3346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A8 之后慢 6–7%：WARPSYNC 分叉每次 6 → 9 拍，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3106102"/>
              <a:ext cx="36534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E12–E15 几轮假设都没找到，最后靠人工统计停留拍数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3657600"/>
            <a:ext cx="5334000" cy="1123950"/>
            <a:chOff x="533400" y="3657600"/>
            <a:chExt cx="53340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533400" y="3657600"/>
              <a:ext cx="5334000" cy="1123950"/>
            </a:xfrm>
            <a:prstGeom prst="roundRect">
              <a:avLst>
                <a:gd name="adj" fmla="val 678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708" y="3805714"/>
              <a:ext cx="2593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③ 设计问题到写 RTL 时才暴露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4115752"/>
              <a:ext cx="3638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E1–E24、R1–R6 共 30 条决定是实现中新定或反推的；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4344352"/>
              <a:ext cx="35231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每次都要停下、改图、再继续 —— 图没法先"跑一下"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4895850"/>
            <a:ext cx="5334000" cy="1123950"/>
            <a:chOff x="533400" y="4895850"/>
            <a:chExt cx="5334000" cy="1123950"/>
          </a:xfrm>
        </p:grpSpPr>
        <p:sp>
          <p:nvSpPr>
            <p:cNvPr id="22" name="Rectangle 22"/>
            <p:cNvSpPr/>
            <p:nvPr/>
          </p:nvSpPr>
          <p:spPr>
            <a:xfrm>
              <a:off x="533400" y="4895850"/>
              <a:ext cx="5334000" cy="1123950"/>
            </a:xfrm>
            <a:prstGeom prst="roundRect">
              <a:avLst>
                <a:gd name="adj" fmla="val 678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7708" y="5043964"/>
              <a:ext cx="17627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④ 隐式契约一碰就坏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0565" y="535400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"同 warp 隔拍发射"没写在任何地方；G2 首版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565" y="5582602"/>
              <a:ext cx="3362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改了 head FIFO，iadd3 PASS，构建一次要 623 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56008" y="1272064"/>
            <a:ext cx="5502592" cy="3335655"/>
            <a:chOff x="6156008" y="1272064"/>
            <a:chExt cx="5502592" cy="3335655"/>
          </a:xfrm>
        </p:grpSpPr>
        <p:sp>
          <p:nvSpPr>
            <p:cNvPr id="27" name="TextBox 27"/>
            <p:cNvSpPr txBox="1"/>
            <p:nvPr/>
          </p:nvSpPr>
          <p:spPr>
            <a:xfrm>
              <a:off x="6156008" y="1272064"/>
              <a:ext cx="37375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证据：6 个"功能验证通过、问题照样漏掉"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72200" y="1562100"/>
              <a:ext cx="5486400" cy="3048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11265" y="165830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9915" y="16583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1665" y="16583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后来谁抓住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72200" y="1866900"/>
              <a:ext cx="5486400" cy="7239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1265" y="2172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9915" y="2020252"/>
              <a:ext cx="22656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S4 allocate 搬家，自称行为不变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39915" y="23250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两项 head FIFO，PC 晚一拍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1665" y="20202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结构检查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1665" y="23250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逐指令比对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1265" y="2896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时序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39915" y="2744152"/>
              <a:ext cx="1544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A8 控制前门，慢 6–7%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39915" y="30489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b4 访存 bank，慢 8.53%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11665" y="274415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周期对比 + 人工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11665" y="3048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周期对比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72200" y="3314700"/>
              <a:ext cx="5486400" cy="7239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11265" y="36204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验证失效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39915" y="346805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旧脚本把有 fault 的运行判 PASS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39915" y="37728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断言文件静默失效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1665" y="34680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事后人工发现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11665" y="377285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新增 assert_check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59818" y="4200049"/>
              <a:ext cx="39193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时序类落在性能模型误差之内，只看"聚合周期 ±10%"抓不到；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59818" y="4409599"/>
              <a:ext cx="31575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每一个都是事后、靠人、在端到端层面才发现的。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172200" y="4762500"/>
            <a:ext cx="5486400" cy="1288256"/>
            <a:chOff x="6172200" y="4762500"/>
            <a:chExt cx="5486400" cy="1288256"/>
          </a:xfrm>
        </p:grpSpPr>
        <p:sp>
          <p:nvSpPr>
            <p:cNvPr id="52" name="Rectangle 52"/>
            <p:cNvSpPr/>
            <p:nvPr/>
          </p:nvSpPr>
          <p:spPr>
            <a:xfrm>
              <a:off x="6172200" y="4762500"/>
              <a:ext cx="5486400" cy="1257300"/>
            </a:xfrm>
            <a:prstGeom prst="roundRect">
              <a:avLst>
                <a:gd name="adj" fmla="val 6061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393656" y="4983956"/>
              <a:ext cx="185738" cy="185737"/>
              <a:chOff x="6393656" y="4983956"/>
              <a:chExt cx="185738" cy="185737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393656" y="498395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30556" y="5025231"/>
                <a:ext cx="111938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2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2"/>
                      <a:pt x="55969" y="144462"/>
                    </a:cubicBezTo>
                    <a:cubicBezTo>
                      <a:pt x="44571" y="144462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62792" y="512841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689408" y="4996339"/>
              <a:ext cx="23786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需要的是一个中间层，它要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48412" y="5326856"/>
              <a:ext cx="31914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能执行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：每拍行为写清楚，写 RTL 之前先跑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8412" y="5574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能挂契约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：时序约束是可检查的代码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48412" y="5822156"/>
              <a:ext cx="3848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能和 RTL 逐拍比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：出错直接给出第一拍、第一个信号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2" name="TextBox 62"/>
            <p:cNvSpPr txBox="1"/>
            <p:nvPr/>
          </p:nvSpPr>
          <p:spPr>
            <a:xfrm>
              <a:off x="522922" y="6540341"/>
              <a:ext cx="55695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依据：2026-10-20-paper-draft-v2.md §1.2；runs/cycles/log.md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75828" y="654034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51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850975" cy="659606"/>
            <a:chOff x="533400" y="438150"/>
            <a:chExt cx="6850975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2845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为什么要约束 AI：长程实现会偏移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6747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文献里有人提到，我们自己的两周记录里也看得到；方案的出发点就是把 AI 的实现范围框住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162050"/>
            <a:ext cx="4076700" cy="4381500"/>
            <a:chOff x="533400" y="1162050"/>
            <a:chExt cx="4076700" cy="4381500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4076700" cy="4381500"/>
            </a:xfrm>
            <a:prstGeom prst="roundRect">
              <a:avLst>
                <a:gd name="adj" fmla="val 1869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475" y="1375337"/>
              <a:ext cx="180975" cy="139138"/>
              <a:chOff x="752475" y="1375337"/>
              <a:chExt cx="180975" cy="1391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2475" y="1499162"/>
                <a:ext cx="171450" cy="1531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313">
                    <a:moveTo>
                      <a:pt x="0" y="15313"/>
                    </a:moveTo>
                    <a:cubicBezTo>
                      <a:pt x="26523" y="0"/>
                      <a:pt x="59202" y="0"/>
                      <a:pt x="85725" y="15313"/>
                    </a:cubicBezTo>
                    <a:cubicBezTo>
                      <a:pt x="112248" y="0"/>
                      <a:pt x="144927" y="0"/>
                      <a:pt x="171450" y="15313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2475" y="1375337"/>
                <a:ext cx="171450" cy="1531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313">
                    <a:moveTo>
                      <a:pt x="0" y="15313"/>
                    </a:moveTo>
                    <a:cubicBezTo>
                      <a:pt x="26523" y="0"/>
                      <a:pt x="59202" y="0"/>
                      <a:pt x="85725" y="15313"/>
                    </a:cubicBezTo>
                    <a:cubicBezTo>
                      <a:pt x="112248" y="0"/>
                      <a:pt x="144927" y="0"/>
                      <a:pt x="171450" y="15313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52475" y="13906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38200" y="13906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23925" y="13906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31558" y="13673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外部证据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96044" y="1407795"/>
              <a:ext cx="1034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 ] 内为阅读深度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17345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Spec-Driven HW Evolution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[全文]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1518" y="1952149"/>
              <a:ext cx="31717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用隔离子代理防"指令漂移"；消融去掉后直接失败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26790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IncreRTL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[只核过术语]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518" y="2485549"/>
              <a:ext cx="3356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"structural drift"：增量生成 RTL 时结构逐步偏离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28013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nano-kpu / HSCO-Bench / Hawkeye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[全文 / 源码]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1518" y="301894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零件都对，拼起来出问题；上下文太大会污染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0565" y="3334702"/>
              <a:ext cx="2994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HINT、Representation Bottleneck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[全文]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518" y="355234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换表示 3% → 88%；换更强模型提升 &lt; 1.25×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0565" y="386810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CodeSpec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[方法部分，软件侧]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518" y="40857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可执行架构规格，在长程开发中反复检查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565" y="44015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软件架构一致性 </a:t>
              </a:r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[原文 / 检索片段]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518" y="4619149"/>
              <a:ext cx="2516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人写代码也会偏离架构（Rosik 2011）；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518" y="480964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JITTAC：4 个月后删掉的违规不到 50%；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518" y="5000149"/>
              <a:ext cx="2644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SAVE LiFe：每步实时检查，违规少约 60%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762500" y="1162050"/>
            <a:ext cx="3467100" cy="4381500"/>
            <a:chOff x="4762500" y="1162050"/>
            <a:chExt cx="3467100" cy="4381500"/>
          </a:xfrm>
        </p:grpSpPr>
        <p:sp>
          <p:nvSpPr>
            <p:cNvPr id="31" name="Rectangle 31"/>
            <p:cNvSpPr/>
            <p:nvPr/>
          </p:nvSpPr>
          <p:spPr>
            <a:xfrm>
              <a:off x="4762500" y="1162050"/>
              <a:ext cx="3467100" cy="4381500"/>
            </a:xfrm>
            <a:prstGeom prst="roundRect">
              <a:avLst>
                <a:gd name="adj" fmla="val 2198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971239" y="1358911"/>
              <a:ext cx="192114" cy="165051"/>
              <a:chOff x="4971239" y="1358911"/>
              <a:chExt cx="192114" cy="16505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067300" y="14192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971239" y="13589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067300" y="148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260658" y="136731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我们自己的证据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39665" y="1753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结构偏移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0618" y="1990249"/>
              <a:ext cx="2616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0ffa993ed 自称"行为不变"，功能、md5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0618" y="218074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都一样，结构却偏离了设计图，并且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0618" y="2371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跨了好几个提交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39665" y="2725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决策偏移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0618" y="296179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30 条决定（E1–E24、R1–R6）在实现中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40618" y="3152299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新定；10 月日志里用户明确批准的只有 4.8%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39665" y="3506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知识偏移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0618" y="3742849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7 月台账：上游修订后 50% 的下游没跟改；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40618" y="3933349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写的核实报告 verify-b5 有错，一路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40618" y="4123849"/>
              <a:ext cx="1377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扩散到 b5 漏判 fault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39665" y="44777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隐式约束被打破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40618" y="471439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G2：没写下来的"隔拍发射"被改掉，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40618" y="490489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iadd3 PASS，PC 晚一拍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382000" y="1162050"/>
            <a:ext cx="3276600" cy="4381500"/>
            <a:chOff x="8382000" y="1162050"/>
            <a:chExt cx="3276600" cy="4381500"/>
          </a:xfrm>
        </p:grpSpPr>
        <p:sp>
          <p:nvSpPr>
            <p:cNvPr id="52" name="Rectangle 52"/>
            <p:cNvSpPr/>
            <p:nvPr/>
          </p:nvSpPr>
          <p:spPr>
            <a:xfrm>
              <a:off x="8382000" y="1162050"/>
              <a:ext cx="3276600" cy="4381500"/>
            </a:xfrm>
            <a:prstGeom prst="roundRect">
              <a:avLst>
                <a:gd name="adj" fmla="val 2326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601075" y="1362075"/>
              <a:ext cx="171450" cy="171450"/>
              <a:chOff x="8601075" y="1362075"/>
              <a:chExt cx="171450" cy="1714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677275" y="14382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639175" y="1400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601075" y="1362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880158" y="136731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方案管住哪一类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72500" y="1714500"/>
              <a:ext cx="2895600" cy="9906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11565" y="18488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结构偏移 </a:t>
              </a:r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· 主要目标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12518" y="20854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边界规格 + 封闭世界门禁 +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12518" y="227599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边界 lockstep：越界即拦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72500" y="2819400"/>
              <a:ext cx="2895600" cy="9906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711565" y="29537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决策偏移 </a:t>
              </a:r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· 部分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12518" y="31903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偏差必须引用登记过的条目；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12518" y="338089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设计改动先改规格再改 RTL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572500" y="3924300"/>
              <a:ext cx="2895600" cy="990600"/>
            </a:xfrm>
            <a:prstGeom prst="roundRect">
              <a:avLst>
                <a:gd name="adj" fmla="val 5769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11565" y="40586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知识偏移 </a:t>
              </a:r>
              <a:r>
                <a:rPr lang="zh-CN" sz="10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· 不在本方案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12518" y="42952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来源、修订如何传播：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12518" y="44857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留给第二篇（决策台账实证）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60118" y="519064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隐式约束 → 写成契约，归入结构偏移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33400" y="5695950"/>
            <a:ext cx="11125200" cy="526256"/>
            <a:chOff x="533400" y="5695950"/>
            <a:chExt cx="11125200" cy="526256"/>
          </a:xfrm>
        </p:grpSpPr>
        <p:sp>
          <p:nvSpPr>
            <p:cNvPr id="72" name="Rectangle 72"/>
            <p:cNvSpPr/>
            <p:nvPr/>
          </p:nvSpPr>
          <p:spPr>
            <a:xfrm>
              <a:off x="533400" y="56959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9612" y="5784056"/>
              <a:ext cx="60421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偏移不是 AI 独有：规格和实现分开维护，人也会偏；AI 只是让它</a:t>
              </a:r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更快、规模更大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9612" y="5993606"/>
              <a:ext cx="76359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所以约束分两道：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写之前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规定每级能拥有什么、能传什么；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写之后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封闭世界门禁 + lockstep，越界就拦。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6" name="TextBox 76"/>
            <p:cNvSpPr txBox="1"/>
            <p:nvPr/>
          </p:nvSpPr>
          <p:spPr>
            <a:xfrm>
              <a:off x="522922" y="6540341"/>
              <a:ext cx="72263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依据：survey/08、10、11、14-novelty/A；2026-10-20-paper2-empirical-draft.md；ledger-oct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1" grpId="0"/>
      <p:bldP spid="71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434233" y="5557838"/>
            <a:ext cx="1310092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0" b="1" dirty="0">
                <a:solidFill>
                  <a:srgbClr val="FFFF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025968"/>
            <a:ext cx="8703716" cy="1269682"/>
            <a:chOff x="1097280" y="2025968"/>
            <a:chExt cx="8703716" cy="1269682"/>
          </a:xfrm>
        </p:grpSpPr>
        <p:sp>
          <p:nvSpPr>
            <p:cNvPr id="4" name="TextBox 4"/>
            <p:cNvSpPr txBox="1"/>
            <p:nvPr/>
          </p:nvSpPr>
          <p:spPr>
            <a:xfrm>
              <a:off x="1125855" y="2025968"/>
              <a:ext cx="13651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PART 03 · 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7280" y="2564130"/>
              <a:ext cx="8703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以 FML 为中间 IR，把流程固定下来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38500"/>
              <a:ext cx="9144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22045" y="3727132"/>
            <a:ext cx="5302758" cy="1911668"/>
            <a:chOff x="1122045" y="3727132"/>
            <a:chExt cx="5302758" cy="1911668"/>
          </a:xfrm>
        </p:grpSpPr>
        <p:sp>
          <p:nvSpPr>
            <p:cNvPr id="8" name="TextBox 8"/>
            <p:cNvSpPr txBox="1"/>
            <p:nvPr/>
          </p:nvSpPr>
          <p:spPr>
            <a:xfrm>
              <a:off x="1122045" y="3727132"/>
              <a:ext cx="46205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标准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从一张图，换成一个能跑的周期级模型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045" y="4165282"/>
              <a:ext cx="3656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图、约束清单、契约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都从模型派生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045" y="4603432"/>
              <a:ext cx="33313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RTL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的每一步都和模型逐拍比对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7760" y="5394960"/>
              <a:ext cx="52970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这部分是提议；S1 head FIFO 原型 10-23 已跑通（fml-rtl-proto）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656075" cy="659606"/>
            <a:chOff x="533400" y="438150"/>
            <a:chExt cx="7656075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2845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FML 是什么，为什么适合当这一层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4798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定位：性能模型管"做什么、多少拍"；FML 规格管"在哪一级做、每级拥有什么状态、两级之间传什么"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7208" y="1272064"/>
            <a:ext cx="4778692" cy="4881086"/>
            <a:chOff x="517208" y="1272064"/>
            <a:chExt cx="4778692" cy="4881086"/>
          </a:xfrm>
        </p:grpSpPr>
        <p:sp>
          <p:nvSpPr>
            <p:cNvPr id="7" name="TextBox 7"/>
            <p:cNvSpPr txBox="1"/>
            <p:nvPr/>
          </p:nvSpPr>
          <p:spPr>
            <a:xfrm>
              <a:off x="517208" y="12720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四个特点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543050"/>
              <a:ext cx="4762500" cy="1066800"/>
            </a:xfrm>
            <a:prstGeom prst="roundRect">
              <a:avLst>
                <a:gd name="adj" fmla="val 714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3425" y="1724025"/>
              <a:ext cx="171450" cy="171450"/>
              <a:chOff x="733425" y="1724025"/>
              <a:chExt cx="171450" cy="1714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00100" y="17240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3425" y="1857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6775" y="1857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762" y="1819275"/>
                <a:ext cx="10477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2862">
                    <a:moveTo>
                      <a:pt x="0" y="42862"/>
                    </a:moveTo>
                    <a:lnTo>
                      <a:pt x="52388" y="0"/>
                    </a:lnTo>
                    <a:lnTo>
                      <a:pt x="104775" y="42862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19150" y="17621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3460" y="1737360"/>
              <a:ext cx="1594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模块 + 状态 + task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1515" y="2039302"/>
              <a:ext cx="3783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task 由时钟（整数皮秒）或事件（带最小延迟）触发，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1515" y="22679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时钟和离散事件在同一个模型里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4762500" cy="1066800"/>
            </a:xfrm>
            <a:prstGeom prst="roundRect">
              <a:avLst>
                <a:gd name="adj" fmla="val 714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52475" y="2905125"/>
              <a:ext cx="133350" cy="171450"/>
              <a:chOff x="752475" y="2905125"/>
              <a:chExt cx="133350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52475" y="2981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9625" y="3019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1050" y="2905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13460" y="29184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访存方式写进签名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1515" y="322040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每个 task 声明读"拍前的值"、读"本拍最新值"或写；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1515" y="3449002"/>
              <a:ext cx="37991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VM 据此推出全部顺序，有歧义（组合环）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加载时就拒绝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05250"/>
              <a:ext cx="4762500" cy="1066800"/>
            </a:xfrm>
            <a:prstGeom prst="roundRect">
              <a:avLst>
                <a:gd name="adj" fmla="val 714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3425" y="4095750"/>
              <a:ext cx="171450" cy="152400"/>
              <a:chOff x="733425" y="4095750"/>
              <a:chExt cx="171450" cy="152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3425" y="4171950"/>
                <a:ext cx="1714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7625">
                    <a:moveTo>
                      <a:pt x="171450" y="47625"/>
                    </a:moveTo>
                    <a:lnTo>
                      <a:pt x="95250" y="47625"/>
                    </a:lnTo>
                    <a:lnTo>
                      <a:pt x="61912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5385" y="4124325"/>
                <a:ext cx="10949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9490" h="47625">
                    <a:moveTo>
                      <a:pt x="109490" y="0"/>
                    </a:moveTo>
                    <a:lnTo>
                      <a:pt x="33290" y="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6300" y="409575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6300" y="419100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13460" y="40995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并行而确定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1515" y="4401502"/>
              <a:ext cx="3369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不论几个 worker，结束状态、事件都完全相同；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1515" y="46301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可以拿声明的顺序检查一次运行的轨迹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086350"/>
              <a:ext cx="4762500" cy="1066800"/>
            </a:xfrm>
            <a:prstGeom prst="roundRect">
              <a:avLst>
                <a:gd name="adj" fmla="val 714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52475" y="5276850"/>
              <a:ext cx="133350" cy="152400"/>
              <a:chOff x="752475" y="5276850"/>
              <a:chExt cx="133350" cy="152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52475" y="53911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52475" y="52768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7725" y="5334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1525" y="53149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1525" y="53149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0"/>
                    </a:moveTo>
                    <a:cubicBezTo>
                      <a:pt x="0" y="21042"/>
                      <a:pt x="17058" y="38100"/>
                      <a:pt x="38100" y="38100"/>
                    </a:cubicBez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13460" y="528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边界开放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515" y="55826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外部端口可接 trace、功能模型或联合仿真的 RTL；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515" y="5811202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Fifo 等组件可自定义；支持不停机快照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584508" y="1272064"/>
            <a:ext cx="6074092" cy="4881086"/>
            <a:chOff x="5584508" y="1272064"/>
            <a:chExt cx="6074092" cy="4881086"/>
          </a:xfrm>
        </p:grpSpPr>
        <p:sp>
          <p:nvSpPr>
            <p:cNvPr id="46" name="TextBox 46"/>
            <p:cNvSpPr txBox="1"/>
            <p:nvPr/>
          </p:nvSpPr>
          <p:spPr>
            <a:xfrm>
              <a:off x="5584508" y="1272064"/>
              <a:ext cx="23982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和现在手里的几种"标准"比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600700" y="1543050"/>
              <a:ext cx="605790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39765" y="16773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需要的能力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89239" y="1685449"/>
              <a:ext cx="12807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drawio + 结构数据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27880" y="1685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性能模型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84013" y="1685449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FML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600700" y="1924050"/>
              <a:ext cx="6057900" cy="4191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39765" y="20774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描述级、状态主人、连线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63754" y="20612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4085" y="20774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 一个函数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68854" y="20612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39765" y="24965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每拍行为可执行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74093" y="24965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9231" y="24965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事件级，非逐拍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68854" y="24803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600700" y="2762250"/>
              <a:ext cx="6057900" cy="4191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39765" y="29156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区分寄存器 / 连线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62912" y="29156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标注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83793" y="29156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18815" y="29156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由读法决定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739765" y="33347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组合环 / 反向组合检查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56208" y="3334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网表上事后查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83793" y="33347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679835" y="33347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加载时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600700" y="3600450"/>
              <a:ext cx="6057900" cy="4191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739765" y="37538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挂时序契约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74093" y="37538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65908" y="37538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要改模型代码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30254" y="3753802"/>
              <a:ext cx="1008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只读 monitor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739765" y="4172902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和 RTL 逐拍比对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174093" y="41729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89231" y="41729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只能比周期总数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518815" y="41729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原型已验证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600700" y="4438650"/>
              <a:ext cx="6057900" cy="4191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739765" y="45920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生成给人看的图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163754" y="45758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583793" y="45920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768012" y="45920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待做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287000" y="1543050"/>
              <a:ext cx="1295400" cy="3314700"/>
            </a:xfrm>
            <a:prstGeom prst="roundRect">
              <a:avLst>
                <a:gd name="adj" fmla="val 2941"/>
              </a:avLst>
            </a:prstGeom>
            <a:noFill/>
            <a:ln w="19050">
              <a:solidFill>
                <a:srgbClr val="E07A1F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600700" y="5048250"/>
              <a:ext cx="60579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5800725" y="5248275"/>
              <a:ext cx="171450" cy="171450"/>
              <a:chOff x="5800725" y="5248275"/>
              <a:chExt cx="171450" cy="17145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5800725" y="52482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5834787" y="52863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5864542" y="53816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081712" y="5269706"/>
              <a:ext cx="3709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关键的一点：FML 里"读拍前的值 / 读本拍最新值"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81712" y="5517356"/>
              <a:ext cx="272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正好对应 RTL 的</a:t>
              </a:r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寄存器 / 组合连线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57862" y="5822156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所以写模型的同时就把级边界写清楚了，不需要另外标。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94" name="TextBox 94"/>
            <p:cNvSpPr txBox="1"/>
            <p:nvPr/>
          </p:nvSpPr>
          <p:spPr>
            <a:xfrm>
              <a:off x="522922" y="6540341"/>
              <a:ext cx="51297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依据：fml/README.zh-CN.md；fml-rtl-proto/README.md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9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516737" cy="659606"/>
            <a:chOff x="533400" y="438150"/>
            <a:chExt cx="7516737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73548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新流程：FML 模型是唯一来源，其余都从它派生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8390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和第 4 页比：标准从"图"换成"能跑的边界规格"，验收多了"在级边界上和模型逐拍比"这一道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276350"/>
            <a:ext cx="2171700" cy="1019175"/>
            <a:chOff x="533400" y="1276350"/>
            <a:chExt cx="2171700" cy="1019175"/>
          </a:xfrm>
        </p:grpSpPr>
        <p:sp>
          <p:nvSpPr>
            <p:cNvPr id="7" name="Rectangle 7"/>
            <p:cNvSpPr/>
            <p:nvPr/>
          </p:nvSpPr>
          <p:spPr>
            <a:xfrm>
              <a:off x="533400" y="1276350"/>
              <a:ext cx="1809750" cy="990600"/>
            </a:xfrm>
            <a:prstGeom prst="roundRect">
              <a:avLst>
                <a:gd name="adj" fmla="val 7692"/>
              </a:avLst>
            </a:prstGeom>
            <a:solidFill>
              <a:srgbClr val="F4F6F9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29456" y="1444625"/>
              <a:ext cx="122237" cy="157162"/>
              <a:chOff x="729456" y="1444625"/>
              <a:chExt cx="122237" cy="1571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29456" y="1444625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8731" y="0"/>
                    </a:moveTo>
                    <a:lnTo>
                      <a:pt x="104775" y="0"/>
                    </a:lnTo>
                    <a:cubicBezTo>
                      <a:pt x="114419" y="0"/>
                      <a:pt x="122237" y="7818"/>
                      <a:pt x="122237" y="17463"/>
                    </a:cubicBezTo>
                    <a:lnTo>
                      <a:pt x="122237" y="122238"/>
                    </a:lnTo>
                    <a:cubicBezTo>
                      <a:pt x="122237" y="131882"/>
                      <a:pt x="114419" y="139700"/>
                      <a:pt x="104775" y="139700"/>
                    </a:cubicBezTo>
                    <a:lnTo>
                      <a:pt x="8731" y="139700"/>
                    </a:lnTo>
                    <a:cubicBezTo>
                      <a:pt x="3909" y="139700"/>
                      <a:pt x="0" y="135791"/>
                      <a:pt x="0" y="13096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  <a:moveTo>
                      <a:pt x="34925" y="0"/>
                    </a:moveTo>
                    <a:lnTo>
                      <a:pt x="34925" y="157162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99306" y="1479550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99306" y="1514475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56310" y="1451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设计决策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17506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规范条目、修改清单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19411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每条带来源（实卡 / 人定 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1126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 RTL 现状）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343150" y="1771650"/>
              <a:ext cx="36195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2762250" y="1200150"/>
            <a:ext cx="3276600" cy="1143000"/>
            <a:chOff x="2762250" y="1200150"/>
            <a:chExt cx="32766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2762250" y="120015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985294" y="1383506"/>
              <a:ext cx="144462" cy="185738"/>
              <a:chOff x="2985294" y="1383506"/>
              <a:chExt cx="144462" cy="1857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078162" y="13835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985294" y="1383506"/>
                <a:ext cx="144462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8">
                    <a:moveTo>
                      <a:pt x="123825" y="185738"/>
                    </a:move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9" y="0"/>
                    </a:lnTo>
                    <a:lnTo>
                      <a:pt x="144462" y="51594"/>
                    </a:lnTo>
                    <a:lnTo>
                      <a:pt x="144462" y="165100"/>
                    </a:lnTo>
                    <a:cubicBezTo>
                      <a:pt x="144462" y="176498"/>
                      <a:pt x="135223" y="185738"/>
                      <a:pt x="123825" y="1857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026569" y="1486694"/>
                <a:ext cx="1031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41275">
                    <a:moveTo>
                      <a:pt x="10319" y="0"/>
                    </a:moveTo>
                    <a:lnTo>
                      <a:pt x="0" y="20637"/>
                    </a:lnTo>
                    <a:lnTo>
                      <a:pt x="10319" y="41275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078162" y="1486694"/>
                <a:ext cx="1031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41275">
                    <a:moveTo>
                      <a:pt x="0" y="0"/>
                    </a:moveTo>
                    <a:lnTo>
                      <a:pt x="10319" y="20637"/>
                    </a:ln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259455" y="13973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FML 结构模型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21318" y="1723549"/>
              <a:ext cx="28798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一级一个模块；状态只由主人的 commit 写；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1318" y="193309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级间队列、事件通道、每拍行为都写成代码；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21318" y="21426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写完先自己跑：契约、加载检查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619750" y="1771650"/>
              <a:ext cx="41910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0" y="1200150"/>
            <a:ext cx="2598658" cy="1143000"/>
            <a:chOff x="6096000" y="1200150"/>
            <a:chExt cx="2598658" cy="11430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200150"/>
              <a:ext cx="2571750" cy="342900"/>
            </a:xfrm>
            <a:prstGeom prst="roundRect">
              <a:avLst>
                <a:gd name="adj" fmla="val 1666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236494" y="1293019"/>
              <a:ext cx="157162" cy="157162"/>
              <a:chOff x="6236494" y="1293019"/>
              <a:chExt cx="157162" cy="1571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236494" y="1415256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358731" y="1293019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17462" y="34925"/>
                    </a:move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  <a:cubicBezTo>
                      <a:pt x="0" y="27107"/>
                      <a:pt x="7818" y="34925"/>
                      <a:pt x="17462" y="349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53956" y="1310481"/>
                <a:ext cx="130969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22237">
                    <a:moveTo>
                      <a:pt x="52388" y="122237"/>
                    </a:moveTo>
                    <a:lnTo>
                      <a:pt x="100409" y="122237"/>
                    </a:lnTo>
                    <a:cubicBezTo>
                      <a:pt x="117287" y="122237"/>
                      <a:pt x="130969" y="108556"/>
                      <a:pt x="130969" y="91678"/>
                    </a:cubicBezTo>
                    <a:cubicBezTo>
                      <a:pt x="130969" y="74801"/>
                      <a:pt x="117287" y="61119"/>
                      <a:pt x="100409" y="61119"/>
                    </a:cubicBezTo>
                    <a:lnTo>
                      <a:pt x="30559" y="61119"/>
                    </a:lnTo>
                    <a:cubicBezTo>
                      <a:pt x="13682" y="61119"/>
                      <a:pt x="0" y="47437"/>
                      <a:pt x="0" y="30559"/>
                    </a:cubicBezTo>
                    <a:cubicBezTo>
                      <a:pt x="0" y="13682"/>
                      <a:pt x="13682" y="0"/>
                      <a:pt x="30559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482715" y="131540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审查视图（drawio）→ 给人看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0" y="1600200"/>
              <a:ext cx="2571750" cy="342900"/>
            </a:xfrm>
            <a:prstGeom prst="roundRect">
              <a:avLst>
                <a:gd name="adj" fmla="val 1666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240859" y="1706166"/>
              <a:ext cx="144066" cy="127397"/>
              <a:chOff x="6240859" y="1706166"/>
              <a:chExt cx="144066" cy="12739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240859" y="1706166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40859" y="1758553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240859" y="1810941"/>
                <a:ext cx="349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1828">
                    <a:moveTo>
                      <a:pt x="0" y="8731"/>
                    </a:moveTo>
                    <a:lnTo>
                      <a:pt x="13097" y="21828"/>
                    </a:ln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306344" y="1719262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306344" y="1771650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306344" y="1824038"/>
                <a:ext cx="785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525">
                    <a:moveTo>
                      <a:pt x="0" y="0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482715" y="17154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约束清单、接口 → 给 AI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96000" y="2000250"/>
              <a:ext cx="2571750" cy="342900"/>
            </a:xfrm>
            <a:prstGeom prst="roundRect">
              <a:avLst>
                <a:gd name="adj" fmla="val 1666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24710" y="2093119"/>
              <a:ext cx="170506" cy="157162"/>
              <a:chOff x="6224710" y="2093119"/>
              <a:chExt cx="170506" cy="1571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224710" y="2093119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41269" y="221535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482715" y="21155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 monitor、结构规则 → 门禁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724900" y="1200150"/>
            <a:ext cx="2933700" cy="1143000"/>
            <a:chOff x="8724900" y="1200150"/>
            <a:chExt cx="2933700" cy="1143000"/>
          </a:xfrm>
        </p:grpSpPr>
        <p:sp>
          <p:nvSpPr>
            <p:cNvPr id="51" name="Rectangle 51"/>
            <p:cNvSpPr/>
            <p:nvPr/>
          </p:nvSpPr>
          <p:spPr>
            <a:xfrm>
              <a:off x="9048750" y="1200150"/>
              <a:ext cx="260985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  <a:prstDash val="dash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9227344" y="1378744"/>
              <a:ext cx="157163" cy="157956"/>
              <a:chOff x="9227344" y="1378744"/>
              <a:chExt cx="157163" cy="15795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9262269" y="1527175"/>
                <a:ext cx="873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525">
                    <a:moveTo>
                      <a:pt x="0" y="0"/>
                    </a:moveTo>
                    <a:lnTo>
                      <a:pt x="87313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253538" y="1396206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8731"/>
                    </a:moveTo>
                    <a:lnTo>
                      <a:pt x="52388" y="0"/>
                    </a:lnTo>
                    <a:lnTo>
                      <a:pt x="104775" y="8731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05925" y="1378744"/>
                <a:ext cx="9525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1">
                    <a:moveTo>
                      <a:pt x="0" y="0"/>
                    </a:moveTo>
                    <a:lnTo>
                      <a:pt x="0" y="148431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227344" y="1404938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52388" y="52388"/>
                    </a:moveTo>
                    <a:lnTo>
                      <a:pt x="26194" y="0"/>
                    </a:lnTo>
                    <a:lnTo>
                      <a:pt x="0" y="52388"/>
                    </a:lnTo>
                    <a:cubicBezTo>
                      <a:pt x="0" y="66854"/>
                      <a:pt x="11727" y="78581"/>
                      <a:pt x="26194" y="78581"/>
                    </a:cubicBezTo>
                    <a:cubicBezTo>
                      <a:pt x="40660" y="78581"/>
                      <a:pt x="52388" y="66854"/>
                      <a:pt x="52388" y="52388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32119" y="1404938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52388" y="52388"/>
                    </a:moveTo>
                    <a:lnTo>
                      <a:pt x="26194" y="0"/>
                    </a:lnTo>
                    <a:lnTo>
                      <a:pt x="0" y="52388"/>
                    </a:lnTo>
                    <a:cubicBezTo>
                      <a:pt x="0" y="66854"/>
                      <a:pt x="11727" y="78581"/>
                      <a:pt x="26194" y="78581"/>
                    </a:cubicBezTo>
                    <a:cubicBezTo>
                      <a:pt x="40660" y="78581"/>
                      <a:pt x="52388" y="66854"/>
                      <a:pt x="52388" y="52388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472612" y="1402556"/>
              <a:ext cx="1676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参考：ISS / 性能模型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88768" y="170449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ISS 管"做对没有"；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88768" y="19140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性能模型给契约的期望值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88768" y="21235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（多少拍）</a:t>
              </a:r>
            </a:p>
          </p:txBody>
        </p:sp>
        <p:sp>
          <p:nvSpPr>
            <p:cNvPr id="62" name="Line 62"/>
            <p:cNvSpPr/>
            <p:nvPr/>
          </p:nvSpPr>
          <p:spPr>
            <a:xfrm flipH="1">
              <a:off x="8724900" y="2171700"/>
              <a:ext cx="323850" cy="1"/>
            </a:xfrm>
            <a:prstGeom prst="line">
              <a:avLst/>
            </a:prstGeom>
            <a:noFill/>
            <a:ln w="19050">
              <a:solidFill>
                <a:srgbClr val="2A7F9E"/>
              </a:solidFill>
              <a:prstDash val="dash"/>
              <a:tailEnd type="triangle" w="lg" len="lg"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597218" y="2038350"/>
            <a:ext cx="6784658" cy="1809750"/>
            <a:chOff x="597218" y="2038350"/>
            <a:chExt cx="6784658" cy="1809750"/>
          </a:xfrm>
        </p:grpSpPr>
        <p:sp>
          <p:nvSpPr>
            <p:cNvPr id="64" name="Line 64"/>
            <p:cNvSpPr/>
            <p:nvPr/>
          </p:nvSpPr>
          <p:spPr>
            <a:xfrm>
              <a:off x="4191000" y="2343150"/>
              <a:ext cx="1" cy="4572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293870" y="25317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按级、按清单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762250" y="2857500"/>
              <a:ext cx="2857500" cy="990600"/>
            </a:xfrm>
            <a:prstGeom prst="roundRect">
              <a:avLst>
                <a:gd name="adj" fmla="val 7692"/>
              </a:avLst>
            </a:prstGeom>
            <a:solidFill>
              <a:srgbClr val="F4F6F9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2981325" y="3028950"/>
              <a:ext cx="133350" cy="180975"/>
              <a:chOff x="2981325" y="3028950"/>
              <a:chExt cx="133350" cy="1809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2990850" y="30480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048000" y="3028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019425" y="31242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076575" y="31242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2981325" y="314325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3076575" y="314325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3019425" y="31813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028950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067050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242310" y="3051810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按级写 RTL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921318" y="336184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一次只改一级，接口按模型的边界；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921318" y="35713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先保行为的搬迁，再改拍数</a:t>
              </a:r>
            </a:p>
          </p:txBody>
        </p:sp>
        <p:sp>
          <p:nvSpPr>
            <p:cNvPr id="80" name="Polyline 80"/>
            <p:cNvSpPr/>
            <p:nvPr/>
          </p:nvSpPr>
          <p:spPr>
            <a:xfrm>
              <a:off x="2552700" y="2038350"/>
              <a:ext cx="209550" cy="1314450"/>
            </a:xfrm>
            <a:custGeom>
              <a:avLst/>
              <a:gdLst/>
              <a:ahLst/>
              <a:cxnLst/>
              <a:rect l="l" t="t" r="r" b="b"/>
              <a:pathLst>
                <a:path w="209550" h="1314450">
                  <a:moveTo>
                    <a:pt x="209550" y="1314450"/>
                  </a:moveTo>
                  <a:lnTo>
                    <a:pt x="0" y="1314450"/>
                  </a:lnTo>
                  <a:lnTo>
                    <a:pt x="0" y="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prstDash val="lgDash"/>
              <a:tailEnd type="triangle" w="lg" len="lg"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7218" y="27522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实现中发现设计问题：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7218" y="29427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改模型，不是改图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5619750" y="3352800"/>
              <a:ext cx="41910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84" name="Line 84"/>
            <p:cNvSpPr/>
            <p:nvPr/>
          </p:nvSpPr>
          <p:spPr>
            <a:xfrm>
              <a:off x="7381875" y="2343150"/>
              <a:ext cx="1" cy="4191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6096000" y="2819400"/>
            <a:ext cx="5562600" cy="1066800"/>
            <a:chOff x="6096000" y="2819400"/>
            <a:chExt cx="5562600" cy="1066800"/>
          </a:xfrm>
        </p:grpSpPr>
        <p:sp>
          <p:nvSpPr>
            <p:cNvPr id="86" name="Rectangle 86"/>
            <p:cNvSpPr/>
            <p:nvPr/>
          </p:nvSpPr>
          <p:spPr>
            <a:xfrm>
              <a:off x="6096000" y="2819400"/>
              <a:ext cx="5562600" cy="1066800"/>
            </a:xfrm>
            <a:prstGeom prst="roundRect">
              <a:avLst>
                <a:gd name="adj" fmla="val 7143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271260" y="295656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门禁：四项全过才提交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273165" y="3258502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</a:t>
              </a:r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级边界上与 FML 逐拍 lockstep（新增）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73165" y="35252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</a:t>
              </a:r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契约 monitor 0 违例（新增）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35415" y="32585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</a:t>
              </a:r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网表结构检查（已有）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035415" y="3525202"/>
              <a:ext cx="17748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</a:t>
              </a:r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功能用例 + ISS（已有）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17208" y="4110514"/>
            <a:ext cx="11141392" cy="2061686"/>
            <a:chOff x="517208" y="4110514"/>
            <a:chExt cx="11141392" cy="2061686"/>
          </a:xfrm>
        </p:grpSpPr>
        <p:sp>
          <p:nvSpPr>
            <p:cNvPr id="93" name="TextBox 93"/>
            <p:cNvSpPr txBox="1"/>
            <p:nvPr/>
          </p:nvSpPr>
          <p:spPr>
            <a:xfrm>
              <a:off x="517208" y="4110514"/>
              <a:ext cx="1146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现在 vs 提议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4362450"/>
              <a:ext cx="11125200" cy="285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3418" y="44476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环节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845118" y="4447699"/>
              <a:ext cx="1602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现在（drawio 为标准）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226618" y="444769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提议（FML 为标准）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33400" y="4648200"/>
              <a:ext cx="11125200" cy="3048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72465" y="47348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图从哪来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844165" y="4734878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Python 结构数据 + 排版脚本，和行为无关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25665" y="4734878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从模型确定性派生，图和行为是同一份东西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72465" y="503967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设计问题何时暴露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844165" y="5039678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 RTL 时（30 条 E / R）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25665" y="5039678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写模型、跑模型时；加载即拒组合环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33400" y="5257800"/>
              <a:ext cx="11125200" cy="3048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72465" y="53444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时序约束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2844165" y="53444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写在规范文档里，靠人记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225665" y="5344478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只读 monitor，每次运行都查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72465" y="56492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行为是否对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844165" y="5649278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端到端用例，构建一次几分钟，出错只知道结果不对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225665" y="5649278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在级边界上 lockstep，直接给出第一拍、第一个信号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533400" y="5867400"/>
              <a:ext cx="11125200" cy="3048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72465" y="5954078"/>
              <a:ext cx="663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的输入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2844165" y="5954078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看图 + 读清单，自己理解每拍行为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225665" y="5954078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边界规格 + 边界上必须逐拍一致；级内自己实现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117" name="TextBox 117"/>
            <p:cNvSpPr txBox="1"/>
            <p:nvPr/>
          </p:nvSpPr>
          <p:spPr>
            <a:xfrm>
              <a:off x="522922" y="6540341"/>
              <a:ext cx="56358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提议；依据：2026-10-14-structure-ir-spec.md §3；fml-rtl-proto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  <p:bldP spid="50" grpId="0"/>
      <p:bldP spid="63" grpId="0"/>
      <p:bldP spid="85" grpId="0"/>
      <p:bldP spid="92" grpId="0"/>
      <p:bldP spid="1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8206823" cy="659606"/>
            <a:chOff x="533400" y="438150"/>
            <a:chExt cx="8206823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8044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FML 规格写到哪一层：边界逐拍精确，级内可以抽象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795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IR 的核心：每一级拥有什么状态、两级之间传什么；它是规格，不是另一种 RTL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181100"/>
            <a:ext cx="3467100" cy="4381500"/>
            <a:chOff x="533400" y="1181100"/>
            <a:chExt cx="3467100" cy="438150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3467100" cy="4381500"/>
            </a:xfrm>
            <a:prstGeom prst="roundRect">
              <a:avLst>
                <a:gd name="adj" fmla="val 2198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1525" y="1381125"/>
              <a:ext cx="133350" cy="171450"/>
              <a:chOff x="771525" y="1381125"/>
              <a:chExt cx="1333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71525" y="1457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28675" y="1495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0100" y="1381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1558" y="1386364"/>
              <a:ext cx="1625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FML 规格必须写清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1518" y="16854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RTL 在这些地方和模型逐拍比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9612" y="2050256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级边界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518" y="2295049"/>
              <a:ext cx="2217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每拍跨过边界的是什么：S1 → S2 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518" y="248554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head 视图、S2 → S3 的发射……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612" y="2850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状态归属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518" y="30951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每份状态的主人，谁能写；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518" y="328564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由 view / commit 的写法保证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612" y="36504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事件通道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1518" y="389524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源、目的、延迟 1 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612" y="42600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契约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518" y="4504849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只读 monitor；可带 RTL 没有的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518" y="4695349"/>
              <a:ext cx="1769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辅助字段（如 Entry::pc）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152900" y="1181100"/>
            <a:ext cx="3467100" cy="4381500"/>
            <a:chOff x="4152900" y="1181100"/>
            <a:chExt cx="3467100" cy="4381500"/>
          </a:xfrm>
        </p:grpSpPr>
        <p:sp>
          <p:nvSpPr>
            <p:cNvPr id="26" name="Rectangle 26"/>
            <p:cNvSpPr/>
            <p:nvPr/>
          </p:nvSpPr>
          <p:spPr>
            <a:xfrm>
              <a:off x="4152900" y="1181100"/>
              <a:ext cx="3467100" cy="4381500"/>
            </a:xfrm>
            <a:prstGeom prst="roundRect">
              <a:avLst>
                <a:gd name="adj" fmla="val 2198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4371975" y="1381125"/>
              <a:ext cx="171450" cy="171450"/>
              <a:chOff x="4371975" y="1381125"/>
              <a:chExt cx="171450" cy="1714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391025" y="14001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29125" y="14382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71975" y="14478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371975" y="14859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38650" y="13811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476750" y="13811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524375" y="14478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24375" y="14859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476750" y="1533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438650" y="1533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4651058" y="1386364"/>
              <a:ext cx="1645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留给 RTL 自己决定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31018" y="168544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FML 只描述效果，不描述做法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29112" y="20502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级内怎么实现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1018" y="2295049"/>
              <a:ext cx="25238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例：S4 预约表用什么数据结构，FML 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1018" y="248554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规定"这一拍能否预约成功、第几拍写回"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29112" y="2850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数据通路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31018" y="30951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译码、ALU 等；原型里译码器就是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31018" y="328564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拿 RTL 当 oracle，没有移植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29112" y="36504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物理实现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31018" y="38952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位宽打包、SRAM 还是触发器、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1018" y="4085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时序优化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43400" y="4495800"/>
              <a:ext cx="30861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83418" y="4638199"/>
              <a:ext cx="2603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所以模型和 RTL 是两份不同粒度的描述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3418" y="4866799"/>
              <a:ext cx="2217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模型短、好审；RTL 由 AI 独立写；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83418" y="507634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两边在边界上对得上，比对才有意义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772400" y="1181100"/>
            <a:ext cx="3886200" cy="4381500"/>
            <a:chOff x="7772400" y="1181100"/>
            <a:chExt cx="3886200" cy="4381500"/>
          </a:xfrm>
        </p:grpSpPr>
        <p:sp>
          <p:nvSpPr>
            <p:cNvPr id="54" name="Rectangle 54"/>
            <p:cNvSpPr/>
            <p:nvPr/>
          </p:nvSpPr>
          <p:spPr>
            <a:xfrm>
              <a:off x="7772400" y="1181100"/>
              <a:ext cx="3886200" cy="438150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8612" y="13263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关键写法：读法决定边界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62900" y="1581150"/>
              <a:ext cx="3505200" cy="2019300"/>
            </a:xfrm>
            <a:prstGeom prst="roundRect">
              <a:avLst>
                <a:gd name="adj" fmla="val 283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84820" y="16935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组合输出：只读寄存器旧值 + 本拍输入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84820" y="1864995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fn view(regs: </a:t>
              </a:r>
              <a:r>
                <a:rPr lang="zh-CN" sz="90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&amp;S1Regs</a:t>
              </a:r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27745" y="20173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env: </a:t>
              </a:r>
              <a:r>
                <a:rPr lang="zh-CN" sz="90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&amp;'latest EnvIn</a:t>
              </a:r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27745" y="21697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view: &amp;mut HeadView, ..)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84820" y="2360295"/>
              <a:ext cx="2356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G2a：刚发射的 warp 对 S2 隐藏一拍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84820" y="2512695"/>
              <a:ext cx="2001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let hidden = regs.issue_valid_q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51520" y="266509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&amp;&amp; regs.issue_slot_q == w;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84820" y="2893695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// 时钟沿：写寄存器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84820" y="3065145"/>
              <a:ext cx="1961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fn commit(regs: </a:t>
              </a:r>
              <a:r>
                <a:rPr lang="zh-CN" sz="90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&amp;mut S1Regs</a:t>
              </a:r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61095" y="3217545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issue: </a:t>
              </a:r>
              <a:r>
                <a:rPr lang="zh-CN" sz="90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&amp;'latest Issue</a:t>
              </a:r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, ..)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50518" y="3742849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&amp;T</a:t>
              </a:r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= 拍前的值（触发器 Q）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50518" y="39523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&amp;'latest T</a:t>
              </a:r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= 本拍刚写完的值（组合路径）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50518" y="4161949"/>
              <a:ext cx="2046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view 写连线，commit 写寄存器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962900" y="4438650"/>
              <a:ext cx="3505200" cy="933450"/>
            </a:xfrm>
            <a:prstGeom prst="roundRect">
              <a:avLst>
                <a:gd name="adj" fmla="val 612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83868" y="4561999"/>
              <a:ext cx="2289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注：S1 原型故意写到了逐信号精确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83868" y="4771549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目的是先证明 FML 能和 RTL 完全一致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83868" y="4962049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（第 17 页实验 B）；这不是目标粒度，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83868" y="51525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正式规格只要求边界精确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734050"/>
            <a:ext cx="11125200" cy="457200"/>
            <a:chOff x="533400" y="5734050"/>
            <a:chExt cx="11125200" cy="457200"/>
          </a:xfrm>
        </p:grpSpPr>
        <p:sp>
          <p:nvSpPr>
            <p:cNvPr id="76" name="Rectangle 76"/>
            <p:cNvSpPr/>
            <p:nvPr/>
          </p:nvSpPr>
          <p:spPr>
            <a:xfrm>
              <a:off x="533400" y="573405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8660" y="5890260"/>
              <a:ext cx="66114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规格比实现</a:t>
              </a:r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抽象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、和实现</a:t>
              </a:r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独立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，lockstep 检查的才是设计，而不只是"翻译对不对"。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9" name="TextBox 79"/>
            <p:cNvSpPr txBox="1"/>
            <p:nvPr/>
          </p:nvSpPr>
          <p:spPr>
            <a:xfrm>
              <a:off x="522922" y="6540341"/>
              <a:ext cx="50876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代码：fml-rtl-proto/model/src/s1.rs（ce2e086，节选）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3" grpId="0"/>
      <p:bldP spid="75" grpId="0"/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8814434" cy="659606"/>
            <a:chOff x="533400" y="438150"/>
            <a:chExt cx="881443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6612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 原型：用 G2 首轮那个真实错误检验 FML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8638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10-23，fml-rtl-proto；三个版本：G1 单项 head、G2 两项 FIFO（有错）、G2a 两项 FIFO + 屏蔽刚发射的 warp 一拍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181100"/>
            <a:ext cx="3543300" cy="4991100"/>
            <a:chOff x="533400" y="1181100"/>
            <a:chExt cx="3543300" cy="499110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3543300" cy="4991100"/>
            </a:xfrm>
            <a:prstGeom prst="roundRect">
              <a:avLst>
                <a:gd name="adj" fmla="val 215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181100"/>
              <a:ext cx="35433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7708" y="1367314"/>
              <a:ext cx="17334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 · 契约挂在模型上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518" y="1666399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C2：发射时 ITS 的 PC = 被发射指令的 PC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518" y="1856899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（PC 是辅助字段，RTL 里没有）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9610" y="2261235"/>
              <a:ext cx="16005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第 48 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725102"/>
              <a:ext cx="27946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G2 被抓到：warp 15 在 47、48 拍连发，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293465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发的是 pc 2，ITS 还停在 pc 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3238500"/>
              <a:ext cx="3162300" cy="2667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818" y="331422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10⁶ 拍，C2 违例次数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865" y="3620452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38681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G2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865" y="411575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44165" y="36204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44165" y="38681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328177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4165" y="41157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518" y="450484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每次约 3 s；1 个和 8 个 worker 结果相同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518" y="4847749"/>
              <a:ext cx="11087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对比 RTL 那次：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518" y="5057299"/>
              <a:ext cx="3029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模型构建 623 s，iadd3 端到端 PASS（漏掉）；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518" y="5266849"/>
              <a:ext cx="29225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mix / control_flow 只在最后报输出不一致，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518" y="54763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给不出第一条出错指令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518" y="5857399"/>
              <a:ext cx="24811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另：发现手写契约 C1"隔拍发射"不精确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24350" y="1181100"/>
            <a:ext cx="3543300" cy="4991100"/>
            <a:chOff x="4324350" y="1181100"/>
            <a:chExt cx="3543300" cy="4991100"/>
          </a:xfrm>
        </p:grpSpPr>
        <p:sp>
          <p:nvSpPr>
            <p:cNvPr id="30" name="Rectangle 30"/>
            <p:cNvSpPr/>
            <p:nvPr/>
          </p:nvSpPr>
          <p:spPr>
            <a:xfrm>
              <a:off x="4324350" y="1181100"/>
              <a:ext cx="3543300" cy="4991100"/>
            </a:xfrm>
            <a:prstGeom prst="roundRect">
              <a:avLst>
                <a:gd name="adj" fmla="val 215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24350" y="1181100"/>
              <a:ext cx="354330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98658" y="1367314"/>
              <a:ext cx="22613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 · 和 RTL 逐拍 lockstep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2468" y="166639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Verilator 记录 RTL 每拍的边界输入，回放给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2468" y="185689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FML 模型，逐拍比所有输出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14850" y="2152650"/>
              <a:ext cx="3162300" cy="285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55820" y="2245995"/>
              <a:ext cx="66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FML \ RTL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96222" y="2237899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7632" y="22378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7565" y="22378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g2a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54868" y="26379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429250" y="2533650"/>
              <a:ext cx="685800" cy="323850"/>
            </a:xfrm>
            <a:prstGeom prst="roundRect">
              <a:avLst>
                <a:gd name="adj" fmla="val 1176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78530" y="26379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 一致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11074" y="264604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10–49 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2124" y="264604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10–49 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4868" y="3037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0974" y="304609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10–49 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29350" y="2933700"/>
              <a:ext cx="685800" cy="323850"/>
            </a:xfrm>
            <a:prstGeom prst="roundRect">
              <a:avLst>
                <a:gd name="adj" fmla="val 1176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8630" y="303799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 一致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2124" y="304609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14–54 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54868" y="34380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G2a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10974" y="344614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10–49 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11074" y="344614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14–54 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10400" y="3333750"/>
              <a:ext cx="685800" cy="323850"/>
            </a:xfrm>
            <a:prstGeom prst="roundRect">
              <a:avLst>
                <a:gd name="adj" fmla="val 1176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59680" y="3438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 一致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02468" y="3876199"/>
              <a:ext cx="2609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每格 5 个种子 × 20 万拍；每次约 16 万次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02468" y="408574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发射、3 万次 trap，含 flush 和 ctx_hold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01515" y="44967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对角线：逐拍完全一致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01515" y="47253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非对角线：直接报第一拍、第一个信号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514850" y="5010150"/>
              <a:ext cx="31623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17720" y="5151120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cycle 30: head_valid_o: model 7609, RTL 5609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02468" y="55716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差的那一位正好是被屏蔽的 warp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02468" y="57811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原型比到逐信号；正式流程只比级边界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02468" y="59526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（译码数据通路未移植，RTL 作 oracle）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115300" y="1181100"/>
            <a:ext cx="3543300" cy="4991100"/>
            <a:chOff x="8115300" y="1181100"/>
            <a:chExt cx="3543300" cy="4991100"/>
          </a:xfrm>
        </p:grpSpPr>
        <p:sp>
          <p:nvSpPr>
            <p:cNvPr id="65" name="Rectangle 65"/>
            <p:cNvSpPr/>
            <p:nvPr/>
          </p:nvSpPr>
          <p:spPr>
            <a:xfrm>
              <a:off x="8115300" y="1181100"/>
              <a:ext cx="3543300" cy="4991100"/>
            </a:xfrm>
            <a:prstGeom prst="roundRect">
              <a:avLst>
                <a:gd name="adj" fmla="val 215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115300" y="1181100"/>
              <a:ext cx="3543300" cy="381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89608" y="1367314"/>
              <a:ext cx="2016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C · 结构规则在 IR 上查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93418" y="166639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G2 首轮的第二个毛病：refill_req 组合地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93418" y="1856899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用了 S2 这拍的 issue_sel（违反规范）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05800" y="2152650"/>
              <a:ext cx="3162300" cy="112395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44865" y="2286952"/>
              <a:ext cx="1999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写法 1：S1 输出放一个 task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45818" y="25426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FML 加载时直接拒绝：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46770" y="277939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dependency cycle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446770" y="29698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S1.view → S2.pick → S1.view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305800" y="3390900"/>
              <a:ext cx="3162300" cy="112395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44865" y="3525202"/>
              <a:ext cx="2860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写法 2：拆成两个 task（同 RTL 连法）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445818" y="378094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能加载；40 行规则脚本报出：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46770" y="4017645"/>
              <a:ext cx="18302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VIOLATION view_refill drives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46770" y="420814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ib_req from S2.issue ('latest)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93418" y="4695349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G1 / G2 / G2a 正常闭环：0 违例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93418" y="50382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说明：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93418" y="524779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内建检查是 task 粒度的组合环检查，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93418" y="5457349"/>
              <a:ext cx="26377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无关输出放一个 task 会误报；"反向必须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93418" y="5666899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过寄存器"要另写规则，但 IR 里信息齐全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86" name="TextBox 86"/>
            <p:cNvSpPr txBox="1"/>
            <p:nvPr/>
          </p:nvSpPr>
          <p:spPr>
            <a:xfrm>
              <a:off x="522922" y="6540341"/>
              <a:ext cx="53828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依据：fml-rtl-proto/README.md；runs/lockstep-matrix.txt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4" grpId="0"/>
      <p:bldP spid="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292334" cy="659606"/>
            <a:chOff x="533400" y="438150"/>
            <a:chExt cx="629233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9228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原型说明了什么、没说明什么、缺什么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116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下一步要定义一个"能落到 RTL 的 FML 子集"：写进子集的模型，才能当 RTL 的标准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181100"/>
            <a:ext cx="3543300" cy="2571750"/>
            <a:chOff x="533400" y="1181100"/>
            <a:chExt cx="3543300" cy="257175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3543300" cy="2571750"/>
            </a:xfrm>
            <a:prstGeom prst="roundRect">
              <a:avLst>
                <a:gd name="adj" fmla="val 296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181100"/>
              <a:ext cx="38100" cy="25717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2950" y="1419225"/>
              <a:ext cx="190500" cy="95250"/>
              <a:chOff x="742950" y="1419225"/>
              <a:chExt cx="190500" cy="95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0575" y="14192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2950" y="14192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moveTo>
                      <a:pt x="95250" y="4762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1558" y="1386364"/>
              <a:ext cx="618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说明了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177260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FML 能把 S1 控制写到和 RTL 逐拍一致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2965" y="198215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15 × 20 万拍，约 250 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2306002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契约写成只读 monitor，1 秒内抓到 G2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629852"/>
              <a:ext cx="2833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lockstep 能把分歧定位到第一拍和信号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95370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把契约写下来，会暴露不精确的契约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965" y="3163252"/>
              <a:ext cx="2250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C1"隔拍发射"在有 hold 时不成立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3905250"/>
            <a:ext cx="3543300" cy="2266950"/>
            <a:chOff x="533400" y="3905250"/>
            <a:chExt cx="3543300" cy="2266950"/>
          </a:xfrm>
        </p:grpSpPr>
        <p:sp>
          <p:nvSpPr>
            <p:cNvPr id="20" name="Rectangle 20"/>
            <p:cNvSpPr/>
            <p:nvPr/>
          </p:nvSpPr>
          <p:spPr>
            <a:xfrm>
              <a:off x="533400" y="3905250"/>
              <a:ext cx="3543300" cy="2266950"/>
            </a:xfrm>
            <a:prstGeom prst="roundRect">
              <a:avLst>
                <a:gd name="adj" fmla="val 336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905250"/>
              <a:ext cx="38100" cy="22669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42139" y="4102111"/>
              <a:ext cx="192114" cy="165051"/>
              <a:chOff x="742139" y="4102111"/>
              <a:chExt cx="192114" cy="16505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162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42139" y="41021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229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31558" y="41105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还没说明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0565" y="4496752"/>
              <a:ext cx="3055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S2、ITS、IB 是抽象的，不和 RTL 逐拍一致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65" y="4782502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激励是随机的，不是真实 kernel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565" y="5068252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译码字段没比（译码器当 oracle）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565" y="5354002"/>
              <a:ext cx="25876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·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边界级规格只在 S1 上试过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：S4 这类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965" y="55635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有预约、多拍读窗口的级，边界事务还没定义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0565" y="5849302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· G2 RTL 是复原的（原文件已不存在）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365308" y="1272064"/>
            <a:ext cx="7293292" cy="4900136"/>
            <a:chOff x="4365308" y="1272064"/>
            <a:chExt cx="7293292" cy="4900136"/>
          </a:xfrm>
        </p:grpSpPr>
        <p:sp>
          <p:nvSpPr>
            <p:cNvPr id="34" name="TextBox 34"/>
            <p:cNvSpPr txBox="1"/>
            <p:nvPr/>
          </p:nvSpPr>
          <p:spPr>
            <a:xfrm>
              <a:off x="4365308" y="1272064"/>
              <a:ext cx="42361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原型里的摩擦 → "可落到 RTL 的子集"要补的规则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81500" y="1543050"/>
              <a:ext cx="7277100" cy="3238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0565" y="16487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遇到的摩擦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92415" y="1648778"/>
              <a:ext cx="1338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要补的规则 / 注解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81500" y="1866900"/>
              <a:ext cx="72771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20565" y="200120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"view 写连线、commit 写寄存器"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20565" y="22107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只是手工约定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92415" y="20012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变成可检查的子集规则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92415" y="22107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违反就不能当 RTL 标准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20565" y="2610802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没有位宽：u8 / u16 / u128 只是容器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20565" y="28203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HEAD_BITS 等字段宽度不准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92415" y="26108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位宽注解，和 RTL 参数对齐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92415" y="28203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结构检查顺带查宽度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381500" y="3086100"/>
              <a:ext cx="72771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20565" y="3220402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级的信息不在 IR 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20565" y="3429952"/>
              <a:ext cx="2004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现在靠命令行传 Split=1 S2=2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92415" y="32204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级注解写进模块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92415" y="34299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结构规则直接读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20565" y="383000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辅助字段（Entry::pc）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20565" y="4039552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只为契约服务，RTL 不该有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92415" y="3830002"/>
              <a:ext cx="80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ghost 标记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92415" y="40395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保证永远不落到 RTL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381500" y="4305300"/>
              <a:ext cx="72771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0565" y="44396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模块里的定长数组被当成列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20565" y="46491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要包成 Plain 结构体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92415" y="44396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写成子集的固定写法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92415" y="464915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或请 FML 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20565" y="50492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组合环检查是 task 粒度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20565" y="52587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无关输出放一起会误报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92415" y="50492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规定每个输出组一个 view task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92415" y="5258752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加 40 行级规则层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381500" y="5562600"/>
              <a:ext cx="72771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58665" y="5696902"/>
              <a:ext cx="5278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有了这个子集，就可以从边界规格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生成 RTL 骨架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（端口、级间寄存器、握手、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58665" y="5925502"/>
              <a:ext cx="47652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状态声明）；级内行为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不生成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，由 AI 写，在边界上和模型 lockstep。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9" name="TextBox 69"/>
            <p:cNvSpPr txBox="1"/>
            <p:nvPr/>
          </p:nvSpPr>
          <p:spPr>
            <a:xfrm>
              <a:off x="522922" y="6540341"/>
              <a:ext cx="56237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依据：fml-rtl-proto/README.md "What this shows" 与 "Friction"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  <p:bldP spid="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7965293" cy="659606"/>
            <a:chOff x="533400" y="438150"/>
            <a:chExt cx="7965293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78033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路线图：从一级原型，到整条流水线以 FML 为标准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606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提议，顺序可讨论；原则是每一阶段都能单独产出可用的东西，RTL 重构不停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09700" y="1676400"/>
            <a:ext cx="9372600" cy="9525"/>
            <a:chOff x="1409700" y="1676400"/>
            <a:chExt cx="9372600" cy="9525"/>
          </a:xfrm>
        </p:grpSpPr>
        <p:sp>
          <p:nvSpPr>
            <p:cNvPr id="7" name="Line 7"/>
            <p:cNvSpPr/>
            <p:nvPr/>
          </p:nvSpPr>
          <p:spPr>
            <a:xfrm>
              <a:off x="1409700" y="1676400"/>
              <a:ext cx="9372600" cy="9525"/>
            </a:xfrm>
            <a:custGeom>
              <a:avLst/>
              <a:gdLst/>
              <a:ahLst/>
              <a:cxnLst/>
              <a:rect l="l" t="t" r="r" b="b"/>
              <a:pathLst>
                <a:path w="9372600" h="9525">
                  <a:moveTo>
                    <a:pt x="0" y="0"/>
                  </a:moveTo>
                  <a:lnTo>
                    <a:pt x="9372600" y="0"/>
                  </a:lnTo>
                </a:path>
              </a:pathLst>
            </a:custGeom>
            <a:noFill/>
            <a:ln w="38100">
              <a:solidFill>
                <a:srgbClr val="D8DEE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09700" y="16764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38100">
              <a:solidFill>
                <a:srgbClr val="2E7D32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288256"/>
            <a:ext cx="1752600" cy="3512344"/>
            <a:chOff x="533400" y="1288256"/>
            <a:chExt cx="1752600" cy="3512344"/>
          </a:xfrm>
        </p:grpSpPr>
        <p:sp>
          <p:nvSpPr>
            <p:cNvPr id="10" name="Ellipse 10"/>
            <p:cNvSpPr/>
            <p:nvPr/>
          </p:nvSpPr>
          <p:spPr>
            <a:xfrm>
              <a:off x="1295400" y="1562100"/>
              <a:ext cx="228600" cy="2286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1587" y="12882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阶段 0 · 已完成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1943100"/>
              <a:ext cx="1752600" cy="2857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0560" y="2099310"/>
              <a:ext cx="6101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S1 原型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418" y="24093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S1 控制逐拍一致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3418" y="2637949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契约 monitor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418" y="286654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lockstep 回放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3418" y="3095149"/>
              <a:ext cx="793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40 行级规则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3418" y="3514249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10-23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09825" y="1288256"/>
            <a:ext cx="1845087" cy="3512344"/>
            <a:chOff x="2409825" y="1288256"/>
            <a:chExt cx="1845087" cy="3512344"/>
          </a:xfrm>
        </p:grpSpPr>
        <p:sp>
          <p:nvSpPr>
            <p:cNvPr id="20" name="Ellipse 20"/>
            <p:cNvSpPr/>
            <p:nvPr/>
          </p:nvSpPr>
          <p:spPr>
            <a:xfrm>
              <a:off x="3190875" y="15811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47559" y="1288256"/>
              <a:ext cx="477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阶段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09825" y="1943100"/>
              <a:ext cx="1752600" cy="2857500"/>
            </a:xfrm>
            <a:prstGeom prst="roundRect">
              <a:avLst>
                <a:gd name="adj" fmla="val 434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46985" y="2099310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子集规则 + S2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49842" y="240934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定义可落 RTL 子集：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9842" y="263794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view / commit、位宽、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9842" y="2866549"/>
              <a:ext cx="985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级注解、ghost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49842" y="31903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S2（含 ITS）的边界规格，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9842" y="341899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在边界上与 RTL 比对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49842" y="38380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产出：E15 批次可先在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9842" y="4047649"/>
              <a:ext cx="12992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模型上改、再写 RTL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286250" y="1288256"/>
            <a:ext cx="1759649" cy="3512344"/>
            <a:chOff x="4286250" y="1288256"/>
            <a:chExt cx="1759649" cy="3512344"/>
          </a:xfrm>
        </p:grpSpPr>
        <p:sp>
          <p:nvSpPr>
            <p:cNvPr id="32" name="Ellipse 32"/>
            <p:cNvSpPr/>
            <p:nvPr/>
          </p:nvSpPr>
          <p:spPr>
            <a:xfrm>
              <a:off x="5067300" y="15811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02419" y="12882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阶段 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286250" y="1943100"/>
              <a:ext cx="1752600" cy="2857500"/>
            </a:xfrm>
            <a:prstGeom prst="roundRect">
              <a:avLst>
                <a:gd name="adj" fmla="val 434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23410" y="20993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26268" y="240934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把 E22（隔拍发射）、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26268" y="263794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ev_complete +1、credit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26268" y="28665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守恒等写成 monitor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6268" y="31903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期望值标来源（性能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26268" y="3418999"/>
              <a:ext cx="1349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 / 实卡 / 人定）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26268" y="3838099"/>
              <a:ext cx="142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产出：在 A8、b4 上回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26268" y="40476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放，看能否直接定位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62675" y="1288256"/>
            <a:ext cx="1752600" cy="3512344"/>
            <a:chOff x="6162675" y="1288256"/>
            <a:chExt cx="1752600" cy="3512344"/>
          </a:xfrm>
        </p:grpSpPr>
        <p:sp>
          <p:nvSpPr>
            <p:cNvPr id="44" name="Ellipse 44"/>
            <p:cNvSpPr/>
            <p:nvPr/>
          </p:nvSpPr>
          <p:spPr>
            <a:xfrm>
              <a:off x="6943725" y="15811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8844" y="12882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阶段 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62675" y="1943100"/>
              <a:ext cx="1752600" cy="2857500"/>
            </a:xfrm>
            <a:prstGeom prst="roundRect">
              <a:avLst>
                <a:gd name="adj" fmla="val 434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99835" y="20993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派生视图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2692" y="2409349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 FML 程序生成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02692" y="263794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drawio 审查图和给 AI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2692" y="28665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的约束清单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02692" y="31903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替代手写的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02692" y="34189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subcore_structure.py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02692" y="38380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产出：图和行为是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2692" y="40476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同一份东西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39100" y="1288256"/>
            <a:ext cx="1773889" cy="3512344"/>
            <a:chOff x="8039100" y="1288256"/>
            <a:chExt cx="1773889" cy="3512344"/>
          </a:xfrm>
        </p:grpSpPr>
        <p:sp>
          <p:nvSpPr>
            <p:cNvPr id="56" name="Ellipse 56"/>
            <p:cNvSpPr/>
            <p:nvPr/>
          </p:nvSpPr>
          <p:spPr>
            <a:xfrm>
              <a:off x="8820150" y="15811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55269" y="12882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阶段 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39100" y="1943100"/>
              <a:ext cx="1752600" cy="2857500"/>
            </a:xfrm>
            <a:prstGeom prst="roundRect">
              <a:avLst>
                <a:gd name="adj" fmla="val 434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76260" y="20993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铺满整条流水线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79118" y="2409349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S3、S4（预约表）、S5、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9118" y="26379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SW、7 个前门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29617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lockstep 接进门禁，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9118" y="3190399"/>
              <a:ext cx="1114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真实 kernel 激励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383809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产出：每个 RTL 提交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9118" y="40476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都和模型逐拍比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15525" y="1288256"/>
            <a:ext cx="1743075" cy="3512344"/>
            <a:chOff x="9915525" y="1288256"/>
            <a:chExt cx="1743075" cy="3512344"/>
          </a:xfrm>
        </p:grpSpPr>
        <p:sp>
          <p:nvSpPr>
            <p:cNvPr id="67" name="Ellipse 67"/>
            <p:cNvSpPr/>
            <p:nvPr/>
          </p:nvSpPr>
          <p:spPr>
            <a:xfrm>
              <a:off x="10687050" y="1581150"/>
              <a:ext cx="190500" cy="190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A7F9E"/>
              </a:solidFill>
              <a:prstDash val="dash"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250448" y="12882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阶段 5 · 探索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915525" y="1943100"/>
              <a:ext cx="1743075" cy="2857500"/>
            </a:xfrm>
            <a:prstGeom prst="roundRect">
              <a:avLst>
                <a:gd name="adj" fmla="val 4372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  <a:prstDash val="dash"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52685" y="20993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生成与对接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55542" y="2409349"/>
              <a:ext cx="12992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从边界规格生成 RTL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55542" y="26379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骨架；级内行为不生成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55542" y="296179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FML 模型能否兼作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55542" y="31903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性能模型？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55542" y="38380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产出：性能模型与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055542" y="404764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 之间有了桥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33400" y="5029200"/>
            <a:ext cx="11125200" cy="1143000"/>
            <a:chOff x="533400" y="5029200"/>
            <a:chExt cx="11125200" cy="1143000"/>
          </a:xfrm>
        </p:grpSpPr>
        <p:sp>
          <p:nvSpPr>
            <p:cNvPr id="78" name="Rectangle 78"/>
            <p:cNvSpPr/>
            <p:nvPr/>
          </p:nvSpPr>
          <p:spPr>
            <a:xfrm>
              <a:off x="533400" y="5029200"/>
              <a:ext cx="11125200" cy="1143000"/>
            </a:xfrm>
            <a:prstGeom prst="roundRect">
              <a:avLst>
                <a:gd name="adj" fmla="val 666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42139" y="5226061"/>
              <a:ext cx="192114" cy="165051"/>
              <a:chOff x="742139" y="5226061"/>
              <a:chExt cx="192114" cy="165051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838200" y="52863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42139" y="52260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5353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32510" y="52425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要先想清楚的风险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0565" y="5563552"/>
              <a:ext cx="68585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模型和 RTL 都由 AI 写，可能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同错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：lockstep 只证明一致，不证明对 —— 仍要 ISS / 实卡做外部真值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10565" y="5811202"/>
              <a:ext cx="731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写模型的成本：S1 约 250 行；S4、前门会大得多，需要估算 · 模型本身也要被审：从模型生成的图给人看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87" name="TextBox 87"/>
            <p:cNvSpPr txBox="1"/>
            <p:nvPr/>
          </p:nvSpPr>
          <p:spPr>
            <a:xfrm>
              <a:off x="522922" y="6540341"/>
              <a:ext cx="20512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提议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5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31" grpId="0"/>
      <p:bldP spid="43" grpId="0"/>
      <p:bldP spid="55" grpId="0"/>
      <p:bldP spid="66" grpId="0"/>
      <p:bldP spid="77" grpId="0"/>
      <p:bldP spid="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8051554" cy="659606"/>
            <a:chOff x="533400" y="438150"/>
            <a:chExt cx="805155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78896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和论文的关系：FML 是"结构 IR 作需求规格"的载体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409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论文 v2（10-20）主线：以结构 IR 为需求规格，验收 AI 生成的大规模 RTL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181100"/>
            <a:ext cx="5334000" cy="2857500"/>
            <a:chOff x="533400" y="1181100"/>
            <a:chExt cx="533400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181100"/>
              <a:ext cx="5334000" cy="2857500"/>
            </a:xfrm>
            <a:prstGeom prst="roundRect">
              <a:avLst>
                <a:gd name="adj" fmla="val 26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708" y="1348264"/>
              <a:ext cx="2799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论文的四件事，FML 各补哪一块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0565" y="17345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① 需求带来源和状态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1065" y="1944052"/>
              <a:ext cx="3615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done / target / deviation；FML 模块上加注解即可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565" y="22869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② 封闭世界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1065" y="249650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网表里 IR 没认领的触发器、连线一律报错（已有）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83940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③ 三类检查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1065" y="304895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逐指令比对、网表结构检查已有；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事务间时序契约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065" y="3258502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原来缺载体 —— FML monitor 正好补上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3601402"/>
              <a:ext cx="2095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④ 逃逸分析（建议作主贡献）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1065" y="3810952"/>
              <a:ext cx="3300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每层检查各抓住什么；第 11 页的 6 个案例是起点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4191000"/>
            <a:ext cx="5334000" cy="1981200"/>
            <a:chOff x="533400" y="4191000"/>
            <a:chExt cx="5334000" cy="1981200"/>
          </a:xfrm>
        </p:grpSpPr>
        <p:sp>
          <p:nvSpPr>
            <p:cNvPr id="19" name="Rectangle 19"/>
            <p:cNvSpPr/>
            <p:nvPr/>
          </p:nvSpPr>
          <p:spPr>
            <a:xfrm>
              <a:off x="533400" y="4191000"/>
              <a:ext cx="5334000" cy="1981200"/>
            </a:xfrm>
            <a:prstGeom prst="roundRect">
              <a:avLst>
                <a:gd name="adj" fmla="val 3846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52475" y="4410075"/>
              <a:ext cx="171450" cy="171450"/>
              <a:chOff x="752475" y="4410075"/>
              <a:chExt cx="171450" cy="1714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28675" y="44862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90575" y="4448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52475" y="4410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32510" y="44234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新意检索的结论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565" y="47634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每个单独机制都有先例；检索范围内没找到的是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565" y="4992052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组合与实证：用一份可执行结构 IR，在 AI 逐步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0565" y="522065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重构约 10 万行 GPU RTL 的每一步上，同时管住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65" y="544925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结构、功能、时序三类需求，规格本身受门禁保护。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565" y="58112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代价：6 个真实案例不够，要补跨层变异矩阵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56008" y="1272064"/>
            <a:ext cx="5502592" cy="4900136"/>
            <a:chOff x="6156008" y="1272064"/>
            <a:chExt cx="5502592" cy="4900136"/>
          </a:xfrm>
        </p:grpSpPr>
        <p:sp>
          <p:nvSpPr>
            <p:cNvPr id="31" name="TextBox 31"/>
            <p:cNvSpPr txBox="1"/>
            <p:nvPr/>
          </p:nvSpPr>
          <p:spPr>
            <a:xfrm>
              <a:off x="6156008" y="12720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最接近的工作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72200" y="1562100"/>
              <a:ext cx="548640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1726406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</a:t>
              </a:r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2608.07625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9365" y="2001202"/>
              <a:ext cx="42515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LLM 先写结构 IR 再生成 RTL；算子 / VPU 级，固定 latency；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9365" y="2229802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IR 不可执行到逐拍，不处理反压和事务间关系；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9365" y="24584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做的是生成，不是验收已有 RTL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0318" y="269509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→ 我们的 IR 是能和 RTL 逐拍比的模型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72200" y="3067050"/>
              <a:ext cx="548640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3231356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Spec-Driven HW Evolution</a:t>
              </a:r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2608.12684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9365" y="3506152"/>
              <a:ext cx="3607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人审的可执行契约 + hw-cbmc，增量修改已有 RTL；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8412" y="3726656"/>
              <a:ext cx="3257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契约只到单事务 IO 等价，</a:t>
              </a:r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有意不约束结构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49365" y="39633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只有约 2.2K 行 TPU 单案例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50318" y="4200049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→ 我们管结构 + 时序，规模约 10 万行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172200" y="4572000"/>
              <a:ext cx="54864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8412" y="4736306"/>
              <a:ext cx="24110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AmpereOne 性能验证</a:t>
              </a:r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MICRO'26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9365" y="501110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RTL / 性能模型 / 实卡三方对齐；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49365" y="5239702"/>
              <a:ext cx="28176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判据是聚合 IPC：90% 的测试在 ±10% 内，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49365" y="5468302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抓不到 A8 / b4 这种 6–8% 的回归，也定位不到原因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0318" y="5743099"/>
              <a:ext cx="3420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→ 我们在事务级写契约（"WARPSYNC 分叉 ≤ 6 拍"），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50318" y="59335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违例时直接给出拍和信号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52" name="TextBox 52"/>
            <p:cNvSpPr txBox="1"/>
            <p:nvPr/>
          </p:nvSpPr>
          <p:spPr>
            <a:xfrm>
              <a:off x="522922" y="6540341"/>
              <a:ext cx="54310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依据：2026-10-20-paper-draft-v2.md；survey/14-novelty.md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974204" cy="659606"/>
            <a:chOff x="533400" y="438150"/>
            <a:chExt cx="6974204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31625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从论文里借来的做法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97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每个机制单独都有先例；我们做的是把它们搬到"AI 逐步重构 RTL"的回路里，并按流水级组织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162050"/>
            <a:ext cx="11125200" cy="323850"/>
            <a:chOff x="533400" y="1162050"/>
            <a:chExt cx="11125200" cy="323850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11125200" cy="3238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2465" y="12677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4165" y="12677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读到的点子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73165" y="12677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我们怎么用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70825" y="12677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485900"/>
            <a:ext cx="11125200" cy="514350"/>
            <a:chOff x="533400" y="1485900"/>
            <a:chExt cx="11125200" cy="514350"/>
          </a:xfrm>
        </p:grpSpPr>
        <p:sp>
          <p:nvSpPr>
            <p:cNvPr id="13" name="Rectangle 13"/>
            <p:cNvSpPr/>
            <p:nvPr/>
          </p:nvSpPr>
          <p:spPr>
            <a:xfrm>
              <a:off x="533400" y="1485900"/>
              <a:ext cx="11125200" cy="5143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2465" y="1601152"/>
              <a:ext cx="14194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Reflexion / JITTAC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1807845"/>
              <a:ext cx="21522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软件架构一致性；静态分析 baseline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4165" y="16773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冻结基线，只拦新增违规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3165" y="1677352"/>
              <a:ext cx="3132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结构检查门禁：基线只能缩小（六级 243 行）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858500" y="164782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039475" y="170307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" y="2115502"/>
            <a:ext cx="10833735" cy="389573"/>
            <a:chOff x="672465" y="2115502"/>
            <a:chExt cx="10833735" cy="389573"/>
          </a:xfrm>
        </p:grpSpPr>
        <p:sp>
          <p:nvSpPr>
            <p:cNvPr id="21" name="TextBox 21"/>
            <p:cNvSpPr txBox="1"/>
            <p:nvPr/>
          </p:nvSpPr>
          <p:spPr>
            <a:xfrm>
              <a:off x="672465" y="2115502"/>
              <a:ext cx="1620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LEC unmapped points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4370" y="2322195"/>
              <a:ext cx="1429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Conformal / Formality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4165" y="219170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只在一边出现的触发器算 "Extra"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3165" y="2191702"/>
              <a:ext cx="3285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封闭世界：网表里有、IR 没认领的一律"未登记"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858500" y="216217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39475" y="22174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2514600"/>
            <a:ext cx="11125200" cy="514350"/>
            <a:chOff x="533400" y="2514600"/>
            <a:chExt cx="11125200" cy="514350"/>
          </a:xfrm>
        </p:grpSpPr>
        <p:sp>
          <p:nvSpPr>
            <p:cNvPr id="28" name="Rectangle 28"/>
            <p:cNvSpPr/>
            <p:nvPr/>
          </p:nvSpPr>
          <p:spPr>
            <a:xfrm>
              <a:off x="533400" y="2514600"/>
              <a:ext cx="11125200" cy="5143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2465" y="2629852"/>
              <a:ext cx="1983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Spec-Driven HW Evolution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370" y="283654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§4.5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44165" y="27060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隔离子代理防漂移；自底向上逐层修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3165" y="27060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一次只改一级、一条一个提交；作外部佐证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858500" y="267652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39475" y="273177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已用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2465" y="3144202"/>
            <a:ext cx="10833735" cy="389573"/>
            <a:chOff x="672465" y="3144202"/>
            <a:chExt cx="10833735" cy="389573"/>
          </a:xfrm>
        </p:grpSpPr>
        <p:sp>
          <p:nvSpPr>
            <p:cNvPr id="36" name="TextBox 36"/>
            <p:cNvSpPr txBox="1"/>
            <p:nvPr/>
          </p:nvSpPr>
          <p:spPr>
            <a:xfrm>
              <a:off x="672465" y="3144202"/>
              <a:ext cx="340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370" y="335089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arXiv 2608.07625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4165" y="32204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IR 里声明每个单元"拥有的状态"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3165" y="322040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每级状态归属；再加网表上的结构封闭世界（它没有）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858500" y="319087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039475" y="32461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3543300"/>
            <a:ext cx="11125200" cy="514350"/>
            <a:chOff x="533400" y="3543300"/>
            <a:chExt cx="11125200" cy="514350"/>
          </a:xfrm>
        </p:grpSpPr>
        <p:sp>
          <p:nvSpPr>
            <p:cNvPr id="43" name="Rectangle 43"/>
            <p:cNvSpPr/>
            <p:nvPr/>
          </p:nvSpPr>
          <p:spPr>
            <a:xfrm>
              <a:off x="533400" y="3543300"/>
              <a:ext cx="11125200" cy="5143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465" y="365855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Hawkeye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4370" y="38652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上下文组织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44165" y="37347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上下文按最小可组合粒度给，太大会污染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3165" y="3734752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给 AI 的约束清单按级切，一级一份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858500" y="370522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039475" y="376047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72465" y="4172902"/>
            <a:ext cx="10833735" cy="403860"/>
            <a:chOff x="672465" y="4172902"/>
            <a:chExt cx="10833735" cy="403860"/>
          </a:xfrm>
        </p:grpSpPr>
        <p:sp>
          <p:nvSpPr>
            <p:cNvPr id="51" name="TextBox 51"/>
            <p:cNvSpPr txBox="1"/>
            <p:nvPr/>
          </p:nvSpPr>
          <p:spPr>
            <a:xfrm>
              <a:off x="672465" y="4172902"/>
              <a:ext cx="1983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Spec-Driven HW Evolution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370" y="4379595"/>
              <a:ext cx="601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§4.2–4.3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844165" y="4172902"/>
              <a:ext cx="22042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用变异区分"已验证"和"盲区"；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44165" y="4363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契约本身也要测（是否空洞）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3165" y="417290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逃逸分析：对每条需求注入变异，度量检查强度；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3165" y="436340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区别：它只保留盲区，我们的盲区要阻断验收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858500" y="421957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39475" y="42748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3400" y="4572000"/>
            <a:ext cx="11125200" cy="514350"/>
            <a:chOff x="533400" y="4572000"/>
            <a:chExt cx="11125200" cy="514350"/>
          </a:xfrm>
        </p:grpSpPr>
        <p:sp>
          <p:nvSpPr>
            <p:cNvPr id="60" name="Rectangle 60"/>
            <p:cNvSpPr/>
            <p:nvPr/>
          </p:nvSpPr>
          <p:spPr>
            <a:xfrm>
              <a:off x="533400" y="4572000"/>
              <a:ext cx="11125200" cy="5143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2465" y="4687252"/>
              <a:ext cx="1580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AmpereOne 性能验证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4370" y="489394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MICRO'26，图 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44165" y="47634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累计周期漂移图：按指令序号画累计周期差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73165" y="4763452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新旧 RTL 之间画，先定位"从哪段指令开始慢"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858500" y="473392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039475" y="478917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2465" y="5201602"/>
            <a:ext cx="10833735" cy="389573"/>
            <a:chOff x="672465" y="5201602"/>
            <a:chExt cx="10833735" cy="389573"/>
          </a:xfrm>
        </p:grpSpPr>
        <p:sp>
          <p:nvSpPr>
            <p:cNvPr id="68" name="TextBox 68"/>
            <p:cNvSpPr txBox="1"/>
            <p:nvPr/>
          </p:nvSpPr>
          <p:spPr>
            <a:xfrm>
              <a:off x="672465" y="5201602"/>
              <a:ext cx="18622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Specification Grounding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4370" y="5408295"/>
              <a:ext cx="13307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软件侧，+38 个百分点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844165" y="52778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生成前先把规格交给模型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3165" y="5277802"/>
              <a:ext cx="2986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约束清单改由 FML 边界规格派生（阶段 3）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858500" y="524827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39475" y="53035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33400" y="5600700"/>
            <a:ext cx="11125200" cy="514350"/>
            <a:chOff x="533400" y="5600700"/>
            <a:chExt cx="11125200" cy="514350"/>
          </a:xfrm>
        </p:grpSpPr>
        <p:sp>
          <p:nvSpPr>
            <p:cNvPr id="75" name="Rectangle 75"/>
            <p:cNvSpPr/>
            <p:nvPr/>
          </p:nvSpPr>
          <p:spPr>
            <a:xfrm>
              <a:off x="533400" y="5600700"/>
              <a:ext cx="11125200" cy="5143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2465" y="571595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PipeCheck / RTL2MµPATH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74370" y="59226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µhb 顺序公理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844165" y="579215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用顺序公理描述跨级事件先后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73165" y="57921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跨级时序契约的写法（如"释放不早于写回"）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858500" y="5762625"/>
              <a:ext cx="647700" cy="209550"/>
            </a:xfrm>
            <a:prstGeom prst="roundRect">
              <a:avLst>
                <a:gd name="adj" fmla="val 45455"/>
              </a:avLst>
            </a:prstGeom>
            <a:solidFill>
              <a:srgbClr val="FFFFFF"/>
            </a:solidFill>
            <a:ln w="14288">
              <a:solidFill>
                <a:srgbClr val="999999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973752" y="58178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待评估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83" name="TextBox 83"/>
            <p:cNvSpPr txBox="1"/>
            <p:nvPr/>
          </p:nvSpPr>
          <p:spPr>
            <a:xfrm>
              <a:off x="522922" y="6540341"/>
              <a:ext cx="42622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依据：survey/08、10、11、12、14-novelty/A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7" grpId="0"/>
      <p:bldP spid="35" grpId="0"/>
      <p:bldP spid="42" grpId="0"/>
      <p:bldP spid="50" grpId="0"/>
      <p:bldP spid="59" grpId="0"/>
      <p:bldP spid="67" grpId="0"/>
      <p:bldP spid="74" grpId="0"/>
      <p:bldP spid="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5394722" cy="659606"/>
            <a:chOff x="533400" y="438150"/>
            <a:chExt cx="5394722" cy="659606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52327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想请大家讨论的问题，以及下一步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左边需要老师和同学给意见；右边是接下来两周的安排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162050"/>
            <a:ext cx="5715000" cy="5010150"/>
            <a:chOff x="533400" y="1162050"/>
            <a:chExt cx="5715000" cy="5010150"/>
          </a:xfrm>
        </p:grpSpPr>
        <p:sp>
          <p:nvSpPr>
            <p:cNvPr id="7" name="Rectangle 7"/>
            <p:cNvSpPr/>
            <p:nvPr/>
          </p:nvSpPr>
          <p:spPr>
            <a:xfrm>
              <a:off x="533400" y="1162050"/>
              <a:ext cx="5715000" cy="5010150"/>
            </a:xfrm>
            <a:prstGeom prst="roundRect">
              <a:avLst>
                <a:gd name="adj" fmla="val 1521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4856" y="1374775"/>
              <a:ext cx="187361" cy="195262"/>
              <a:chOff x="754856" y="1374775"/>
              <a:chExt cx="187361" cy="1952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06450" y="1426369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6450" y="146764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54856" y="1374775"/>
                <a:ext cx="18573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5419">
                    <a:moveTo>
                      <a:pt x="113506" y="144462"/>
                    </a:moveTo>
                    <a:lnTo>
                      <a:pt x="103187" y="144462"/>
                    </a:lnTo>
                    <a:lnTo>
                      <a:pt x="51594" y="175419"/>
                    </a:lnTo>
                    <a:lnTo>
                      <a:pt x="51594" y="144462"/>
                    </a:lnTo>
                    <a:lnTo>
                      <a:pt x="30956" y="144462"/>
                    </a:lnTo>
                    <a:cubicBezTo>
                      <a:pt x="13860" y="144462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77391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9956" y="15605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4478" y="1486201"/>
                <a:ext cx="37739" cy="43355"/>
              </a:xfrm>
              <a:custGeom>
                <a:avLst/>
                <a:gdLst/>
                <a:ahLst/>
                <a:cxnLst/>
                <a:rect l="l" t="t" r="r" b="b"/>
                <a:pathLst>
                  <a:path w="37739" h="43355">
                    <a:moveTo>
                      <a:pt x="15478" y="43355"/>
                    </a:moveTo>
                    <a:cubicBezTo>
                      <a:pt x="24998" y="43325"/>
                      <a:pt x="33266" y="36796"/>
                      <a:pt x="35502" y="27542"/>
                    </a:cubicBezTo>
                    <a:cubicBezTo>
                      <a:pt x="37739" y="18289"/>
                      <a:pt x="33365" y="8704"/>
                      <a:pt x="24909" y="4330"/>
                    </a:cubicBezTo>
                    <a:cubicBezTo>
                      <a:pt x="16457" y="0"/>
                      <a:pt x="6136" y="2065"/>
                      <a:pt x="0" y="9314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50608" y="1376839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讨论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9612" y="1802606"/>
              <a:ext cx="18688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1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FML 当中间 IR 合不合适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039302"/>
              <a:ext cx="3607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对比 Chisel / SystemC / 继续用 Python 结构数据：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224885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我们看重的是"读法即寄存器 / 连线"和加载时检查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612" y="26408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2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FML 规格和性能模型怎么分工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2877502"/>
              <a:ext cx="38834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倾向不合一：模型管多少拍，FML 管每级状态和级间传输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612" y="326945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3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边界事务怎么定义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3506152"/>
              <a:ext cx="37684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比每拍的边界信号，还是比事务序列？S4 这类级怎么写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612" y="3898106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模型和 RTL 都由 AI 写，怎么防同错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413480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模型由人审（审派生出来的图），数值语义以实卡为准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612" y="45267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5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论文定位与投稿形式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9165" y="4763452"/>
              <a:ext cx="35921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"验收 + 逃逸分析"能否站住；先投短文还是等主实验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612" y="5155406"/>
              <a:ext cx="8254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6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外部案例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165" y="5392102"/>
              <a:ext cx="33544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只有一个设计且 RTL 全由 AI 写；XiangShan 后端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9165" y="560165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+ difftest 是否足够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0" y="1162050"/>
            <a:ext cx="5181600" cy="2038350"/>
            <a:chOff x="6477000" y="1162050"/>
            <a:chExt cx="5181600" cy="2038350"/>
          </a:xfrm>
        </p:grpSpPr>
        <p:sp>
          <p:nvSpPr>
            <p:cNvPr id="30" name="Rectangle 30"/>
            <p:cNvSpPr/>
            <p:nvPr/>
          </p:nvSpPr>
          <p:spPr>
            <a:xfrm>
              <a:off x="6477000" y="1162050"/>
              <a:ext cx="5181600" cy="2038350"/>
            </a:xfrm>
            <a:prstGeom prst="roundRect">
              <a:avLst>
                <a:gd name="adj" fmla="val 373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98456" y="1364456"/>
              <a:ext cx="185737" cy="185737"/>
              <a:chOff x="6698456" y="1364456"/>
              <a:chExt cx="185737" cy="1857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719094" y="1385094"/>
                <a:ext cx="144463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3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3" y="4620"/>
                      <a:pt x="144463" y="10319"/>
                    </a:cubicBezTo>
                    <a:lnTo>
                      <a:pt x="144463" y="134144"/>
                    </a:lnTo>
                    <a:cubicBezTo>
                      <a:pt x="144463" y="139843"/>
                      <a:pt x="139843" y="144463"/>
                      <a:pt x="134144" y="144463"/>
                    </a:cubicBezTo>
                    <a:lnTo>
                      <a:pt x="10319" y="144463"/>
                    </a:lnTo>
                    <a:cubicBezTo>
                      <a:pt x="4620" y="144463"/>
                      <a:pt x="0" y="139843"/>
                      <a:pt x="0" y="13414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60369" y="142636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61912"/>
                    </a:lnTo>
                    <a:lnTo>
                      <a:pt x="0" y="619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98456" y="14366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98456" y="14779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70688" y="1364456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11962" y="1364456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63556" y="14366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63556" y="14779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11962" y="1529556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206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70688" y="1529556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206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94208" y="1376839"/>
              <a:ext cx="236890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RTL 重构（继续按现流程）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54165" y="175355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①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E15 批次：redirect 归 S2，控制前门 + ITS 收尾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4165" y="2058352"/>
              <a:ext cx="3224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②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清掉 S1–SW 剩下的偏差；常量前门 fd_const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4165" y="236315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③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补覆盖：多 warp MEMBAR / ERRBAR、防饿死触发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4165" y="266795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④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最后：S0 搬迁、E22 同 warp 背靠背发射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5118" y="2942749"/>
              <a:ext cx="3584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E15 和 E22 都牵涉 ITS，适合作 FML 阶段 1 的第一个用户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477000" y="3352800"/>
            <a:ext cx="5181600" cy="2819400"/>
            <a:chOff x="6477000" y="3352800"/>
            <a:chExt cx="5181600" cy="2819400"/>
          </a:xfrm>
        </p:grpSpPr>
        <p:sp>
          <p:nvSpPr>
            <p:cNvPr id="49" name="Rectangle 49"/>
            <p:cNvSpPr/>
            <p:nvPr/>
          </p:nvSpPr>
          <p:spPr>
            <a:xfrm>
              <a:off x="6477000" y="3352800"/>
              <a:ext cx="518160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719094" y="3555206"/>
              <a:ext cx="144463" cy="185738"/>
              <a:chOff x="6719094" y="3555206"/>
              <a:chExt cx="144463" cy="18573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11962" y="35552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19094" y="3555206"/>
                <a:ext cx="144463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85738">
                    <a:moveTo>
                      <a:pt x="123825" y="185738"/>
                    </a:moveTo>
                    <a:lnTo>
                      <a:pt x="20638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lnTo>
                      <a:pt x="92869" y="0"/>
                    </a:lnTo>
                    <a:lnTo>
                      <a:pt x="144463" y="51594"/>
                    </a:lnTo>
                    <a:lnTo>
                      <a:pt x="144463" y="165100"/>
                    </a:lnTo>
                    <a:cubicBezTo>
                      <a:pt x="144463" y="176498"/>
                      <a:pt x="135223" y="185738"/>
                      <a:pt x="123825" y="1857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60369" y="3658394"/>
                <a:ext cx="1031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41275">
                    <a:moveTo>
                      <a:pt x="10319" y="0"/>
                    </a:moveTo>
                    <a:lnTo>
                      <a:pt x="0" y="20638"/>
                    </a:lnTo>
                    <a:lnTo>
                      <a:pt x="10319" y="41275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811962" y="3658394"/>
                <a:ext cx="1031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41275">
                    <a:moveTo>
                      <a:pt x="0" y="0"/>
                    </a:moveTo>
                    <a:lnTo>
                      <a:pt x="10319" y="20638"/>
                    </a:ln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94208" y="3567589"/>
              <a:ext cx="17432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FML 方案（阶段 1）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4165" y="3944302"/>
              <a:ext cx="32394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①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写下"可落 RTL 子集"规则：view / commit、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2765" y="415385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位宽、级注解、ghost 标记，做成检查脚本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54165" y="447770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②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S2（含 ITS）写成边界规格，用真实 kernel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82765" y="468725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的边界 trace 和当前 RTL lockstep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4165" y="5011102"/>
              <a:ext cx="34234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③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把 E22、ev_complete、credit 写成第一批契约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4165" y="53349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④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在 A8 上回放：契约能否直接指出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82765" y="55445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"WARPSYNC 分叉 9 拍"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5118" y="5876449"/>
              <a:ext cx="36203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研究线同步：系统整理逃逸案例，做"需求 → 检查"覆盖表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组会 · 2026-10-24 | 谢谢！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8" grpId="0"/>
      <p:bldP spid="6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