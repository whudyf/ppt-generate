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今天汇报一次文献调研。上次组会大家的意见是，我们关于"AI 生成 RTL 需要结构框架"的判断，需要有能对比的 baseline 才站得住。所以这次我把现在别人怎么让 AI 设计 RTL 系统地梳理了一遍，重点看哪些工作可以拿来和我们比。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调研围绕三个问题：别人给大模型的输入是什么，做到了多大的设计，以及怎么判定生成得对。我们自己的论点是三层：性能模型只回答做什么、多少拍；结构框架回答在哪一级、谁拥有状态；验证框架负责检查前两层有没有被违反。目前唯一的证据是 G2 首轮，两项 head FIFO 打破了一条没写下来的时序契约，混合用例错了六十四处、控制流用例错了两百一十二处，而 iadd3 照样通过。只有一个自家案例是不够的，这就是为什么要找外部 baseline。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我把现有工作按给模型的中间表示排成一条轴。最底层是自然语言规格，往上是模块拓扑和端口图，再往上是软件参考模型或者专用 IR，第四级是今年出现的微架构意图层，只有 HINT 一篇，而且只做到算子级。第五级，也就是流水级、状态归属、时序契约再加验证闭环，在大模型生成这一侧目前是空白，PL 社区有类似的语言，但都是给人用的。后面几页按这条轴逐级展开。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第一条路线是造数据、训模型。RTLCoder、CodeV、OriGen、CraftRTL 主要在数据构造上下功夫，VeriReason 和 CodeV-R1 用 testbench 结果做强化学习奖励。VerilogEval v2 上的结果已经到了百分之八十九到九十八，基本饱和。问题是这些题目大多是 HDLBits 式的小电路，训练信号也都来自模块级 testbench，所以分数高并不代表能做流水线。它们适合作为我们的模型层 baseline，开源七 B 权重可以直接拿来跑 subcore 模块。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第三条路线和我们最接近：先给结构，再生成代码。ROME 用层次化提示，SysVCoder 先生成系统级 IR，VeriGraphi 用知识图谱描述层次、端口和连线，做了 RV32I 处理器；分层 IR 那篇用架构草图加每模块规格；AGON 用专门的 IR 生成乱序核；HINT 加了一层可执行的硬件意图。共同点是，结构都停在模块拓扑、端口或者算子这一层，没有流水级、状态归属、事件通道，也没有周期级的时序契约。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有两个外部证据和我们的论点同向。第一篇叫 Representation Bottleneck，在六种硬件语言、三个前沿模型、两百零二个任务上测试，换表示时仿真通过率从百分之三变到百分之八十八，而同一种表示下换模型，差距通常不到一点二五倍。不过要注意，它比较的是语言，不是结构描述。第二篇是 HINT，经过意图层七个算子全部合规，直接从 C 生成适用的五个都过，而 C2HLSC 只过了一个。它的意图层到算子和 VPU 为止，多 warp 发射、stall、隐式 scoreboard 这类周期级契约不在它的表示里，这正是留给我们的位置。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第四条路线可以看成"模型就够了"这一派。FormalRTL 把软件参考模型当成形式规格，用等价检查兜底；AutoVeriFix+ 用 Python 模型加周期轨迹修复状态转移错误；C2HLSC 把时序交给 HLS；SymRTLO 用等价检查保证重写后行为不变，最像我们的保持行为重构。这一派对数据通路很有效，但看不到哪一级、谁拥有状态、发射间隔这些信息。它正好对应我们消融实验里的 model 条件，我们预期它会在 subcore 上重现 G2 首轮那种失败。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验证这条线分三类。断言生成如 AssertLLM、FVEval，testbench 和调试如 FVDebug、Veri-Sure，以及最相关的波形反馈，SeqFeed 和 DUET。SeqFeed 的摘要直接说，RTL 代码不暴露周期级行为，完整波形又太大，时序信息很难传给 agent。这些工作都按信号组织反馈和断言；我们有结构框架，可以按流水级和事件通道来组织。SeqFeed 可以作为验证侧的 baseline。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PL 社区已经能把时序契约写成类型。Anvil 把模块间的时序契约放进类型系统，Filament 用 timeline 类型约束信号在哪几拍有效，PDL 把流水级作为语法单位，Kôika 给出周期级调度语义，latency-insensitive 设计是"队列是桥梁"这一想法的理论来源。但没有一篇和大模型结合。右边是我们遇到的那条契约：同一 warp 两次发射间隔至少两拍。如果它是显式写出来的，依赖它的地方会在编译或断言时报出，而不是等到端到端用例才发现。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从仿真轨迹挖时序断言已经有十五年历史，从 IODINE、GoldMine 到 HARM，今年的 NeuroAssertion 第一次把大模型和轨迹挖掘结合起来。问题是候选空间是所有信号乘以通用模板，在十万个信号的 subcore 上会爆炸，而且挖出来的断言不知道这次重构该不该打破它。我们可以补的是两点：用流水级和事件通道生成模板，以及按重构意图把不变量分成要打破的和必须保持的。评估方式很直接，用 G2 首轮模型重放，看能不能在 iadd3 通过的情况下就报出问题。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这页是各 benchmark 上已报告的最好结果。指标和设置都不一样，所以只看趋势。模块级题目在百分之九十以上；一到层次化和 SoC，HWE-Bench 降到六十五以下，ArchXBench 三十题只做出十六题，而且从第四级流水线和层次化设计开始，所有模型全部失败；CVDP 代码生成最高约三十四，仓库级任务只有十二。共同缺口是正确性只看端口输入输出，不检查级边界和状态归属，也没有把周期数当指标。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把代表工作放到五个维度上打分，这是按论文自述的定性判断。直接生成几乎什么都没有；VeriGraphi 和分层 IR 有一点结构；HINT 在意图层上覆盖一半；FormalRTL 和 SeqFeed 验证闭环很强，但没有结构；Anvil 和 PDL 有流水结构和时序契约，但不是大模型生成。最后一行是我们的目标，不是现状。坦白说，我们的时序契约现在也只有一半，G2 的契约是从失败里事后读出来的，下一步要把它显式化。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所以 baseline 我建议分三层。benchmark 层用 VerilogEval 和 RTLLM 做下限，CVDP 做工业通用对照，ArchXBench 和 ChipVerilog 做流水线对照。方法层的三种外部方法分别对应我们消融里的 nl、model 和加图的条件。模型层用开源的 CodeV-R1、VeriReason，再加我们实际在用的商用模型。最上面是我们自己的 subcore 任务，用端到端、波形等价和 lockstep 拍数来判定，这一层现有 benchmark 都没有。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具体实验选两个已经有参考实现的模块：subcore_issue_hold 和 subcore_decode。后者正好包含 G2 的契约陷阱。条件按研究框架里定好的四级逐级叠加，再加三种外部方法和两类模型，每个条件至少重复三次。指标从能否编译、端到端是否通过，一直到波形差异数、契约违例数和首个错误拍，以及人工干预的代价。我们的假设是，model 条件和外部方法主要栽在第三、第四项上，加上规范和图之后这两类缺陷会明显减少，剩下的时序契约类问题需要验证框架才能挡住。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接下来有五件事：补齐还没核实的文献，特别是 agent 流程那一路；把开源 baseline 模型部署起来，先在 ArchXBench 第四级上复现"全部失败"，确认评测链路可用；在 subcore_issue_hold 上跑第一组消融；把 G2 首轮和 PR 38 的问题写成缺陷记录；做一个契约挖掘的原型。最后想听大家意见，这个 baseline 组合是否有说服力，是否还需要加入商用 HLS 作为工业对照。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0" y="0"/>
            <a:ext cx="4076700" cy="6858000"/>
            <a:chOff x="0" y="0"/>
            <a:chExt cx="407670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4000500" cy="68580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4000500" y="0"/>
              <a:ext cx="76200" cy="68580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609600" y="1905000"/>
              <a:ext cx="533400" cy="533400"/>
            </a:xfrm>
            <a:prstGeom prst="roundRect">
              <a:avLst>
                <a:gd name="adj" fmla="val 10714"/>
              </a:avLst>
            </a:prstGeom>
            <a:solidFill>
              <a:srgbClr val="FFFFFF">
                <a:alpha val="8000"/>
              </a:srgbClr>
            </a:solidFill>
            <a:ln w="14288">
              <a:solidFill>
                <a:srgbClr val="FFFFFF">
                  <a:alpha val="35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257300" y="1905000"/>
              <a:ext cx="533400" cy="533400"/>
            </a:xfrm>
            <a:prstGeom prst="roundRect">
              <a:avLst>
                <a:gd name="adj" fmla="val 10714"/>
              </a:avLst>
            </a:prstGeom>
            <a:solidFill>
              <a:srgbClr val="FFFFFF">
                <a:alpha val="8000"/>
              </a:srgbClr>
            </a:solidFill>
            <a:ln w="14288">
              <a:solidFill>
                <a:srgbClr val="FFFFFF">
                  <a:alpha val="35000"/>
                </a:srgbClr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905000" y="1905000"/>
              <a:ext cx="533400" cy="533400"/>
            </a:xfrm>
            <a:prstGeom prst="roundRect">
              <a:avLst>
                <a:gd name="adj" fmla="val 10714"/>
              </a:avLst>
            </a:prstGeom>
            <a:solidFill>
              <a:srgbClr val="FFFFFF">
                <a:alpha val="8000"/>
              </a:srgbClr>
            </a:solidFill>
            <a:ln w="14288">
              <a:solidFill>
                <a:srgbClr val="FFFFFF">
                  <a:alpha val="35000"/>
                </a:srgbClr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2552700" y="1905000"/>
              <a:ext cx="533400" cy="533400"/>
            </a:xfrm>
            <a:prstGeom prst="roundRect">
              <a:avLst>
                <a:gd name="adj" fmla="val 10714"/>
              </a:avLst>
            </a:prstGeom>
            <a:solidFill>
              <a:srgbClr val="E07A1F">
                <a:alpha val="90000"/>
              </a:srgbClr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1143000" y="217170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FFFFFF">
                  <a:alpha val="5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790700" y="217170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FFFFFF">
                  <a:alpha val="5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438400" y="217170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FFFFFF">
                  <a:alpha val="50000"/>
                </a:srgbClr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6265" y="2744152"/>
              <a:ext cx="18132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NL → topology → model/IR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6265" y="2953702"/>
              <a:ext cx="22119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→ intent → pipeline + contract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7218" y="5990749"/>
              <a:ext cx="13633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55000"/>
                    </a:srgbClr>
                  </a:solidFill>
                  <a:latin typeface="Consolas"/>
                  <a:ea typeface="Microsoft YaHei"/>
                  <a:cs typeface="Consolas"/>
                </a:rPr>
                <a:t>curryGPU · subcore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712970" y="2393632"/>
            <a:ext cx="6160389" cy="2364106"/>
            <a:chOff x="4712970" y="2393632"/>
            <a:chExt cx="6160389" cy="2364106"/>
          </a:xfrm>
        </p:grpSpPr>
        <p:sp>
          <p:nvSpPr>
            <p:cNvPr id="16" name="TextBox 16"/>
            <p:cNvSpPr txBox="1"/>
            <p:nvPr/>
          </p:nvSpPr>
          <p:spPr>
            <a:xfrm>
              <a:off x="4741545" y="23936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文献调研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12970" y="2817495"/>
              <a:ext cx="3149241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AI 生成 RTL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24400" y="3581400"/>
              <a:ext cx="614895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现有思路与可对比的 baseline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762500" y="4191000"/>
              <a:ext cx="762000" cy="381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745355" y="4483418"/>
              <a:ext cx="41156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为 subcore 的"结构框架 + 验证框架"找对照组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47260" y="5775960"/>
            <a:ext cx="3872389" cy="489109"/>
            <a:chOff x="4747260" y="5775960"/>
            <a:chExt cx="3872389" cy="489109"/>
          </a:xfrm>
        </p:grpSpPr>
        <p:sp>
          <p:nvSpPr>
            <p:cNvPr id="22" name="TextBox 22"/>
            <p:cNvSpPr txBox="1"/>
            <p:nvPr/>
          </p:nvSpPr>
          <p:spPr>
            <a:xfrm>
              <a:off x="4747260" y="5775960"/>
              <a:ext cx="22299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dyf · 课题组组会 · 2026-10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50118" y="6066949"/>
              <a:ext cx="38695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文献检索截至 2026-10 初，重点引用条目已用 arXiv API 核实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5808774" cy="678656"/>
            <a:chOff x="533400" y="419100"/>
            <a:chExt cx="5808774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564684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组会意见：先找到能对比的 baseline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45305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本次只做调研：别人怎么让 AI 设计 RTL，哪些能拿来和我们比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1257300"/>
            <a:ext cx="4381500" cy="4876800"/>
            <a:chOff x="533400" y="1257300"/>
            <a:chExt cx="4381500" cy="4876800"/>
          </a:xfrm>
        </p:grpSpPr>
        <p:sp>
          <p:nvSpPr>
            <p:cNvPr id="7" name="Rectangle 7"/>
            <p:cNvSpPr/>
            <p:nvPr/>
          </p:nvSpPr>
          <p:spPr>
            <a:xfrm>
              <a:off x="533400" y="1257300"/>
              <a:ext cx="4381500" cy="4876800"/>
            </a:xfrm>
            <a:prstGeom prst="roundRect">
              <a:avLst>
                <a:gd name="adj" fmla="val 1739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795338" y="1519238"/>
              <a:ext cx="200025" cy="200025"/>
              <a:chOff x="795338" y="1519238"/>
              <a:chExt cx="200025" cy="2000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95338" y="1519238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77787"/>
                    </a:moveTo>
                    <a:cubicBezTo>
                      <a:pt x="0" y="120748"/>
                      <a:pt x="34827" y="155575"/>
                      <a:pt x="77788" y="155575"/>
                    </a:cubicBezTo>
                    <a:cubicBezTo>
                      <a:pt x="120748" y="155575"/>
                      <a:pt x="155575" y="120748"/>
                      <a:pt x="155575" y="77787"/>
                    </a:cubicBezTo>
                    <a:cubicBezTo>
                      <a:pt x="155575" y="34827"/>
                      <a:pt x="120748" y="0"/>
                      <a:pt x="77788" y="0"/>
                    </a:cubicBezTo>
                    <a:cubicBezTo>
                      <a:pt x="34827" y="0"/>
                      <a:pt x="0" y="34827"/>
                      <a:pt x="0" y="77787"/>
                    </a:cubicBez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8688" y="165258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666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104900" y="1533525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调研回答三个问题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5330" y="2021205"/>
              <a:ext cx="32707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02055" y="2064068"/>
              <a:ext cx="21977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给 LLM 的输入是什么？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04912" y="2336006"/>
              <a:ext cx="31257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自然语言、模块拓扑、参考模型、IR、波形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5330" y="2973705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2055" y="3016568"/>
              <a:ext cx="18975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做到了多大的设计？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04912" y="3288506"/>
              <a:ext cx="24356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单模块、多模块、处理器核、SoC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5330" y="3926205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02055" y="3969068"/>
              <a:ext cx="18975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怎么判定生成得对？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04912" y="4241006"/>
              <a:ext cx="28135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testbench、形式等价、断言、周期数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62000" y="4762500"/>
              <a:ext cx="3924300" cy="9525"/>
            </a:xfrm>
            <a:custGeom>
              <a:avLst/>
              <a:gdLst/>
              <a:ahLst/>
              <a:cxnLst/>
              <a:rect l="l" t="t" r="r" b="b"/>
              <a:pathLst>
                <a:path w="3924300" h="9525">
                  <a:moveTo>
                    <a:pt x="0" y="0"/>
                  </a:moveTo>
                  <a:lnTo>
                    <a:pt x="39243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7712" y="4945856"/>
              <a:ext cx="3060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范围：2023–2026，arXiv 为主，约 80 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7712" y="5193506"/>
              <a:ext cx="31503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分三路检索：生成流程 / 验证与中间表示 /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7712" y="5441156"/>
              <a:ext cx="14169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benchmark 与模型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200650" y="1362075"/>
            <a:ext cx="6457950" cy="2752725"/>
            <a:chOff x="5200650" y="1362075"/>
            <a:chExt cx="6457950" cy="2752725"/>
          </a:xfrm>
        </p:grpSpPr>
        <p:sp>
          <p:nvSpPr>
            <p:cNvPr id="26" name="TextBox 26"/>
            <p:cNvSpPr txBox="1"/>
            <p:nvPr/>
          </p:nvSpPr>
          <p:spPr>
            <a:xfrm>
              <a:off x="5200650" y="1362075"/>
              <a:ext cx="36035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我们的论点（待用 baseline 检验）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219700" y="1714500"/>
              <a:ext cx="6438900" cy="72390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219700" y="1714500"/>
              <a:ext cx="57150" cy="7239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431155" y="18735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性能模型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34012" y="2145506"/>
              <a:ext cx="2624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做什么、多少拍 —— 没有"级"的概念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219700" y="2552700"/>
              <a:ext cx="6438900" cy="72390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219700" y="2552700"/>
              <a:ext cx="57150" cy="723900"/>
            </a:xfrm>
            <a:prstGeom prst="rect">
              <a:avLst/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31155" y="27117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结构框架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34012" y="2983706"/>
              <a:ext cx="3314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在哪一级、谁拥有状态、怎么握手、事件通道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219700" y="3390900"/>
              <a:ext cx="6438900" cy="723900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219700" y="3390900"/>
              <a:ext cx="57150" cy="7239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31155" y="35499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验证框架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434012" y="3821906"/>
              <a:ext cx="31668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逐信号波形等价、lockstep A/B、时序契约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219700" y="4343400"/>
            <a:ext cx="6438900" cy="1790700"/>
            <a:chOff x="5219700" y="4343400"/>
            <a:chExt cx="6438900" cy="1790700"/>
          </a:xfrm>
        </p:grpSpPr>
        <p:sp>
          <p:nvSpPr>
            <p:cNvPr id="40" name="Rectangle 40"/>
            <p:cNvSpPr/>
            <p:nvPr/>
          </p:nvSpPr>
          <p:spPr>
            <a:xfrm>
              <a:off x="5219700" y="4343400"/>
              <a:ext cx="6438900" cy="1790700"/>
            </a:xfrm>
            <a:prstGeom prst="roundRect">
              <a:avLst>
                <a:gd name="adj" fmla="val 4255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5466539" y="4559311"/>
              <a:ext cx="192114" cy="165051"/>
              <a:chOff x="5466539" y="4559311"/>
              <a:chExt cx="192114" cy="165051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5562600" y="461962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5466539" y="455931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5562600" y="4686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5755005" y="4569142"/>
              <a:ext cx="41023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已有证据：G2 首轮（S1 改 2 项 head FIFO）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434012" y="4926806"/>
              <a:ext cx="55081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同一 warp 可连续两拍发射，打破原 RTL 未写下的契约"发射后至少空一拍"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434012" y="5193506"/>
              <a:ext cx="35775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unit_mix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1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64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处错，</a:t>
              </a:r>
              <a:r>
                <a:rPr lang="zh-CN" sz="112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unit_control_flow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1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212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处错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434012" y="5460206"/>
              <a:ext cx="48345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iadd3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PASS 把错误盖住：波形里同 warp 两拍发射，ITS PC 都是 8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434965" y="5811202"/>
              <a:ext cx="37838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问题：只有自家一个案例，需要外部 baseline 才站得住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22922" y="6521291"/>
            <a:ext cx="11146155" cy="167640"/>
            <a:chOff x="522922" y="6521291"/>
            <a:chExt cx="11146155" cy="167640"/>
          </a:xfrm>
        </p:grpSpPr>
        <p:sp>
          <p:nvSpPr>
            <p:cNvPr id="51" name="TextBox 51"/>
            <p:cNvSpPr txBox="1"/>
            <p:nvPr/>
          </p:nvSpPr>
          <p:spPr>
            <a:xfrm>
              <a:off x="522922" y="6521291"/>
              <a:ext cx="21536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AI 生成 RTL 综述 · 2026-10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81852" y="6521291"/>
              <a:ext cx="872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9" grpId="0"/>
      <p:bldP spid="5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6004798" cy="678656"/>
            <a:chOff x="533400" y="419100"/>
            <a:chExt cx="6004798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507752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按"给 LLM 的中间表示"排一条轴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58285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越往上结构越显式、能做的设计越大；第 4 级只有算子级工作，第 5 级目前空白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600" y="1295400"/>
            <a:ext cx="4191000" cy="1243012"/>
            <a:chOff x="609600" y="1295400"/>
            <a:chExt cx="4191000" cy="1243012"/>
          </a:xfrm>
        </p:grpSpPr>
        <p:sp>
          <p:nvSpPr>
            <p:cNvPr id="7" name="Rectangle 7"/>
            <p:cNvSpPr/>
            <p:nvPr/>
          </p:nvSpPr>
          <p:spPr>
            <a:xfrm>
              <a:off x="609600" y="1295400"/>
              <a:ext cx="4191000" cy="1219200"/>
            </a:xfrm>
            <a:prstGeom prst="roundRect">
              <a:avLst>
                <a:gd name="adj" fmla="val 6250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41375" y="1527175"/>
              <a:ext cx="165100" cy="165100"/>
              <a:chOff x="841375" y="1527175"/>
              <a:chExt cx="165100" cy="1651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41375" y="1527175"/>
                <a:ext cx="16510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82550">
                    <a:moveTo>
                      <a:pt x="82550" y="0"/>
                    </a:moveTo>
                    <a:lnTo>
                      <a:pt x="0" y="41275"/>
                    </a:lnTo>
                    <a:lnTo>
                      <a:pt x="82550" y="82550"/>
                    </a:lnTo>
                    <a:lnTo>
                      <a:pt x="165100" y="41275"/>
                    </a:lnTo>
                    <a:lnTo>
                      <a:pt x="82550" y="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41375" y="1609725"/>
                <a:ext cx="165100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41275">
                    <a:moveTo>
                      <a:pt x="0" y="0"/>
                    </a:moveTo>
                    <a:lnTo>
                      <a:pt x="82550" y="41275"/>
                    </a:lnTo>
                    <a:lnTo>
                      <a:pt x="165100" y="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41375" y="1651000"/>
                <a:ext cx="165100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41275">
                    <a:moveTo>
                      <a:pt x="0" y="0"/>
                    </a:moveTo>
                    <a:lnTo>
                      <a:pt x="82550" y="41275"/>
                    </a:lnTo>
                    <a:lnTo>
                      <a:pt x="165100" y="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125855" y="1530668"/>
              <a:ext cx="25496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四条生成路线 + 一条验证线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6765" y="1867852"/>
              <a:ext cx="27946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① 数据与模型 ② agent 流程（贯穿各级）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6765" y="2096452"/>
              <a:ext cx="26566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③ 结构化中间层 ④ 参考模型 + 形式等价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6765" y="2325052"/>
              <a:ext cx="34080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验证线：SVA / testbench / 波形反馈 / 契约语言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95312" y="4123849"/>
            <a:ext cx="2185988" cy="1781651"/>
            <a:chOff x="595312" y="4123849"/>
            <a:chExt cx="2185988" cy="1781651"/>
          </a:xfrm>
        </p:grpSpPr>
        <p:sp>
          <p:nvSpPr>
            <p:cNvPr id="17" name="Polygon 17"/>
            <p:cNvSpPr/>
            <p:nvPr/>
          </p:nvSpPr>
          <p:spPr>
            <a:xfrm>
              <a:off x="609600" y="5295900"/>
              <a:ext cx="2171700" cy="133350"/>
            </a:xfrm>
            <a:custGeom>
              <a:avLst/>
              <a:gdLst/>
              <a:ahLst/>
              <a:cxnLst/>
              <a:rect l="l" t="t" r="r" b="b"/>
              <a:pathLst>
                <a:path w="2171700" h="133350">
                  <a:moveTo>
                    <a:pt x="0" y="133350"/>
                  </a:moveTo>
                  <a:lnTo>
                    <a:pt x="190500" y="0"/>
                  </a:lnTo>
                  <a:lnTo>
                    <a:pt x="2171700" y="0"/>
                  </a:lnTo>
                  <a:lnTo>
                    <a:pt x="1981200" y="133350"/>
                  </a:lnTo>
                  <a:close/>
                </a:path>
              </a:pathLst>
            </a:custGeom>
            <a:solidFill>
              <a:srgbClr val="999999">
                <a:alpha val="55000"/>
              </a:srgbClr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9600" y="5429250"/>
              <a:ext cx="1981200" cy="47625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</p:sp>
        <p:sp>
          <p:nvSpPr>
            <p:cNvPr id="19" name="Polygon 19"/>
            <p:cNvSpPr/>
            <p:nvPr/>
          </p:nvSpPr>
          <p:spPr>
            <a:xfrm>
              <a:off x="2590800" y="5295900"/>
              <a:ext cx="190500" cy="609600"/>
            </a:xfrm>
            <a:custGeom>
              <a:avLst/>
              <a:gdLst/>
              <a:ahLst/>
              <a:cxnLst/>
              <a:rect l="l" t="t" r="r" b="b"/>
              <a:pathLst>
                <a:path w="190500" h="609600">
                  <a:moveTo>
                    <a:pt x="0" y="133350"/>
                  </a:moveTo>
                  <a:lnTo>
                    <a:pt x="190500" y="0"/>
                  </a:lnTo>
                  <a:lnTo>
                    <a:pt x="190500" y="47625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999999">
                <a:alpha val="8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6760" y="5604510"/>
              <a:ext cx="13462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L1 自然语言规格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7218" y="4123849"/>
              <a:ext cx="5779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路线 ① 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5312" y="4355306"/>
              <a:ext cx="16880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Chip-Chat、RTLCoder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5312" y="4564856"/>
              <a:ext cx="1737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CodeV-R1、VeriReason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5312" y="4774406"/>
              <a:ext cx="18277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VerilogEval / CVDP 题型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7218" y="500014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单模块为主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805112" y="3552349"/>
            <a:ext cx="2185988" cy="2353151"/>
            <a:chOff x="2805112" y="3552349"/>
            <a:chExt cx="2185988" cy="2353151"/>
          </a:xfrm>
        </p:grpSpPr>
        <p:sp>
          <p:nvSpPr>
            <p:cNvPr id="27" name="Polygon 27"/>
            <p:cNvSpPr/>
            <p:nvPr/>
          </p:nvSpPr>
          <p:spPr>
            <a:xfrm>
              <a:off x="2819400" y="4724400"/>
              <a:ext cx="2171700" cy="133350"/>
            </a:xfrm>
            <a:custGeom>
              <a:avLst/>
              <a:gdLst/>
              <a:ahLst/>
              <a:cxnLst/>
              <a:rect l="l" t="t" r="r" b="b"/>
              <a:pathLst>
                <a:path w="2171700" h="133350">
                  <a:moveTo>
                    <a:pt x="0" y="133350"/>
                  </a:moveTo>
                  <a:lnTo>
                    <a:pt x="190500" y="0"/>
                  </a:lnTo>
                  <a:lnTo>
                    <a:pt x="2171700" y="0"/>
                  </a:lnTo>
                  <a:lnTo>
                    <a:pt x="1981200" y="133350"/>
                  </a:lnTo>
                  <a:close/>
                </a:path>
              </a:pathLst>
            </a:custGeom>
            <a:solidFill>
              <a:srgbClr val="2A7F9E">
                <a:alpha val="35000"/>
              </a:srgbClr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2819400" y="4857750"/>
              <a:ext cx="1981200" cy="1047750"/>
            </a:xfrm>
            <a:prstGeom prst="rect">
              <a:avLst/>
            </a:prstGeom>
            <a:solidFill>
              <a:srgbClr val="2A7F9E">
                <a:alpha val="70000"/>
              </a:srgbClr>
            </a:solidFill>
            <a:ln>
              <a:noFill/>
            </a:ln>
          </p:spPr>
        </p:sp>
        <p:sp>
          <p:nvSpPr>
            <p:cNvPr id="29" name="Polygon 29"/>
            <p:cNvSpPr/>
            <p:nvPr/>
          </p:nvSpPr>
          <p:spPr>
            <a:xfrm>
              <a:off x="4800600" y="4724400"/>
              <a:ext cx="190500" cy="1181100"/>
            </a:xfrm>
            <a:custGeom>
              <a:avLst/>
              <a:gdLst/>
              <a:ahLst/>
              <a:cxnLst/>
              <a:rect l="l" t="t" r="r" b="b"/>
              <a:pathLst>
                <a:path w="190500" h="1181100">
                  <a:moveTo>
                    <a:pt x="0" y="133350"/>
                  </a:moveTo>
                  <a:lnTo>
                    <a:pt x="190500" y="0"/>
                  </a:lnTo>
                  <a:lnTo>
                    <a:pt x="190500" y="104775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2A7F9E">
                <a:alpha val="85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956560" y="5033010"/>
              <a:ext cx="1787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L2 模块拓扑 / 端口图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59418" y="52858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层次、端口、连线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07018" y="3552349"/>
              <a:ext cx="4508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路线 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805112" y="3783806"/>
              <a:ext cx="14333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ROME、SysVCoder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805112" y="3993356"/>
              <a:ext cx="15894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VeriGraphi（RV32I）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05112" y="4202906"/>
              <a:ext cx="14005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分层 IR + 多 agent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807018" y="4428649"/>
              <a:ext cx="11853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多模块 / 小处理器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014912" y="2980849"/>
            <a:ext cx="2185988" cy="2924651"/>
            <a:chOff x="5014912" y="2980849"/>
            <a:chExt cx="2185988" cy="2924651"/>
          </a:xfrm>
        </p:grpSpPr>
        <p:sp>
          <p:nvSpPr>
            <p:cNvPr id="38" name="Polygon 38"/>
            <p:cNvSpPr/>
            <p:nvPr/>
          </p:nvSpPr>
          <p:spPr>
            <a:xfrm>
              <a:off x="5029200" y="4152900"/>
              <a:ext cx="2171700" cy="133350"/>
            </a:xfrm>
            <a:custGeom>
              <a:avLst/>
              <a:gdLst/>
              <a:ahLst/>
              <a:cxnLst/>
              <a:rect l="l" t="t" r="r" b="b"/>
              <a:pathLst>
                <a:path w="2171700" h="133350">
                  <a:moveTo>
                    <a:pt x="0" y="133350"/>
                  </a:moveTo>
                  <a:lnTo>
                    <a:pt x="190500" y="0"/>
                  </a:lnTo>
                  <a:lnTo>
                    <a:pt x="2171700" y="0"/>
                  </a:lnTo>
                  <a:lnTo>
                    <a:pt x="1981200" y="133350"/>
                  </a:lnTo>
                  <a:close/>
                </a:path>
              </a:pathLst>
            </a:custGeom>
            <a:solidFill>
              <a:srgbClr val="2A7F9E">
                <a:alpha val="55000"/>
              </a:srgbClr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029200" y="4286250"/>
              <a:ext cx="1981200" cy="1619250"/>
            </a:xfrm>
            <a:prstGeom prst="rect">
              <a:avLst/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40" name="Polygon 40"/>
            <p:cNvSpPr/>
            <p:nvPr/>
          </p:nvSpPr>
          <p:spPr>
            <a:xfrm>
              <a:off x="7010400" y="4152900"/>
              <a:ext cx="190500" cy="1752600"/>
            </a:xfrm>
            <a:custGeom>
              <a:avLst/>
              <a:gdLst/>
              <a:ahLst/>
              <a:cxnLst/>
              <a:rect l="l" t="t" r="r" b="b"/>
              <a:pathLst>
                <a:path w="190500" h="1752600">
                  <a:moveTo>
                    <a:pt x="0" y="133350"/>
                  </a:moveTo>
                  <a:lnTo>
                    <a:pt x="190500" y="0"/>
                  </a:lnTo>
                  <a:lnTo>
                    <a:pt x="190500" y="1619250"/>
                  </a:lnTo>
                  <a:lnTo>
                    <a:pt x="0" y="1752600"/>
                  </a:lnTo>
                  <a:close/>
                </a:path>
              </a:pathLst>
            </a:custGeom>
            <a:solidFill>
              <a:srgbClr val="1F3A5F">
                <a:alpha val="70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166360" y="4461510"/>
              <a:ext cx="13922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L3 参考模型 / IR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169218" y="4714399"/>
              <a:ext cx="16338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 / Python 模型、nOP IR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016818" y="2980849"/>
              <a:ext cx="5779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路线 ④ ③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14912" y="321230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FormalRTL、AutoVeriFix+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14912" y="3421856"/>
              <a:ext cx="14333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C2HLSC、SymRTLO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14912" y="3631406"/>
              <a:ext cx="13019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AGON（OoO 核）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16818" y="38571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数据通路为主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224712" y="2409349"/>
            <a:ext cx="2185988" cy="3496151"/>
            <a:chOff x="7224712" y="2409349"/>
            <a:chExt cx="2185988" cy="3496151"/>
          </a:xfrm>
        </p:grpSpPr>
        <p:sp>
          <p:nvSpPr>
            <p:cNvPr id="49" name="Polygon 49"/>
            <p:cNvSpPr/>
            <p:nvPr/>
          </p:nvSpPr>
          <p:spPr>
            <a:xfrm>
              <a:off x="7239000" y="3581400"/>
              <a:ext cx="2171700" cy="133350"/>
            </a:xfrm>
            <a:custGeom>
              <a:avLst/>
              <a:gdLst/>
              <a:ahLst/>
              <a:cxnLst/>
              <a:rect l="l" t="t" r="r" b="b"/>
              <a:pathLst>
                <a:path w="2171700" h="133350">
                  <a:moveTo>
                    <a:pt x="0" y="133350"/>
                  </a:moveTo>
                  <a:lnTo>
                    <a:pt x="190500" y="0"/>
                  </a:lnTo>
                  <a:lnTo>
                    <a:pt x="2171700" y="0"/>
                  </a:lnTo>
                  <a:lnTo>
                    <a:pt x="1981200" y="133350"/>
                  </a:lnTo>
                  <a:close/>
                </a:path>
              </a:pathLst>
            </a:custGeom>
            <a:solidFill>
              <a:srgbClr val="1F3A5F">
                <a:alpha val="55000"/>
              </a:srgbClr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239000" y="3714750"/>
              <a:ext cx="1981200" cy="219075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51" name="Polygon 51"/>
            <p:cNvSpPr/>
            <p:nvPr/>
          </p:nvSpPr>
          <p:spPr>
            <a:xfrm>
              <a:off x="9220200" y="3581400"/>
              <a:ext cx="190500" cy="2324100"/>
            </a:xfrm>
            <a:custGeom>
              <a:avLst/>
              <a:gdLst/>
              <a:ahLst/>
              <a:cxnLst/>
              <a:rect l="l" t="t" r="r" b="b"/>
              <a:pathLst>
                <a:path w="190500" h="2324100">
                  <a:moveTo>
                    <a:pt x="0" y="133350"/>
                  </a:moveTo>
                  <a:lnTo>
                    <a:pt x="190500" y="0"/>
                  </a:lnTo>
                  <a:lnTo>
                    <a:pt x="190500" y="2190750"/>
                  </a:lnTo>
                  <a:lnTo>
                    <a:pt x="0" y="2324100"/>
                  </a:lnTo>
                  <a:close/>
                </a:path>
              </a:pathLst>
            </a:custGeom>
            <a:solidFill>
              <a:srgbClr val="1F3A5F">
                <a:alpha val="80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76160" y="3890010"/>
              <a:ext cx="13922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L4 微架构意图层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79018" y="4142899"/>
              <a:ext cx="15840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显式微架构、RTL 前检查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26618" y="2409349"/>
              <a:ext cx="4508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路线 ③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24712" y="2640806"/>
              <a:ext cx="10390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HINT（2026）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224712" y="2850356"/>
              <a:ext cx="17127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7 个算子 + Vortex VPU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26618" y="307609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无流水契约、无验证框架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9434512" y="1837849"/>
            <a:ext cx="2185988" cy="4067651"/>
            <a:chOff x="9434512" y="1837849"/>
            <a:chExt cx="2185988" cy="4067651"/>
          </a:xfrm>
        </p:grpSpPr>
        <p:sp>
          <p:nvSpPr>
            <p:cNvPr id="59" name="Polygon 59"/>
            <p:cNvSpPr/>
            <p:nvPr/>
          </p:nvSpPr>
          <p:spPr>
            <a:xfrm>
              <a:off x="9448800" y="3009900"/>
              <a:ext cx="2171700" cy="133350"/>
            </a:xfrm>
            <a:custGeom>
              <a:avLst/>
              <a:gdLst/>
              <a:ahLst/>
              <a:cxnLst/>
              <a:rect l="l" t="t" r="r" b="b"/>
              <a:pathLst>
                <a:path w="2171700" h="133350">
                  <a:moveTo>
                    <a:pt x="0" y="133350"/>
                  </a:moveTo>
                  <a:lnTo>
                    <a:pt x="190500" y="0"/>
                  </a:lnTo>
                  <a:lnTo>
                    <a:pt x="2171700" y="0"/>
                  </a:lnTo>
                  <a:lnTo>
                    <a:pt x="1981200" y="133350"/>
                  </a:lnTo>
                  <a:close/>
                </a:path>
              </a:pathLst>
            </a:custGeom>
            <a:solidFill>
              <a:srgbClr val="E07A1F">
                <a:alpha val="55000"/>
              </a:srgbClr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448800" y="3143250"/>
              <a:ext cx="1981200" cy="276225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61" name="Polygon 61"/>
            <p:cNvSpPr/>
            <p:nvPr/>
          </p:nvSpPr>
          <p:spPr>
            <a:xfrm>
              <a:off x="11430000" y="3009900"/>
              <a:ext cx="190500" cy="2895600"/>
            </a:xfrm>
            <a:custGeom>
              <a:avLst/>
              <a:gdLst/>
              <a:ahLst/>
              <a:cxnLst/>
              <a:rect l="l" t="t" r="r" b="b"/>
              <a:pathLst>
                <a:path w="190500" h="2895600">
                  <a:moveTo>
                    <a:pt x="0" y="133350"/>
                  </a:moveTo>
                  <a:lnTo>
                    <a:pt x="190500" y="0"/>
                  </a:lnTo>
                  <a:lnTo>
                    <a:pt x="190500" y="2762250"/>
                  </a:lnTo>
                  <a:lnTo>
                    <a:pt x="0" y="2895600"/>
                  </a:lnTo>
                  <a:close/>
                </a:path>
              </a:pathLst>
            </a:custGeom>
            <a:solidFill>
              <a:srgbClr val="E07A1F">
                <a:alpha val="80000"/>
              </a:srgbClr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585960" y="3318510"/>
              <a:ext cx="14198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L5 流水级 + 契约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588818" y="359044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级与边界寄存器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588818" y="379999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状态归属、事件通道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588818" y="40095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时序契约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588818" y="4219099"/>
              <a:ext cx="10001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+ 验证框架闭环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436418" y="18378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目标位置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434512" y="2069306"/>
              <a:ext cx="15036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curryGPU subcore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434512" y="2278856"/>
              <a:ext cx="15155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Anvil / PDL：给人用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434512" y="2488406"/>
              <a:ext cx="13676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的语言，未接 LLM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36418" y="2714149"/>
              <a:ext cx="10429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LLM 生成侧空白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97218" y="6134100"/>
            <a:ext cx="11023282" cy="283369"/>
            <a:chOff x="597218" y="6134100"/>
            <a:chExt cx="11023282" cy="283369"/>
          </a:xfrm>
        </p:grpSpPr>
        <p:sp>
          <p:nvSpPr>
            <p:cNvPr id="73" name="Line 73"/>
            <p:cNvSpPr/>
            <p:nvPr/>
          </p:nvSpPr>
          <p:spPr>
            <a:xfrm>
              <a:off x="609600" y="6134100"/>
              <a:ext cx="11010900" cy="9525"/>
            </a:xfrm>
            <a:custGeom>
              <a:avLst/>
              <a:gdLst/>
              <a:ahLst/>
              <a:cxnLst/>
              <a:rect l="l" t="t" r="r" b="b"/>
              <a:pathLst>
                <a:path w="11010900" h="9525">
                  <a:moveTo>
                    <a:pt x="0" y="0"/>
                  </a:moveTo>
                  <a:lnTo>
                    <a:pt x="110109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97218" y="6219349"/>
              <a:ext cx="488768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台阶高度 = 中间表示中显式写出的结构量（定性）；各级代表工作详见后续页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22922" y="6521291"/>
            <a:ext cx="11146155" cy="167640"/>
            <a:chOff x="522922" y="6521291"/>
            <a:chExt cx="11146155" cy="167640"/>
          </a:xfrm>
        </p:grpSpPr>
        <p:sp>
          <p:nvSpPr>
            <p:cNvPr id="76" name="TextBox 76"/>
            <p:cNvSpPr txBox="1"/>
            <p:nvPr/>
          </p:nvSpPr>
          <p:spPr>
            <a:xfrm>
              <a:off x="522922" y="6521291"/>
              <a:ext cx="21536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AI 生成 RTL 综述 · 2026-10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81852" y="6521291"/>
              <a:ext cx="872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6" grpId="0"/>
      <p:bldP spid="37" grpId="0"/>
      <p:bldP spid="48" grpId="0"/>
      <p:bldP spid="58" grpId="0"/>
      <p:bldP spid="72" grpId="0"/>
      <p:bldP spid="7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7844528" cy="678656"/>
            <a:chOff x="533400" y="419100"/>
            <a:chExt cx="7844528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768260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路线一：数据与模型——在模块级题目上已接近饱和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53274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训练数据和奖励都来自模块级 testbench，多级流水能力基本没有被测过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21018" y="1257300"/>
            <a:ext cx="7251382" cy="4245769"/>
            <a:chOff x="521018" y="1257300"/>
            <a:chExt cx="7251382" cy="4245769"/>
          </a:xfrm>
        </p:grpSpPr>
        <p:sp>
          <p:nvSpPr>
            <p:cNvPr id="7" name="Rectangle 7"/>
            <p:cNvSpPr/>
            <p:nvPr/>
          </p:nvSpPr>
          <p:spPr>
            <a:xfrm>
              <a:off x="533400" y="1257300"/>
              <a:ext cx="7239000" cy="3810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1512" y="138350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95512" y="1383506"/>
              <a:ext cx="10033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机构 · arXiv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00512" y="1383506"/>
              <a:ext cx="1779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怎么造数据 / 怎么训练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1638300"/>
              <a:ext cx="7239000" cy="55245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0560" y="1842135"/>
              <a:ext cx="84018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RTLCoder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97418" y="1866424"/>
              <a:ext cx="12921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HKUST · 2312.08617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00512" y="1850231"/>
              <a:ext cx="26903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27K 条合成数据 + 质量感知训练，7B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0560" y="2394585"/>
              <a:ext cx="536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CodeV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97418" y="2418874"/>
              <a:ext cx="17905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中科院计算所 · 2407.10424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00512" y="2402681"/>
              <a:ext cx="2624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真实代码多级摘要 → "描述→代码"对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743200"/>
              <a:ext cx="7239000" cy="55245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0560" y="2947035"/>
              <a:ext cx="62855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OriGen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97418" y="2971324"/>
              <a:ext cx="11710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PKU · 2407.16237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00512" y="2955131"/>
              <a:ext cx="26821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代码到代码增强 + 编译器反馈自修正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0560" y="3499485"/>
              <a:ext cx="84018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CraftRTL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97418" y="3523774"/>
              <a:ext cx="13348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NVIDIA · 2409.12993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00512" y="3507581"/>
              <a:ext cx="33557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K-map / FSM / 波形的构造即正确数据 + 注错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848100"/>
              <a:ext cx="7239000" cy="55245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0560" y="4051935"/>
              <a:ext cx="9966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VeriReason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97418" y="407622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2505.11849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00512" y="4060031"/>
              <a:ext cx="27560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SFT + GRPO，奖励 = testbench 结果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0560" y="4604385"/>
              <a:ext cx="7941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CodeV-R1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97418" y="4628674"/>
              <a:ext cx="17905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中科院计算所 · 2505.24183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100512" y="4612481"/>
              <a:ext cx="31339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蒸馏 + RLVR，规则生成 testbench 判等价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33400" y="49530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1018" y="5095399"/>
              <a:ext cx="6945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另有 VeriGen（NYU）、ChipNeMo（NVIDIA，未开源）、BetterV、MG-Verilog、AutoVCoder、VeriThoughts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1018" y="5304949"/>
              <a:ext cx="54857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除 ChipNeMo 外多数开源；CodeV-R1、VeriReason 均有 7B 权重，可直接跑我们的任务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077200" y="1257300"/>
            <a:ext cx="3581400" cy="2247900"/>
            <a:chOff x="8077200" y="1257300"/>
            <a:chExt cx="3581400" cy="2247900"/>
          </a:xfrm>
        </p:grpSpPr>
        <p:sp>
          <p:nvSpPr>
            <p:cNvPr id="36" name="Rectangle 36"/>
            <p:cNvSpPr/>
            <p:nvPr/>
          </p:nvSpPr>
          <p:spPr>
            <a:xfrm>
              <a:off x="8077200" y="1257300"/>
              <a:ext cx="3581400" cy="2247900"/>
            </a:xfrm>
            <a:prstGeom prst="roundRect">
              <a:avLst>
                <a:gd name="adj" fmla="val 339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91512" y="147875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VerilogEval v2 已报结果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63890" y="1796415"/>
              <a:ext cx="1753829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89–98%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92465" y="2325052"/>
              <a:ext cx="15908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前沿模型 / agent 流程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8305800" y="262890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292465" y="2782252"/>
              <a:ext cx="22809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开源 7B：CodeV-R1 </a:t>
              </a:r>
              <a:r>
                <a:rPr lang="zh-CN" sz="10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68.6%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（v2）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92465" y="3010852"/>
              <a:ext cx="23346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RTLLM </a:t>
              </a:r>
              <a:r>
                <a:rPr lang="zh-CN" sz="10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72.9%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；VeriReason </a:t>
              </a:r>
              <a:r>
                <a:rPr lang="zh-CN" sz="10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83.1%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93418" y="3247549"/>
              <a:ext cx="16837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（VerilogEval-Machine）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077200" y="3695700"/>
            <a:ext cx="3581400" cy="2438400"/>
            <a:chOff x="8077200" y="3695700"/>
            <a:chExt cx="3581400" cy="2438400"/>
          </a:xfrm>
        </p:grpSpPr>
        <p:sp>
          <p:nvSpPr>
            <p:cNvPr id="45" name="Rectangle 45"/>
            <p:cNvSpPr/>
            <p:nvPr/>
          </p:nvSpPr>
          <p:spPr>
            <a:xfrm>
              <a:off x="8077200" y="3695700"/>
              <a:ext cx="3581400" cy="2438400"/>
            </a:xfrm>
            <a:prstGeom prst="roundRect">
              <a:avLst>
                <a:gd name="adj" fmla="val 3125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8334375" y="3914775"/>
              <a:ext cx="171450" cy="171450"/>
              <a:chOff x="8334375" y="3914775"/>
              <a:chExt cx="171450" cy="17145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334375" y="3914775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9525" y="85725"/>
                    </a:lnTo>
                    <a:moveTo>
                      <a:pt x="85725" y="0"/>
                    </a:moveTo>
                    <a:lnTo>
                      <a:pt x="85725" y="9525"/>
                    </a:lnTo>
                    <a:moveTo>
                      <a:pt x="161925" y="85725"/>
                    </a:moveTo>
                    <a:lnTo>
                      <a:pt x="171450" y="85725"/>
                    </a:lnTo>
                    <a:moveTo>
                      <a:pt x="24765" y="24765"/>
                    </a:moveTo>
                    <a:lnTo>
                      <a:pt x="31432" y="31433"/>
                    </a:lnTo>
                    <a:moveTo>
                      <a:pt x="146685" y="24765"/>
                    </a:moveTo>
                    <a:lnTo>
                      <a:pt x="140018" y="31433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68437" y="3952875"/>
                <a:ext cx="10332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3327" h="133350">
                    <a:moveTo>
                      <a:pt x="23088" y="85725"/>
                    </a:moveTo>
                    <a:cubicBezTo>
                      <a:pt x="6689" y="73425"/>
                      <a:pt x="0" y="52012"/>
                      <a:pt x="6482" y="32565"/>
                    </a:cubicBezTo>
                    <a:cubicBezTo>
                      <a:pt x="12965" y="13117"/>
                      <a:pt x="31164" y="0"/>
                      <a:pt x="51663" y="0"/>
                    </a:cubicBezTo>
                    <a:cubicBezTo>
                      <a:pt x="72163" y="0"/>
                      <a:pt x="90362" y="13117"/>
                      <a:pt x="96845" y="32565"/>
                    </a:cubicBezTo>
                    <a:cubicBezTo>
                      <a:pt x="103327" y="52012"/>
                      <a:pt x="96638" y="73425"/>
                      <a:pt x="80238" y="85725"/>
                    </a:cubicBezTo>
                    <a:cubicBezTo>
                      <a:pt x="72696" y="93191"/>
                      <a:pt x="69159" y="103802"/>
                      <a:pt x="70713" y="114300"/>
                    </a:cubicBezTo>
                    <a:cubicBezTo>
                      <a:pt x="70713" y="124821"/>
                      <a:pt x="62184" y="133350"/>
                      <a:pt x="51663" y="133350"/>
                    </a:cubicBezTo>
                    <a:cubicBezTo>
                      <a:pt x="41142" y="133350"/>
                      <a:pt x="32613" y="124821"/>
                      <a:pt x="32613" y="114300"/>
                    </a:cubicBezTo>
                    <a:cubicBezTo>
                      <a:pt x="34168" y="103802"/>
                      <a:pt x="30631" y="93191"/>
                      <a:pt x="23088" y="85725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98192" y="4048125"/>
                <a:ext cx="4381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9525">
                    <a:moveTo>
                      <a:pt x="0" y="0"/>
                    </a:moveTo>
                    <a:lnTo>
                      <a:pt x="43815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8613458" y="3929539"/>
              <a:ext cx="159658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对我们意味着什么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91512" y="4298156"/>
              <a:ext cx="2657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分数高不代表能做流水线：题目多是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91512" y="4526756"/>
              <a:ext cx="21481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HDLBits 式组合或小时序电路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91512" y="4869656"/>
              <a:ext cx="21974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可作</a:t>
              </a:r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模型层 baseline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：同一个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91512" y="5098256"/>
              <a:ext cx="25342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subcore 模块上，比较"换模型"与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91512" y="5326856"/>
              <a:ext cx="21809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"换中间表示"各带来多少差异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93418" y="5762149"/>
              <a:ext cx="27303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数字来自各论文自报，评测设置不完全相同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22922" y="6521291"/>
            <a:ext cx="11146155" cy="167640"/>
            <a:chOff x="522922" y="6521291"/>
            <a:chExt cx="11146155" cy="167640"/>
          </a:xfrm>
        </p:grpSpPr>
        <p:sp>
          <p:nvSpPr>
            <p:cNvPr id="58" name="TextBox 58"/>
            <p:cNvSpPr txBox="1"/>
            <p:nvPr/>
          </p:nvSpPr>
          <p:spPr>
            <a:xfrm>
              <a:off x="522922" y="6521291"/>
              <a:ext cx="21536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AI 生成 RTL 综述 · 2026-10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81852" y="6521291"/>
              <a:ext cx="872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4" grpId="0"/>
      <p:bldP spid="5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6464356" cy="678656"/>
            <a:chOff x="533400" y="419100"/>
            <a:chExt cx="6464356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630243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路线三：先给结构再生成——与我们最接近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56149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结构都停在模块拓扑、端口、算子这一层；没有流水级、状态归属、事件通道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257300"/>
            <a:ext cx="3505200" cy="2324100"/>
            <a:chOff x="533400" y="1257300"/>
            <a:chExt cx="3505200" cy="2324100"/>
          </a:xfrm>
        </p:grpSpPr>
        <p:sp>
          <p:nvSpPr>
            <p:cNvPr id="7" name="Rectangle 7"/>
            <p:cNvSpPr/>
            <p:nvPr/>
          </p:nvSpPr>
          <p:spPr>
            <a:xfrm>
              <a:off x="533400" y="1257300"/>
              <a:ext cx="3505200" cy="2324100"/>
            </a:xfrm>
            <a:prstGeom prst="roundRect">
              <a:avLst>
                <a:gd name="adj" fmla="val 3279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6755" y="1435418"/>
              <a:ext cx="5725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ROME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1518" y="1685449"/>
              <a:ext cx="21109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NYU · MLCAD 2024 · 2407.18276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9612" y="1993106"/>
              <a:ext cx="21645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层次化提示：把处理器按模块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9612" y="222170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层次拆开，逐个生成再组装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23900" y="285750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0565" y="3010852"/>
              <a:ext cx="11231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结构 = 模块层次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0565" y="3239452"/>
              <a:ext cx="20815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验证 = 每个模块的 testbench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43400" y="1257300"/>
            <a:ext cx="3505200" cy="2324100"/>
            <a:chOff x="4343400" y="1257300"/>
            <a:chExt cx="3505200" cy="2324100"/>
          </a:xfrm>
        </p:grpSpPr>
        <p:sp>
          <p:nvSpPr>
            <p:cNvPr id="16" name="Rectangle 16"/>
            <p:cNvSpPr/>
            <p:nvPr/>
          </p:nvSpPr>
          <p:spPr>
            <a:xfrm>
              <a:off x="4343400" y="1257300"/>
              <a:ext cx="3505200" cy="2324100"/>
            </a:xfrm>
            <a:prstGeom prst="roundRect">
              <a:avLst>
                <a:gd name="adj" fmla="val 3279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16755" y="1435418"/>
              <a:ext cx="10590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SysVCoder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21518" y="1685449"/>
              <a:ext cx="16409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APPT 2026 · 2504.20653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19612" y="1993106"/>
              <a:ext cx="23452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先生成系统级 IR，再生成 RTL；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19612" y="222170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配 60 个系统级设计（SysVDB）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533900" y="285750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520565" y="3010852"/>
              <a:ext cx="17365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结构 = 系统级模块与连接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0565" y="3239452"/>
              <a:ext cx="11231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验证 = 功能仿真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153400" y="1257300"/>
            <a:ext cx="3505200" cy="2324100"/>
            <a:chOff x="8153400" y="1257300"/>
            <a:chExt cx="3505200" cy="2324100"/>
          </a:xfrm>
        </p:grpSpPr>
        <p:sp>
          <p:nvSpPr>
            <p:cNvPr id="25" name="Rectangle 25"/>
            <p:cNvSpPr/>
            <p:nvPr/>
          </p:nvSpPr>
          <p:spPr>
            <a:xfrm>
              <a:off x="8153400" y="1257300"/>
              <a:ext cx="3505200" cy="2324100"/>
            </a:xfrm>
            <a:prstGeom prst="roundRect">
              <a:avLst>
                <a:gd name="adj" fmla="val 3279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26755" y="14354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VeriGraphi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31518" y="1685449"/>
              <a:ext cx="12493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2026 · 2604.14550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29612" y="1993106"/>
              <a:ext cx="23535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规格 → 知识图谱（层次、端口、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29612" y="2221706"/>
              <a:ext cx="23042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连线、依赖）→ 逐子模块生成；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9612" y="2450306"/>
              <a:ext cx="14744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案例：</a:t>
              </a:r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RV32I 处理器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343900" y="285750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30565" y="3010852"/>
              <a:ext cx="20662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结构 = 端口级接口 + 连线语义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30565" y="3239452"/>
              <a:ext cx="17595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验证 = 接口一致性 + 仿真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33400" y="3810000"/>
            <a:ext cx="3505200" cy="2324100"/>
            <a:chOff x="533400" y="3810000"/>
            <a:chExt cx="3505200" cy="2324100"/>
          </a:xfrm>
        </p:grpSpPr>
        <p:sp>
          <p:nvSpPr>
            <p:cNvPr id="35" name="Rectangle 35"/>
            <p:cNvSpPr/>
            <p:nvPr/>
          </p:nvSpPr>
          <p:spPr>
            <a:xfrm>
              <a:off x="533400" y="3810000"/>
              <a:ext cx="3505200" cy="2324100"/>
            </a:xfrm>
            <a:prstGeom prst="roundRect">
              <a:avLst>
                <a:gd name="adj" fmla="val 3279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6755" y="3988118"/>
              <a:ext cx="17629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分层 IR + 多 agent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1518" y="4238149"/>
              <a:ext cx="12849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2026 · 2608.30659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9612" y="4545806"/>
              <a:ext cx="24603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Architectural Sketch（拓扑）+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9612" y="4774406"/>
              <a:ext cx="25342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Operational Spec（每模块功能与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9612" y="5003006"/>
              <a:ext cx="26492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接口）；VerilogEval pass@5 95.5%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723900" y="541020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10565" y="5563552"/>
              <a:ext cx="17595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结构 = 拓扑 + 每模块规格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0565" y="5792152"/>
              <a:ext cx="20509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验证 = agent 选探针信号调试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343400" y="3810000"/>
            <a:ext cx="3505200" cy="2324100"/>
            <a:chOff x="4343400" y="3810000"/>
            <a:chExt cx="3505200" cy="2324100"/>
          </a:xfrm>
        </p:grpSpPr>
        <p:sp>
          <p:nvSpPr>
            <p:cNvPr id="45" name="Rectangle 45"/>
            <p:cNvSpPr/>
            <p:nvPr/>
          </p:nvSpPr>
          <p:spPr>
            <a:xfrm>
              <a:off x="4343400" y="3810000"/>
              <a:ext cx="3505200" cy="2324100"/>
            </a:xfrm>
            <a:prstGeom prst="roundRect">
              <a:avLst>
                <a:gd name="adj" fmla="val 3279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516755" y="3988118"/>
              <a:ext cx="5311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AGON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521518" y="4238149"/>
              <a:ext cx="1925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ICT/CAS · 2024 · 2412.20954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519612" y="454580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ISA 文档 → nano-operator IR →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519612" y="4774406"/>
              <a:ext cx="21645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定制</a:t>
              </a:r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乱序核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；功能与性能优化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19612" y="5003006"/>
              <a:ext cx="22384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解耦，平均比 BOOM 快 2.35×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4533900" y="541020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520565" y="5563552"/>
              <a:ext cx="21429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结构 = 固定的 OoO 模板 + nOP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520565" y="57921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不是通用的流水结构描述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153400" y="3810000"/>
            <a:ext cx="3505200" cy="2324100"/>
            <a:chOff x="8153400" y="3810000"/>
            <a:chExt cx="3505200" cy="2324100"/>
          </a:xfrm>
        </p:grpSpPr>
        <p:sp>
          <p:nvSpPr>
            <p:cNvPr id="55" name="Rectangle 55"/>
            <p:cNvSpPr/>
            <p:nvPr/>
          </p:nvSpPr>
          <p:spPr>
            <a:xfrm>
              <a:off x="8153400" y="3810000"/>
              <a:ext cx="3505200" cy="2324100"/>
            </a:xfrm>
            <a:prstGeom prst="roundRect">
              <a:avLst>
                <a:gd name="adj" fmla="val 3279"/>
              </a:avLst>
            </a:prstGeom>
            <a:solidFill>
              <a:srgbClr val="FFFFFF"/>
            </a:solidFill>
            <a:ln w="19050">
              <a:solidFill>
                <a:srgbClr val="E07A1F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326755" y="3988118"/>
              <a:ext cx="4379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HINT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31518" y="4238149"/>
              <a:ext cx="12849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2026 · 2608.07625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29612" y="4545806"/>
              <a:ext cx="25342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行为规格与 RTL 之间加一层可执行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29612" y="4774406"/>
              <a:ext cx="24520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的"硬件意图"：显式微架构、RTL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29612" y="5003006"/>
              <a:ext cx="22795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前可检查、给出 lowering 义务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8343900" y="541020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330565" y="556355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方向与我们几乎相同，但只做到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30565" y="5792152"/>
              <a:ext cx="21429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算子 / VPU，没有流水时序契约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22922" y="6521291"/>
            <a:ext cx="11146155" cy="167640"/>
            <a:chOff x="522922" y="6521291"/>
            <a:chExt cx="11146155" cy="167640"/>
          </a:xfrm>
        </p:grpSpPr>
        <p:sp>
          <p:nvSpPr>
            <p:cNvPr id="65" name="TextBox 65"/>
            <p:cNvSpPr txBox="1"/>
            <p:nvPr/>
          </p:nvSpPr>
          <p:spPr>
            <a:xfrm>
              <a:off x="522922" y="6521291"/>
              <a:ext cx="21536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AI 生成 RTL 综述 · 2026-10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81852" y="6521291"/>
              <a:ext cx="872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/>
      <p:bldP spid="34" grpId="0"/>
      <p:bldP spid="44" grpId="0"/>
      <p:bldP spid="54" grpId="0"/>
      <p:bldP spid="6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5739765" cy="678656"/>
            <a:chOff x="533400" y="419100"/>
            <a:chExt cx="5739765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55778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两个外部证据：表示层比模型更重要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54671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与"性能模型不够、要补结构层"的论点同向，但都还没到流水线与时序契约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49580" y="1486852"/>
            <a:ext cx="10326005" cy="2213610"/>
            <a:chOff x="449580" y="1486852"/>
            <a:chExt cx="10326005" cy="2213610"/>
          </a:xfrm>
        </p:grpSpPr>
        <p:sp>
          <p:nvSpPr>
            <p:cNvPr id="7" name="TextBox 7"/>
            <p:cNvSpPr txBox="1"/>
            <p:nvPr/>
          </p:nvSpPr>
          <p:spPr>
            <a:xfrm>
              <a:off x="520065" y="1486852"/>
              <a:ext cx="55255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From NL to Silicon: The Representation Bottleneck · 2026 · 2604.17097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9580" y="1840230"/>
              <a:ext cx="3507657" cy="1341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3%–88%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6255" y="2826068"/>
              <a:ext cx="62450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换中间表示（Verilog、VHDL、Chisel、Bluespec、PyMTL3、HLS C），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6255" y="3092768"/>
              <a:ext cx="23312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仿真通过率从 3% 变到 88%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55180" y="1840230"/>
              <a:ext cx="3254626" cy="1341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&lt;1.25×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21855" y="2826068"/>
              <a:ext cx="35537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同一种表示下换模型（3 个前沿模型），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21855" y="3092768"/>
              <a:ext cx="19172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差距通常不到 1.25 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0065" y="3487102"/>
              <a:ext cx="65364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202 个任务，编译 → 仿真 → iCE40 综合 → LLM 修复。注意：这里的"表示"是语言，不是结构描述</a:t>
              </a:r>
            </a:p>
          </p:txBody>
        </p:sp>
      </p:grpSp>
      <p:sp>
        <p:nvSpPr>
          <p:cNvPr id="16" name="Line 16"/>
          <p:cNvSpPr/>
          <p:nvPr/>
        </p:nvSpPr>
        <p:spPr>
          <a:xfrm>
            <a:off x="533400" y="39052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D8DEE6"/>
            </a:solidFill>
          </a:ln>
        </p:spPr>
      </p:sp>
      <p:grpSp>
        <p:nvGrpSpPr>
          <p:cNvPr id="29" name="Group 29"/>
          <p:cNvGrpSpPr/>
          <p:nvPr/>
        </p:nvGrpSpPr>
        <p:grpSpPr>
          <a:xfrm>
            <a:off x="472440" y="4191952"/>
            <a:ext cx="11186160" cy="1808798"/>
            <a:chOff x="472440" y="4191952"/>
            <a:chExt cx="11186160" cy="1808798"/>
          </a:xfrm>
        </p:grpSpPr>
        <p:sp>
          <p:nvSpPr>
            <p:cNvPr id="17" name="TextBox 17"/>
            <p:cNvSpPr txBox="1"/>
            <p:nvPr/>
          </p:nvSpPr>
          <p:spPr>
            <a:xfrm>
              <a:off x="520065" y="4191952"/>
              <a:ext cx="60407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HINT: Executable Hardware-Intent Representation Layer · 2026 · 2608.07625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2440" y="4530090"/>
              <a:ext cx="1336472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7/7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8160" y="5261610"/>
              <a:ext cx="21073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经意图层：7 个算子都得到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8160" y="5490210"/>
              <a:ext cx="19495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合约合规、可综合的 RTL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49040" y="4530090"/>
              <a:ext cx="3213506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5/5 · 1/5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94760" y="5261610"/>
              <a:ext cx="2685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直接 C→RTL 5/5（适用的 5 个）；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94760" y="5490210"/>
              <a:ext cx="34568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C2HLSC 1/5。面积比直接生成小 8.9%–86.1%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191500" y="4476750"/>
              <a:ext cx="3467100" cy="1524000"/>
            </a:xfrm>
            <a:prstGeom prst="roundRect">
              <a:avLst>
                <a:gd name="adj" fmla="val 5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67712" y="4679156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留给我们的位置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67712" y="4983956"/>
              <a:ext cx="25506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HINT 的意图层到算子 / VPU 为止；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67712" y="5231606"/>
              <a:ext cx="26492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多 warp 发射、stall、隐式 SB 这类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67712" y="547925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周期级时序契约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不在它的表示里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22922" y="6521291"/>
            <a:ext cx="11146155" cy="167640"/>
            <a:chOff x="522922" y="6521291"/>
            <a:chExt cx="11146155" cy="167640"/>
          </a:xfrm>
        </p:grpSpPr>
        <p:sp>
          <p:nvSpPr>
            <p:cNvPr id="30" name="TextBox 30"/>
            <p:cNvSpPr txBox="1"/>
            <p:nvPr/>
          </p:nvSpPr>
          <p:spPr>
            <a:xfrm>
              <a:off x="522922" y="6521291"/>
              <a:ext cx="21536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AI 生成 RTL 综述 · 2026-10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81852" y="6521291"/>
              <a:ext cx="872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8275832" cy="678656"/>
            <a:chOff x="533400" y="419100"/>
            <a:chExt cx="8275832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811390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路线四：参考模型 + 形式等价——"模型就够"的对照组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66008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把软件模型当可执行规格，用等价检查兜底；对数据通路有效，控制与时序契约不在范围内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33400" y="1333500"/>
            <a:ext cx="11125200" cy="876300"/>
            <a:chOff x="533400" y="1333500"/>
            <a:chExt cx="11125200" cy="876300"/>
          </a:xfrm>
        </p:grpSpPr>
        <p:sp>
          <p:nvSpPr>
            <p:cNvPr id="7" name="Rectangle 7"/>
            <p:cNvSpPr/>
            <p:nvPr/>
          </p:nvSpPr>
          <p:spPr>
            <a:xfrm>
              <a:off x="533400" y="1333500"/>
              <a:ext cx="2095500" cy="876300"/>
            </a:xfrm>
            <a:prstGeom prst="roundRect">
              <a:avLst>
                <a:gd name="adj" fmla="val 8696"/>
              </a:avLst>
            </a:prstGeom>
            <a:solidFill>
              <a:srgbClr val="F4F6F9"/>
            </a:solidFill>
            <a:ln w="9525">
              <a:solidFill>
                <a:srgbClr val="D8DEE6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52475" y="1543050"/>
              <a:ext cx="171450" cy="152400"/>
              <a:chOff x="752475" y="1543050"/>
              <a:chExt cx="171450" cy="1524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52475" y="1581150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38100" y="0"/>
                    </a:moveTo>
                    <a:lnTo>
                      <a:pt x="0" y="38100"/>
                    </a:lnTo>
                    <a:lnTo>
                      <a:pt x="38100" y="7620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85825" y="1581150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0"/>
                    </a:moveTo>
                    <a:lnTo>
                      <a:pt x="38100" y="38100"/>
                    </a:ln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19150" y="1543050"/>
                <a:ext cx="381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52400">
                    <a:moveTo>
                      <a:pt x="3810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12508" y="1548289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软件参考模型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0565" y="1905952"/>
              <a:ext cx="18208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C / C++ / Python / Dafny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2628900" y="1771650"/>
              <a:ext cx="495300" cy="1"/>
            </a:xfrm>
            <a:prstGeom prst="line">
              <a:avLst/>
            </a:prstGeom>
            <a:noFill/>
            <a:ln w="19050">
              <a:solidFill>
                <a:srgbClr val="1F3A5F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200400" y="1333500"/>
              <a:ext cx="2095500" cy="876300"/>
            </a:xfrm>
            <a:prstGeom prst="roundRect">
              <a:avLst>
                <a:gd name="adj" fmla="val 8696"/>
              </a:avLst>
            </a:prstGeom>
            <a:solidFill>
              <a:srgbClr val="F4F6F9"/>
            </a:solidFill>
            <a:ln w="9525">
              <a:solidFill>
                <a:srgbClr val="D8DEE6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3438525" y="1524000"/>
              <a:ext cx="133350" cy="180975"/>
              <a:chOff x="3438525" y="1524000"/>
              <a:chExt cx="133350" cy="18097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3448050" y="15430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95250" y="0"/>
                    </a:lnTo>
                    <a:cubicBezTo>
                      <a:pt x="105771" y="0"/>
                      <a:pt x="114300" y="8529"/>
                      <a:pt x="114300" y="19050"/>
                    </a:cubicBezTo>
                    <a:lnTo>
                      <a:pt x="114300" y="57150"/>
                    </a:lnTo>
                    <a:cubicBezTo>
                      <a:pt x="114300" y="67671"/>
                      <a:pt x="105771" y="76200"/>
                      <a:pt x="95250" y="76200"/>
                    </a:cubicBezTo>
                    <a:lnTo>
                      <a:pt x="19050" y="76200"/>
                    </a:lnTo>
                    <a:cubicBezTo>
                      <a:pt x="8529" y="76200"/>
                      <a:pt x="0" y="67671"/>
                      <a:pt x="0" y="571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505200" y="152400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476625" y="1619250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533775" y="1619250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438525" y="1638300"/>
                <a:ext cx="381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9050">
                    <a:moveTo>
                      <a:pt x="0" y="1905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533775" y="1638300"/>
                <a:ext cx="381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9050">
                    <a:moveTo>
                      <a:pt x="0" y="0"/>
                    </a:moveTo>
                    <a:lnTo>
                      <a:pt x="38100" y="1905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476625" y="167640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486150" y="1581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524250" y="1581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3679508" y="1548289"/>
              <a:ext cx="139128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LLM / HLS 生成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77565" y="1905952"/>
              <a:ext cx="10541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planning → RTL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295900" y="1771650"/>
              <a:ext cx="495300" cy="1"/>
            </a:xfrm>
            <a:prstGeom prst="line">
              <a:avLst/>
            </a:prstGeom>
            <a:noFill/>
            <a:ln w="19050">
              <a:solidFill>
                <a:srgbClr val="1F3A5F"/>
              </a:solidFill>
              <a:tailEnd type="triangle" w="lg" len="lg"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867400" y="1333500"/>
              <a:ext cx="2095500" cy="876300"/>
            </a:xfrm>
            <a:prstGeom prst="roundRect">
              <a:avLst>
                <a:gd name="adj" fmla="val 8696"/>
              </a:avLst>
            </a:prstGeom>
            <a:solidFill>
              <a:srgbClr val="F4F6F9"/>
            </a:solidFill>
            <a:ln w="9525">
              <a:solidFill>
                <a:srgbClr val="D8DEE6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096000" y="1533525"/>
              <a:ext cx="152400" cy="171450"/>
              <a:chOff x="6096000" y="1533525"/>
              <a:chExt cx="152400" cy="17145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096000" y="15430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210300" y="16573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162675" y="1562100"/>
                <a:ext cx="666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0">
                    <a:moveTo>
                      <a:pt x="0" y="0"/>
                    </a:moveTo>
                    <a:lnTo>
                      <a:pt x="47625" y="0"/>
                    </a:lnTo>
                    <a:cubicBezTo>
                      <a:pt x="58146" y="0"/>
                      <a:pt x="66675" y="8529"/>
                      <a:pt x="66675" y="19050"/>
                    </a:cubicBezTo>
                    <a:lnTo>
                      <a:pt x="66675" y="9525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162675" y="1533525"/>
                <a:ext cx="285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57150">
                    <a:moveTo>
                      <a:pt x="28575" y="57150"/>
                    </a:moveTo>
                    <a:lnTo>
                      <a:pt x="0" y="28575"/>
                    </a:ln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115050" y="1581150"/>
                <a:ext cx="666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0">
                    <a:moveTo>
                      <a:pt x="66675" y="95250"/>
                    </a:moveTo>
                    <a:lnTo>
                      <a:pt x="19050" y="95250"/>
                    </a:lnTo>
                    <a:cubicBezTo>
                      <a:pt x="8529" y="95250"/>
                      <a:pt x="0" y="86721"/>
                      <a:pt x="0" y="7620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153150" y="1647825"/>
                <a:ext cx="285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57150">
                    <a:moveTo>
                      <a:pt x="0" y="0"/>
                    </a:moveTo>
                    <a:lnTo>
                      <a:pt x="28575" y="28575"/>
                    </a:ln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346508" y="1548289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等价检查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44565" y="19059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反例回灌修复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267700" y="1333500"/>
              <a:ext cx="33909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4288">
              <a:solidFill>
                <a:srgbClr val="C6282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43912" y="1535906"/>
              <a:ext cx="24931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看不到的：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哪一级、谁拥有状态、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43912" y="1783556"/>
              <a:ext cx="25178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发射间隔、stall、事件晚 1 拍可见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33400" y="2476500"/>
            <a:ext cx="11125200" cy="2505075"/>
            <a:chOff x="533400" y="2476500"/>
            <a:chExt cx="11125200" cy="2505075"/>
          </a:xfrm>
        </p:grpSpPr>
        <p:sp>
          <p:nvSpPr>
            <p:cNvPr id="43" name="Rectangle 43"/>
            <p:cNvSpPr/>
            <p:nvPr/>
          </p:nvSpPr>
          <p:spPr>
            <a:xfrm>
              <a:off x="533400" y="2476500"/>
              <a:ext cx="11125200" cy="36195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1512" y="2593181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工作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576512" y="2593181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做法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10512" y="2593181"/>
              <a:ext cx="12621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覆盖范围 / 局限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2838450"/>
              <a:ext cx="11125200" cy="5334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0560" y="2956560"/>
              <a:ext cx="9321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FormalRTL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4370" y="3179445"/>
              <a:ext cx="7458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2603.08738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576512" y="3040856"/>
              <a:ext cx="45223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软件参考模型作形式规格，多 agent：规划 + 生成 + 形式等价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10512" y="304085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工业级数据通路（自述）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0560" y="3489960"/>
              <a:ext cx="11530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AutoVeriFix+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4370" y="371284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2603.11489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576512" y="3574256"/>
              <a:ext cx="47852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Python 参考模型 + concolic 周期轨迹，定位并修复状态转移错误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10512" y="357425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有周期轨迹，但时序由模型给定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400" y="3905250"/>
              <a:ext cx="11125200" cy="5334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0560" y="4023360"/>
              <a:ext cx="15486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C2HLSC / HLSmith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4370" y="4246245"/>
              <a:ext cx="1587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2406.09233 · 2608.06791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576512" y="4107656"/>
              <a:ext cx="38651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LLM 把 C 改写成可综合的 HLS C，时序交给 HLS 调度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10512" y="4107656"/>
              <a:ext cx="20741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流水结构不由人或 LLM 决定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70560" y="4556760"/>
              <a:ext cx="8125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SymRTLO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74370" y="4779645"/>
              <a:ext cx="16659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NeurIPS 2025 · 2504.10369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576512" y="4641056"/>
              <a:ext cx="37501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LLM 重写 RTL 做 PPA 优化，等价检查保证行为不变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910512" y="4641056"/>
              <a:ext cx="20166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最像我们的"保持行为重构"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533400" y="49720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</p:grpSp>
      <p:grpSp>
        <p:nvGrpSpPr>
          <p:cNvPr id="74" name="Group 74"/>
          <p:cNvGrpSpPr/>
          <p:nvPr/>
        </p:nvGrpSpPr>
        <p:grpSpPr>
          <a:xfrm>
            <a:off x="533400" y="5181600"/>
            <a:ext cx="11125200" cy="952500"/>
            <a:chOff x="533400" y="5181600"/>
            <a:chExt cx="11125200" cy="952500"/>
          </a:xfrm>
        </p:grpSpPr>
        <p:sp>
          <p:nvSpPr>
            <p:cNvPr id="67" name="Rectangle 67"/>
            <p:cNvSpPr/>
            <p:nvPr/>
          </p:nvSpPr>
          <p:spPr>
            <a:xfrm>
              <a:off x="533400" y="5181600"/>
              <a:ext cx="1112520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E07A1F"/>
              </a:solidFill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92956" y="5422106"/>
              <a:ext cx="185738" cy="185738"/>
              <a:chOff x="792956" y="5422106"/>
              <a:chExt cx="185738" cy="185738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875506" y="5504656"/>
                <a:ext cx="20637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8">
                    <a:moveTo>
                      <a:pt x="0" y="10319"/>
                    </a:moveTo>
                    <a:cubicBezTo>
                      <a:pt x="0" y="16018"/>
                      <a:pt x="4620" y="20638"/>
                      <a:pt x="10319" y="20638"/>
                    </a:cubicBezTo>
                    <a:cubicBezTo>
                      <a:pt x="16018" y="20638"/>
                      <a:pt x="20637" y="16018"/>
                      <a:pt x="20637" y="10319"/>
                    </a:cubicBezTo>
                    <a:cubicBezTo>
                      <a:pt x="20637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34231" y="5463381"/>
                <a:ext cx="103187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03187" h="103187">
                    <a:moveTo>
                      <a:pt x="0" y="51594"/>
                    </a:moveTo>
                    <a:cubicBezTo>
                      <a:pt x="0" y="80088"/>
                      <a:pt x="23099" y="103187"/>
                      <a:pt x="51594" y="103187"/>
                    </a:cubicBezTo>
                    <a:cubicBezTo>
                      <a:pt x="80088" y="103187"/>
                      <a:pt x="103187" y="80088"/>
                      <a:pt x="103187" y="51594"/>
                    </a:cubicBezTo>
                    <a:cubicBezTo>
                      <a:pt x="103187" y="23099"/>
                      <a:pt x="80088" y="0"/>
                      <a:pt x="51594" y="0"/>
                    </a:cubicBezTo>
                    <a:cubicBezTo>
                      <a:pt x="23099" y="0"/>
                      <a:pt x="0" y="23099"/>
                      <a:pt x="0" y="51594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92956" y="54221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127760" y="5433060"/>
              <a:ext cx="49903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这正是我们消融里的 </a:t>
              </a:r>
              <a:r>
                <a:rPr lang="zh-CN" sz="1200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model</a:t>
              </a:r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条件：给性能模型，不给结构框架。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27760" y="5718810"/>
              <a:ext cx="84517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预期它在 subcore 上能对齐功能，但会漏掉"同 warp 发射间隔 ≥ 2"这类契约——和 G2 首轮的失败模式一致。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22922" y="6521291"/>
            <a:ext cx="11146155" cy="167640"/>
            <a:chOff x="522922" y="6521291"/>
            <a:chExt cx="11146155" cy="167640"/>
          </a:xfrm>
        </p:grpSpPr>
        <p:sp>
          <p:nvSpPr>
            <p:cNvPr id="75" name="TextBox 75"/>
            <p:cNvSpPr txBox="1"/>
            <p:nvPr/>
          </p:nvSpPr>
          <p:spPr>
            <a:xfrm>
              <a:off x="522922" y="6521291"/>
              <a:ext cx="21536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AI 生成 RTL 综述 · 2026-10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81852" y="6521291"/>
              <a:ext cx="872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66" grpId="0"/>
      <p:bldP spid="7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8896910" cy="678656"/>
            <a:chOff x="533400" y="419100"/>
            <a:chExt cx="8896910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873498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验证线：LLM 看不出跨周期行为，断言依附信号而非结构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57546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三类工作都把模块当黑盒；SeqFeed / DUET 直接证明时序信息是 agent 的短板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19112" y="1257300"/>
            <a:ext cx="3519488" cy="2645569"/>
            <a:chOff x="519112" y="1257300"/>
            <a:chExt cx="3519488" cy="2645569"/>
          </a:xfrm>
        </p:grpSpPr>
        <p:sp>
          <p:nvSpPr>
            <p:cNvPr id="7" name="Rectangle 7"/>
            <p:cNvSpPr/>
            <p:nvPr/>
          </p:nvSpPr>
          <p:spPr>
            <a:xfrm>
              <a:off x="533400" y="1257300"/>
              <a:ext cx="3505200" cy="381000"/>
            </a:xfrm>
            <a:prstGeom prst="roundRect">
              <a:avLst>
                <a:gd name="adj" fmla="val 20000"/>
              </a:avLst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7708" y="1367314"/>
              <a:ext cx="14206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断言 / SVA 生成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9112" y="1821656"/>
              <a:ext cx="9170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AssertLLM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1018" y="2047399"/>
              <a:ext cx="23885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2402.00386 · 规格 → 结构抽取 → SVA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9112" y="2374106"/>
              <a:ext cx="5547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FVEval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1018" y="2599849"/>
              <a:ext cx="23529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NVIDIA · 2410.23299 · 形式验证基准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9112" y="2926556"/>
              <a:ext cx="21333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AssertionBench / HierSVA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1018" y="3152299"/>
              <a:ext cx="2701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2406.18627 · 2606.13706 · 开始考虑层次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9112" y="3479006"/>
              <a:ext cx="1581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AutoSVA（非 LLM）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1018" y="3704749"/>
              <a:ext cx="30507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Princeton · 2104.04003 · 按接口事务定义属性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329112" y="1257300"/>
            <a:ext cx="3519488" cy="2645569"/>
            <a:chOff x="4329112" y="1257300"/>
            <a:chExt cx="3519488" cy="2645569"/>
          </a:xfrm>
        </p:grpSpPr>
        <p:sp>
          <p:nvSpPr>
            <p:cNvPr id="18" name="Rectangle 18"/>
            <p:cNvSpPr/>
            <p:nvPr/>
          </p:nvSpPr>
          <p:spPr>
            <a:xfrm>
              <a:off x="4343400" y="1257300"/>
              <a:ext cx="3505200" cy="381000"/>
            </a:xfrm>
            <a:prstGeom prst="roundRect">
              <a:avLst>
                <a:gd name="adj" fmla="val 20000"/>
              </a:avLst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17708" y="1367314"/>
              <a:ext cx="161613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testbench / 调试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29112" y="1821656"/>
              <a:ext cx="30218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LLM4DV · AutoBench · CorrectBench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31018" y="2047399"/>
              <a:ext cx="20753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激励 / testbench 生成与自校正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29112" y="2374106"/>
              <a:ext cx="6927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FVDebug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31018" y="2599849"/>
              <a:ext cx="24740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NVIDIA · 2510.15906 · 反例 → 因果 DAG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29112" y="2926556"/>
              <a:ext cx="8394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Veri-Sure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31018" y="3152299"/>
              <a:ext cx="26235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2601.19747 · "设计契约"= 接口 / 功能级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29112" y="3479006"/>
              <a:ext cx="13656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SpecLoop · NoTB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31018" y="3704749"/>
              <a:ext cx="2502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等价检查 / 多模型共识代替 testbench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139112" y="1257300"/>
            <a:ext cx="3519488" cy="2093119"/>
            <a:chOff x="8139112" y="1257300"/>
            <a:chExt cx="3519488" cy="2093119"/>
          </a:xfrm>
        </p:grpSpPr>
        <p:sp>
          <p:nvSpPr>
            <p:cNvPr id="29" name="Rectangle 29"/>
            <p:cNvSpPr/>
            <p:nvPr/>
          </p:nvSpPr>
          <p:spPr>
            <a:xfrm>
              <a:off x="8153400" y="1257300"/>
              <a:ext cx="3505200" cy="381000"/>
            </a:xfrm>
            <a:prstGeom prst="roundRect">
              <a:avLst>
                <a:gd name="adj" fmla="val 20000"/>
              </a:avLst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27708" y="1367314"/>
              <a:ext cx="2408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波形 / 时序反馈（最相关）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39112" y="1821656"/>
              <a:ext cx="6927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SeqFeed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41018" y="2047399"/>
              <a:ext cx="29724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2608.16934 · SQL 式波形查询 + 跨周期依赖图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39112" y="2374106"/>
              <a:ext cx="4081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DUET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41018" y="2599849"/>
              <a:ext cx="28727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2512.06247 · agent 提假设，仿真 / FV 验证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39112" y="2926556"/>
              <a:ext cx="16071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Back to the Future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41018" y="3152299"/>
              <a:ext cx="31005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2610.06790 · 仿真 dump 进 SQLite 供 agent 查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33400" y="4152900"/>
            <a:ext cx="11125200" cy="914400"/>
            <a:chOff x="533400" y="4152900"/>
            <a:chExt cx="11125200" cy="914400"/>
          </a:xfrm>
        </p:grpSpPr>
        <p:sp>
          <p:nvSpPr>
            <p:cNvPr id="38" name="Rectangle 38"/>
            <p:cNvSpPr/>
            <p:nvPr/>
          </p:nvSpPr>
          <p:spPr>
            <a:xfrm>
              <a:off x="533400" y="4152900"/>
              <a:ext cx="11125200" cy="914400"/>
            </a:xfrm>
            <a:prstGeom prst="roundRect">
              <a:avLst>
                <a:gd name="adj" fmla="val 8333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7712" y="4374356"/>
              <a:ext cx="20248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SeqFeed 摘要原话（意译）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4855" y="4673918"/>
              <a:ext cx="77435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RTL 代码不暴露某次执行的周期级行为，完整波形又太大太杂——</a:t>
              </a:r>
              <a:r>
                <a:rPr lang="zh-CN" sz="13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时序信息很难传给 agent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61975" y="5362575"/>
            <a:ext cx="6831711" cy="523875"/>
            <a:chOff x="561975" y="5362575"/>
            <a:chExt cx="6831711" cy="523875"/>
          </a:xfrm>
        </p:grpSpPr>
        <p:grpSp>
          <p:nvGrpSpPr>
            <p:cNvPr id="45" name="Group 45"/>
            <p:cNvGrpSpPr/>
            <p:nvPr/>
          </p:nvGrpSpPr>
          <p:grpSpPr>
            <a:xfrm>
              <a:off x="561975" y="5362575"/>
              <a:ext cx="171450" cy="171450"/>
              <a:chOff x="561975" y="5362575"/>
              <a:chExt cx="171450" cy="17145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561975" y="5362575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9525" y="85725"/>
                    </a:lnTo>
                    <a:moveTo>
                      <a:pt x="85725" y="0"/>
                    </a:moveTo>
                    <a:lnTo>
                      <a:pt x="85725" y="9525"/>
                    </a:lnTo>
                    <a:moveTo>
                      <a:pt x="161925" y="85725"/>
                    </a:moveTo>
                    <a:lnTo>
                      <a:pt x="171450" y="85725"/>
                    </a:lnTo>
                    <a:moveTo>
                      <a:pt x="24765" y="24765"/>
                    </a:moveTo>
                    <a:lnTo>
                      <a:pt x="31432" y="31432"/>
                    </a:lnTo>
                    <a:moveTo>
                      <a:pt x="146685" y="24765"/>
                    </a:moveTo>
                    <a:lnTo>
                      <a:pt x="140018" y="31432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596037" y="5400675"/>
                <a:ext cx="10332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3327" h="133350">
                    <a:moveTo>
                      <a:pt x="23088" y="85725"/>
                    </a:moveTo>
                    <a:cubicBezTo>
                      <a:pt x="6689" y="73425"/>
                      <a:pt x="0" y="52012"/>
                      <a:pt x="6482" y="32565"/>
                    </a:cubicBezTo>
                    <a:cubicBezTo>
                      <a:pt x="12965" y="13117"/>
                      <a:pt x="31164" y="0"/>
                      <a:pt x="51663" y="0"/>
                    </a:cubicBezTo>
                    <a:cubicBezTo>
                      <a:pt x="72163" y="0"/>
                      <a:pt x="90362" y="13117"/>
                      <a:pt x="96845" y="32565"/>
                    </a:cubicBezTo>
                    <a:cubicBezTo>
                      <a:pt x="103327" y="52012"/>
                      <a:pt x="96638" y="73425"/>
                      <a:pt x="80238" y="85725"/>
                    </a:cubicBezTo>
                    <a:cubicBezTo>
                      <a:pt x="72696" y="93191"/>
                      <a:pt x="69159" y="103802"/>
                      <a:pt x="70713" y="114300"/>
                    </a:cubicBezTo>
                    <a:cubicBezTo>
                      <a:pt x="70713" y="124821"/>
                      <a:pt x="62184" y="133350"/>
                      <a:pt x="51663" y="133350"/>
                    </a:cubicBezTo>
                    <a:cubicBezTo>
                      <a:pt x="41142" y="133350"/>
                      <a:pt x="32613" y="124821"/>
                      <a:pt x="32613" y="114300"/>
                    </a:cubicBezTo>
                    <a:cubicBezTo>
                      <a:pt x="34168" y="103802"/>
                      <a:pt x="30631" y="93191"/>
                      <a:pt x="23088" y="85725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25792" y="5495925"/>
                <a:ext cx="4381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9525">
                    <a:moveTo>
                      <a:pt x="0" y="0"/>
                    </a:moveTo>
                    <a:lnTo>
                      <a:pt x="43815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861060" y="5375910"/>
              <a:ext cx="65326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它们按"信号"组织反馈；我们有结构框架，可以按</a:t>
              </a:r>
              <a:r>
                <a:rPr lang="zh-CN" sz="12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流水级和事件通道</a:t>
              </a:r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组织反馈与断言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1060" y="5642610"/>
              <a:ext cx="64187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（例如"S2 发射 → +1 拍 ev_head_consumed"）。SeqFeed 可作验证侧 baseline。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22922" y="6521291"/>
            <a:ext cx="11146155" cy="167640"/>
            <a:chOff x="522922" y="6521291"/>
            <a:chExt cx="11146155" cy="167640"/>
          </a:xfrm>
        </p:grpSpPr>
        <p:sp>
          <p:nvSpPr>
            <p:cNvPr id="49" name="TextBox 49"/>
            <p:cNvSpPr txBox="1"/>
            <p:nvPr/>
          </p:nvSpPr>
          <p:spPr>
            <a:xfrm>
              <a:off x="522922" y="6521291"/>
              <a:ext cx="21536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AI 生成 RTL 综述 · 2026-10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81852" y="6521291"/>
              <a:ext cx="872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8" grpId="0"/>
      <p:bldP spid="37" grpId="0"/>
      <p:bldP spid="41" grpId="0"/>
      <p:bldP spid="4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6949559" cy="678656"/>
            <a:chOff x="533400" y="419100"/>
            <a:chExt cx="6949559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661296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时序契约语言：已能写成类型，但只给人用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67733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PL 社区把"流水级"和"信号何时有效"做成一等结构；没有一篇研究 LLM 会怎样违反这类契约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21018" y="1257300"/>
            <a:ext cx="7441882" cy="3979069"/>
            <a:chOff x="521018" y="1257300"/>
            <a:chExt cx="7441882" cy="3979069"/>
          </a:xfrm>
        </p:grpSpPr>
        <p:sp>
          <p:nvSpPr>
            <p:cNvPr id="7" name="Rectangle 7"/>
            <p:cNvSpPr/>
            <p:nvPr/>
          </p:nvSpPr>
          <p:spPr>
            <a:xfrm>
              <a:off x="533400" y="1257300"/>
              <a:ext cx="7429500" cy="36195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1512" y="1373981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语言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86012" y="1373981"/>
              <a:ext cx="1581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把什么做成一等结构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15012" y="1373981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边界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1619250"/>
              <a:ext cx="7429500" cy="6477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0560" y="1756410"/>
              <a:ext cx="4445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Anvil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4370" y="1998345"/>
              <a:ext cx="16527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ASPLOS 2026 · 2503.19447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86965" y="177260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模块间时序契约写进类型，静态排除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86965" y="198215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时序冒险；可按运行时事件参数化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15965" y="1772602"/>
              <a:ext cx="11844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最贴近动态 stall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15965" y="1982152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无 LLM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0560" y="2404110"/>
              <a:ext cx="7849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Filament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4370" y="2646045"/>
              <a:ext cx="14490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PLDI 2023 · 2304.10646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86965" y="2420302"/>
              <a:ext cx="23499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timeline 类型：每个信号在哪几拍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86965" y="26298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有效，编译期检查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15965" y="242030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只覆盖静态调度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15965" y="2629852"/>
              <a:ext cx="14068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不含 warp 动态发射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2914650"/>
              <a:ext cx="7429500" cy="6477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0560" y="3051810"/>
              <a:ext cx="3341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PDL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4370" y="3293745"/>
              <a:ext cx="1987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Cornell · PLDI 2022（会议待核）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86965" y="3068002"/>
              <a:ext cx="23882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按顺序语义写，自动生成带 stall /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86965" y="327755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冒险处理的流水线；级是语法单位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15965" y="306800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面向处理器流水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815965" y="3277552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无 LLM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0560" y="3699510"/>
              <a:ext cx="490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Kôika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4370" y="3941445"/>
              <a:ext cx="9692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MIT · PLDI 2020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386965" y="3715702"/>
              <a:ext cx="23192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规则式 HDL，带周期级调度语义，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86965" y="3925252"/>
              <a:ext cx="6324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Coq 证明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15965" y="3715702"/>
              <a:ext cx="10157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Bluespec 一脉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815965" y="3925252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无 LLM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210050"/>
              <a:ext cx="7429500" cy="6477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0560" y="4347210"/>
              <a:ext cx="18155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Latency-insensitive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4370" y="4589145"/>
              <a:ext cx="17250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Carloni · TCAD 2001（待核）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386965" y="4363402"/>
              <a:ext cx="23959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valid / ready 通道让正确性与延迟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386965" y="457295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无关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815965" y="4363402"/>
              <a:ext cx="11154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"队列是桥梁"的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815965" y="45729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理论来源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1018" y="5038249"/>
              <a:ext cx="6297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ReChisel / ChiseLLM：LLM 生成 Chisel，只换语法层，不带结构契约（2505.19734 · 2504.19144）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267700" y="1257300"/>
            <a:ext cx="3390900" cy="4876800"/>
            <a:chOff x="8267700" y="1257300"/>
            <a:chExt cx="3390900" cy="4876800"/>
          </a:xfrm>
        </p:grpSpPr>
        <p:sp>
          <p:nvSpPr>
            <p:cNvPr id="46" name="Rectangle 46"/>
            <p:cNvSpPr/>
            <p:nvPr/>
          </p:nvSpPr>
          <p:spPr>
            <a:xfrm>
              <a:off x="8267700" y="1257300"/>
              <a:ext cx="3390900" cy="4876800"/>
            </a:xfrm>
            <a:prstGeom prst="roundRect">
              <a:avLst>
                <a:gd name="adj" fmla="val 2247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8527256" y="1497806"/>
              <a:ext cx="185738" cy="185738"/>
              <a:chOff x="8527256" y="1497806"/>
              <a:chExt cx="185738" cy="185738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527256" y="14978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620125" y="1539081"/>
                <a:ext cx="30956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82550">
                    <a:moveTo>
                      <a:pt x="0" y="0"/>
                    </a:moveTo>
                    <a:lnTo>
                      <a:pt x="0" y="51594"/>
                    </a:lnTo>
                    <a:lnTo>
                      <a:pt x="30956" y="8255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8823008" y="1519714"/>
              <a:ext cx="14010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我们遇到的契约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82012" y="1916906"/>
              <a:ext cx="10554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原 RTL 隐含：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82012" y="2164556"/>
              <a:ext cx="24438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同一 warp 两次发射间隔 ≥ 2 拍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82965" y="25155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依赖它的地方：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82965" y="2744152"/>
              <a:ext cx="13608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ITS 推进读寄存后的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82965" y="2953702"/>
              <a:ext cx="15141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sched_issue_valid_q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482965" y="3163252"/>
              <a:ext cx="24496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bra_hold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来自寄存的 </a:t>
              </a:r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bra_state_q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8496300" y="350520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482965" y="3658552"/>
              <a:ext cx="18208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用 Filament 式写法会是：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496300" y="3905250"/>
              <a:ext cx="2933700" cy="609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598218" y="4047649"/>
              <a:ext cx="1007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issue[w] @ t ⇒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98218" y="4257199"/>
              <a:ext cx="10856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¬issue[w] @ t+1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482965" y="4706302"/>
              <a:ext cx="21122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2 项 FIFO 有意打破它；若契约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482965" y="4934902"/>
              <a:ext cx="23499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是显式的，依赖方会在编译 / 断言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82965" y="51635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时报出，而不是等端到端用例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482965" y="5544502"/>
              <a:ext cx="19129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空白：契约语言 × LLM 生成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482965" y="577310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两条线还没有交叉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22922" y="6521291"/>
            <a:ext cx="11146156" cy="167640"/>
            <a:chOff x="522922" y="6521291"/>
            <a:chExt cx="11146156" cy="167640"/>
          </a:xfrm>
        </p:grpSpPr>
        <p:sp>
          <p:nvSpPr>
            <p:cNvPr id="68" name="TextBox 68"/>
            <p:cNvSpPr txBox="1"/>
            <p:nvPr/>
          </p:nvSpPr>
          <p:spPr>
            <a:xfrm>
              <a:off x="522922" y="6521291"/>
              <a:ext cx="21536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AI 生成 RTL 综述 · 2026-10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45705" y="652129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6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7516737" cy="678656"/>
            <a:chOff x="533400" y="419100"/>
            <a:chExt cx="7516737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735481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断言 / 不变量挖掘：工具成熟，但缺微架构先验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63461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从仿真轨迹挖时序断言已有 15 年；模板要靠人先想到，没有人用流水结构约束搜索空间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1018" y="1601152"/>
            <a:ext cx="11133457" cy="1349217"/>
            <a:chOff x="521018" y="1601152"/>
            <a:chExt cx="11133457" cy="1349217"/>
          </a:xfrm>
        </p:grpSpPr>
        <p:sp>
          <p:nvSpPr>
            <p:cNvPr id="7" name="Line 7"/>
            <p:cNvSpPr/>
            <p:nvPr/>
          </p:nvSpPr>
          <p:spPr>
            <a:xfrm>
              <a:off x="762000" y="20002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28575">
              <a:solidFill>
                <a:srgbClr val="D8DEE6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247775" y="1914525"/>
              <a:ext cx="171450" cy="17145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51477" y="1601152"/>
              <a:ext cx="3640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2005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2226" y="219456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IODINE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6603" y="2428399"/>
              <a:ext cx="12137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Daikon 式用于硬件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152775" y="1914525"/>
              <a:ext cx="171450" cy="17145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075646" y="1601152"/>
              <a:ext cx="325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2010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46013" y="2194560"/>
              <a:ext cx="7849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GoldMine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45843" y="2428399"/>
              <a:ext cx="11853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决策树 + 静态分析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057775" y="1914525"/>
              <a:ext cx="171450" cy="171450"/>
            </a:xfrm>
            <a:prstGeom prst="ellipse">
              <a:avLst/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769787" y="1601152"/>
              <a:ext cx="7474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2017–2022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79579" y="2194560"/>
              <a:ext cx="13278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A-TEAM · HARM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77367" y="2428399"/>
              <a:ext cx="21322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模板 + 提示挖 LTL（TCAD 2022）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153275" y="1914525"/>
              <a:ext cx="171450" cy="171450"/>
            </a:xfrm>
            <a:prstGeom prst="ellipse">
              <a:avLst/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46118" y="1601152"/>
              <a:ext cx="7857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2020–2026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40450" y="2194560"/>
              <a:ext cx="17971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FlowMiner · Isadora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78703" y="2428399"/>
              <a:ext cx="1320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SoC 消息流 / 信息流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9058275" y="1914525"/>
              <a:ext cx="171450" cy="171450"/>
            </a:xfrm>
            <a:prstGeom prst="ellipse">
              <a:avLst/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61977" y="1601152"/>
              <a:ext cx="3640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2026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02119" y="2194560"/>
              <a:ext cx="6837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GR1MINE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22221" y="2428399"/>
              <a:ext cx="8435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SAT 学 GR(1)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10848975" y="1895475"/>
              <a:ext cx="209550" cy="209550"/>
            </a:xfrm>
            <a:prstGeom prst="ellipse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771727" y="1601152"/>
              <a:ext cx="3640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2026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53024" y="2194560"/>
              <a:ext cx="14014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NeuroAssertion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42972" y="24283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LLM + 轨迹挖掘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1018" y="2752249"/>
              <a:ext cx="90101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IODINE、GoldMine、A-TEAM 的年份与会议凭记忆，未在线核实；HARM 已通过仓库与 DOI 确认；NeuroAssertion：MLCAD 2026 · 2608.18482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33400" y="3162300"/>
            <a:ext cx="5334000" cy="2971800"/>
            <a:chOff x="533400" y="3162300"/>
            <a:chExt cx="5334000" cy="2971800"/>
          </a:xfrm>
        </p:grpSpPr>
        <p:sp>
          <p:nvSpPr>
            <p:cNvPr id="34" name="Rectangle 34"/>
            <p:cNvSpPr/>
            <p:nvPr/>
          </p:nvSpPr>
          <p:spPr>
            <a:xfrm>
              <a:off x="533400" y="3162300"/>
              <a:ext cx="5334000" cy="2971800"/>
            </a:xfrm>
            <a:prstGeom prst="roundRect">
              <a:avLst>
                <a:gd name="adj" fmla="val 2564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4855" y="33594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现有做法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7712" y="3745706"/>
              <a:ext cx="27067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候选空间 = 所有信号 × 通用时序模板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7712" y="4031456"/>
              <a:ext cx="2624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HARM 需要用户给"提示"，才能挖到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7712" y="4260056"/>
              <a:ext cx="23452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"同 warp 不连续发射"这类断言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7712" y="4545806"/>
              <a:ext cx="28710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NeuroAssertion：形式探索生成轨迹 →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7712" y="4774406"/>
              <a:ext cx="30435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SyGuS 挖掘 → LLM 修复，但不读设计结构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8665" y="5220652"/>
              <a:ext cx="29863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10 万个信号的 subcore：候选爆炸，误报多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8665" y="5468302"/>
              <a:ext cx="3109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挖出的断言也不知道"该不该被这次重构打破"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172200" y="3162300"/>
            <a:ext cx="5486400" cy="2971800"/>
            <a:chOff x="6172200" y="3162300"/>
            <a:chExt cx="5486400" cy="2971800"/>
          </a:xfrm>
        </p:grpSpPr>
        <p:sp>
          <p:nvSpPr>
            <p:cNvPr id="44" name="Rectangle 44"/>
            <p:cNvSpPr/>
            <p:nvPr/>
          </p:nvSpPr>
          <p:spPr>
            <a:xfrm>
              <a:off x="6172200" y="3162300"/>
              <a:ext cx="5486400" cy="2971800"/>
            </a:xfrm>
            <a:prstGeom prst="roundRect">
              <a:avLst>
                <a:gd name="adj" fmla="val 2564"/>
              </a:avLst>
            </a:prstGeom>
            <a:solidFill>
              <a:srgbClr val="FFFFFF"/>
            </a:solidFill>
            <a:ln w="19050">
              <a:solidFill>
                <a:srgbClr val="E07A1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83655" y="3359468"/>
              <a:ext cx="29637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可补的点：结构先验 + 重构意图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86512" y="3745706"/>
              <a:ext cx="35036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1. 按流水级、边界寄存器、事件通道生成模板：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77012" y="3974306"/>
              <a:ext cx="32900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同 warp 事件间隔、A 后 k 拍内必有 B、互斥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86512" y="4317206"/>
              <a:ext cx="38897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2. 在基线波形上挖掘（已有 FST + wave_compare）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86512" y="4660106"/>
              <a:ext cx="1737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3. 按重构意图分两类：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77012" y="4888706"/>
              <a:ext cx="3314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要打破的（发射间隔）/ 必须保持的 → 转断言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86512" y="5231606"/>
              <a:ext cx="29121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4. 新模型上第一个失败的断言 = 依赖点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87465" y="5696902"/>
              <a:ext cx="40751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评估：G2 首轮模型重放，看能否在 iadd3（PASS）里就报出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22922" y="6521291"/>
            <a:ext cx="11146156" cy="167640"/>
            <a:chOff x="522922" y="6521291"/>
            <a:chExt cx="11146156" cy="167640"/>
          </a:xfrm>
        </p:grpSpPr>
        <p:sp>
          <p:nvSpPr>
            <p:cNvPr id="54" name="TextBox 54"/>
            <p:cNvSpPr txBox="1"/>
            <p:nvPr/>
          </p:nvSpPr>
          <p:spPr>
            <a:xfrm>
              <a:off x="522922" y="6521291"/>
              <a:ext cx="21536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AI 生成 RTL 综述 · 2026-10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75828" y="6521291"/>
              <a:ext cx="932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3" grpId="0"/>
      <p:bldP spid="5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7275207" cy="678656"/>
            <a:chOff x="533400" y="419100"/>
            <a:chExt cx="7275207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711328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Benchmark 现状：一到流水线、层次化就断崖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590252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各 benchmark 上已报告的最好结果；指标与设置不同，只看趋势，不能横向比较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07613" y="1333500"/>
            <a:ext cx="9170968" cy="4722019"/>
            <a:chOff x="907613" y="1333500"/>
            <a:chExt cx="9170968" cy="4722019"/>
          </a:xfrm>
        </p:grpSpPr>
        <p:sp>
          <p:nvSpPr>
            <p:cNvPr id="7" name="Line 7"/>
            <p:cNvSpPr/>
            <p:nvPr/>
          </p:nvSpPr>
          <p:spPr>
            <a:xfrm>
              <a:off x="3810000" y="1333500"/>
              <a:ext cx="9525" cy="4419600"/>
            </a:xfrm>
            <a:custGeom>
              <a:avLst/>
              <a:gdLst/>
              <a:ahLst/>
              <a:cxnLst/>
              <a:rect l="l" t="t" r="r" b="b"/>
              <a:pathLst>
                <a:path w="9525" h="4419600">
                  <a:moveTo>
                    <a:pt x="0" y="0"/>
                  </a:moveTo>
                  <a:lnTo>
                    <a:pt x="0" y="441960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334000" y="1333500"/>
              <a:ext cx="9525" cy="4419600"/>
            </a:xfrm>
            <a:custGeom>
              <a:avLst/>
              <a:gdLst/>
              <a:ahLst/>
              <a:cxnLst/>
              <a:rect l="l" t="t" r="r" b="b"/>
              <a:pathLst>
                <a:path w="9525" h="4419600">
                  <a:moveTo>
                    <a:pt x="0" y="0"/>
                  </a:moveTo>
                  <a:lnTo>
                    <a:pt x="0" y="4419600"/>
                  </a:lnTo>
                </a:path>
              </a:pathLst>
            </a:custGeom>
            <a:noFill/>
            <a:ln w="9525">
              <a:solidFill>
                <a:srgbClr val="D8DEE6"/>
              </a:solidFill>
              <a:prstDash val="dash"/>
            </a:ln>
          </p:spPr>
        </p:sp>
        <p:sp>
          <p:nvSpPr>
            <p:cNvPr id="9" name="Line 9"/>
            <p:cNvSpPr/>
            <p:nvPr/>
          </p:nvSpPr>
          <p:spPr>
            <a:xfrm>
              <a:off x="6858000" y="1333500"/>
              <a:ext cx="9525" cy="4419600"/>
            </a:xfrm>
            <a:custGeom>
              <a:avLst/>
              <a:gdLst/>
              <a:ahLst/>
              <a:cxnLst/>
              <a:rect l="l" t="t" r="r" b="b"/>
              <a:pathLst>
                <a:path w="9525" h="4419600">
                  <a:moveTo>
                    <a:pt x="0" y="0"/>
                  </a:moveTo>
                  <a:lnTo>
                    <a:pt x="0" y="4419600"/>
                  </a:lnTo>
                </a:path>
              </a:pathLst>
            </a:custGeom>
            <a:noFill/>
            <a:ln w="9525">
              <a:solidFill>
                <a:srgbClr val="D8DEE6"/>
              </a:solidFill>
              <a:prstDash val="dash"/>
            </a:ln>
          </p:spPr>
        </p:sp>
        <p:sp>
          <p:nvSpPr>
            <p:cNvPr id="10" name="Line 10"/>
            <p:cNvSpPr/>
            <p:nvPr/>
          </p:nvSpPr>
          <p:spPr>
            <a:xfrm>
              <a:off x="8382000" y="1333500"/>
              <a:ext cx="9525" cy="4419600"/>
            </a:xfrm>
            <a:custGeom>
              <a:avLst/>
              <a:gdLst/>
              <a:ahLst/>
              <a:cxnLst/>
              <a:rect l="l" t="t" r="r" b="b"/>
              <a:pathLst>
                <a:path w="9525" h="4419600">
                  <a:moveTo>
                    <a:pt x="0" y="0"/>
                  </a:moveTo>
                  <a:lnTo>
                    <a:pt x="0" y="4419600"/>
                  </a:lnTo>
                </a:path>
              </a:pathLst>
            </a:custGeom>
            <a:noFill/>
            <a:ln w="9525">
              <a:solidFill>
                <a:srgbClr val="D8DEE6"/>
              </a:solidFill>
              <a:prstDash val="dash"/>
            </a:ln>
          </p:spPr>
        </p:sp>
        <p:sp>
          <p:nvSpPr>
            <p:cNvPr id="11" name="Line 11"/>
            <p:cNvSpPr/>
            <p:nvPr/>
          </p:nvSpPr>
          <p:spPr>
            <a:xfrm>
              <a:off x="9906000" y="1333500"/>
              <a:ext cx="9525" cy="4419600"/>
            </a:xfrm>
            <a:custGeom>
              <a:avLst/>
              <a:gdLst/>
              <a:ahLst/>
              <a:cxnLst/>
              <a:rect l="l" t="t" r="r" b="b"/>
              <a:pathLst>
                <a:path w="9525" h="4419600">
                  <a:moveTo>
                    <a:pt x="0" y="0"/>
                  </a:moveTo>
                  <a:lnTo>
                    <a:pt x="0" y="441960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810000" y="575310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9525">
              <a:solidFill>
                <a:srgbClr val="999999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58458" y="58573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43298" y="58573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25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67298" y="58573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50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91298" y="58573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75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733419" y="5857399"/>
              <a:ext cx="3451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100 %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95149" y="1459706"/>
              <a:ext cx="24767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VerilogEval · 分层 IR（pass@5）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810000" y="1409700"/>
              <a:ext cx="5819775" cy="2667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692640" y="1486852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95.5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50958" y="1993106"/>
              <a:ext cx="17209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HWE-Bench · 小核修复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810000" y="1943100"/>
              <a:ext cx="5486400" cy="2667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59265" y="2020252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&gt;90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57757" y="2526506"/>
              <a:ext cx="16141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RTLLM · CodeV-R1 7B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810000" y="2476500"/>
              <a:ext cx="4448175" cy="2667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21040" y="2553652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72.9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59173" y="3059906"/>
              <a:ext cx="17127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HWE-Bench · SoC 修复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810000" y="3009900"/>
              <a:ext cx="3962400" cy="266700"/>
            </a:xfrm>
            <a:prstGeom prst="rect">
              <a:avLst/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835265" y="3087052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&lt;65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7613" y="3593306"/>
              <a:ext cx="276427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ArchXBench · 全部 30 题（pass@5）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810000" y="3543300"/>
              <a:ext cx="3248025" cy="266700"/>
            </a:xfrm>
            <a:prstGeom prst="rect">
              <a:avLst/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20890" y="3620452"/>
              <a:ext cx="9283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53（16/30）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05915" y="4126706"/>
              <a:ext cx="20659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CVDP · 代码生成（pass@1）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810000" y="4076700"/>
              <a:ext cx="2076450" cy="2667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49315" y="4153852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≤34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97700" y="4660106"/>
              <a:ext cx="20741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RTL-BenchLS · repo-issue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810000" y="4610100"/>
              <a:ext cx="733425" cy="2667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606290" y="4687252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12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736949" y="5193506"/>
              <a:ext cx="19349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ArchXBench · L4 及以上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810000" y="5143500"/>
              <a:ext cx="28575" cy="2667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910965" y="5220652"/>
              <a:ext cx="10813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0（所有模型）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134600" y="1333500"/>
            <a:ext cx="1524000" cy="4419600"/>
            <a:chOff x="10134600" y="1333500"/>
            <a:chExt cx="1524000" cy="4419600"/>
          </a:xfrm>
        </p:grpSpPr>
        <p:sp>
          <p:nvSpPr>
            <p:cNvPr id="43" name="Rectangle 43"/>
            <p:cNvSpPr/>
            <p:nvPr/>
          </p:nvSpPr>
          <p:spPr>
            <a:xfrm>
              <a:off x="10134600" y="1333500"/>
              <a:ext cx="1524000" cy="4419600"/>
            </a:xfrm>
            <a:prstGeom prst="roundRect">
              <a:avLst>
                <a:gd name="adj" fmla="val 5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254615" y="15059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共同缺口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254615" y="18297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正确性只看端口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54615" y="2039302"/>
              <a:ext cx="6247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I/O 等价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54615" y="238220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不检查级边界、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254615" y="25917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状态归属、握手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254615" y="29346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没有把周期数或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254615" y="3144202"/>
              <a:ext cx="1268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"与性能模型一致"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254615" y="335375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当指标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254615" y="36966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最接近的任务：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254615" y="3906202"/>
              <a:ext cx="11691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ArchXBench L4+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254615" y="4115752"/>
              <a:ext cx="8394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ChipVerilog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254615" y="432530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（OR1200、MIPS）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33400" y="6133624"/>
            <a:ext cx="9782533" cy="198120"/>
            <a:chOff x="533400" y="6133624"/>
            <a:chExt cx="9782533" cy="198120"/>
          </a:xfrm>
        </p:grpSpPr>
        <p:sp>
          <p:nvSpPr>
            <p:cNvPr id="57" name="Rectangle 57"/>
            <p:cNvSpPr/>
            <p:nvPr/>
          </p:nvSpPr>
          <p:spPr>
            <a:xfrm>
              <a:off x="533400" y="6134100"/>
              <a:ext cx="114300" cy="1143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92468" y="6133624"/>
              <a:ext cx="9005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模块级 / 小核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771650" y="6134100"/>
              <a:ext cx="114300" cy="114300"/>
            </a:xfrm>
            <a:prstGeom prst="rect">
              <a:avLst/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930718" y="6133624"/>
              <a:ext cx="8506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层次化 / SoC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3009900" y="6134100"/>
              <a:ext cx="114300" cy="1143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168968" y="6133624"/>
              <a:ext cx="10429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工业题 / 仓库级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559618" y="6133624"/>
              <a:ext cx="57563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来源：2608.30659、2604.14709、2505.24183、2508.06047、2506.14074、2606.08976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22922" y="6521291"/>
            <a:ext cx="11146156" cy="167640"/>
            <a:chOff x="522922" y="6521291"/>
            <a:chExt cx="11146156" cy="167640"/>
          </a:xfrm>
        </p:grpSpPr>
        <p:sp>
          <p:nvSpPr>
            <p:cNvPr id="65" name="TextBox 65"/>
            <p:cNvSpPr txBox="1"/>
            <p:nvPr/>
          </p:nvSpPr>
          <p:spPr>
            <a:xfrm>
              <a:off x="522922" y="6521291"/>
              <a:ext cx="21536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AI 生成 RTL 综述 · 2026-10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45705" y="652129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56" grpId="0"/>
      <p:bldP spid="6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8155067" cy="678656"/>
            <a:chOff x="533400" y="419100"/>
            <a:chExt cx="8155067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799314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空白汇总：没有工作同时覆盖结构、契约与验证闭环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38240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按论文自述定性打分；"我们"一行是目标，尚未实现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33400" y="1219200"/>
            <a:ext cx="11125200" cy="533400"/>
            <a:chOff x="533400" y="1219200"/>
            <a:chExt cx="11125200" cy="533400"/>
          </a:xfrm>
        </p:grpSpPr>
        <p:sp>
          <p:nvSpPr>
            <p:cNvPr id="7" name="Rectangle 7"/>
            <p:cNvSpPr/>
            <p:nvPr/>
          </p:nvSpPr>
          <p:spPr>
            <a:xfrm>
              <a:off x="533400" y="1219200"/>
              <a:ext cx="11125200" cy="5334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1512" y="14216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代表工作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45409" y="132635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流水级结构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09654" y="1541145"/>
              <a:ext cx="9626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级 / 边界寄存器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46169" y="13263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状态归属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31180" y="15411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事件通道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60669" y="13263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时序契约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79958" y="154114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跨周期约束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75169" y="13263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验证闭环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94458" y="154114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反馈回生成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12909" y="132635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周期级判据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77154" y="1541145"/>
              <a:ext cx="9626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拍数 / 波形等价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3400" y="1965960"/>
            <a:ext cx="11125200" cy="462915"/>
            <a:chOff x="533400" y="1965960"/>
            <a:chExt cx="11125200" cy="462915"/>
          </a:xfrm>
        </p:grpSpPr>
        <p:sp>
          <p:nvSpPr>
            <p:cNvPr id="20" name="TextBox 20"/>
            <p:cNvSpPr txBox="1"/>
            <p:nvPr/>
          </p:nvSpPr>
          <p:spPr>
            <a:xfrm>
              <a:off x="670560" y="1965960"/>
              <a:ext cx="17142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直接生成 / 微调模型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4370" y="2188845"/>
              <a:ext cx="14096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CodeV-R1 · VeriReason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4086225" y="20288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5800725" y="20288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515225" y="20288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9229725" y="20288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334500" y="20288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104775"/>
                  </a:moveTo>
                  <a:lnTo>
                    <a:pt x="0" y="0"/>
                  </a:lnTo>
                  <a:cubicBezTo>
                    <a:pt x="57866" y="0"/>
                    <a:pt x="104775" y="46909"/>
                    <a:pt x="104775" y="104775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0753725" y="20288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533400" y="24193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533400" y="2419350"/>
            <a:ext cx="11125200" cy="609600"/>
            <a:chOff x="533400" y="2419350"/>
            <a:chExt cx="11125200" cy="609600"/>
          </a:xfrm>
        </p:grpSpPr>
        <p:sp>
          <p:nvSpPr>
            <p:cNvPr id="30" name="Rectangle 30"/>
            <p:cNvSpPr/>
            <p:nvPr/>
          </p:nvSpPr>
          <p:spPr>
            <a:xfrm>
              <a:off x="533400" y="2419350"/>
              <a:ext cx="11125200" cy="6096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0560" y="2575560"/>
              <a:ext cx="17418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VeriGraphi / 分层 IR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4370" y="279844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模块拓扑 + 端口规格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4086225" y="26384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4191000" y="26384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104775"/>
                  </a:moveTo>
                  <a:lnTo>
                    <a:pt x="0" y="0"/>
                  </a:lnTo>
                  <a:cubicBezTo>
                    <a:pt x="57866" y="0"/>
                    <a:pt x="104775" y="46909"/>
                    <a:pt x="104775" y="104775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5800725" y="26384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5905500" y="26384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104775"/>
                  </a:moveTo>
                  <a:lnTo>
                    <a:pt x="0" y="0"/>
                  </a:lnTo>
                  <a:cubicBezTo>
                    <a:pt x="57866" y="0"/>
                    <a:pt x="104775" y="46909"/>
                    <a:pt x="104775" y="104775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7515225" y="26384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9229725" y="26384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334500" y="2638425"/>
              <a:ext cx="104775" cy="209550"/>
            </a:xfrm>
            <a:custGeom>
              <a:avLst/>
              <a:gdLst/>
              <a:ahLst/>
              <a:cxnLst/>
              <a:rect l="l" t="t" r="r" b="b"/>
              <a:pathLst>
                <a:path w="104775" h="209550">
                  <a:moveTo>
                    <a:pt x="0" y="104775"/>
                  </a:moveTo>
                  <a:lnTo>
                    <a:pt x="0" y="0"/>
                  </a:lnTo>
                  <a:cubicBezTo>
                    <a:pt x="57866" y="0"/>
                    <a:pt x="104775" y="46909"/>
                    <a:pt x="104775" y="104775"/>
                  </a:cubicBezTo>
                  <a:cubicBezTo>
                    <a:pt x="104775" y="162641"/>
                    <a:pt x="57866" y="209550"/>
                    <a:pt x="0" y="20955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0753725" y="26384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533400" y="3185160"/>
            <a:ext cx="11125200" cy="462915"/>
            <a:chOff x="533400" y="3185160"/>
            <a:chExt cx="11125200" cy="462915"/>
          </a:xfrm>
        </p:grpSpPr>
        <p:sp>
          <p:nvSpPr>
            <p:cNvPr id="42" name="TextBox 42"/>
            <p:cNvSpPr txBox="1"/>
            <p:nvPr/>
          </p:nvSpPr>
          <p:spPr>
            <a:xfrm>
              <a:off x="670560" y="3185160"/>
              <a:ext cx="3893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HINT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4370" y="3408045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微架构意图层（算子级）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4086225" y="32480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4191000" y="3248025"/>
              <a:ext cx="104775" cy="209550"/>
            </a:xfrm>
            <a:custGeom>
              <a:avLst/>
              <a:gdLst/>
              <a:ahLst/>
              <a:cxnLst/>
              <a:rect l="l" t="t" r="r" b="b"/>
              <a:pathLst>
                <a:path w="104775" h="209550">
                  <a:moveTo>
                    <a:pt x="0" y="104775"/>
                  </a:moveTo>
                  <a:lnTo>
                    <a:pt x="0" y="0"/>
                  </a:lnTo>
                  <a:cubicBezTo>
                    <a:pt x="57866" y="0"/>
                    <a:pt x="104775" y="46909"/>
                    <a:pt x="104775" y="104775"/>
                  </a:cubicBezTo>
                  <a:cubicBezTo>
                    <a:pt x="104775" y="162641"/>
                    <a:pt x="57866" y="209550"/>
                    <a:pt x="0" y="20955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5800725" y="32480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5905500" y="32480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104775"/>
                  </a:moveTo>
                  <a:lnTo>
                    <a:pt x="0" y="0"/>
                  </a:lnTo>
                  <a:cubicBezTo>
                    <a:pt x="57866" y="0"/>
                    <a:pt x="104775" y="46909"/>
                    <a:pt x="104775" y="104775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7515225" y="32480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7620000" y="32480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104775"/>
                  </a:moveTo>
                  <a:lnTo>
                    <a:pt x="0" y="0"/>
                  </a:lnTo>
                  <a:cubicBezTo>
                    <a:pt x="57866" y="0"/>
                    <a:pt x="104775" y="46909"/>
                    <a:pt x="104775" y="104775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9229725" y="32480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9334500" y="3248025"/>
              <a:ext cx="104775" cy="209550"/>
            </a:xfrm>
            <a:custGeom>
              <a:avLst/>
              <a:gdLst/>
              <a:ahLst/>
              <a:cxnLst/>
              <a:rect l="l" t="t" r="r" b="b"/>
              <a:pathLst>
                <a:path w="104775" h="209550">
                  <a:moveTo>
                    <a:pt x="0" y="104775"/>
                  </a:moveTo>
                  <a:lnTo>
                    <a:pt x="0" y="0"/>
                  </a:lnTo>
                  <a:cubicBezTo>
                    <a:pt x="57866" y="0"/>
                    <a:pt x="104775" y="46909"/>
                    <a:pt x="104775" y="104775"/>
                  </a:cubicBezTo>
                  <a:cubicBezTo>
                    <a:pt x="104775" y="162641"/>
                    <a:pt x="57866" y="209550"/>
                    <a:pt x="0" y="20955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10753725" y="32480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533400" y="36385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533400" y="3638550"/>
            <a:ext cx="11125200" cy="609600"/>
            <a:chOff x="533400" y="3638550"/>
            <a:chExt cx="11125200" cy="609600"/>
          </a:xfrm>
        </p:grpSpPr>
        <p:sp>
          <p:nvSpPr>
            <p:cNvPr id="55" name="Rectangle 55"/>
            <p:cNvSpPr/>
            <p:nvPr/>
          </p:nvSpPr>
          <p:spPr>
            <a:xfrm>
              <a:off x="533400" y="3638550"/>
              <a:ext cx="11125200" cy="6096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0560" y="3794760"/>
              <a:ext cx="22663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FormalRTL / AutoVeriFix+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74370" y="401764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参考模型 + 形式等价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4086225" y="38576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5800725" y="38576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7515225" y="38576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7620000" y="38576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104775"/>
                  </a:moveTo>
                  <a:lnTo>
                    <a:pt x="0" y="0"/>
                  </a:lnTo>
                  <a:cubicBezTo>
                    <a:pt x="57866" y="0"/>
                    <a:pt x="104775" y="46909"/>
                    <a:pt x="104775" y="104775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9229725" y="3857625"/>
              <a:ext cx="209550" cy="2095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10753725" y="38576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10858500" y="3857625"/>
              <a:ext cx="104775" cy="209550"/>
            </a:xfrm>
            <a:custGeom>
              <a:avLst/>
              <a:gdLst/>
              <a:ahLst/>
              <a:cxnLst/>
              <a:rect l="l" t="t" r="r" b="b"/>
              <a:pathLst>
                <a:path w="104775" h="209550">
                  <a:moveTo>
                    <a:pt x="0" y="104775"/>
                  </a:moveTo>
                  <a:lnTo>
                    <a:pt x="0" y="0"/>
                  </a:lnTo>
                  <a:cubicBezTo>
                    <a:pt x="57866" y="0"/>
                    <a:pt x="104775" y="46909"/>
                    <a:pt x="104775" y="104775"/>
                  </a:cubicBezTo>
                  <a:cubicBezTo>
                    <a:pt x="104775" y="162641"/>
                    <a:pt x="57866" y="209550"/>
                    <a:pt x="0" y="20955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533400" y="4404360"/>
            <a:ext cx="11125200" cy="462915"/>
            <a:chOff x="533400" y="4404360"/>
            <a:chExt cx="11125200" cy="462915"/>
          </a:xfrm>
        </p:grpSpPr>
        <p:sp>
          <p:nvSpPr>
            <p:cNvPr id="66" name="TextBox 66"/>
            <p:cNvSpPr txBox="1"/>
            <p:nvPr/>
          </p:nvSpPr>
          <p:spPr>
            <a:xfrm>
              <a:off x="670560" y="4404360"/>
              <a:ext cx="13554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SeqFeed / DUET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74370" y="4627245"/>
              <a:ext cx="9626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波形 / 时序反馈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4086225" y="44672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5800725" y="44672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7515225" y="44672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7620000" y="4467225"/>
              <a:ext cx="104775" cy="209550"/>
            </a:xfrm>
            <a:custGeom>
              <a:avLst/>
              <a:gdLst/>
              <a:ahLst/>
              <a:cxnLst/>
              <a:rect l="l" t="t" r="r" b="b"/>
              <a:pathLst>
                <a:path w="104775" h="209550">
                  <a:moveTo>
                    <a:pt x="0" y="104775"/>
                  </a:moveTo>
                  <a:lnTo>
                    <a:pt x="0" y="0"/>
                  </a:lnTo>
                  <a:cubicBezTo>
                    <a:pt x="57866" y="0"/>
                    <a:pt x="104775" y="46909"/>
                    <a:pt x="104775" y="104775"/>
                  </a:cubicBezTo>
                  <a:cubicBezTo>
                    <a:pt x="104775" y="162641"/>
                    <a:pt x="57866" y="209550"/>
                    <a:pt x="0" y="20955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9229725" y="4467225"/>
              <a:ext cx="209550" cy="2095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10753725" y="44672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10858500" y="44672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104775"/>
                  </a:moveTo>
                  <a:lnTo>
                    <a:pt x="0" y="0"/>
                  </a:lnTo>
                  <a:cubicBezTo>
                    <a:pt x="57866" y="0"/>
                    <a:pt x="104775" y="46909"/>
                    <a:pt x="104775" y="104775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</p:sp>
        <p:sp>
          <p:nvSpPr>
            <p:cNvPr id="75" name="Line 75"/>
            <p:cNvSpPr/>
            <p:nvPr/>
          </p:nvSpPr>
          <p:spPr>
            <a:xfrm>
              <a:off x="533400" y="48577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</p:grpSp>
      <p:grpSp>
        <p:nvGrpSpPr>
          <p:cNvPr id="87" name="Group 87"/>
          <p:cNvGrpSpPr/>
          <p:nvPr/>
        </p:nvGrpSpPr>
        <p:grpSpPr>
          <a:xfrm>
            <a:off x="533400" y="4857750"/>
            <a:ext cx="11125200" cy="609600"/>
            <a:chOff x="533400" y="4857750"/>
            <a:chExt cx="11125200" cy="609600"/>
          </a:xfrm>
        </p:grpSpPr>
        <p:sp>
          <p:nvSpPr>
            <p:cNvPr id="77" name="Rectangle 77"/>
            <p:cNvSpPr/>
            <p:nvPr/>
          </p:nvSpPr>
          <p:spPr>
            <a:xfrm>
              <a:off x="533400" y="4857750"/>
              <a:ext cx="11125200" cy="6096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70560" y="5013960"/>
              <a:ext cx="19075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Anvil / PDL（非 LLM）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74370" y="523684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时序契约语言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4086225" y="5076825"/>
              <a:ext cx="209550" cy="2095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5800725" y="50768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5905500" y="5076825"/>
              <a:ext cx="104775" cy="209550"/>
            </a:xfrm>
            <a:custGeom>
              <a:avLst/>
              <a:gdLst/>
              <a:ahLst/>
              <a:cxnLst/>
              <a:rect l="l" t="t" r="r" b="b"/>
              <a:pathLst>
                <a:path w="104775" h="209550">
                  <a:moveTo>
                    <a:pt x="0" y="104775"/>
                  </a:moveTo>
                  <a:lnTo>
                    <a:pt x="0" y="0"/>
                  </a:lnTo>
                  <a:cubicBezTo>
                    <a:pt x="57866" y="0"/>
                    <a:pt x="104775" y="46909"/>
                    <a:pt x="104775" y="104775"/>
                  </a:cubicBezTo>
                  <a:cubicBezTo>
                    <a:pt x="104775" y="162641"/>
                    <a:pt x="57866" y="209550"/>
                    <a:pt x="0" y="20955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7515225" y="5076825"/>
              <a:ext cx="209550" cy="2095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9229725" y="50768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85" name="Ellipse 85"/>
            <p:cNvSpPr/>
            <p:nvPr/>
          </p:nvSpPr>
          <p:spPr>
            <a:xfrm>
              <a:off x="10753725" y="50768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F3A5F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10858500" y="5076825"/>
              <a:ext cx="104775" cy="209550"/>
            </a:xfrm>
            <a:custGeom>
              <a:avLst/>
              <a:gdLst/>
              <a:ahLst/>
              <a:cxnLst/>
              <a:rect l="l" t="t" r="r" b="b"/>
              <a:pathLst>
                <a:path w="104775" h="209550">
                  <a:moveTo>
                    <a:pt x="0" y="104775"/>
                  </a:moveTo>
                  <a:lnTo>
                    <a:pt x="0" y="0"/>
                  </a:lnTo>
                  <a:cubicBezTo>
                    <a:pt x="57866" y="0"/>
                    <a:pt x="104775" y="46909"/>
                    <a:pt x="104775" y="104775"/>
                  </a:cubicBezTo>
                  <a:cubicBezTo>
                    <a:pt x="104775" y="162641"/>
                    <a:pt x="57866" y="209550"/>
                    <a:pt x="0" y="20955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</p:sp>
      </p:grpSp>
      <p:grpSp>
        <p:nvGrpSpPr>
          <p:cNvPr id="98" name="Group 98"/>
          <p:cNvGrpSpPr/>
          <p:nvPr/>
        </p:nvGrpSpPr>
        <p:grpSpPr>
          <a:xfrm>
            <a:off x="533400" y="5467350"/>
            <a:ext cx="11125200" cy="609600"/>
            <a:chOff x="533400" y="5467350"/>
            <a:chExt cx="11125200" cy="609600"/>
          </a:xfrm>
        </p:grpSpPr>
        <p:sp>
          <p:nvSpPr>
            <p:cNvPr id="88" name="Rectangle 88"/>
            <p:cNvSpPr/>
            <p:nvPr/>
          </p:nvSpPr>
          <p:spPr>
            <a:xfrm>
              <a:off x="533400" y="5467350"/>
              <a:ext cx="11125200" cy="6096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07A1F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70560" y="56235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我们（目标）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74370" y="5846445"/>
              <a:ext cx="19288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规范 + 11 号图 + 波形 / lockstep</a:t>
              </a:r>
            </a:p>
          </p:txBody>
        </p:sp>
        <p:sp>
          <p:nvSpPr>
            <p:cNvPr id="91" name="Ellipse 91"/>
            <p:cNvSpPr/>
            <p:nvPr/>
          </p:nvSpPr>
          <p:spPr>
            <a:xfrm>
              <a:off x="4086225" y="5686425"/>
              <a:ext cx="209550" cy="209550"/>
            </a:xfrm>
            <a:prstGeom prst="ellipse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5800725" y="5686425"/>
              <a:ext cx="209550" cy="209550"/>
            </a:xfrm>
            <a:prstGeom prst="ellipse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7515225" y="56864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E07A1F"/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7620000" y="5686425"/>
              <a:ext cx="104775" cy="209550"/>
            </a:xfrm>
            <a:custGeom>
              <a:avLst/>
              <a:gdLst/>
              <a:ahLst/>
              <a:cxnLst/>
              <a:rect l="l" t="t" r="r" b="b"/>
              <a:pathLst>
                <a:path w="104775" h="209550">
                  <a:moveTo>
                    <a:pt x="0" y="104775"/>
                  </a:moveTo>
                  <a:lnTo>
                    <a:pt x="0" y="0"/>
                  </a:lnTo>
                  <a:cubicBezTo>
                    <a:pt x="57866" y="0"/>
                    <a:pt x="104775" y="46909"/>
                    <a:pt x="104775" y="104775"/>
                  </a:cubicBezTo>
                  <a:cubicBezTo>
                    <a:pt x="104775" y="162641"/>
                    <a:pt x="57866" y="209550"/>
                    <a:pt x="0" y="209550"/>
                  </a:cubicBezTo>
                  <a:close/>
                </a:path>
              </a:pathLst>
            </a:custGeom>
            <a:solidFill>
              <a:srgbClr val="E07A1F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9229725" y="5686425"/>
              <a:ext cx="209550" cy="2095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E07A1F"/>
              </a:solidFill>
            </a:ln>
          </p:spPr>
        </p:sp>
        <p:sp>
          <p:nvSpPr>
            <p:cNvPr id="96" name="Freeform 96"/>
            <p:cNvSpPr/>
            <p:nvPr/>
          </p:nvSpPr>
          <p:spPr>
            <a:xfrm>
              <a:off x="9229725" y="5686425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104775" y="104775"/>
                  </a:moveTo>
                  <a:lnTo>
                    <a:pt x="104775" y="0"/>
                  </a:lnTo>
                  <a:cubicBezTo>
                    <a:pt x="162641" y="0"/>
                    <a:pt x="209550" y="46909"/>
                    <a:pt x="209550" y="104775"/>
                  </a:cubicBezTo>
                  <a:cubicBezTo>
                    <a:pt x="209550" y="162641"/>
                    <a:pt x="162641" y="209550"/>
                    <a:pt x="104775" y="209550"/>
                  </a:cubicBezTo>
                  <a:cubicBezTo>
                    <a:pt x="46909" y="209550"/>
                    <a:pt x="0" y="162641"/>
                    <a:pt x="0" y="104775"/>
                  </a:cubicBezTo>
                  <a:close/>
                </a:path>
              </a:pathLst>
            </a:custGeom>
            <a:solidFill>
              <a:srgbClr val="E07A1F"/>
            </a:solidFill>
            <a:ln>
              <a:noFill/>
            </a:ln>
          </p:spPr>
        </p:sp>
        <p:sp>
          <p:nvSpPr>
            <p:cNvPr id="97" name="Ellipse 97"/>
            <p:cNvSpPr/>
            <p:nvPr/>
          </p:nvSpPr>
          <p:spPr>
            <a:xfrm>
              <a:off x="10753725" y="5686425"/>
              <a:ext cx="209550" cy="209550"/>
            </a:xfrm>
            <a:prstGeom prst="ellipse">
              <a:avLst/>
            </a:prstGeom>
            <a:solidFill>
              <a:srgbClr val="E07A1F"/>
            </a:solidFill>
            <a:ln>
              <a:noFill/>
            </a:ln>
          </p:spPr>
        </p:sp>
      </p:grpSp>
      <p:grpSp>
        <p:nvGrpSpPr>
          <p:cNvPr id="110" name="Group 110"/>
          <p:cNvGrpSpPr/>
          <p:nvPr/>
        </p:nvGrpSpPr>
        <p:grpSpPr>
          <a:xfrm>
            <a:off x="552450" y="6228874"/>
            <a:ext cx="7990285" cy="198120"/>
            <a:chOff x="552450" y="6228874"/>
            <a:chExt cx="7990285" cy="198120"/>
          </a:xfrm>
        </p:grpSpPr>
        <p:sp>
          <p:nvSpPr>
            <p:cNvPr id="99" name="Ellipse 99"/>
            <p:cNvSpPr/>
            <p:nvPr/>
          </p:nvSpPr>
          <p:spPr>
            <a:xfrm>
              <a:off x="552450" y="6229350"/>
              <a:ext cx="114300" cy="11430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711518" y="6228874"/>
              <a:ext cx="1671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无</a:t>
              </a:r>
            </a:p>
          </p:txBody>
        </p:sp>
        <p:sp>
          <p:nvSpPr>
            <p:cNvPr id="101" name="Ellipse 101"/>
            <p:cNvSpPr/>
            <p:nvPr/>
          </p:nvSpPr>
          <p:spPr>
            <a:xfrm>
              <a:off x="1047750" y="6229350"/>
              <a:ext cx="114300" cy="11430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102" name="Freeform 102"/>
            <p:cNvSpPr/>
            <p:nvPr/>
          </p:nvSpPr>
          <p:spPr>
            <a:xfrm>
              <a:off x="1104900" y="622935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57150"/>
                  </a:moveTo>
                  <a:lnTo>
                    <a:pt x="0" y="0"/>
                  </a:lnTo>
                  <a:cubicBezTo>
                    <a:pt x="31563" y="0"/>
                    <a:pt x="57150" y="25587"/>
                    <a:pt x="57150" y="5715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1206818" y="6228874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少量</a:t>
              </a:r>
            </a:p>
          </p:txBody>
        </p:sp>
        <p:sp>
          <p:nvSpPr>
            <p:cNvPr id="104" name="Ellipse 104"/>
            <p:cNvSpPr/>
            <p:nvPr/>
          </p:nvSpPr>
          <p:spPr>
            <a:xfrm>
              <a:off x="1657350" y="6229350"/>
              <a:ext cx="114300" cy="11430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105" name="Freeform 105"/>
            <p:cNvSpPr/>
            <p:nvPr/>
          </p:nvSpPr>
          <p:spPr>
            <a:xfrm>
              <a:off x="1714500" y="6229350"/>
              <a:ext cx="57150" cy="114300"/>
            </a:xfrm>
            <a:custGeom>
              <a:avLst/>
              <a:gdLst/>
              <a:ahLst/>
              <a:cxnLst/>
              <a:rect l="l" t="t" r="r" b="b"/>
              <a:pathLst>
                <a:path w="57150" h="114300">
                  <a:moveTo>
                    <a:pt x="0" y="57150"/>
                  </a:moveTo>
                  <a:lnTo>
                    <a:pt x="0" y="0"/>
                  </a:lnTo>
                  <a:cubicBezTo>
                    <a:pt x="31563" y="0"/>
                    <a:pt x="57150" y="25587"/>
                    <a:pt x="57150" y="57150"/>
                  </a:cubicBezTo>
                  <a:cubicBezTo>
                    <a:pt x="57150" y="88713"/>
                    <a:pt x="31563" y="114300"/>
                    <a:pt x="0" y="1143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1816418" y="6228874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部分</a:t>
              </a:r>
            </a:p>
          </p:txBody>
        </p:sp>
        <p:sp>
          <p:nvSpPr>
            <p:cNvPr id="107" name="Ellipse 107"/>
            <p:cNvSpPr/>
            <p:nvPr/>
          </p:nvSpPr>
          <p:spPr>
            <a:xfrm>
              <a:off x="2266950" y="6229350"/>
              <a:ext cx="114300" cy="1143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2426018" y="6228874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完整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3035618" y="6228874"/>
              <a:ext cx="55071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我们的时序契约现在只有"部分"：G2 的契约是事后从失败里读出来的，下一步要显式化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522922" y="6521291"/>
            <a:ext cx="11146156" cy="167640"/>
            <a:chOff x="522922" y="6521291"/>
            <a:chExt cx="11146156" cy="167640"/>
          </a:xfrm>
        </p:grpSpPr>
        <p:sp>
          <p:nvSpPr>
            <p:cNvPr id="111" name="TextBox 111"/>
            <p:cNvSpPr txBox="1"/>
            <p:nvPr/>
          </p:nvSpPr>
          <p:spPr>
            <a:xfrm>
              <a:off x="522922" y="6521291"/>
              <a:ext cx="21536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AI 生成 RTL 综述 · 2026-10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1545705" y="652129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9" grpId="0"/>
      <p:bldP spid="41" grpId="0"/>
      <p:bldP spid="54" grpId="0"/>
      <p:bldP spid="65" grpId="0"/>
      <p:bldP spid="76" grpId="0"/>
      <p:bldP spid="87" grpId="0"/>
      <p:bldP spid="98" grpId="0"/>
      <p:bldP spid="1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7792772" cy="678656"/>
            <a:chOff x="533400" y="419100"/>
            <a:chExt cx="7792772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763084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可作 baseline 的组合：benchmark × 方法 × 模型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72334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三层各取一组，回答"换任务 / 换方法 / 换模型各带来多少差异"；我们的 subcore 任务放在最上面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400" y="1219200"/>
            <a:ext cx="11125200" cy="800100"/>
            <a:chOff x="533400" y="1219200"/>
            <a:chExt cx="11125200" cy="800100"/>
          </a:xfrm>
        </p:grpSpPr>
        <p:sp>
          <p:nvSpPr>
            <p:cNvPr id="7" name="Rectangle 7"/>
            <p:cNvSpPr/>
            <p:nvPr/>
          </p:nvSpPr>
          <p:spPr>
            <a:xfrm>
              <a:off x="533400" y="1219200"/>
              <a:ext cx="11125200" cy="800100"/>
            </a:xfrm>
            <a:prstGeom prst="roundRect">
              <a:avLst>
                <a:gd name="adj" fmla="val 9524"/>
              </a:avLst>
            </a:prstGeom>
            <a:solidFill>
              <a:srgbClr val="E07A1F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95338" y="1519238"/>
              <a:ext cx="200025" cy="200025"/>
              <a:chOff x="795338" y="1519238"/>
              <a:chExt cx="200025" cy="2000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17562" y="1541462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11112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144463" y="0"/>
                    </a:lnTo>
                    <a:cubicBezTo>
                      <a:pt x="150600" y="0"/>
                      <a:pt x="155575" y="4975"/>
                      <a:pt x="155575" y="11112"/>
                    </a:cubicBezTo>
                    <a:lnTo>
                      <a:pt x="155575" y="144462"/>
                    </a:lnTo>
                    <a:cubicBezTo>
                      <a:pt x="155575" y="150600"/>
                      <a:pt x="150600" y="155575"/>
                      <a:pt x="144463" y="155575"/>
                    </a:cubicBezTo>
                    <a:lnTo>
                      <a:pt x="11113" y="155575"/>
                    </a:lnTo>
                    <a:cubicBezTo>
                      <a:pt x="4975" y="155575"/>
                      <a:pt x="0" y="150600"/>
                      <a:pt x="0" y="144462"/>
                    </a:cubicBezTo>
                    <a:lnTo>
                      <a:pt x="0" y="11112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62012" y="1585912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0"/>
                    </a:lnTo>
                    <a:lnTo>
                      <a:pt x="66675" y="66675"/>
                    </a:lnTo>
                    <a:lnTo>
                      <a:pt x="0" y="6667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95338" y="159702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95338" y="164147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73125" y="15192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17575" y="15192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73138" y="159702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73138" y="164147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17575" y="16970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222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73125" y="16970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222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124902" y="1408271"/>
              <a:ext cx="637348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我们的任务：curryGPU subcore 模块（流水级 + 隐式时序契约）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8712" y="1707356"/>
              <a:ext cx="65515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判据：端到端 PASS + 逐信号波形等价 + lockstep 拍数 —— 现有 benchmark 都没有这一层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18160" y="2232660"/>
            <a:ext cx="11140440" cy="1158240"/>
            <a:chOff x="518160" y="2232660"/>
            <a:chExt cx="11140440" cy="1158240"/>
          </a:xfrm>
        </p:grpSpPr>
        <p:sp>
          <p:nvSpPr>
            <p:cNvPr id="22" name="TextBox 22"/>
            <p:cNvSpPr txBox="1"/>
            <p:nvPr/>
          </p:nvSpPr>
          <p:spPr>
            <a:xfrm>
              <a:off x="518160" y="2232660"/>
              <a:ext cx="12174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Benchmark 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476500"/>
              <a:ext cx="3543300" cy="914400"/>
            </a:xfrm>
            <a:prstGeom prst="roundRect">
              <a:avLst>
                <a:gd name="adj" fmla="val 8333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8660" y="2632710"/>
              <a:ext cx="28276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下限：VerilogEval v2 · RTLLM v2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0565" y="2896552"/>
              <a:ext cx="20432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证明方法 / 模型有基本能力；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0565" y="31061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社区默认报数，便于对齐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324350" y="2476500"/>
              <a:ext cx="3543300" cy="914400"/>
            </a:xfrm>
            <a:prstGeom prst="roundRect">
              <a:avLst>
                <a:gd name="adj" fmla="val 8333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499610" y="2632710"/>
              <a:ext cx="13554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工业通用：CVDP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01515" y="2896552"/>
              <a:ext cx="22656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783 题 13 类，有 agentic 形式；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01515" y="3106102"/>
              <a:ext cx="24036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开源（NVlabs/cvdp_benchmark）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115300" y="2476500"/>
              <a:ext cx="3543300" cy="914400"/>
            </a:xfrm>
            <a:prstGeom prst="roundRect">
              <a:avLst>
                <a:gd name="adj" fmla="val 8333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290560" y="2632710"/>
              <a:ext cx="29656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流水线：ArchXBench · ChipVerilog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92465" y="2896552"/>
              <a:ext cx="24113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L4+ 所有模型失败；ChipVerilog 含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92465" y="3106102"/>
              <a:ext cx="24573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OR1200 / MIPS 核（开源情况待查）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18160" y="3604260"/>
            <a:ext cx="11140440" cy="1158240"/>
            <a:chOff x="518160" y="3604260"/>
            <a:chExt cx="11140440" cy="1158240"/>
          </a:xfrm>
        </p:grpSpPr>
        <p:sp>
          <p:nvSpPr>
            <p:cNvPr id="36" name="TextBox 36"/>
            <p:cNvSpPr txBox="1"/>
            <p:nvPr/>
          </p:nvSpPr>
          <p:spPr>
            <a:xfrm>
              <a:off x="518160" y="3604260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方法层（对应消融条件）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848100"/>
              <a:ext cx="3543300" cy="914400"/>
            </a:xfrm>
            <a:prstGeom prst="roundRect">
              <a:avLst>
                <a:gd name="adj" fmla="val 8333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8660" y="4004310"/>
              <a:ext cx="19075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直接生成 + agent 调试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0565" y="4268152"/>
              <a:ext cx="18055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对应 </a:t>
              </a:r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nl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；可加 SeqFeed 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0565" y="44777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波形反馈作为验证侧增强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324350" y="3848100"/>
              <a:ext cx="3543300" cy="914400"/>
            </a:xfrm>
            <a:prstGeom prst="roundRect">
              <a:avLst>
                <a:gd name="adj" fmla="val 8333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499610" y="4004310"/>
              <a:ext cx="26436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参考模型路线（FormalRTL 式）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01515" y="426815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对应 </a:t>
              </a:r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model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：给性能模型代码，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01515" y="44777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不给结构框架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115300" y="3848100"/>
              <a:ext cx="3543300" cy="914400"/>
            </a:xfrm>
            <a:prstGeom prst="roundRect">
              <a:avLst>
                <a:gd name="adj" fmla="val 8333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290560" y="4004310"/>
              <a:ext cx="28920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结构 IR 路线（VeriGraphi / HINT）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92465" y="4268152"/>
              <a:ext cx="21966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拓扑 / 意图层，无流水契约；与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92465" y="4477702"/>
              <a:ext cx="22349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model+style+diagram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直接对比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18160" y="4975860"/>
            <a:ext cx="11140440" cy="1158240"/>
            <a:chOff x="518160" y="4975860"/>
            <a:chExt cx="11140440" cy="1158240"/>
          </a:xfrm>
        </p:grpSpPr>
        <p:sp>
          <p:nvSpPr>
            <p:cNvPr id="50" name="TextBox 50"/>
            <p:cNvSpPr txBox="1"/>
            <p:nvPr/>
          </p:nvSpPr>
          <p:spPr>
            <a:xfrm>
              <a:off x="518160" y="497586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模型层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5219700"/>
              <a:ext cx="5429250" cy="914400"/>
            </a:xfrm>
            <a:prstGeom prst="roundRect">
              <a:avLst>
                <a:gd name="adj" fmla="val 8333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8660" y="5375910"/>
              <a:ext cx="27816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开源 7B：CodeV-R1 · VeriReason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0565" y="5639752"/>
              <a:ext cx="28406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Verilog 专用 RL 训练；本地可跑，可复现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10565" y="5849302"/>
              <a:ext cx="26489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测"专用小模型在流水线任务上掉多少"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29350" y="5219700"/>
              <a:ext cx="5429250" cy="914400"/>
            </a:xfrm>
            <a:prstGeom prst="roundRect">
              <a:avLst>
                <a:gd name="adj" fmla="val 8333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04610" y="5375910"/>
              <a:ext cx="3600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商用前沿模型（Claude / GPT / DeepSeek）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06515" y="5639752"/>
              <a:ext cx="38758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我们实际在用的 agent 设置；同时检验 Representation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06515" y="5849302"/>
              <a:ext cx="34847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Bottleneck 的结论：换模型的差距是否小于换表示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22922" y="6521291"/>
            <a:ext cx="11146156" cy="167640"/>
            <a:chOff x="522922" y="6521291"/>
            <a:chExt cx="11146156" cy="167640"/>
          </a:xfrm>
        </p:grpSpPr>
        <p:sp>
          <p:nvSpPr>
            <p:cNvPr id="60" name="TextBox 60"/>
            <p:cNvSpPr txBox="1"/>
            <p:nvPr/>
          </p:nvSpPr>
          <p:spPr>
            <a:xfrm>
              <a:off x="522922" y="6521291"/>
              <a:ext cx="21536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AI 生成 RTL 综述 · 2026-10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45705" y="652129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5" grpId="0"/>
      <p:bldP spid="49" grpId="0"/>
      <p:bldP spid="5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9362718" cy="678656"/>
            <a:chOff x="533400" y="419100"/>
            <a:chExt cx="9362718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920079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我们的对比实验：同一模块、逐级加输入、加 baseline 方法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52042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模块有参考实现和 0 差异比对工具，能区分"功能对"和"结构 / 时序对"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1257300"/>
            <a:ext cx="3429000" cy="2247900"/>
            <a:chOff x="533400" y="1257300"/>
            <a:chExt cx="3429000" cy="2247900"/>
          </a:xfrm>
        </p:grpSpPr>
        <p:sp>
          <p:nvSpPr>
            <p:cNvPr id="7" name="Rectangle 7"/>
            <p:cNvSpPr/>
            <p:nvPr/>
          </p:nvSpPr>
          <p:spPr>
            <a:xfrm>
              <a:off x="533400" y="1257300"/>
              <a:ext cx="3429000" cy="2247900"/>
            </a:xfrm>
            <a:prstGeom prst="roundRect">
              <a:avLst>
                <a:gd name="adj" fmla="val 3390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52475" y="1476375"/>
              <a:ext cx="171450" cy="171450"/>
              <a:chOff x="752475" y="1476375"/>
              <a:chExt cx="171450" cy="1714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71525" y="14954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123825" y="0"/>
                    </a:lnTo>
                    <a:cubicBezTo>
                      <a:pt x="129086" y="0"/>
                      <a:pt x="133350" y="4264"/>
                      <a:pt x="133350" y="9525"/>
                    </a:cubicBezTo>
                    <a:lnTo>
                      <a:pt x="133350" y="123825"/>
                    </a:lnTo>
                    <a:cubicBezTo>
                      <a:pt x="133350" y="129086"/>
                      <a:pt x="129086" y="133350"/>
                      <a:pt x="123825" y="133350"/>
                    </a:cubicBezTo>
                    <a:lnTo>
                      <a:pt x="9525" y="133350"/>
                    </a:lnTo>
                    <a:cubicBezTo>
                      <a:pt x="4264" y="133350"/>
                      <a:pt x="0" y="129086"/>
                      <a:pt x="0" y="1238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09625" y="15335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0"/>
                    </a:lnTo>
                    <a:lnTo>
                      <a:pt x="57150" y="57150"/>
                    </a:lnTo>
                    <a:lnTo>
                      <a:pt x="0" y="5715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52475" y="15430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52475" y="15811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19150" y="14763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57250" y="14763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04875" y="15430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190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04875" y="15811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190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57250" y="16287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19150" y="16287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31558" y="1491139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被测模块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9612" y="1878806"/>
              <a:ext cx="16502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subcore_issue_hold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0565" y="2115502"/>
              <a:ext cx="28943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142 行，隐式 SB 置位 / 清除 / 同拍优先级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9612" y="2488406"/>
              <a:ext cx="13569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subcore_decode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0565" y="2725102"/>
              <a:ext cx="25799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S1 2 项 head FIFO，含 G2 的契约陷阱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0565" y="3068002"/>
              <a:ext cx="20432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参考：</a:t>
              </a:r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8c17f5d73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、</a:t>
              </a:r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6e71a8d31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251008" y="1291114"/>
            <a:ext cx="7407592" cy="2214086"/>
            <a:chOff x="4251008" y="1291114"/>
            <a:chExt cx="7407592" cy="2214086"/>
          </a:xfrm>
        </p:grpSpPr>
        <p:sp>
          <p:nvSpPr>
            <p:cNvPr id="26" name="TextBox 26"/>
            <p:cNvSpPr txBox="1"/>
            <p:nvPr/>
          </p:nvSpPr>
          <p:spPr>
            <a:xfrm>
              <a:off x="4251008" y="1291114"/>
              <a:ext cx="407974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条件（逐级叠加，已在 ai-rtl-study 中定义）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267200" y="1581150"/>
              <a:ext cx="1714500" cy="552450"/>
            </a:xfrm>
            <a:prstGeom prst="roundRect">
              <a:avLst>
                <a:gd name="adj" fmla="val 10345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405312" y="1707356"/>
              <a:ext cx="1752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nl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07218" y="19140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只给自然语言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115050" y="1581150"/>
              <a:ext cx="1714500" cy="552450"/>
            </a:xfrm>
            <a:prstGeom prst="roundRect">
              <a:avLst>
                <a:gd name="adj" fmla="val 10345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53162" y="1707356"/>
              <a:ext cx="4943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model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55068" y="191404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+ 功能 / 性能模型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962900" y="1581150"/>
              <a:ext cx="1714500" cy="552450"/>
            </a:xfrm>
            <a:prstGeom prst="roundRect">
              <a:avLst>
                <a:gd name="adj" fmla="val 10345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101012" y="1707356"/>
              <a:ext cx="5547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+style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02918" y="1914049"/>
              <a:ext cx="7153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+ 结构规范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810750" y="1581150"/>
              <a:ext cx="1847850" cy="552450"/>
            </a:xfrm>
            <a:prstGeom prst="roundRect">
              <a:avLst>
                <a:gd name="adj" fmla="val 10345"/>
              </a:avLst>
            </a:prstGeom>
            <a:solidFill>
              <a:srgbClr val="FFFFFF"/>
            </a:solidFill>
            <a:ln w="19050">
              <a:solidFill>
                <a:srgbClr val="E07A1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948862" y="1707356"/>
              <a:ext cx="779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+diagram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50768" y="1914049"/>
              <a:ext cx="12707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+ 流水线图（11 号）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251008" y="2338864"/>
              <a:ext cx="325853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外部 baseline 方法（同一模块上跑）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267200" y="2628900"/>
              <a:ext cx="3562350" cy="876300"/>
            </a:xfrm>
            <a:prstGeom prst="roundRect">
              <a:avLst>
                <a:gd name="adj" fmla="val 6522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406265" y="2763202"/>
              <a:ext cx="24983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参考模型 + 等价（FormalRTL 式）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406265" y="2991802"/>
              <a:ext cx="24419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结构 IR（VeriGraphi / 分层 IR 式）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06265" y="3220402"/>
              <a:ext cx="17365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波形反馈（SeqFeed 式）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962900" y="2628900"/>
              <a:ext cx="3695700" cy="876300"/>
            </a:xfrm>
            <a:prstGeom prst="roundRect">
              <a:avLst>
                <a:gd name="adj" fmla="val 6522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101965" y="2763202"/>
              <a:ext cx="24339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模型：CodeV-R1 / VeriReason 7B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01965" y="2991802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+ 一个商用前沿模型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01965" y="3220402"/>
              <a:ext cx="29173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每个条件重复 ≥ 3 次（E 记录的重复序号）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17208" y="3748564"/>
            <a:ext cx="11141392" cy="1509236"/>
            <a:chOff x="517208" y="3748564"/>
            <a:chExt cx="11141392" cy="1509236"/>
          </a:xfrm>
        </p:grpSpPr>
        <p:sp>
          <p:nvSpPr>
            <p:cNvPr id="49" name="TextBox 49"/>
            <p:cNvSpPr txBox="1"/>
            <p:nvPr/>
          </p:nvSpPr>
          <p:spPr>
            <a:xfrm>
              <a:off x="517208" y="3748564"/>
              <a:ext cx="35909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指标：从"能编译"一路到"时序契约没破"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4038600"/>
              <a:ext cx="2057400" cy="1219200"/>
            </a:xfrm>
            <a:prstGeom prst="roundRect">
              <a:avLst>
                <a:gd name="adj" fmla="val 625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2940" y="4110990"/>
              <a:ext cx="1285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1512" y="4488656"/>
              <a:ext cx="8653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lint / 编译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3418" y="4733449"/>
              <a:ext cx="1576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Verilator，WIDTHTRUNC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3418" y="492394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为构建错误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743200" y="4038600"/>
              <a:ext cx="2057400" cy="1219200"/>
            </a:xfrm>
            <a:prstGeom prst="roundRect">
              <a:avLst>
                <a:gd name="adj" fmla="val 625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872740" y="4110990"/>
              <a:ext cx="19753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881312" y="4488656"/>
              <a:ext cx="9774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端到端 PASS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883218" y="4733449"/>
              <a:ext cx="893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iadd3 · mix ·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883218" y="4923949"/>
              <a:ext cx="1242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control_flow · cp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953000" y="4038600"/>
              <a:ext cx="2057400" cy="1219200"/>
            </a:xfrm>
            <a:prstGeom prst="roundRect">
              <a:avLst>
                <a:gd name="adj" fmla="val 625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082540" y="4110990"/>
              <a:ext cx="19753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091112" y="44886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波形等价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093018" y="4733449"/>
              <a:ext cx="15484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u_subcore 约 10 万信号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093018" y="4923949"/>
              <a:ext cx="15341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差异数 + lockstep 拍数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162800" y="4038600"/>
              <a:ext cx="2057400" cy="1219200"/>
            </a:xfrm>
            <a:prstGeom prst="roundRect">
              <a:avLst>
                <a:gd name="adj" fmla="val 625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292340" y="4110990"/>
              <a:ext cx="19753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00912" y="44886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契约违例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02818" y="47334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挖出的断言失败数、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302818" y="492394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首个错误拍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372600" y="4038600"/>
              <a:ext cx="2286000" cy="1219200"/>
            </a:xfrm>
            <a:prstGeom prst="roundRect">
              <a:avLst>
                <a:gd name="adj" fmla="val 625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502140" y="4110990"/>
              <a:ext cx="19753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510712" y="448865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代价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512618" y="4733449"/>
              <a:ext cx="12707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轮数、token、人工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512618" y="492394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干预次数与分钟数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33400" y="5448300"/>
            <a:ext cx="11125200" cy="685800"/>
            <a:chOff x="533400" y="5448300"/>
            <a:chExt cx="11125200" cy="685800"/>
          </a:xfrm>
        </p:grpSpPr>
        <p:sp>
          <p:nvSpPr>
            <p:cNvPr id="76" name="Rectangle 76"/>
            <p:cNvSpPr/>
            <p:nvPr/>
          </p:nvSpPr>
          <p:spPr>
            <a:xfrm>
              <a:off x="533400" y="5448300"/>
              <a:ext cx="11125200" cy="6858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9050">
              <a:solidFill>
                <a:srgbClr val="E07A1F"/>
              </a:solidFill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84803" y="5688806"/>
              <a:ext cx="125844" cy="185738"/>
              <a:chOff x="784803" y="5688806"/>
              <a:chExt cx="125844" cy="185738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816769" y="5688806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27088" y="5750719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84803" y="5688806"/>
                <a:ext cx="125844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25844" h="185738">
                    <a:moveTo>
                      <a:pt x="42284" y="0"/>
                    </a:moveTo>
                    <a:lnTo>
                      <a:pt x="42284" y="61912"/>
                    </a:lnTo>
                    <a:lnTo>
                      <a:pt x="1009" y="175419"/>
                    </a:lnTo>
                    <a:cubicBezTo>
                      <a:pt x="0" y="177449"/>
                      <a:pt x="3" y="179836"/>
                      <a:pt x="1017" y="181864"/>
                    </a:cubicBezTo>
                    <a:cubicBezTo>
                      <a:pt x="2031" y="183892"/>
                      <a:pt x="3939" y="185327"/>
                      <a:pt x="6169" y="185738"/>
                    </a:cubicBezTo>
                    <a:lnTo>
                      <a:pt x="119675" y="185738"/>
                    </a:lnTo>
                    <a:cubicBezTo>
                      <a:pt x="121905" y="185327"/>
                      <a:pt x="123813" y="183892"/>
                      <a:pt x="124827" y="181864"/>
                    </a:cubicBezTo>
                    <a:cubicBezTo>
                      <a:pt x="125841" y="179836"/>
                      <a:pt x="125844" y="177449"/>
                      <a:pt x="124834" y="175419"/>
                    </a:cubicBezTo>
                    <a:lnTo>
                      <a:pt x="83559" y="61912"/>
                    </a:lnTo>
                    <a:lnTo>
                      <a:pt x="83559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1090612" y="5593556"/>
              <a:ext cx="69705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假设：</a:t>
              </a:r>
              <a:r>
                <a:rPr lang="zh-CN" sz="112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model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与外部 baseline 主要栽在指标 3、4（</a:t>
              </a:r>
              <a:r>
                <a:rPr lang="zh-CN" sz="112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structure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/ </a:t>
              </a:r>
              <a:r>
                <a:rPr lang="zh-CN" sz="112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cycle-semantics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类缺陷），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90612" y="5841206"/>
              <a:ext cx="56149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加规范和图后这两类明显减少；剩下的时序契约类缺陷需要验证框架才能挡住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22922" y="6521291"/>
            <a:ext cx="11146156" cy="167640"/>
            <a:chOff x="522922" y="6521291"/>
            <a:chExt cx="11146156" cy="167640"/>
          </a:xfrm>
        </p:grpSpPr>
        <p:sp>
          <p:nvSpPr>
            <p:cNvPr id="84" name="TextBox 84"/>
            <p:cNvSpPr txBox="1"/>
            <p:nvPr/>
          </p:nvSpPr>
          <p:spPr>
            <a:xfrm>
              <a:off x="522922" y="6521291"/>
              <a:ext cx="21536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AI 生成 RTL 综述 · 2026-10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45705" y="652129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8" grpId="0"/>
      <p:bldP spid="75" grpId="0"/>
      <p:bldP spid="8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4641056" cy="678656"/>
            <a:chOff x="533400" y="419100"/>
            <a:chExt cx="4641056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109227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下一步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44648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先把对照组跑起来，再谈贡献；请老师和同学补充漏掉的工作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99110" y="1370171"/>
            <a:ext cx="11159490" cy="620554"/>
            <a:chOff x="499110" y="1370171"/>
            <a:chExt cx="11159490" cy="620554"/>
          </a:xfrm>
        </p:grpSpPr>
        <p:sp>
          <p:nvSpPr>
            <p:cNvPr id="7" name="TextBox 7"/>
            <p:cNvSpPr txBox="1"/>
            <p:nvPr/>
          </p:nvSpPr>
          <p:spPr>
            <a:xfrm>
              <a:off x="499110" y="1384935"/>
              <a:ext cx="42052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01102" y="1370171"/>
              <a:ext cx="134735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补齐文献核实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04912" y="1650206"/>
              <a:ext cx="87614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GoldMine、IODINE、A-TEAM、latency-insensitive 的书目；PDL 会议名；agent 流程一路（VerilogCoder、MAGE 等）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219200" y="1981200"/>
              <a:ext cx="10439400" cy="9525"/>
            </a:xfrm>
            <a:custGeom>
              <a:avLst/>
              <a:gdLst/>
              <a:ahLst/>
              <a:cxnLst/>
              <a:rect l="l" t="t" r="r" b="b"/>
              <a:pathLst>
                <a:path w="10439400" h="9525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99110" y="2170271"/>
            <a:ext cx="11159490" cy="620554"/>
            <a:chOff x="499110" y="2170271"/>
            <a:chExt cx="11159490" cy="620554"/>
          </a:xfrm>
        </p:grpSpPr>
        <p:sp>
          <p:nvSpPr>
            <p:cNvPr id="12" name="TextBox 12"/>
            <p:cNvSpPr txBox="1"/>
            <p:nvPr/>
          </p:nvSpPr>
          <p:spPr>
            <a:xfrm>
              <a:off x="499110" y="2185035"/>
              <a:ext cx="52403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01102" y="2170271"/>
              <a:ext cx="182811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拉起外部 baseline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04912" y="2450306"/>
              <a:ext cx="73977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CodeV-R1 / VeriReason 7B 本地部署；在 ArchXBench L4 子集上复现"全部失败"，确认评测链路可用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219200" y="2781300"/>
              <a:ext cx="10439400" cy="9525"/>
            </a:xfrm>
            <a:custGeom>
              <a:avLst/>
              <a:gdLst/>
              <a:ahLst/>
              <a:cxnLst/>
              <a:rect l="l" t="t" r="r" b="b"/>
              <a:pathLst>
                <a:path w="10439400" h="9525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499110" y="2970371"/>
            <a:ext cx="11159490" cy="620554"/>
            <a:chOff x="499110" y="2970371"/>
            <a:chExt cx="11159490" cy="620554"/>
          </a:xfrm>
        </p:grpSpPr>
        <p:sp>
          <p:nvSpPr>
            <p:cNvPr id="17" name="TextBox 17"/>
            <p:cNvSpPr txBox="1"/>
            <p:nvPr/>
          </p:nvSpPr>
          <p:spPr>
            <a:xfrm>
              <a:off x="499110" y="2985135"/>
              <a:ext cx="52403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01102" y="2970371"/>
              <a:ext cx="134735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跑第一组消融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04912" y="3250406"/>
              <a:ext cx="81781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subcore_issue_hold</a:t>
              </a:r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上 4 种条件 × ≥3 次，按 E 记录填写；用已有的 wave_compare / model_compare 出工件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1219200" y="3581400"/>
              <a:ext cx="10439400" cy="9525"/>
            </a:xfrm>
            <a:custGeom>
              <a:avLst/>
              <a:gdLst/>
              <a:ahLst/>
              <a:cxnLst/>
              <a:rect l="l" t="t" r="r" b="b"/>
              <a:pathLst>
                <a:path w="10439400" h="9525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499110" y="3770471"/>
            <a:ext cx="11159490" cy="620554"/>
            <a:chOff x="499110" y="3770471"/>
            <a:chExt cx="11159490" cy="620554"/>
          </a:xfrm>
        </p:grpSpPr>
        <p:sp>
          <p:nvSpPr>
            <p:cNvPr id="22" name="TextBox 22"/>
            <p:cNvSpPr txBox="1"/>
            <p:nvPr/>
          </p:nvSpPr>
          <p:spPr>
            <a:xfrm>
              <a:off x="499110" y="3785235"/>
              <a:ext cx="52403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01102" y="3770471"/>
              <a:ext cx="24399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把已有失败写成缺陷记录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04912" y="4050506"/>
              <a:ext cx="69705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G2 首轮（同 warp 连续发射）、PR 38 </a:t>
              </a:r>
              <a:r>
                <a:rPr lang="zh-CN" sz="1125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next_deadline</a:t>
              </a:r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组合环 → D 记录，标"本应被哪一层挡住"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219200" y="4381500"/>
              <a:ext cx="10439400" cy="9525"/>
            </a:xfrm>
            <a:custGeom>
              <a:avLst/>
              <a:gdLst/>
              <a:ahLst/>
              <a:cxnLst/>
              <a:rect l="l" t="t" r="r" b="b"/>
              <a:pathLst>
                <a:path w="10439400" h="9525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499110" y="4570571"/>
            <a:ext cx="7832407" cy="563404"/>
            <a:chOff x="499110" y="4570571"/>
            <a:chExt cx="7832407" cy="563404"/>
          </a:xfrm>
        </p:grpSpPr>
        <p:sp>
          <p:nvSpPr>
            <p:cNvPr id="27" name="TextBox 27"/>
            <p:cNvSpPr txBox="1"/>
            <p:nvPr/>
          </p:nvSpPr>
          <p:spPr>
            <a:xfrm>
              <a:off x="499110" y="4585335"/>
              <a:ext cx="52403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01102" y="4570571"/>
              <a:ext cx="134735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契约挖掘原型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04912" y="4850606"/>
              <a:ext cx="71266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按流水级 / 事件通道生成模板，在基线 FST 上挖掘；用 G2 首轮模型检验能否在 iadd3 里提前报出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33400" y="5334000"/>
            <a:ext cx="11125200" cy="800100"/>
            <a:chOff x="533400" y="5334000"/>
            <a:chExt cx="11125200" cy="800100"/>
          </a:xfrm>
        </p:grpSpPr>
        <p:sp>
          <p:nvSpPr>
            <p:cNvPr id="31" name="Rectangle 31"/>
            <p:cNvSpPr/>
            <p:nvPr/>
          </p:nvSpPr>
          <p:spPr>
            <a:xfrm>
              <a:off x="533400" y="5334000"/>
              <a:ext cx="11125200" cy="800100"/>
            </a:xfrm>
            <a:prstGeom prst="roundRect">
              <a:avLst>
                <a:gd name="adj" fmla="val 9524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95338" y="5595938"/>
              <a:ext cx="200024" cy="200025"/>
              <a:chOff x="795338" y="5595938"/>
              <a:chExt cx="200024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817562" y="559593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95338" y="5729288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39800" y="5597382"/>
                <a:ext cx="33425" cy="86122"/>
              </a:xfrm>
              <a:custGeom>
                <a:avLst/>
                <a:gdLst/>
                <a:ahLst/>
                <a:cxnLst/>
                <a:rect l="l" t="t" r="r" b="b"/>
                <a:pathLst>
                  <a:path w="33425" h="86122">
                    <a:moveTo>
                      <a:pt x="0" y="0"/>
                    </a:moveTo>
                    <a:cubicBezTo>
                      <a:pt x="19668" y="5036"/>
                      <a:pt x="33425" y="22758"/>
                      <a:pt x="33425" y="43061"/>
                    </a:cubicBezTo>
                    <a:cubicBezTo>
                      <a:pt x="33425" y="63364"/>
                      <a:pt x="19668" y="81086"/>
                      <a:pt x="0" y="86122"/>
                    </a:cubicBez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62025" y="5730954"/>
                <a:ext cx="33337" cy="65008"/>
              </a:xfrm>
              <a:custGeom>
                <a:avLst/>
                <a:gdLst/>
                <a:ahLst/>
                <a:cxnLst/>
                <a:rect l="l" t="t" r="r" b="b"/>
                <a:pathLst>
                  <a:path w="33337" h="65008">
                    <a:moveTo>
                      <a:pt x="33337" y="65008"/>
                    </a:moveTo>
                    <a:lnTo>
                      <a:pt x="33337" y="42783"/>
                    </a:lnTo>
                    <a:cubicBezTo>
                      <a:pt x="33221" y="22609"/>
                      <a:pt x="19534" y="5043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2A7F9E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165860" y="5528310"/>
              <a:ext cx="75140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想听意见：baseline 组合够不够有说服力？是否还要加 HLS（Vitis / Catapult）作为工业对照？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67765" y="5811202"/>
              <a:ext cx="54170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素材与核实记录：curryGPU 本地 document/survey/（三路检索结果 + 大纲）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22922" y="6521291"/>
            <a:ext cx="11146156" cy="167640"/>
            <a:chOff x="522922" y="6521291"/>
            <a:chExt cx="11146156" cy="167640"/>
          </a:xfrm>
        </p:grpSpPr>
        <p:sp>
          <p:nvSpPr>
            <p:cNvPr id="40" name="TextBox 40"/>
            <p:cNvSpPr txBox="1"/>
            <p:nvPr/>
          </p:nvSpPr>
          <p:spPr>
            <a:xfrm>
              <a:off x="522922" y="6521291"/>
              <a:ext cx="21536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AI 生成 RTL 综述 · 2026-10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45705" y="652129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21" grpId="0"/>
      <p:bldP spid="26" grpId="0"/>
      <p:bldP spid="30" grpId="0"/>
      <p:bldP spid="3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