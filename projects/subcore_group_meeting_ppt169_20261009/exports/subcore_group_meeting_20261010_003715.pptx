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大家好，今天汇报这一周在 curryGPU 上做的工作。主题是 subcore 流水线的结构整理：先把现有 RTL 读清楚、定下目标结构，再在行为不变的前提下一步步改，同时总结一下这个过程对 AI 生成 RTL 有什么启示。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今天分五部分。先讲背景，为什么要整理；然后是重点，subcore 的目标结构和已经落地的两步；接着讲验证方法；再讲 AI 生成 RTL 的八条观察；最后是下一步和几个想请大家一起判断的问题。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先说结论：现在的 RTL 能跑通，但结构说不清楚。一个 SM 里有四个 subcore，每个十六个 warp slot。读 RTL 发现四个问题。第一，发射路径从 eligible 到 VALU 入口全在同一拍组合完成，估计三十五到四十五级逻辑。第二，调度器组合读执行单元内部的信号，相当于把写口预约藏在调度器里。第三，挡发射的各种位散在六千多行的 subcore_top 里，从波形上看不出是谁挡的。第四，有死逻辑，还有单项 head 导致同一 warp 只能隔拍发射，和性能模型对不上。PR 38 统一了写法，但没有统一结构，这正是我们要补的。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这一周大致分六个节点。十月四号先搭了 AI 生成 RTL 的研究记录框架和 scoreboard 契约；五号读 RTL 得出流水线划分，发现本地落后远程一千五百多个提交，同步后重读，写了规范初稿；六七号搭 EDA 环境、跑出 iadd3 基线；八号提交了 Phase 2，S1 和 S2 的保持行为整理；八到九号做了 d1，并处理了仿真不确定的问题；九号把 S1 和 S2 的发射条件定了稿。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目标结构可以用一句话概括：大流水线套小流水线。核心是三条边界规则：向前只走寄存器，向后只走寄存的事件通道，每份状态只有一个主人。做到这三条，跨级组合读取在结构上就写不出来。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具体来说，七个大级每拍并行工作。每个大级内部用一个统一的握手模板，取自公司 DSP 设计里的任务流水线写法：rdy 等于下一级的 ena，ena 等于握手或者当前级为空。和 DSP 不同的是，subcore 外层没有互斥的任务状态机，状态机只用在一次做一件、要做多拍的单元上。另外，S2 是全流水线唯一的单拍环，发射之后下一拍选 warp 就要读到的状态，比如 head 消耗、stall 载入、scoreboard 加一，只能放在 S2；其他状态都可以晚一拍看到。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这张是目标结构的总图。橙色框住的是 S2，也就是唯一的单拍环。全流水线逐级组合握手，rdy 只能来自下一级的 ena、常数一或者外部寄存输出。S2 到 S3 之间只寄存 warp 号和 ITS 状态，两百五十五位的完整指令由 S1 按 warp 号直接送到 S3，不在 S2 做十六选一。底部是向后的事件通道，每个来源一条，带 warp 号和代号，迟到的事件直接丢弃。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 S0 取指。现状有一把全局锁，每两拍才查一次 L0I，平均每拍不到一条，正好等于发射上限，没有余量。目标是在途位按 warp 设，不同 warp 每拍都能查；L0I 数据放进 SRAM，分成查 tag、读数据、写 IB 三级。代价是取指到发射的延迟从三拍变成四拍，但只在分支跳转、IB 清空之后才显现。还有两个待定点：单 warp 每三拍才能查一次，要不要补；回填频繁时要不要改成双口 SRAM。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S1 和 S2 是这次讨论最多的部分。S1 的 head 定为每个 warp 两项的 FIFO，总共大约一 KB 触发器，这样同一 warp 可以每拍发射，和性能模型对齐。S2 的发射条件整理成显式 scoreboard 加隐式 scoreboard。显式的是编译器分配的计数器；隐式的是硬件为 MEMBAR、CCTL、SETMAXREG、ERRBAR、分支和初始化各设的一位，发射置位、事件清除。机制和原版一样，只是把归属理清楚了。发射本身简化成选中、credit 够、下一级 ready 三个条件，读口、写口的检查都挪到 S4。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S4 的思路是一次预约、之后拍数全固定。allocate 放行前查四样东西：读级入口、读口表、按写口分的写回拍表、必要时执行单元的完成拍表。写回拍表就是一个移位寄存器，放行时置位，每拍右移。这样过了 allocate，读、启动、完成、写回都是确定的拍数，不需要结果队列。这一点和 MICRO 2025 那篇模拟器的做法不同，他们用结果队列，写回拍不确定，stall 就不可靠了。右边是事件通道，标红的两条现状还是同拍组合，目标都改成寄存加一拍，代价还要测。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到目前为止落地了两步，都只改写法和归属，不改拍数。Phase 2 已经提交，把 S1 和八个调度器文件改成统一模板写法，其中选择逻辑的优先级只编码一次，原来是三处 if 链，PR 38 还复制成了三份。d1 还没提交，新建了 subcore_issue_hold 模块，把散在 subcore_top 里的几种 hold 位原样搬进去，同拍优先级与原版完全一致，subcore_top 里五项与运算变成了一项。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验证上，每一步都留下可重复的证据。Phase 2 逐信号比对，十万个信号零差异，iadd3 拍数和基线完全相同。d1 在五个负载上做 A B 比对，每个 kernel 的 PMU 行逐行相同。过程中有一个意外发现：同一个仿真二进制跑两次，拍数会落在两条时间线之一，原因在 runtime 的线程调度，和 RTL 无关。加了 lockstep 开关后结果稳定，单次运行还从三十五分钟降到十七分钟。提交 d1 之前还差两项：d1 的逐信号比对结论和 sm_context 测试。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 AI 生成 RTL 的观察。最核心的一条：AI 缺的不是细节，而是结构这一层。性能模型把发射到分发当成一个事件，照着它生成的 RTL 就会跨级组合读。第二，风格脚本不保证行为不变，PR 38 最后一个格式化提交引入了组合环，所以只改写法的提交也必须做等价检查。第三，契约要从代码里读，读完发现原定的验证计划根本测不到 scoreboard。第四，AI 读 RTL 的结论会随代码过时，所以每条结论都要写上依据的提交号和行号。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后四条。第五，AI 也会讲错，比如讲 MEMBAR 时就说错过，有行号依据才能快速纠正。第六，抽象层次比细节重要，挡发射的位换了三版抽象，最后发现原版本来就是 scoreboard 的模式，所以先找已有机制，不要另造。第七，测量基础设施本身可能不确定，A B 之前要先确认同一二进制重复跑结果一致。第八，死逻辑和静默挂起，回归测不出来，要靠状态有没有主人这类结构规则来暴露。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成五条做法：小步保持行为、每步留工件；只改写法和改拍数分开提交；用模板和结构让违例写不出来；每条决定写依据和状态；讨论稿、图、代码分开管理。右边是准备用来量化的研究框架，四种实验条件逐级叠加输入，从只给自然语言，到加模型、加规范、加流水线图，用来看每一层输入能挡住哪类缺陷。目前框架只有模板，还没有实例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下一步，先做完保持行为的整理：提交 d1，把分支序列和 ITS 搬进 S2，定上下文保存格式。之后再做会改拍数的结构改动，比如 S2 到 S4 一起重构、两项 head FIFO、事件通道加一拍。最后有几个问题想请大家一起判断：拉长流水线换来清晰结构是否值得；单 warp 取指要不要补；分支状态机的粒度；以及 AI 实验第一个模块选什么。谢谢大家。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cc14bfeb445b990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c3fdf723a507af2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742e904929fc597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bc8ddc70ae7e86e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0"/>
            <a:ext cx="4267200" cy="6858000"/>
            <a:chOff x="0" y="0"/>
            <a:chExt cx="42672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4191000" cy="6858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191000" y="0"/>
              <a:ext cx="76200" cy="68580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4287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333500" y="14287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0764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7645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E07A1F">
                <a:alpha val="9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465" y="2934652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SM · 4 × subcore · 16 warp slots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2465" y="5696902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S0 → S1 → S2 → S3 → S4 → S5 → SW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03470" y="2203132"/>
            <a:ext cx="4375294" cy="2678430"/>
            <a:chOff x="4903470" y="2203132"/>
            <a:chExt cx="4375294" cy="2678430"/>
          </a:xfrm>
        </p:grpSpPr>
        <p:sp>
          <p:nvSpPr>
            <p:cNvPr id="12" name="TextBox 12"/>
            <p:cNvSpPr txBox="1"/>
            <p:nvPr/>
          </p:nvSpPr>
          <p:spPr>
            <a:xfrm>
              <a:off x="4932045" y="2203132"/>
              <a:ext cx="24583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curryGPU · 组会汇报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03470" y="2722245"/>
              <a:ext cx="437529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subcore 流水线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03470" y="336994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结构整理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32045" y="4222432"/>
              <a:ext cx="29939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从读 RTL 到可验证的重构，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32045" y="4546282"/>
              <a:ext cx="26204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以及 AI 生成 RTL 的启示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35855" y="5334000"/>
            <a:ext cx="6303645" cy="766762"/>
            <a:chOff x="4935855" y="5334000"/>
            <a:chExt cx="6303645" cy="766762"/>
          </a:xfrm>
        </p:grpSpPr>
        <p:sp>
          <p:nvSpPr>
            <p:cNvPr id="18" name="Line 18"/>
            <p:cNvSpPr/>
            <p:nvPr/>
          </p:nvSpPr>
          <p:spPr>
            <a:xfrm>
              <a:off x="4953000" y="5334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35855" y="556926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汇报人：dyf</a:t>
              </a:r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 xml:space="preserve"> | 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2026-10-10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39665" y="588740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branch: subcore-pipeline-structure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33400" y="381000"/>
            <a:ext cx="11125200" cy="847725"/>
            <a:chOff x="533400" y="381000"/>
            <a:chExt cx="11125200" cy="847725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81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今天讲什么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906000" y="381000"/>
              <a:ext cx="1752600" cy="609600"/>
            </a:xfrm>
            <a:prstGeom prst="roundRect">
              <a:avLst>
                <a:gd name="adj" fmla="val 125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19601" y="459105"/>
              <a:ext cx="13253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≈22</a:t>
              </a:r>
              <a:r>
                <a:rPr lang="zh-CN" sz="120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分钟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20217" y="79819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10-04 至 10-09 的工作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66800" y="1714500"/>
            <a:ext cx="9525" cy="4191000"/>
            <a:chOff x="1066800" y="1714500"/>
            <a:chExt cx="9525" cy="4191000"/>
          </a:xfrm>
        </p:grpSpPr>
        <p:sp>
          <p:nvSpPr>
            <p:cNvPr id="10" name="Line 10"/>
            <p:cNvSpPr/>
            <p:nvPr/>
          </p:nvSpPr>
          <p:spPr>
            <a:xfrm>
              <a:off x="10668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38200" y="1485900"/>
            <a:ext cx="10834688" cy="564356"/>
            <a:chOff x="838200" y="1485900"/>
            <a:chExt cx="10834688" cy="564356"/>
          </a:xfrm>
        </p:grpSpPr>
        <p:sp>
          <p:nvSpPr>
            <p:cNvPr id="12" name="Ellipse 12"/>
            <p:cNvSpPr/>
            <p:nvPr/>
          </p:nvSpPr>
          <p:spPr>
            <a:xfrm>
              <a:off x="838200" y="14859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3350" y="164211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1145" y="14982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背景与动机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7812" y="1821656"/>
              <a:ext cx="45305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subcore 在哪里，现状 RTL 有什么结构问题，这一周做了什么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76040" y="16502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 分钟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8200" y="2533650"/>
            <a:ext cx="10834687" cy="564356"/>
            <a:chOff x="838200" y="2533650"/>
            <a:chExt cx="10834687" cy="564356"/>
          </a:xfrm>
        </p:grpSpPr>
        <p:sp>
          <p:nvSpPr>
            <p:cNvPr id="18" name="Ellipse 18"/>
            <p:cNvSpPr/>
            <p:nvPr/>
          </p:nvSpPr>
          <p:spPr>
            <a:xfrm>
              <a:off x="838200" y="2533650"/>
              <a:ext cx="457200" cy="4572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0347" y="2689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41145" y="2546032"/>
              <a:ext cx="28632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目标结构与实现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47812" y="2869406"/>
              <a:ext cx="54917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大流水线套小流水线；S0 取指、S1/S2 发射、S3/S4 预约；已经落地的两步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52626" y="26979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9 分钟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" y="3581400"/>
            <a:ext cx="10834688" cy="564356"/>
            <a:chOff x="838200" y="3581400"/>
            <a:chExt cx="10834688" cy="564356"/>
          </a:xfrm>
        </p:grpSpPr>
        <p:sp>
          <p:nvSpPr>
            <p:cNvPr id="24" name="Ellipse 24"/>
            <p:cNvSpPr/>
            <p:nvPr/>
          </p:nvSpPr>
          <p:spPr>
            <a:xfrm>
              <a:off x="838200" y="3581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0347" y="3737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41145" y="35937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47812" y="3917156"/>
              <a:ext cx="46620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逐信号波形比对、A/B 拍数比对，以及 SoC 仿真不确定性的处理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6040" y="37457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 分钟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" y="4629150"/>
            <a:ext cx="10834687" cy="564356"/>
            <a:chOff x="838200" y="4629150"/>
            <a:chExt cx="10834687" cy="564356"/>
          </a:xfrm>
        </p:grpSpPr>
        <p:sp>
          <p:nvSpPr>
            <p:cNvPr id="30" name="Ellipse 30"/>
            <p:cNvSpPr/>
            <p:nvPr/>
          </p:nvSpPr>
          <p:spPr>
            <a:xfrm>
              <a:off x="838200" y="4629150"/>
              <a:ext cx="457200" cy="4572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0347" y="47853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1145" y="4641532"/>
              <a:ext cx="29264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生成 RTL 的观察与启示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47812" y="496490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8 条带实例的观察，5 条有效做法，研究框架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52626" y="47934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5 分钟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8200" y="5676900"/>
            <a:ext cx="10834688" cy="564356"/>
            <a:chOff x="838200" y="5676900"/>
            <a:chExt cx="10834688" cy="564356"/>
          </a:xfrm>
        </p:grpSpPr>
        <p:sp>
          <p:nvSpPr>
            <p:cNvPr id="36" name="Ellipse 36"/>
            <p:cNvSpPr/>
            <p:nvPr/>
          </p:nvSpPr>
          <p:spPr>
            <a:xfrm>
              <a:off x="838200" y="56769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0347" y="58331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41145" y="56892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下一步与待讨论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47812" y="6012656"/>
              <a:ext cx="4653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保持行为的整理 → 改拍数的结构改动；想请大家一起判断的问题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76040" y="58412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5480983" cy="678656"/>
            <a:chOff x="533400" y="419100"/>
            <a:chExt cx="5480983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531905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现状 RTL 能跑通，但结构说不清楚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0892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发射路径上只有 IB → head 一处寄存器边界，其余全在同一拍组合完成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219200"/>
            <a:ext cx="7124700" cy="3864769"/>
            <a:chOff x="533400" y="1219200"/>
            <a:chExt cx="7124700" cy="3864769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7124700" cy="3581400"/>
            </a:xfrm>
            <a:prstGeom prst="roundRect">
              <a:avLst>
                <a:gd name="adj" fmla="val 212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257300"/>
              <a:ext cx="7048500" cy="33909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597218" y="4885849"/>
              <a:ext cx="42326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10 现状数据通路与寄存器边界（main 73534bd2，读 RTL 得出）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9112" y="5269706"/>
            <a:ext cx="7138988" cy="976313"/>
            <a:chOff x="519112" y="5269706"/>
            <a:chExt cx="7138988" cy="976313"/>
          </a:xfrm>
        </p:grpSpPr>
        <p:sp>
          <p:nvSpPr>
            <p:cNvPr id="11" name="TextBox 11"/>
            <p:cNvSpPr txBox="1"/>
            <p:nvPr/>
          </p:nvSpPr>
          <p:spPr>
            <a:xfrm>
              <a:off x="519112" y="5269706"/>
              <a:ext cx="12621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subcore 的位置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5524500"/>
              <a:ext cx="914400" cy="381000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0760" y="565070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GPU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98664" y="56426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76400" y="5524500"/>
              <a:ext cx="914400" cy="381000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83760" y="565070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GPC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1663" y="56426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19400" y="5524500"/>
              <a:ext cx="914400" cy="381000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26760" y="565070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TPC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84663" y="56426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962400" y="5524500"/>
              <a:ext cx="914400" cy="381000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98513" y="5650706"/>
              <a:ext cx="242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27664" y="56426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05400" y="5524500"/>
              <a:ext cx="2552700" cy="381000"/>
            </a:xfrm>
            <a:prstGeom prst="roundRect">
              <a:avLst>
                <a:gd name="adj" fmla="val 150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7064" y="5650706"/>
              <a:ext cx="24093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 × subcore · 各 16 warp slot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1018" y="6047899"/>
              <a:ext cx="5905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取指前端（仲裁、L0I、IB）每个 subcore 一份；4 个 subcore 只共用 L1I、miss queue、TLB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86700" y="1219200"/>
            <a:ext cx="3771900" cy="1128712"/>
            <a:chOff x="7886700" y="1219200"/>
            <a:chExt cx="3771900" cy="1128712"/>
          </a:xfrm>
        </p:grpSpPr>
        <p:sp>
          <p:nvSpPr>
            <p:cNvPr id="28" name="Rectangle 28"/>
            <p:cNvSpPr/>
            <p:nvPr/>
          </p:nvSpPr>
          <p:spPr>
            <a:xfrm>
              <a:off x="7886700" y="1219200"/>
              <a:ext cx="37719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86700" y="1219200"/>
              <a:ext cx="38100" cy="11049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105775" y="1400175"/>
              <a:ext cx="171450" cy="171450"/>
              <a:chOff x="8105775" y="1400175"/>
              <a:chExt cx="171450" cy="1714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105775" y="15335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39125" y="14001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4825" y="141922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384858" y="1414939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发射是一条长组合链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63865" y="1715452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eligible → 选择 → allocate → ITS → dispatch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63865" y="1925002"/>
              <a:ext cx="26183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→ RF 读地址 → VALU 入口，同一拍完成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63865" y="21345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估计 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35–45 级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逻辑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86700" y="2438400"/>
            <a:ext cx="3771900" cy="1128712"/>
            <a:chOff x="7886700" y="2438400"/>
            <a:chExt cx="3771900" cy="1128712"/>
          </a:xfrm>
        </p:grpSpPr>
        <p:sp>
          <p:nvSpPr>
            <p:cNvPr id="39" name="Rectangle 39"/>
            <p:cNvSpPr/>
            <p:nvPr/>
          </p:nvSpPr>
          <p:spPr>
            <a:xfrm>
              <a:off x="7886700" y="2438400"/>
              <a:ext cx="37719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86700" y="2438400"/>
              <a:ext cx="38100" cy="11049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115300" y="2619375"/>
              <a:ext cx="152400" cy="171450"/>
              <a:chOff x="8115300" y="2619375"/>
              <a:chExt cx="152400" cy="1714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115300" y="2628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29600" y="2743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81975" y="264795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0" y="0"/>
                    </a:moveTo>
                    <a:lnTo>
                      <a:pt x="47625" y="0"/>
                    </a:lnTo>
                    <a:cubicBezTo>
                      <a:pt x="58146" y="0"/>
                      <a:pt x="66675" y="8529"/>
                      <a:pt x="66675" y="19050"/>
                    </a:cubicBezTo>
                    <a:lnTo>
                      <a:pt x="66675" y="952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81975" y="26193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28575" y="57150"/>
                    </a:moveTo>
                    <a:lnTo>
                      <a:pt x="0" y="28575"/>
                    </a:ln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34350" y="266700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66675" y="95250"/>
                    </a:move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72450" y="27336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384858" y="26341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跨级组合读取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63865" y="2934652"/>
              <a:ext cx="26873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S2 组合读 exec 内部的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collect_fire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63865" y="3144202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rd_busy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，写口预约藏在调度器里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63865" y="3353752"/>
              <a:ext cx="2602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scoreboard 在完成的同一拍组合释放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886700" y="3657600"/>
            <a:ext cx="3771900" cy="1128712"/>
            <a:chOff x="7886700" y="3657600"/>
            <a:chExt cx="3771900" cy="1128712"/>
          </a:xfrm>
        </p:grpSpPr>
        <p:sp>
          <p:nvSpPr>
            <p:cNvPr id="53" name="Rectangle 53"/>
            <p:cNvSpPr/>
            <p:nvPr/>
          </p:nvSpPr>
          <p:spPr>
            <a:xfrm>
              <a:off x="7886700" y="3657600"/>
              <a:ext cx="37719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86700" y="3657600"/>
              <a:ext cx="38100" cy="11049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115300" y="3848100"/>
              <a:ext cx="152400" cy="152400"/>
              <a:chOff x="8115300" y="3848100"/>
              <a:chExt cx="152400" cy="1524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115300" y="38481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76200" y="0"/>
                    </a:moveTo>
                    <a:lnTo>
                      <a:pt x="0" y="38100"/>
                    </a:lnTo>
                    <a:lnTo>
                      <a:pt x="76200" y="76200"/>
                    </a:lnTo>
                    <a:lnTo>
                      <a:pt x="152400" y="381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15300" y="3924300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0"/>
                    </a:moveTo>
                    <a:lnTo>
                      <a:pt x="76200" y="3810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15300" y="3962400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0"/>
                    </a:moveTo>
                    <a:lnTo>
                      <a:pt x="76200" y="3810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384858" y="3853339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挡发射的位散落各处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63865" y="4153852"/>
              <a:ext cx="3316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MEMBAR、CCTL、SETMAXREG、ERRBAR、分支……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3865" y="4363402"/>
              <a:ext cx="2326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散在 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6000+ 行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的 subcore_top 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63865" y="4572952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全部 AND 进 head_valid，波形上看不出谁挡的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886700" y="4876800"/>
            <a:ext cx="3771900" cy="1128712"/>
            <a:chOff x="7886700" y="4876800"/>
            <a:chExt cx="3771900" cy="1128712"/>
          </a:xfrm>
        </p:grpSpPr>
        <p:sp>
          <p:nvSpPr>
            <p:cNvPr id="64" name="Rectangle 64"/>
            <p:cNvSpPr/>
            <p:nvPr/>
          </p:nvSpPr>
          <p:spPr>
            <a:xfrm>
              <a:off x="7886700" y="4876800"/>
              <a:ext cx="37719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86700" y="4876800"/>
              <a:ext cx="38100" cy="11049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105775" y="5076825"/>
              <a:ext cx="171450" cy="142875"/>
              <a:chOff x="8105775" y="5076825"/>
              <a:chExt cx="171450" cy="14287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162925" y="50768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43875" y="5114925"/>
                <a:ext cx="952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4775">
                    <a:moveTo>
                      <a:pt x="9525" y="0"/>
                    </a:moveTo>
                    <a:lnTo>
                      <a:pt x="85725" y="0"/>
                    </a:lnTo>
                    <a:cubicBezTo>
                      <a:pt x="91398" y="8502"/>
                      <a:pt x="94687" y="18370"/>
                      <a:pt x="95250" y="28575"/>
                    </a:cubicBezTo>
                    <a:lnTo>
                      <a:pt x="95250" y="57150"/>
                    </a:lnTo>
                    <a:cubicBezTo>
                      <a:pt x="95250" y="83453"/>
                      <a:pt x="73928" y="104775"/>
                      <a:pt x="47625" y="104775"/>
                    </a:cubicBezTo>
                    <a:cubicBezTo>
                      <a:pt x="21322" y="104775"/>
                      <a:pt x="0" y="83453"/>
                      <a:pt x="0" y="57150"/>
                    </a:cubicBezTo>
                    <a:lnTo>
                      <a:pt x="0" y="28575"/>
                    </a:lnTo>
                    <a:cubicBezTo>
                      <a:pt x="563" y="18370"/>
                      <a:pt x="3852" y="8502"/>
                      <a:pt x="9525" y="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05775" y="51530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39125" y="51530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191500" y="51625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15300" y="519112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0" y="19050"/>
                    </a:moveTo>
                    <a:lnTo>
                      <a:pt x="31909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35791" y="5191125"/>
                <a:ext cx="31909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19050">
                    <a:moveTo>
                      <a:pt x="31909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15300" y="509587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0" y="0"/>
                    </a:moveTo>
                    <a:lnTo>
                      <a:pt x="35719" y="2286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31981" y="5095875"/>
                <a:ext cx="35719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22860">
                    <a:moveTo>
                      <a:pt x="35719" y="0"/>
                    </a:moveTo>
                    <a:lnTo>
                      <a:pt x="0" y="2286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8384858" y="5072539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死逻辑与隐式约定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063865" y="5373052"/>
              <a:ext cx="17825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hold_for_fill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永远不触发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063865" y="5582602"/>
              <a:ext cx="3316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单项 head 使同一 warp 隔拍发射：峰值 IPC 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0.5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63865" y="5792152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与性能模型 max(1, stall) 对不上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22922" y="6113145"/>
            <a:ext cx="11146155" cy="594836"/>
            <a:chOff x="522922" y="6113145"/>
            <a:chExt cx="11146155" cy="594836"/>
          </a:xfrm>
        </p:grpSpPr>
        <p:sp>
          <p:nvSpPr>
            <p:cNvPr id="81" name="TextBox 81"/>
            <p:cNvSpPr txBox="1"/>
            <p:nvPr/>
          </p:nvSpPr>
          <p:spPr>
            <a:xfrm>
              <a:off x="7875270" y="6113145"/>
              <a:ext cx="2921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PR #38 用 30 个脚本统一了写法，没规定级怎么切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" grpId="0"/>
      <p:bldP spid="38" grpId="0"/>
      <p:bldP spid="52" grpId="0"/>
      <p:bldP spid="63" grpId="0"/>
      <p:bldP spid="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861155" cy="678656"/>
            <a:chOff x="533400" y="419100"/>
            <a:chExt cx="6861155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69923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六天：从读懂 RTL 到第一批保持行为的改动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8756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先研究框架与契约，再读 RTL 定结构，最后小步改 RTL 并逐步验证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47800" y="1676400"/>
            <a:ext cx="9296400" cy="9525"/>
            <a:chOff x="1447800" y="1676400"/>
            <a:chExt cx="9296400" cy="9525"/>
          </a:xfrm>
        </p:grpSpPr>
        <p:sp>
          <p:nvSpPr>
            <p:cNvPr id="7" name="Line 7"/>
            <p:cNvSpPr/>
            <p:nvPr/>
          </p:nvSpPr>
          <p:spPr>
            <a:xfrm>
              <a:off x="1447800" y="1676400"/>
              <a:ext cx="9296400" cy="9525"/>
            </a:xfrm>
            <a:custGeom>
              <a:avLst/>
              <a:gdLst/>
              <a:ahLst/>
              <a:cxnLst/>
              <a:rect l="l" t="t" r="r" b="b"/>
              <a:pathLst>
                <a:path w="9296400" h="9525">
                  <a:moveTo>
                    <a:pt x="0" y="0"/>
                  </a:moveTo>
                  <a:lnTo>
                    <a:pt x="9296400" y="0"/>
                  </a:lnTo>
                </a:path>
              </a:pathLst>
            </a:custGeom>
            <a:noFill/>
            <a:ln w="38100" cap="rnd">
              <a:solidFill>
                <a:srgbClr val="D8DEE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447800" y="16764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38100" cap="rnd">
              <a:solidFill>
                <a:srgbClr val="1F3A5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318260"/>
            <a:ext cx="1828800" cy="4663440"/>
            <a:chOff x="533400" y="1318260"/>
            <a:chExt cx="1828800" cy="4663440"/>
          </a:xfrm>
        </p:grpSpPr>
        <p:sp>
          <p:nvSpPr>
            <p:cNvPr id="10" name="Ellipse 10"/>
            <p:cNvSpPr/>
            <p:nvPr/>
          </p:nvSpPr>
          <p:spPr>
            <a:xfrm>
              <a:off x="1333500" y="1562100"/>
              <a:ext cx="228600" cy="2286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2531" y="13182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10-04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1981200"/>
              <a:ext cx="1828800" cy="4000500"/>
            </a:xfrm>
            <a:prstGeom prst="roundRect">
              <a:avLst>
                <a:gd name="adj" fmla="val 416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1981200"/>
              <a:ext cx="1828800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9608" y="216741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研究框架与契约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465" y="2496502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 生成 RTL 的实验 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2465" y="27060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缺陷记录模板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2465" y="301085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scoreboard 依赖环契约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465" y="331565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按旧 RTL 画图 00–08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3418" y="5647849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13389eca5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390775" y="1318260"/>
            <a:ext cx="1890951" cy="4663440"/>
            <a:chOff x="2390775" y="1318260"/>
            <a:chExt cx="1890951" cy="4663440"/>
          </a:xfrm>
        </p:grpSpPr>
        <p:sp>
          <p:nvSpPr>
            <p:cNvPr id="21" name="Ellipse 21"/>
            <p:cNvSpPr/>
            <p:nvPr/>
          </p:nvSpPr>
          <p:spPr>
            <a:xfrm>
              <a:off x="3190875" y="1562100"/>
              <a:ext cx="228600" cy="2286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59906" y="13182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10-05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390775" y="1981200"/>
              <a:ext cx="1828800" cy="4000500"/>
            </a:xfrm>
            <a:prstGeom prst="roundRect">
              <a:avLst>
                <a:gd name="adj" fmla="val 416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90775" y="1981200"/>
              <a:ext cx="1828800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26982" y="2167414"/>
              <a:ext cx="12544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 RTL 定结构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29840" y="24965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读出流水线划分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29840" y="2801302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本地 main 落后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29840" y="3010852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1558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个提交，同步后重读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29840" y="3315652"/>
              <a:ext cx="847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调研 PR #38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29840" y="3620452"/>
              <a:ext cx="1544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结构规范初稿、11 号图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30792" y="5647849"/>
              <a:ext cx="7296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73534bd2f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248150" y="1318260"/>
            <a:ext cx="1828800" cy="4663440"/>
            <a:chOff x="4248150" y="1318260"/>
            <a:chExt cx="1828800" cy="4663440"/>
          </a:xfrm>
        </p:grpSpPr>
        <p:sp>
          <p:nvSpPr>
            <p:cNvPr id="33" name="Ellipse 33"/>
            <p:cNvSpPr/>
            <p:nvPr/>
          </p:nvSpPr>
          <p:spPr>
            <a:xfrm>
              <a:off x="5048250" y="1562100"/>
              <a:ext cx="228600" cy="2286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24057" y="1318260"/>
              <a:ext cx="876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10-06～07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248150" y="1981200"/>
              <a:ext cx="1828800" cy="4000500"/>
            </a:xfrm>
            <a:prstGeom prst="roundRect">
              <a:avLst>
                <a:gd name="adj" fmla="val 416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48150" y="1981200"/>
              <a:ext cx="1828800" cy="381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84358" y="21674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环境与基线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87215" y="2496502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11 号图补流控、写口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87215" y="2706052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预约、ITS 归 S2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87215" y="301085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 root 搭 EDA 环境：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87215" y="3220402"/>
              <a:ext cx="1176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Verilator 5.052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87215" y="3525202"/>
              <a:ext cx="10694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基线波形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87215" y="3734752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348,288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拍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05525" y="1318260"/>
            <a:ext cx="1828800" cy="4663440"/>
            <a:chOff x="6105525" y="1318260"/>
            <a:chExt cx="1828800" cy="4663440"/>
          </a:xfrm>
        </p:grpSpPr>
        <p:sp>
          <p:nvSpPr>
            <p:cNvPr id="45" name="Ellipse 45"/>
            <p:cNvSpPr/>
            <p:nvPr/>
          </p:nvSpPr>
          <p:spPr>
            <a:xfrm>
              <a:off x="6905625" y="1562100"/>
              <a:ext cx="228600" cy="2286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4656" y="13182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10-08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105525" y="1981200"/>
              <a:ext cx="1828800" cy="4000500"/>
            </a:xfrm>
            <a:prstGeom prst="roundRect">
              <a:avLst>
                <a:gd name="adj" fmla="val 416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05525" y="1981200"/>
              <a:ext cx="18288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1732" y="2167414"/>
              <a:ext cx="11859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Phase 2 落地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44590" y="2496502"/>
              <a:ext cx="1406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缓存统一 SRAM 三级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4590" y="280130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S0 取指规范、12 号图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4590" y="310610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S1、S2 保持行为的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44590" y="3315652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整理：11 个文件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44590" y="3525202"/>
              <a:ext cx="10464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+3834 / −3747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5542" y="5647849"/>
              <a:ext cx="658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0fe1c31d4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962900" y="1318260"/>
            <a:ext cx="1828800" cy="4663440"/>
            <a:chOff x="7962900" y="1318260"/>
            <a:chExt cx="1828800" cy="4663440"/>
          </a:xfrm>
        </p:grpSpPr>
        <p:sp>
          <p:nvSpPr>
            <p:cNvPr id="57" name="Ellipse 57"/>
            <p:cNvSpPr/>
            <p:nvPr/>
          </p:nvSpPr>
          <p:spPr>
            <a:xfrm>
              <a:off x="8763000" y="1562100"/>
              <a:ext cx="228600" cy="2286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38807" y="1318260"/>
              <a:ext cx="876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10-08～09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62900" y="1981200"/>
              <a:ext cx="1828800" cy="4000500"/>
            </a:xfrm>
            <a:prstGeom prst="roundRect">
              <a:avLst>
                <a:gd name="adj" fmla="val 416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962900" y="1981200"/>
              <a:ext cx="18288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99108" y="2167414"/>
              <a:ext cx="1322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d1 与 lockstep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01965" y="249650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hold 位搬进新模块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01965" y="2706052"/>
              <a:ext cx="146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subcore_issue_hold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01965" y="30108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发现 SoC 仿真不确定，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01965" y="3220402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加 lockstep 开关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01965" y="35252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6 个负载 A/B 比对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02918" y="564784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未提交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820275" y="1318260"/>
            <a:ext cx="1929289" cy="4663440"/>
            <a:chOff x="9820275" y="1318260"/>
            <a:chExt cx="1929289" cy="4663440"/>
          </a:xfrm>
        </p:grpSpPr>
        <p:sp>
          <p:nvSpPr>
            <p:cNvPr id="69" name="Ellipse 69"/>
            <p:cNvSpPr/>
            <p:nvPr/>
          </p:nvSpPr>
          <p:spPr>
            <a:xfrm>
              <a:off x="10629900" y="15621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A7F9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498931" y="131826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10-09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820275" y="1981200"/>
              <a:ext cx="1838325" cy="4000500"/>
            </a:xfrm>
            <a:prstGeom prst="roundRect">
              <a:avLst>
                <a:gd name="adj" fmla="val 41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820275" y="1981200"/>
              <a:ext cx="1838325" cy="381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956482" y="21674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发射条件定稿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59340" y="2496502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S1 head：每 warp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959340" y="2706052"/>
              <a:ext cx="686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 项 FIFO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59340" y="3010852"/>
              <a:ext cx="1567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S2：显式 SB + 隐式 SB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959340" y="3220402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作废"生命周期 + hold 表"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959340" y="3525202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更正 MEMBAR GPU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59340" y="37347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范围的说法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60292" y="5647849"/>
              <a:ext cx="516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规范 §11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82" name="TextBox 82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32" grpId="0"/>
      <p:bldP spid="44" grpId="0"/>
      <p:bldP spid="56" grpId="0"/>
      <p:bldP spid="68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434233" y="5557838"/>
            <a:ext cx="1310092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0" b="1" dirty="0">
                <a:solidFill>
                  <a:srgbClr val="FFFF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025968"/>
            <a:ext cx="5060061" cy="1269682"/>
            <a:chOff x="1097280" y="2025968"/>
            <a:chExt cx="5060061" cy="1269682"/>
          </a:xfrm>
        </p:grpSpPr>
        <p:sp>
          <p:nvSpPr>
            <p:cNvPr id="4" name="TextBox 4"/>
            <p:cNvSpPr txBox="1"/>
            <p:nvPr/>
          </p:nvSpPr>
          <p:spPr>
            <a:xfrm>
              <a:off x="1125855" y="2025968"/>
              <a:ext cx="25777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PART 02 · subcore 目标结构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7280" y="2564130"/>
              <a:ext cx="5060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大流水线套小流水线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3238500"/>
              <a:ext cx="9144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22045" y="3727132"/>
            <a:ext cx="4355497" cy="1911668"/>
            <a:chOff x="1122045" y="3727132"/>
            <a:chExt cx="4355497" cy="1911668"/>
          </a:xfrm>
        </p:grpSpPr>
        <p:sp>
          <p:nvSpPr>
            <p:cNvPr id="8" name="TextBox 8"/>
            <p:cNvSpPr txBox="1"/>
            <p:nvPr/>
          </p:nvSpPr>
          <p:spPr>
            <a:xfrm>
              <a:off x="1122045" y="3727132"/>
              <a:ext cx="17287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向前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只走寄存器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045" y="4165282"/>
              <a:ext cx="43554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向后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只走已寄存的事件通道，晚 1 拍看到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2045" y="4603432"/>
              <a:ext cx="41386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每份状态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只有一个主人，只有主人能写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7760" y="5394960"/>
              <a:ext cx="4236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三条规则做到之后，跨级组合读取在结构上就写不出来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999797" cy="678656"/>
            <a:chOff x="533400" y="419100"/>
            <a:chExt cx="799979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8378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一个握手模板 + 三条边界规则，S2 是唯一的单拍环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89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7 个大级每拍并行，各自处理不同 warp；大级内部照公司 DSP 设计 DSP.v 的任务流水线写法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219200"/>
            <a:ext cx="11125200" cy="533400"/>
            <a:chOff x="533400" y="1219200"/>
            <a:chExt cx="11125200" cy="5334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11125200" cy="533400"/>
            </a:xfrm>
            <a:prstGeom prst="roundRect">
              <a:avLst>
                <a:gd name="adj" fmla="val 1428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7802" y="1421606"/>
              <a:ext cx="710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S0 fetch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2885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06206" y="1421606"/>
              <a:ext cx="759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S1 decode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77190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78420" y="1421606"/>
              <a:ext cx="7014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S2 issue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1495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01938" y="1421606"/>
              <a:ext cx="940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S3 dispatch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69634" y="14216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S4 operand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0105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97669" y="1421606"/>
              <a:ext cx="1121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S5 exe_&lt;unit&gt;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44100" y="1333500"/>
              <a:ext cx="156210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72618" y="1421606"/>
              <a:ext cx="5050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SW wb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16255" y="2006918"/>
            <a:ext cx="5804202" cy="4203382"/>
            <a:chOff x="516255" y="2006918"/>
            <a:chExt cx="5804202" cy="4203382"/>
          </a:xfrm>
        </p:grpSpPr>
        <p:sp>
          <p:nvSpPr>
            <p:cNvPr id="23" name="TextBox 23"/>
            <p:cNvSpPr txBox="1"/>
            <p:nvPr/>
          </p:nvSpPr>
          <p:spPr>
            <a:xfrm>
              <a:off x="516255" y="2006918"/>
              <a:ext cx="27359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小级握手模板（取自 DSP.v）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305050"/>
              <a:ext cx="5143500" cy="381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9612" y="24312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信号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14612" y="24312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7708" y="2853214"/>
              <a:ext cx="6468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rdy_sN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12708" y="28532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ena_s(N+1)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" y="3143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7708" y="3291364"/>
              <a:ext cx="12613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handshake_sN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12708" y="32913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rdy &amp; vld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35814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7708" y="3729514"/>
              <a:ext cx="6468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ena_sN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12708" y="3729514"/>
              <a:ext cx="14848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handshake | ~vld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33400" y="40195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7708" y="4167664"/>
              <a:ext cx="6003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vld_sN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12708" y="4167664"/>
              <a:ext cx="591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寄存器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44577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7708" y="4605814"/>
              <a:ext cx="4420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x_sN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12708" y="46058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在上游握手时采样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33400" y="48958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0065" y="5106352"/>
              <a:ext cx="455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与 DSP 的区别：DSP 外层是互斥的任务 FSM，subcore 外层没有。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0065" y="5334952"/>
              <a:ext cx="5800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FSM 只用在"一次做一件、要做多拍"的单元：SFU、XLANE、分支序列、上下文切换。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676900"/>
              <a:ext cx="5143500" cy="533400"/>
            </a:xfrm>
            <a:prstGeom prst="roundRect">
              <a:avLst>
                <a:gd name="adj" fmla="val 14286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4375" y="5857875"/>
              <a:ext cx="171450" cy="171450"/>
              <a:chOff x="714375" y="5857875"/>
              <a:chExt cx="171450" cy="1714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3425" y="58769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1525" y="59150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14375" y="592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4375" y="59626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81050" y="58578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9150" y="58578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66775" y="592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6775" y="59626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9150" y="60102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81050" y="60102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14412" y="5879306"/>
              <a:ext cx="4160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一大级一模块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subcore_&lt;级名&gt;，subcore_top 只做连接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78855" y="2006918"/>
            <a:ext cx="4241459" cy="1448276"/>
            <a:chOff x="6078855" y="2006918"/>
            <a:chExt cx="4241459" cy="1448276"/>
          </a:xfrm>
        </p:grpSpPr>
        <p:sp>
          <p:nvSpPr>
            <p:cNvPr id="58" name="TextBox 58"/>
            <p:cNvSpPr txBox="1"/>
            <p:nvPr/>
          </p:nvSpPr>
          <p:spPr>
            <a:xfrm>
              <a:off x="6078855" y="20069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三条边界规则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115050" y="23812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10912" y="24488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79858" y="2434114"/>
              <a:ext cx="36542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向前只走寄存器（</a:t>
              </a:r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vld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+ 已寄存的 payload）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115050" y="27622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90784" y="28298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9858" y="2815114"/>
              <a:ext cx="38404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向后只走已寄存的事件通道，目的级 </a:t>
              </a:r>
              <a:r>
                <a:rPr lang="zh-CN" sz="12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+1 拍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看到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115050" y="31432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90784" y="32108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79858" y="319611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每份状态只有一个主人，只有主人能写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096000" y="3657600"/>
            <a:ext cx="5562600" cy="2552700"/>
            <a:chOff x="6096000" y="3657600"/>
            <a:chExt cx="5562600" cy="2552700"/>
          </a:xfrm>
        </p:grpSpPr>
        <p:sp>
          <p:nvSpPr>
            <p:cNvPr id="69" name="Rectangle 69"/>
            <p:cNvSpPr/>
            <p:nvPr/>
          </p:nvSpPr>
          <p:spPr>
            <a:xfrm>
              <a:off x="6096000" y="3657600"/>
              <a:ext cx="5562600" cy="2552700"/>
            </a:xfrm>
            <a:prstGeom prst="roundRect">
              <a:avLst>
                <a:gd name="adj" fmla="val 2985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334125" y="3857625"/>
              <a:ext cx="133350" cy="171450"/>
              <a:chOff x="6334125" y="3857625"/>
              <a:chExt cx="133350" cy="17145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334125" y="39338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91275" y="39719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362700" y="3857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593205" y="3864292"/>
              <a:ext cx="35123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 是唯一的单拍环：白名单只放在 S2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73165" y="41919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发射沿上更新、下一拍选 warp 就要读到的状态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86500" y="44958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02623" y="4602956"/>
              <a:ext cx="7679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head 消耗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44958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413016" y="4602956"/>
              <a:ext cx="7761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stall 载入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715500" y="4495800"/>
              <a:ext cx="17526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392668" y="4602956"/>
              <a:ext cx="3982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SB +1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86500" y="495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27269" y="50601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credit −1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001000" y="495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01513" y="50682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last_issued / yield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715500" y="4953000"/>
              <a:ext cx="17526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109240" y="5060156"/>
              <a:ext cx="965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隐式 SB 置位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86500" y="54102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604040" y="5517356"/>
              <a:ext cx="965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ITS 状态更新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987665" y="5525452"/>
              <a:ext cx="2158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其他级的状态都可以晚 1 拍看到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86500" y="588645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442377" y="594169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94" name="TextBox 94"/>
            <p:cNvSpPr txBox="1"/>
            <p:nvPr/>
          </p:nvSpPr>
          <p:spPr>
            <a:xfrm>
              <a:off x="522922" y="6540341"/>
              <a:ext cx="58768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依据：document/2026-10-05-subcore-rtl-structure-spec.md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7" grpId="0"/>
      <p:bldP spid="68" grpId="0"/>
      <p:bldP spid="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941343" cy="678656"/>
            <a:chOff x="533400" y="419100"/>
            <a:chExt cx="6941343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5612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目标结构：7 个大级，边界寄存，事件回传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65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黑横条是小级寄存器；同一拍完成的功能用灰色虚线框在一起；底部是已寄存的反向事件通道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104900"/>
            <a:ext cx="9029700" cy="4953000"/>
            <a:chOff x="495300" y="1104900"/>
            <a:chExt cx="9029700" cy="4953000"/>
          </a:xfrm>
        </p:grpSpPr>
        <p:sp>
          <p:nvSpPr>
            <p:cNvPr id="7" name="Rectangle 7"/>
            <p:cNvSpPr/>
            <p:nvPr/>
          </p:nvSpPr>
          <p:spPr>
            <a:xfrm>
              <a:off x="495300" y="1104900"/>
              <a:ext cx="902970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143000"/>
              <a:ext cx="8953500" cy="48768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2933700" y="1371600"/>
            <a:ext cx="1409700" cy="2893219"/>
            <a:chOff x="2933700" y="1371600"/>
            <a:chExt cx="1409700" cy="2893219"/>
          </a:xfrm>
        </p:grpSpPr>
        <p:sp>
          <p:nvSpPr>
            <p:cNvPr id="10" name="Rectangle 10"/>
            <p:cNvSpPr/>
            <p:nvPr/>
          </p:nvSpPr>
          <p:spPr>
            <a:xfrm>
              <a:off x="2933700" y="1371600"/>
              <a:ext cx="1409700" cy="2590800"/>
            </a:xfrm>
            <a:prstGeom prst="roundRect">
              <a:avLst>
                <a:gd name="adj" fmla="val 2703"/>
              </a:avLst>
            </a:prstGeom>
            <a:noFill/>
            <a:ln w="28575">
              <a:solidFill>
                <a:srgbClr val="E07A1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933700" y="4000500"/>
              <a:ext cx="1409700" cy="247650"/>
            </a:xfrm>
            <a:prstGeom prst="roundRect">
              <a:avLst>
                <a:gd name="adj" fmla="val 1538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84162" y="4066699"/>
              <a:ext cx="11087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 · 唯一单拍环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15500" y="1104900"/>
            <a:ext cx="1943100" cy="1524000"/>
            <a:chOff x="9715500" y="1104900"/>
            <a:chExt cx="1943100" cy="1524000"/>
          </a:xfrm>
        </p:grpSpPr>
        <p:sp>
          <p:nvSpPr>
            <p:cNvPr id="14" name="Rectangle 14"/>
            <p:cNvSpPr/>
            <p:nvPr/>
          </p:nvSpPr>
          <p:spPr>
            <a:xfrm>
              <a:off x="9715500" y="1104900"/>
              <a:ext cx="1943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52660" y="12611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流控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4565" y="15440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逐级组合握手：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54565" y="17535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vld 寄存，ena/rdy 组合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4565" y="20202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rdy 只能是下一级 ena、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4565" y="2229802"/>
              <a:ext cx="1544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常数 1 或外部寄存输出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15500" y="2743200"/>
            <a:ext cx="1943100" cy="1524000"/>
            <a:chOff x="9715500" y="2743200"/>
            <a:chExt cx="19431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9715500" y="2743200"/>
              <a:ext cx="1943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52660" y="2899410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S2 → S3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54565" y="31823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S2/S3 reg 只寄存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54565" y="339185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 号 + ITS 状态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54565" y="36585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255 位指令由 S1 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4565" y="38681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 号直接送 S3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15500" y="4381500"/>
            <a:ext cx="1943100" cy="1676400"/>
            <a:chOff x="9715500" y="4381500"/>
            <a:chExt cx="1943100" cy="1676400"/>
          </a:xfrm>
        </p:grpSpPr>
        <p:sp>
          <p:nvSpPr>
            <p:cNvPr id="28" name="Rectangle 28"/>
            <p:cNvSpPr/>
            <p:nvPr/>
          </p:nvSpPr>
          <p:spPr>
            <a:xfrm>
              <a:off x="9715500" y="4381500"/>
              <a:ext cx="1943100" cy="1676400"/>
            </a:xfrm>
            <a:prstGeom prst="roundRect">
              <a:avLst>
                <a:gd name="adj" fmla="val 45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52660" y="4537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事件通道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54565" y="48206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每个来源一条，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54565" y="5030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不合并成总线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54565" y="52968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带 warp 号与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54565" y="5506402"/>
              <a:ext cx="9314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wslot_gen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54565" y="57159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迟到的事件丢弃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6191250"/>
            <a:ext cx="5000530" cy="245269"/>
            <a:chOff x="533400" y="6191250"/>
            <a:chExt cx="5000530" cy="245269"/>
          </a:xfrm>
        </p:grpSpPr>
        <p:sp>
          <p:nvSpPr>
            <p:cNvPr id="36" name="Rectangle 36"/>
            <p:cNvSpPr/>
            <p:nvPr/>
          </p:nvSpPr>
          <p:spPr>
            <a:xfrm>
              <a:off x="533400" y="619125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277" y="624649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78318" y="6238399"/>
              <a:ext cx="3755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11 目标流水线（PPT-generate 8822eed，2026-10-09）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0" grpId="0"/>
      <p:bldP spid="27" grpId="0"/>
      <p:bldP spid="35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499485" cy="678656"/>
            <a:chOff x="533400" y="419100"/>
            <a:chExt cx="7499485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3375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S0 取指：去掉全局锁，L0I 数据进 SRAM 分三级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5985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现状平均每拍 ≤ 1 条正好等于发射上限；目标让多 warp 取指带宽到每拍 2 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219200"/>
            <a:ext cx="4762500" cy="342900"/>
            <a:chOff x="533400" y="1219200"/>
            <a:chExt cx="4762500" cy="3429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476250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2465" y="133445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5415" y="133445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现状（读 RTL）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77565" y="1334452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目标（10-08 定）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745456"/>
            <a:ext cx="4762500" cy="664369"/>
            <a:chOff x="533400" y="1745456"/>
            <a:chExt cx="4762500" cy="664369"/>
          </a:xfrm>
        </p:grpSpPr>
        <p:sp>
          <p:nvSpPr>
            <p:cNvPr id="12" name="TextBox 12"/>
            <p:cNvSpPr txBox="1"/>
            <p:nvPr/>
          </p:nvSpPr>
          <p:spPr>
            <a:xfrm>
              <a:off x="671512" y="17454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小级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5415" y="175355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c0 一拍做完：仲裁、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5415" y="19440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64 路 tag 比较、1024 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5415" y="2134552"/>
              <a:ext cx="486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64 选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77565" y="175355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s0 选 warp + tag 比较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7565" y="19440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s1 L0I 数据 SRAM 同步读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7565" y="2134552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 写 IB 或发 miss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24003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33400" y="2409825"/>
            <a:ext cx="4762500" cy="847725"/>
            <a:chOff x="533400" y="2409825"/>
            <a:chExt cx="4762500" cy="847725"/>
          </a:xfrm>
        </p:grpSpPr>
        <p:sp>
          <p:nvSpPr>
            <p:cNvPr id="21" name="Rectangle 21"/>
            <p:cNvSpPr/>
            <p:nvPr/>
          </p:nvSpPr>
          <p:spPr>
            <a:xfrm>
              <a:off x="533400" y="2409825"/>
              <a:ext cx="4762500" cy="838200"/>
            </a:xfrm>
            <a:prstGeom prst="rect">
              <a:avLst/>
            </a:prstGeom>
            <a:solidFill>
              <a:srgbClr val="E07A1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512" y="25646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吞吐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5415" y="257270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全局锁 lookup_busy：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5415" y="27632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每 2 拍查一次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5415" y="29537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每次最多 2 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77565" y="25727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在途位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按 warp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设，不同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7565" y="2763202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 每拍都能查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77565" y="29537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多 warp 时最多每拍 2 条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" y="32480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33400" y="3402806"/>
            <a:ext cx="4762500" cy="473869"/>
            <a:chOff x="533400" y="3402806"/>
            <a:chExt cx="4762500" cy="473869"/>
          </a:xfrm>
        </p:grpSpPr>
        <p:sp>
          <p:nvSpPr>
            <p:cNvPr id="31" name="TextBox 31"/>
            <p:cNvSpPr txBox="1"/>
            <p:nvPr/>
          </p:nvSpPr>
          <p:spPr>
            <a:xfrm>
              <a:off x="671512" y="3402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资格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5415" y="3410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IB 至少空 2 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5415" y="360140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（count ≤ 6）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77565" y="34109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IB 空位用 credit 预约：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77565" y="36014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现有 + 在途 + 2 ≤ 8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33400" y="38671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33400" y="4021931"/>
            <a:ext cx="4762500" cy="473869"/>
            <a:chOff x="533400" y="4021931"/>
            <a:chExt cx="4762500" cy="473869"/>
          </a:xfrm>
        </p:grpSpPr>
        <p:sp>
          <p:nvSpPr>
            <p:cNvPr id="38" name="TextBox 38"/>
            <p:cNvSpPr txBox="1"/>
            <p:nvPr/>
          </p:nvSpPr>
          <p:spPr>
            <a:xfrm>
              <a:off x="671512" y="40219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反压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15415" y="4030028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miss_rsp_pending_q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15415" y="422052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停车位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77565" y="403002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逐级反压，L1I ready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77565" y="42205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必须是寄存器输出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33400" y="448627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533400" y="4641056"/>
            <a:ext cx="4762500" cy="473869"/>
            <a:chOff x="533400" y="4641056"/>
            <a:chExt cx="4762500" cy="473869"/>
          </a:xfrm>
        </p:grpSpPr>
        <p:sp>
          <p:nvSpPr>
            <p:cNvPr id="45" name="TextBox 45"/>
            <p:cNvSpPr txBox="1"/>
            <p:nvPr/>
          </p:nvSpPr>
          <p:spPr>
            <a:xfrm>
              <a:off x="671512" y="46410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延迟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15415" y="4649152"/>
              <a:ext cx="128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授权到 S2 见 head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15415" y="48396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共 3 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77565" y="464915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共 4 拍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，只在分支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77565" y="483965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跳转、IB 清空后显现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51054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33400" y="5295900"/>
            <a:ext cx="4762500" cy="842962"/>
            <a:chOff x="533400" y="5295900"/>
            <a:chExt cx="4762500" cy="842962"/>
          </a:xfrm>
        </p:grpSpPr>
        <p:sp>
          <p:nvSpPr>
            <p:cNvPr id="52" name="Rectangle 52"/>
            <p:cNvSpPr/>
            <p:nvPr/>
          </p:nvSpPr>
          <p:spPr>
            <a:xfrm>
              <a:off x="533400" y="5295900"/>
              <a:ext cx="4762500" cy="838200"/>
            </a:xfrm>
            <a:prstGeom prst="roundRect">
              <a:avLst>
                <a:gd name="adj" fmla="val 9091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11994" y="5455444"/>
              <a:ext cx="157162" cy="157162"/>
              <a:chOff x="711994" y="5455444"/>
              <a:chExt cx="157162" cy="15716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1994" y="54554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90575" y="55776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3112" y="5488261"/>
                <a:ext cx="41040" cy="58861"/>
              </a:xfrm>
              <a:custGeom>
                <a:avLst/>
                <a:gdLst/>
                <a:ahLst/>
                <a:cxnLst/>
                <a:rect l="l" t="t" r="r" b="b"/>
                <a:pathLst>
                  <a:path w="41040" h="58861">
                    <a:moveTo>
                      <a:pt x="17462" y="58861"/>
                    </a:moveTo>
                    <a:cubicBezTo>
                      <a:pt x="17132" y="53038"/>
                      <a:pt x="20692" y="47699"/>
                      <a:pt x="26194" y="45764"/>
                    </a:cubicBezTo>
                    <a:cubicBezTo>
                      <a:pt x="35193" y="42323"/>
                      <a:pt x="41040" y="33575"/>
                      <a:pt x="40778" y="23944"/>
                    </a:cubicBezTo>
                    <a:cubicBezTo>
                      <a:pt x="40516" y="14313"/>
                      <a:pt x="34204" y="5896"/>
                      <a:pt x="25031" y="2948"/>
                    </a:cubicBezTo>
                    <a:cubicBezTo>
                      <a:pt x="15858" y="0"/>
                      <a:pt x="5824" y="3163"/>
                      <a:pt x="0" y="10839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957262" y="54697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待定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2465" y="5735002"/>
              <a:ext cx="4128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 warp 最快每 3 拍查一次（≈0.67 条/拍），要不要补？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2465" y="5925502"/>
              <a:ext cx="3829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SRAM 为 1RW、回填写优先；回填频繁时是否改用 1R1W？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524500" y="1219200"/>
            <a:ext cx="6134100" cy="4914900"/>
            <a:chOff x="5524500" y="1219200"/>
            <a:chExt cx="6134100" cy="4914900"/>
          </a:xfrm>
        </p:grpSpPr>
        <p:sp>
          <p:nvSpPr>
            <p:cNvPr id="61" name="Rectangle 61"/>
            <p:cNvSpPr/>
            <p:nvPr/>
          </p:nvSpPr>
          <p:spPr>
            <a:xfrm>
              <a:off x="5524500" y="1219200"/>
              <a:ext cx="6134100" cy="4133850"/>
            </a:xfrm>
            <a:prstGeom prst="roundRect">
              <a:avLst>
                <a:gd name="adj" fmla="val 184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2600" y="1257300"/>
              <a:ext cx="6057900" cy="3952875"/>
            </a:xfrm>
            <a:prstGeom prst="rect">
              <a:avLst/>
            </a:prstGeom>
          </p:spPr>
        </p:pic>
        <p:sp>
          <p:nvSpPr>
            <p:cNvPr id="63" name="TextBox 63"/>
            <p:cNvSpPr txBox="1"/>
            <p:nvPr/>
          </p:nvSpPr>
          <p:spPr>
            <a:xfrm>
              <a:off x="5588318" y="5438299"/>
              <a:ext cx="3420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12 S0 目标三级取指，底部为命中与反压的逐拍例子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24500" y="5715000"/>
              <a:ext cx="6134100" cy="419100"/>
            </a:xfrm>
            <a:prstGeom prst="roundRect">
              <a:avLst>
                <a:gd name="adj" fmla="val 18182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700712" y="5860256"/>
              <a:ext cx="47359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S0/S1 的大级边界就是 IB：</a:t>
              </a:r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vld = count != 0</a:t>
              </a:r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，S1 组合 pop 取队头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2922" y="381000"/>
            <a:ext cx="11146155" cy="6326981"/>
            <a:chOff x="522922" y="381000"/>
            <a:chExt cx="11146155" cy="6326981"/>
          </a:xfrm>
        </p:grpSpPr>
        <p:sp>
          <p:nvSpPr>
            <p:cNvPr id="67" name="Rectangle 67"/>
            <p:cNvSpPr/>
            <p:nvPr/>
          </p:nvSpPr>
          <p:spPr>
            <a:xfrm>
              <a:off x="10515600" y="3810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671477" y="4362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2922" y="6540341"/>
              <a:ext cx="50454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依据：document/2026-10-08-s0-fetch-spec.md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30" grpId="0"/>
      <p:bldP spid="37" grpId="0"/>
      <p:bldP spid="44" grpId="0"/>
      <p:bldP spid="51" grpId="0"/>
      <p:bldP spid="60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638127" cy="678656"/>
            <a:chOff x="533400" y="419100"/>
            <a:chExt cx="863812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47620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S1/S2：2 项 head FIFO，发射条件 = 显式 SB + 隐式 SB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5926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机制与原版相同，只整理归属；同一 warp 可以每拍发射，与性能模型 max(1, stall) 对齐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219200"/>
            <a:ext cx="5219700" cy="3810000"/>
            <a:chOff x="533400" y="1219200"/>
            <a:chExt cx="5219700" cy="38100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219700" cy="38100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060" y="1257300"/>
              <a:ext cx="5138379" cy="3495675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597218" y="4828699"/>
              <a:ext cx="276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13 S1 head FIFO 与 S2 单拍环、事件通道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5181600"/>
            <a:ext cx="5257038" cy="952500"/>
            <a:chOff x="533400" y="5181600"/>
            <a:chExt cx="5257038" cy="952500"/>
          </a:xfrm>
        </p:grpSpPr>
        <p:sp>
          <p:nvSpPr>
            <p:cNvPr id="11" name="Rectangle 11"/>
            <p:cNvSpPr/>
            <p:nvPr/>
          </p:nvSpPr>
          <p:spPr>
            <a:xfrm>
              <a:off x="533400" y="5181600"/>
              <a:ext cx="5219700" cy="952500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0560" y="5318760"/>
              <a:ext cx="3278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 head：每 warp 2 项 FIFO（触发器）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2465" y="5582602"/>
              <a:ext cx="5117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16 × 2 × 255 位 ≈ 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1 KB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；S2 每拍同时读 16 个 warp 的第 0 项，SRAM 做不到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2465" y="5792152"/>
              <a:ext cx="43358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 ev_head_consumed 以 credit 补充：现有 + 未处理事件 ≤ 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81700" y="1219200"/>
            <a:ext cx="5676900" cy="623888"/>
            <a:chOff x="5981700" y="1219200"/>
            <a:chExt cx="5676900" cy="623888"/>
          </a:xfrm>
        </p:grpSpPr>
        <p:sp>
          <p:nvSpPr>
            <p:cNvPr id="16" name="Rectangle 16"/>
            <p:cNvSpPr/>
            <p:nvPr/>
          </p:nvSpPr>
          <p:spPr>
            <a:xfrm>
              <a:off x="5981700" y="1219200"/>
              <a:ext cx="5676900" cy="6096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58865" y="137255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S2 发射（§11 第 14 条）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55055" y="1568768"/>
              <a:ext cx="33363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issue = 选中 &amp; credit_ok &amp; rdy_s3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68365" y="2001202"/>
            <a:ext cx="4834271" cy="213360"/>
            <a:chOff x="5968365" y="2001202"/>
            <a:chExt cx="4834271" cy="213360"/>
          </a:xfrm>
        </p:grpSpPr>
        <p:sp>
          <p:nvSpPr>
            <p:cNvPr id="20" name="TextBox 20"/>
            <p:cNvSpPr txBox="1"/>
            <p:nvPr/>
          </p:nvSpPr>
          <p:spPr>
            <a:xfrm>
              <a:off x="5968365" y="2001202"/>
              <a:ext cx="4834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rd_ok / wb_ok / fu_ok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移到 S4 allocate；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const_ok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是死逻辑，删除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66460" y="2346960"/>
            <a:ext cx="5692140" cy="2653665"/>
            <a:chOff x="5966460" y="2346960"/>
            <a:chExt cx="5692140" cy="2653665"/>
          </a:xfrm>
        </p:grpSpPr>
        <p:sp>
          <p:nvSpPr>
            <p:cNvPr id="22" name="TextBox 22"/>
            <p:cNvSpPr txBox="1"/>
            <p:nvPr/>
          </p:nvSpPr>
          <p:spPr>
            <a:xfrm>
              <a:off x="5966460" y="2346960"/>
              <a:ext cx="4520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隐式 SB：硬件分配，每 warp 一位，挡住后续所有指令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981700" y="2609850"/>
              <a:ext cx="5676900" cy="3048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0765" y="2696528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35265" y="269652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置位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68765" y="269652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清除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0765" y="3048952"/>
              <a:ext cx="594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MEMBAR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35265" y="30489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68765" y="30489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屏障完成 &amp; (非 CTA 范围 | drained)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981700" y="32766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0765" y="33918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CCTL.IVALL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35265" y="33918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68765" y="33918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L1 作废完成（正常挡 1 拍）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981700" y="36195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20765" y="3734752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SETMAXREG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35265" y="37347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68765" y="3734752"/>
              <a:ext cx="8854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SM 调整完成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981700" y="39624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0765" y="4077652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ERRBAR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35265" y="4077652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发射，装入 29/92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68765" y="40776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倒数到 0（实测值）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981700" y="43053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0765" y="4420552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BRANCH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35265" y="442055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分支 FSM 启动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68765" y="44205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FSM 回到 Idle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981700" y="46482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0765" y="4763452"/>
              <a:ext cx="2873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INIT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35265" y="4763452"/>
              <a:ext cx="4943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launch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68765" y="4763452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RF 清零 walker 完成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981700" y="49911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981700" y="5181600"/>
            <a:ext cx="5676900" cy="952500"/>
            <a:chOff x="5981700" y="5181600"/>
            <a:chExt cx="5676900" cy="952500"/>
          </a:xfrm>
        </p:grpSpPr>
        <p:sp>
          <p:nvSpPr>
            <p:cNvPr id="52" name="Rectangle 52"/>
            <p:cNvSpPr/>
            <p:nvPr/>
          </p:nvSpPr>
          <p:spPr>
            <a:xfrm>
              <a:off x="5981700" y="5181600"/>
              <a:ext cx="5676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160294" y="5341144"/>
              <a:ext cx="157162" cy="157163"/>
              <a:chOff x="6160294" y="5341144"/>
              <a:chExt cx="157162" cy="1571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60294" y="5341144"/>
                <a:ext cx="157162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2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91517" y="53760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218793" y="54633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05562" y="5355431"/>
              <a:ext cx="4410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原则：多步的功能状态归执行它的单元，S2 只留一位关卡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765" y="5620702"/>
              <a:ext cx="44278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显式 SB：编译器分配，每 warp 6 个计数器，按 wait mask 等待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20765" y="5830252"/>
              <a:ext cx="4795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原版只有 ACQBULK、ERRBAR 完全符合；MEMBAR 的 7 位协议状态待拆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1" name="TextBox 61"/>
            <p:cNvSpPr txBox="1"/>
            <p:nvPr/>
          </p:nvSpPr>
          <p:spPr>
            <a:xfrm>
              <a:off x="522922" y="6540341"/>
              <a:ext cx="55213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依据：document/2026-10-09-s1-s2-issue-conditions.md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9" grpId="0"/>
      <p:bldP spid="21" grpId="0"/>
      <p:bldP spid="51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981920" cy="678656"/>
            <a:chOff x="533400" y="419100"/>
            <a:chExt cx="6981920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8199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S4 allocate 一次预约，之后的拍数全部固定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376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读、启动、完成、写回都在放行时排定，stall 一直有效，不需要结果队列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219200"/>
            <a:ext cx="5334000" cy="914400"/>
            <a:chOff x="533400" y="1219200"/>
            <a:chExt cx="5334000" cy="9144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3340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0560" y="1356360"/>
              <a:ext cx="1999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S3 dispatch · 一拍完成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2465" y="162020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payload 译码、取 lane mask、按延迟分流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2465" y="1829752"/>
              <a:ext cx="50259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固定延迟 → S4；变长 → 单元队列（现状 exec_dispatch 与 S2 同拍组合）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8160" y="2346960"/>
            <a:ext cx="5349240" cy="1067752"/>
            <a:chOff x="518160" y="2346960"/>
            <a:chExt cx="5349240" cy="1067752"/>
          </a:xfrm>
        </p:grpSpPr>
        <p:sp>
          <p:nvSpPr>
            <p:cNvPr id="12" name="TextBox 12"/>
            <p:cNvSpPr txBox="1"/>
            <p:nvPr/>
          </p:nvSpPr>
          <p:spPr>
            <a:xfrm>
              <a:off x="518160" y="2346960"/>
              <a:ext cx="37477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S4 allocate：每拍最多放行 1 条固定延迟指令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628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692" y="2752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608" y="30680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读级入口空闲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52600" y="3009900"/>
              <a:ext cx="114300" cy="1"/>
            </a:xfrm>
            <a:prstGeom prst="line">
              <a:avLst/>
            </a:prstGeom>
            <a:noFill/>
            <a:ln w="14288">
              <a:solidFill>
                <a:srgbClr val="1F3A5F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05000" y="2628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32292" y="2752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52709" y="302990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读口表：3 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7884" y="32013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窗口内够用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124200" y="3009900"/>
              <a:ext cx="114300" cy="1"/>
            </a:xfrm>
            <a:prstGeom prst="line">
              <a:avLst/>
            </a:prstGeom>
            <a:noFill/>
            <a:ln w="14288">
              <a:solidFill>
                <a:srgbClr val="1F3A5F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76600" y="2628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3892" y="2752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89484" y="30299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写回拍表：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43799" y="3201352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按写口 B0/B1/P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95800" y="3009900"/>
              <a:ext cx="114300" cy="1"/>
            </a:xfrm>
            <a:prstGeom prst="line">
              <a:avLst/>
            </a:prstGeom>
            <a:noFill/>
            <a:ln w="14288">
              <a:solidFill>
                <a:srgbClr val="1F3A5F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48200" y="2628900"/>
              <a:ext cx="12192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75492" y="2752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7731" y="30299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按需：执行单元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37760" y="32013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完成拍表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3543300"/>
            <a:ext cx="5334000" cy="876300"/>
            <a:chOff x="533400" y="3543300"/>
            <a:chExt cx="5334000" cy="876300"/>
          </a:xfrm>
        </p:grpSpPr>
        <p:sp>
          <p:nvSpPr>
            <p:cNvPr id="32" name="Rectangle 32"/>
            <p:cNvSpPr/>
            <p:nvPr/>
          </p:nvSpPr>
          <p:spPr>
            <a:xfrm>
              <a:off x="533400" y="3543300"/>
              <a:ext cx="5334000" cy="876300"/>
            </a:xfrm>
            <a:prstGeom prst="roundRect">
              <a:avLst>
                <a:gd name="adj" fmla="val 869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512" y="3688556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写回拍表 = 移位寄存器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2465" y="3944302"/>
              <a:ext cx="3293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放行时查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~wb_q[t][offset]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并置位，每拍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&gt;&gt;1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2465" y="4153852"/>
              <a:ext cx="46195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不通过就拉低 rdy；变长单元在队头申请下一拍读口，加防饿死保留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4572000"/>
            <a:ext cx="5334000" cy="1562100"/>
            <a:chOff x="533400" y="4572000"/>
            <a:chExt cx="5334000" cy="1562100"/>
          </a:xfrm>
        </p:grpSpPr>
        <p:sp>
          <p:nvSpPr>
            <p:cNvPr id="37" name="Rectangle 37"/>
            <p:cNvSpPr/>
            <p:nvPr/>
          </p:nvSpPr>
          <p:spPr>
            <a:xfrm>
              <a:off x="533400" y="4572000"/>
              <a:ext cx="53340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0725" y="4750594"/>
              <a:ext cx="139700" cy="157163"/>
              <a:chOff x="720725" y="4750594"/>
              <a:chExt cx="139700" cy="15716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20725" y="47593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5500" y="48641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1844" y="4776788"/>
                <a:ext cx="6111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3">
                    <a:moveTo>
                      <a:pt x="0" y="0"/>
                    </a:moveTo>
                    <a:lnTo>
                      <a:pt x="43656" y="0"/>
                    </a:lnTo>
                    <a:cubicBezTo>
                      <a:pt x="53301" y="0"/>
                      <a:pt x="61119" y="7818"/>
                      <a:pt x="61119" y="17462"/>
                    </a:cubicBezTo>
                    <a:lnTo>
                      <a:pt x="61119" y="87313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1844" y="4750594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26194" y="52388"/>
                    </a:moveTo>
                    <a:lnTo>
                      <a:pt x="0" y="26194"/>
                    </a:lnTo>
                    <a:lnTo>
                      <a:pt x="26194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8188" y="4794250"/>
                <a:ext cx="6111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3">
                    <a:moveTo>
                      <a:pt x="61119" y="87313"/>
                    </a:moveTo>
                    <a:lnTo>
                      <a:pt x="17462" y="87313"/>
                    </a:lnTo>
                    <a:cubicBezTo>
                      <a:pt x="7818" y="87313"/>
                      <a:pt x="0" y="79494"/>
                      <a:pt x="0" y="6985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3112" y="4855369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0" y="0"/>
                    </a:moveTo>
                    <a:lnTo>
                      <a:pt x="26194" y="26194"/>
                    </a:ln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57262" y="47648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为什么不用结果队列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2465" y="5049202"/>
              <a:ext cx="4473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MICRO 2025（Huerta 等）的模拟器用结果队列，写回拍不确定，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2465" y="5258752"/>
              <a:ext cx="3331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依赖指令可能读到旧值，stall 计数就不再可靠。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2465" y="5563552"/>
              <a:ext cx="455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stall 规则（§11 第 15 条）：计数器只在当拍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ena_s4_0 = 1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时减 1，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2465" y="57731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先全局冻结。</a:t>
              </a:r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还没有用例验证。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156960" y="1318260"/>
            <a:ext cx="5501640" cy="3187065"/>
            <a:chOff x="6156960" y="1318260"/>
            <a:chExt cx="5501640" cy="3187065"/>
          </a:xfrm>
        </p:grpSpPr>
        <p:sp>
          <p:nvSpPr>
            <p:cNvPr id="51" name="TextBox 51"/>
            <p:cNvSpPr txBox="1"/>
            <p:nvPr/>
          </p:nvSpPr>
          <p:spPr>
            <a:xfrm>
              <a:off x="6156960" y="1318260"/>
              <a:ext cx="28184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向后的事件通道：全部寄存，+1 拍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172200" y="1600200"/>
              <a:ext cx="548640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11265" y="17154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通道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59165" y="171545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源 → 目的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40265" y="17154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11265" y="2134552"/>
              <a:ext cx="1406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ev_head_consumed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59165" y="2134552"/>
              <a:ext cx="5020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S2 → S1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40265" y="21345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已寄存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172200" y="24003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172200" y="2409825"/>
              <a:ext cx="5486400" cy="609600"/>
            </a:xfrm>
            <a:prstGeom prst="rect">
              <a:avLst/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11265" y="25727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ev_complete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59165" y="2572702"/>
              <a:ext cx="5710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SW → S2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40265" y="2572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同拍组合释放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40265" y="278225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目标 +1，代价待测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172200" y="3019425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11265" y="31823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ev_credit_return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59165" y="3182302"/>
              <a:ext cx="5404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S5 → S2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40265" y="3182302"/>
              <a:ext cx="1345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credit pool 已寄存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6172200" y="34480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11265" y="361092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ev_redirect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59165" y="3610928"/>
              <a:ext cx="5404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S2 → S0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40265" y="3610928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走 BRA 状态机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172200" y="3876675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172200" y="3886200"/>
              <a:ext cx="5486400" cy="609600"/>
            </a:xfrm>
            <a:prstGeom prst="rect">
              <a:avLst/>
            </a:prstGeom>
            <a:solidFill>
              <a:srgbClr val="C62828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11265" y="4049078"/>
              <a:ext cx="104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ev_*_done ×5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59165" y="404907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各单元 → S2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59165" y="4258628"/>
              <a:ext cx="701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清隐式 SB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40265" y="40490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多为组合往返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40265" y="4258628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cctl 请求与完成同拍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6172200" y="44958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6172200" y="4724400"/>
            <a:ext cx="5486400" cy="1409700"/>
            <a:chOff x="6172200" y="4724400"/>
            <a:chExt cx="5486400" cy="1409700"/>
          </a:xfrm>
        </p:grpSpPr>
        <p:sp>
          <p:nvSpPr>
            <p:cNvPr id="82" name="Rectangle 82"/>
            <p:cNvSpPr/>
            <p:nvPr/>
          </p:nvSpPr>
          <p:spPr>
            <a:xfrm>
              <a:off x="6172200" y="4724400"/>
              <a:ext cx="5486400" cy="1409700"/>
            </a:xfrm>
            <a:prstGeom prst="roundRect">
              <a:avLst>
                <a:gd name="adj" fmla="val 540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10312" y="4888706"/>
              <a:ext cx="6496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SW 写回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311265" y="51635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固定延迟结果在预约拍直接写入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11265" y="5411152"/>
              <a:ext cx="3377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优先级：已预约 &gt; uniform &gt; 变长 &gt; SM 共享单元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11265" y="56588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变长结果只能用当拍未被预约的写口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363200" y="48768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519077" y="49320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90" name="TextBox 90"/>
            <p:cNvSpPr txBox="1"/>
            <p:nvPr/>
          </p:nvSpPr>
          <p:spPr>
            <a:xfrm>
              <a:off x="522922" y="6540341"/>
              <a:ext cx="51478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依据：structure-spec §3、§11；fig11-walkthrough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1" grpId="0"/>
      <p:bldP spid="36" grpId="0"/>
      <p:bldP spid="50" grpId="0"/>
      <p:bldP spid="81" grpId="0"/>
      <p:bldP spid="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774894" cy="678656"/>
            <a:chOff x="533400" y="419100"/>
            <a:chExt cx="6774894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612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已落地两步，都只改写法和归属，不改拍数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647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先把 S1、S2 整理成模板写法，再把挡发射的位从 subcore_top 搬进独立模块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219200"/>
            <a:ext cx="5448300" cy="4914900"/>
            <a:chOff x="533400" y="1219200"/>
            <a:chExt cx="5448300" cy="49149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448300" cy="4914900"/>
            </a:xfrm>
            <a:prstGeom prst="roundRect">
              <a:avLst>
                <a:gd name="adj" fmla="val 15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19200"/>
              <a:ext cx="54483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3912" y="1481138"/>
              <a:ext cx="66675" cy="200025"/>
              <a:chOff x="823912" y="1481138"/>
              <a:chExt cx="66675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23912" y="154781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57250" y="148113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7250" y="1614488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66800" y="1495425"/>
              <a:ext cx="23728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Phase 2 · S1 + S2 整理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48200" y="146685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8354" y="152209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已实现 · 已提交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1848802"/>
              <a:ext cx="26796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0fe1c31d4 · 11 个文件 · +3834 / −3747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8660" y="2213610"/>
              <a:ext cx="1815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 · subcore_decode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612" y="2488406"/>
              <a:ext cx="40458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ANSI 端口，宽度用头部参数（PR #38 用的是字面值）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612" y="2736056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DSP 式分节布局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612" y="2983706"/>
              <a:ext cx="4341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· 补上 </a:t>
              </a:r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vld_s0 / rdy_s0 / handshake_s0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，refill 改用握手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8660" y="3394710"/>
              <a:ext cx="22295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S2 · sched_*（8 个文件）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612" y="3669506"/>
              <a:ext cx="20084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ANSI + 参数化 + DSP 分节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612" y="3917156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lint 0 错误，少了 8 条警告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" y="4267200"/>
              <a:ext cx="5067300" cy="16764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2012" y="4412456"/>
              <a:ext cx="32461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sched_cggty_select：优先级只编码一次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2012" y="471725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sel_case ∈ {HOLD, SWITCH, STICKY,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2012" y="4926806"/>
              <a:ext cx="12280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OLDEST, NONE}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2965" y="5258752"/>
              <a:ext cx="1981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三个输出都由 sel_case 派生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2965" y="5487352"/>
              <a:ext cx="29096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原来是三处 if 链，PR #38 还复制成了三份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10300" y="1219200"/>
            <a:ext cx="5448300" cy="4914900"/>
            <a:chOff x="6210300" y="1219200"/>
            <a:chExt cx="5448300" cy="4914900"/>
          </a:xfrm>
        </p:grpSpPr>
        <p:sp>
          <p:nvSpPr>
            <p:cNvPr id="31" name="Rectangle 31"/>
            <p:cNvSpPr/>
            <p:nvPr/>
          </p:nvSpPr>
          <p:spPr>
            <a:xfrm>
              <a:off x="6210300" y="1219200"/>
              <a:ext cx="5448300" cy="4914900"/>
            </a:xfrm>
            <a:prstGeom prst="roundRect">
              <a:avLst>
                <a:gd name="adj" fmla="val 15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10300" y="1219200"/>
              <a:ext cx="5448300" cy="381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45250" y="1492250"/>
              <a:ext cx="177800" cy="177800"/>
              <a:chOff x="6445250" y="1492250"/>
              <a:chExt cx="177800" cy="177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45250" y="1492250"/>
                <a:ext cx="177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88900">
                    <a:moveTo>
                      <a:pt x="88900" y="0"/>
                    </a:moveTo>
                    <a:lnTo>
                      <a:pt x="0" y="44450"/>
                    </a:lnTo>
                    <a:lnTo>
                      <a:pt x="88900" y="88900"/>
                    </a:lnTo>
                    <a:lnTo>
                      <a:pt x="177800" y="44450"/>
                    </a:ln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45250" y="1581150"/>
                <a:ext cx="1778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45250" y="1625600"/>
                <a:ext cx="1778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43700" y="1495425"/>
              <a:ext cx="19358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d1 · hold 位成模块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325100" y="1466850"/>
              <a:ext cx="1143000" cy="209550"/>
            </a:xfrm>
            <a:prstGeom prst="roundRect">
              <a:avLst>
                <a:gd name="adj" fmla="val 50000"/>
              </a:avLst>
            </a:prstGeom>
            <a:noFill/>
            <a:ln w="14288">
              <a:solidFill>
                <a:srgbClr val="E07A1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15254" y="152209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已实现 · 未提交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87465" y="1848802"/>
              <a:ext cx="2863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rtl/src/subcore_issue_hold.v · 142 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85560" y="22136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原样搬入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6512" y="2488406"/>
              <a:ext cx="2936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setmax / membar / cctl 的 block 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86512" y="2736056"/>
              <a:ext cx="2098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每 warp 8 位 ERRBAR 计数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5560" y="314706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同拍优先级与原版一致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86512" y="3421856"/>
              <a:ext cx="2797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setmax、membar：同拍 done 优先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86512" y="3669506"/>
              <a:ext cx="18195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cctl：同拍 issue 优先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6512" y="391715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· launch / retire 清整行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00800" y="4267200"/>
              <a:ext cx="5067300" cy="16764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38912" y="4412456"/>
              <a:ext cx="1814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subcore_top 里的变化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38912" y="4717256"/>
              <a:ext cx="26985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strike="sngStrike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head_valid &amp; ~a &amp; ~b &amp; ~c &amp; ~d &amp; ~e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38912" y="4964906"/>
              <a:ext cx="3659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head_valid &amp; ~(issue_hold | tmem_fence_hold)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39865" y="52968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subcore_top +40 / −48 行，rtl_sources.f +1 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39865" y="5525452"/>
              <a:ext cx="3967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MEMBAR 的 pend / wait / ok 子状态仍留在 subcore_top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55" name="TextBox 55"/>
            <p:cNvSpPr txBox="1"/>
            <p:nvPr/>
          </p:nvSpPr>
          <p:spPr>
            <a:xfrm>
              <a:off x="522922" y="6540341"/>
              <a:ext cx="4189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分支 subcore-pipeline-structure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75828" y="654034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413224" cy="678656"/>
            <a:chOff x="533400" y="419100"/>
            <a:chExt cx="7413224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25129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每一步都留下可重复的证据：0 差异、拍数不变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629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保持行为的步骤用逐信号比对；会改拍数的步骤只用端到端用例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219200"/>
            <a:ext cx="2619375" cy="1676400"/>
            <a:chOff x="533400" y="1219200"/>
            <a:chExt cx="2619375" cy="16764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2619375" cy="1676400"/>
            </a:xfrm>
            <a:prstGeom prst="roundRect">
              <a:avLst>
                <a:gd name="adj" fmla="val 45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19200"/>
              <a:ext cx="38100" cy="1676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4538" y="1462881"/>
              <a:ext cx="206374" cy="103187"/>
              <a:chOff x="744538" y="1462881"/>
              <a:chExt cx="206374" cy="1031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96131" y="1462881"/>
                <a:ext cx="15478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03187">
                    <a:moveTo>
                      <a:pt x="0" y="51594"/>
                    </a:moveTo>
                    <a:lnTo>
                      <a:pt x="51594" y="103187"/>
                    </a:lnTo>
                    <a:lnTo>
                      <a:pt x="154781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4538" y="1462881"/>
                <a:ext cx="15478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03187">
                    <a:moveTo>
                      <a:pt x="0" y="51594"/>
                    </a:moveTo>
                    <a:lnTo>
                      <a:pt x="51594" y="103187"/>
                    </a:lnTo>
                    <a:moveTo>
                      <a:pt x="103187" y="51594"/>
                    </a:moveTo>
                    <a:lnTo>
                      <a:pt x="154781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4415" y="1458278"/>
              <a:ext cx="1391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Phase 2 逐信号比对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5800" y="1828800"/>
              <a:ext cx="138736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0</a:t>
              </a:r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差异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518" y="2352199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100,158 个信号，无信号消失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518" y="2561749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只多出 4 个新信号（vld_s0 等）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362325" y="1219200"/>
            <a:ext cx="2619375" cy="1676400"/>
            <a:chOff x="3362325" y="1219200"/>
            <a:chExt cx="2619375" cy="1676400"/>
          </a:xfrm>
        </p:grpSpPr>
        <p:sp>
          <p:nvSpPr>
            <p:cNvPr id="17" name="Rectangle 17"/>
            <p:cNvSpPr/>
            <p:nvPr/>
          </p:nvSpPr>
          <p:spPr>
            <a:xfrm>
              <a:off x="3362325" y="1219200"/>
              <a:ext cx="2619375" cy="1676400"/>
            </a:xfrm>
            <a:prstGeom prst="roundRect">
              <a:avLst>
                <a:gd name="adj" fmla="val 45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62325" y="1219200"/>
              <a:ext cx="38100" cy="1676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613728" y="1421606"/>
              <a:ext cx="125844" cy="185738"/>
              <a:chOff x="3613728" y="1421606"/>
              <a:chExt cx="125844" cy="18573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645694" y="1421606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656012" y="1483519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613728" y="1421606"/>
                <a:ext cx="125844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25844" h="185738">
                    <a:moveTo>
                      <a:pt x="42284" y="0"/>
                    </a:moveTo>
                    <a:lnTo>
                      <a:pt x="42284" y="61912"/>
                    </a:lnTo>
                    <a:lnTo>
                      <a:pt x="1009" y="175419"/>
                    </a:lnTo>
                    <a:cubicBezTo>
                      <a:pt x="0" y="177449"/>
                      <a:pt x="3" y="179836"/>
                      <a:pt x="1017" y="181864"/>
                    </a:cubicBezTo>
                    <a:cubicBezTo>
                      <a:pt x="2031" y="183892"/>
                      <a:pt x="3939" y="185327"/>
                      <a:pt x="6169" y="185738"/>
                    </a:cubicBezTo>
                    <a:lnTo>
                      <a:pt x="119675" y="185738"/>
                    </a:lnTo>
                    <a:cubicBezTo>
                      <a:pt x="121905" y="185327"/>
                      <a:pt x="123813" y="183892"/>
                      <a:pt x="124827" y="181864"/>
                    </a:cubicBezTo>
                    <a:cubicBezTo>
                      <a:pt x="125841" y="179836"/>
                      <a:pt x="125844" y="177449"/>
                      <a:pt x="124834" y="175419"/>
                    </a:cubicBezTo>
                    <a:lnTo>
                      <a:pt x="83559" y="61912"/>
                    </a:lnTo>
                    <a:lnTo>
                      <a:pt x="83559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863340" y="1458278"/>
              <a:ext cx="8087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d1 A/B 比对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14725" y="1828800"/>
              <a:ext cx="198543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5/5</a:t>
              </a:r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PASS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40442" y="235219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每个 kernel 的 PMU 行逐行相同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40442" y="25617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含分支/ITS、MEMBAR、mbarrier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219200"/>
            <a:ext cx="2619375" cy="1676400"/>
            <a:chOff x="6191250" y="1219200"/>
            <a:chExt cx="2619375" cy="1676400"/>
          </a:xfrm>
        </p:grpSpPr>
        <p:sp>
          <p:nvSpPr>
            <p:cNvPr id="28" name="Rectangle 28"/>
            <p:cNvSpPr/>
            <p:nvPr/>
          </p:nvSpPr>
          <p:spPr>
            <a:xfrm>
              <a:off x="6191250" y="1219200"/>
              <a:ext cx="2619375" cy="1676400"/>
            </a:xfrm>
            <a:prstGeom prst="roundRect">
              <a:avLst>
                <a:gd name="adj" fmla="val 45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91250" y="1219200"/>
              <a:ext cx="38100" cy="16764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23025" y="1431925"/>
              <a:ext cx="165100" cy="165100"/>
              <a:chOff x="6423025" y="1431925"/>
              <a:chExt cx="165100" cy="1651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23025" y="143192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10319" y="0"/>
                    </a:moveTo>
                    <a:lnTo>
                      <a:pt x="154781" y="0"/>
                    </a:lnTo>
                    <a:cubicBezTo>
                      <a:pt x="160480" y="0"/>
                      <a:pt x="165100" y="4620"/>
                      <a:pt x="165100" y="10319"/>
                    </a:cubicBezTo>
                    <a:lnTo>
                      <a:pt x="165100" y="61912"/>
                    </a:lnTo>
                    <a:cubicBezTo>
                      <a:pt x="165100" y="67611"/>
                      <a:pt x="160480" y="72231"/>
                      <a:pt x="154781" y="72231"/>
                    </a:cubicBezTo>
                    <a:lnTo>
                      <a:pt x="82550" y="72231"/>
                    </a:lnTo>
                    <a:cubicBezTo>
                      <a:pt x="76851" y="72231"/>
                      <a:pt x="72231" y="76851"/>
                      <a:pt x="72231" y="82550"/>
                    </a:cubicBezTo>
                    <a:lnTo>
                      <a:pt x="72231" y="154781"/>
                    </a:lnTo>
                    <a:cubicBezTo>
                      <a:pt x="72231" y="160480"/>
                      <a:pt x="67611" y="165100"/>
                      <a:pt x="61912" y="165100"/>
                    </a:cubicBezTo>
                    <a:lnTo>
                      <a:pt x="10319" y="165100"/>
                    </a:lnTo>
                    <a:cubicBezTo>
                      <a:pt x="4620" y="165100"/>
                      <a:pt x="0" y="160480"/>
                      <a:pt x="0" y="154781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23025" y="1473200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23025" y="1514475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23025" y="1555750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64300" y="1431925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05575" y="1431925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46850" y="1431925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692265" y="145827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总拍数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7460" y="1861185"/>
              <a:ext cx="16626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348,288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69368" y="23521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Phase 2 前后相同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9368" y="256174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kernel 89,279 拍也相同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020175" y="1219200"/>
            <a:ext cx="2638425" cy="1676400"/>
            <a:chOff x="9020175" y="1219200"/>
            <a:chExt cx="2638425" cy="1676400"/>
          </a:xfrm>
        </p:grpSpPr>
        <p:sp>
          <p:nvSpPr>
            <p:cNvPr id="43" name="Rectangle 43"/>
            <p:cNvSpPr/>
            <p:nvPr/>
          </p:nvSpPr>
          <p:spPr>
            <a:xfrm>
              <a:off x="9020175" y="1219200"/>
              <a:ext cx="2638425" cy="1676400"/>
            </a:xfrm>
            <a:prstGeom prst="roundRect">
              <a:avLst>
                <a:gd name="adj" fmla="val 45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020175" y="1219200"/>
              <a:ext cx="38100" cy="16764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241631" y="1421606"/>
              <a:ext cx="185738" cy="185738"/>
              <a:chOff x="9241631" y="1421606"/>
              <a:chExt cx="185738" cy="18573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9241631" y="1421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334500" y="1462881"/>
                <a:ext cx="30956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82550">
                    <a:moveTo>
                      <a:pt x="0" y="0"/>
                    </a:moveTo>
                    <a:lnTo>
                      <a:pt x="0" y="51594"/>
                    </a:lnTo>
                    <a:lnTo>
                      <a:pt x="30956" y="825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521190" y="14582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lockstep 下单次运行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76385" y="1861185"/>
              <a:ext cx="20560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35→17</a:t>
              </a:r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分钟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98292" y="2352199"/>
              <a:ext cx="21037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结果稳定：349,783 / 89,228 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98292" y="25617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拍数不能当性能结果用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17208" y="3158014"/>
            <a:ext cx="5350192" cy="2957036"/>
            <a:chOff x="517208" y="3158014"/>
            <a:chExt cx="5350192" cy="2957036"/>
          </a:xfrm>
        </p:grpSpPr>
        <p:sp>
          <p:nvSpPr>
            <p:cNvPr id="53" name="TextBox 53"/>
            <p:cNvSpPr txBox="1"/>
            <p:nvPr/>
          </p:nvSpPr>
          <p:spPr>
            <a:xfrm>
              <a:off x="517208" y="31580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两种比对方法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448050"/>
              <a:ext cx="5334000" cy="127635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512" y="3593306"/>
              <a:ext cx="2780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逐信号波形比对 </a:t>
              </a:r>
              <a:r>
                <a:rPr lang="zh-CN" sz="112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wave_compare.py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2465" y="386810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范围 u_subcore 约 10 万个信号，逐个比较变化序列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2465" y="4096702"/>
              <a:ext cx="3208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改名或新增的单列为 ONLY_BASE / ONLY_TEST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2465" y="4325302"/>
              <a:ext cx="2856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单次约 10 分钟；只适用于保持行为的步骤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838700"/>
              <a:ext cx="5334000" cy="127635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1512" y="4983956"/>
              <a:ext cx="26509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A/B 拍数比对 </a:t>
              </a:r>
              <a:r>
                <a:rPr lang="zh-CN" sz="112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model_compare.sh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2465" y="5258752"/>
              <a:ext cx="32164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参考与被测模型并行跑同一组端到端 CUDA 用例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2465" y="5487352"/>
              <a:ext cx="2894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比较每个 kernel 的 PMU 行和 PASS / FAIL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2465" y="571595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默认开 lockstep；设 TRACE_WINDOW 时同时抓波形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156008" y="3158014"/>
            <a:ext cx="5502592" cy="2980848"/>
            <a:chOff x="6156008" y="3158014"/>
            <a:chExt cx="5502592" cy="2980848"/>
          </a:xfrm>
        </p:grpSpPr>
        <p:sp>
          <p:nvSpPr>
            <p:cNvPr id="65" name="TextBox 65"/>
            <p:cNvSpPr txBox="1"/>
            <p:nvPr/>
          </p:nvSpPr>
          <p:spPr>
            <a:xfrm>
              <a:off x="6156008" y="3158014"/>
              <a:ext cx="27599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意外发现：SoC 仿真本身不确定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172200" y="3448050"/>
              <a:ext cx="5486400" cy="1733550"/>
            </a:xfrm>
            <a:prstGeom prst="roundRect">
              <a:avLst>
                <a:gd name="adj" fmla="val 439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11265" y="362045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同一个参考二进制跑两次，落在两条时间线之一：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11265" y="384905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18770 / 89279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或 </a:t>
              </a:r>
              <a:r>
                <a:rPr lang="zh-CN" sz="105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20843 / 89251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11265" y="4153852"/>
              <a:ext cx="4036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原因在 runtime 而不在 RTL：引擎线程每片推进 4096 拍，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11265" y="4382452"/>
              <a:ext cx="33544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下一个 CUDA 请求落在哪一片边界取决于 OS 调度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11265" y="4687252"/>
              <a:ext cx="37684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处理：</a:t>
              </a:r>
              <a:r>
                <a:rPr lang="zh-CN" sz="105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CURRYGPU_LOCKSTEP=1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，等待者自己推进模拟器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11265" y="4915852"/>
              <a:ext cx="3070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补丁只留本地 document/patches/，不提交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172200" y="5295900"/>
              <a:ext cx="5486400" cy="81915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341319" y="5452543"/>
              <a:ext cx="176105" cy="151297"/>
              <a:chOff x="6341319" y="5452543"/>
              <a:chExt cx="176105" cy="151297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29375" y="55078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341319" y="54525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429375" y="5568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96062" y="5469731"/>
              <a:ext cx="11413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提交 d1 前待补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11265" y="5735002"/>
              <a:ext cx="31550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d1 的逐信号比对结论（两边已抓 trace.fst）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11265" y="5925502"/>
              <a:ext cx="32394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sm_context 往返测试（ctx 保存格式）的结果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82" name="TextBox 82"/>
            <p:cNvSpPr txBox="1"/>
            <p:nvPr/>
          </p:nvSpPr>
          <p:spPr>
            <a:xfrm>
              <a:off x="522922" y="6540341"/>
              <a:ext cx="68588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数据来源：2 SM 波形模型 curry2；.build/cmp-d1-iadd3、.build/cmp-d1-ls；document/2026-10-08-phase2-progress.md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42" grpId="0"/>
      <p:bldP spid="52" grpId="0"/>
      <p:bldP spid="64" grpId="0"/>
      <p:bldP spid="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292459" cy="678656"/>
            <a:chOff x="533400" y="419100"/>
            <a:chExt cx="7292459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1305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 缺的不是细节，而是"结构"这一层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6209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观察 1–4：来自这一周整理 RTL 的实例，括号内为缺陷根因类别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19200"/>
            <a:ext cx="5448300" cy="2362200"/>
            <a:chOff x="533400" y="1219200"/>
            <a:chExt cx="5448300" cy="23622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335405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5855" y="139731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性能模型缺一层结构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1570" y="1674495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abstraction-gap / structure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0565" y="200120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模型把 eligible → … → dispatch 当成一个事件，写口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0565" y="221075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预约放在发射时、不算读冲突。照着它生成的 RTL 就在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420302"/>
              <a:ext cx="3852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 组合读后级信号；IntAdd（tap 6）不在写回检查里。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" y="27813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47712" y="2938462"/>
              <a:ext cx="142875" cy="142875"/>
              <a:chOff x="747712" y="2938462"/>
              <a:chExt cx="142875" cy="1428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47712" y="29384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6097" y="29702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0894" y="30495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76312" y="2945606"/>
              <a:ext cx="3405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生成前先给出"哪些逻辑在哪一级、级间寄存器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312" y="3174206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是什么"——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光有模型不够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219200"/>
            <a:ext cx="5448300" cy="2362200"/>
            <a:chOff x="6210300" y="1219200"/>
            <a:chExt cx="5448300" cy="23622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4130" y="13354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2755" y="13973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风格脚本不保证行为不变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8470" y="1674495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style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87465" y="200120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PR #38 最后一个提交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872e78e2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把 ifetch_ib 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87465" y="2210752"/>
              <a:ext cx="3998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next_deadline 改成 if/else 链：分支里读未赋值的自身，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87465" y="2420302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形成组合环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；同拍 push + pop 漏掉了 pop 的减法。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00800" y="27813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24612" y="2938462"/>
              <a:ext cx="142875" cy="142875"/>
              <a:chOff x="6424612" y="2938462"/>
              <a:chExt cx="142875" cy="1428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24612" y="29384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52997" y="29702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77794" y="30495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653212" y="2945606"/>
              <a:ext cx="3002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任何"只改写法"的提交都要做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等价性检查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3212" y="3174206"/>
              <a:ext cx="2016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——这正是逐信号比对的理由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3771900"/>
            <a:ext cx="5448300" cy="2362200"/>
            <a:chOff x="533400" y="3771900"/>
            <a:chExt cx="5448300" cy="2362200"/>
          </a:xfrm>
        </p:grpSpPr>
        <p:sp>
          <p:nvSpPr>
            <p:cNvPr id="37" name="Rectangle 37"/>
            <p:cNvSpPr/>
            <p:nvPr/>
          </p:nvSpPr>
          <p:spPr>
            <a:xfrm>
              <a:off x="5334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2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855" y="395001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契约从代码里读出来，会推翻计划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1570" y="4227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验证计划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0565" y="4553902"/>
              <a:ext cx="4075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链的依赖完全由 stall count 保证，不产生 SB 流量，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0565" y="4763452"/>
              <a:ext cx="3385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原定"用 IADD3 依赖链验证 SB 环"根本测不到它。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565" y="49730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同时整理出 8 条不变量（6 条已有 trap 标志）。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239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47712" y="5491162"/>
              <a:ext cx="142875" cy="142875"/>
              <a:chOff x="747712" y="5491162"/>
              <a:chExt cx="142875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477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60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0894" y="56022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76312" y="5498306"/>
              <a:ext cx="34214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先写契约再写验证计划；验证改为 S1a–S4 分级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10300" y="3771900"/>
            <a:ext cx="5448300" cy="2362200"/>
            <a:chOff x="6210300" y="3771900"/>
            <a:chExt cx="5448300" cy="2362200"/>
          </a:xfrm>
        </p:grpSpPr>
        <p:sp>
          <p:nvSpPr>
            <p:cNvPr id="51" name="Rectangle 51"/>
            <p:cNvSpPr/>
            <p:nvPr/>
          </p:nvSpPr>
          <p:spPr>
            <a:xfrm>
              <a:off x="62103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741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02755" y="3950018"/>
              <a:ext cx="28084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读 RTL 的结论会随代码过时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08470" y="422719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cycle-semantics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87465" y="4553902"/>
              <a:ext cx="3753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本地 main 落后 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1558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个提交时，"换 warp 有 1 拍气泡"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87465" y="4763452"/>
              <a:ext cx="27946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"VALU 4 级、IntAdd tap 1"都已不成立，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87465" y="49730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图和文档要全部重读。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008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24612" y="5491162"/>
              <a:ext cx="142875" cy="142875"/>
              <a:chOff x="6424612" y="5491162"/>
              <a:chExt cx="142875" cy="14287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246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7"/>
                    </a:moveTo>
                    <a:lnTo>
                      <a:pt x="26194" y="26194"/>
                    </a:lnTo>
                    <a:moveTo>
                      <a:pt x="122238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529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77794" y="56022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653212" y="54983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每条结论写上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依据的提交号和行号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53212" y="57269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切换基准后逐项复核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22922" y="6540341"/>
              <a:ext cx="59190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根因类别取自 docs/design/ai-rtl-study/defect-template.yaml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  <p:bldP spid="50" grpId="0"/>
      <p:bldP spid="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464981" cy="678656"/>
            <a:chOff x="533400" y="419100"/>
            <a:chExt cx="7464981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3030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结论要可追溯，机制要找已有的，测量要先可信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观察 5–8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19200"/>
            <a:ext cx="5448300" cy="2362200"/>
            <a:chOff x="533400" y="1219200"/>
            <a:chExt cx="5448300" cy="23622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3354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5855" y="139731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也会讲错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1570" y="16744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ordering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0565" y="2001202"/>
              <a:ext cx="3998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讲 MEMBAR 时说 GPU 范围在 SM 层"Drain 等 load 排空"，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0565" y="2210752"/>
              <a:ext cx="3645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错：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sm_membar_ctl.v:121-123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直接转 Fence，在途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4203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load 由其后的 ERRBAR 等。S1 head 一天内 2 项→1 项→2 项。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" y="27813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47712" y="2938462"/>
              <a:ext cx="142875" cy="142875"/>
              <a:chOff x="747712" y="2938462"/>
              <a:chExt cx="142875" cy="1428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47712" y="29384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6097" y="29702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0894" y="30495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76312" y="2945606"/>
              <a:ext cx="2977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结论带依据（RTL 行号、模型代码行），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312" y="31742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才能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快速推翻或确认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10300" y="1219200"/>
            <a:ext cx="5448300" cy="2362200"/>
            <a:chOff x="6210300" y="1219200"/>
            <a:chExt cx="5448300" cy="23622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4130" y="13354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2755" y="13973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抽象层次比细节更重要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8470" y="1674495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structure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87465" y="200120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 挡发射的位，换了三版抽象：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00800" y="2247900"/>
              <a:ext cx="1428750" cy="32385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7315" y="235219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strike="sngStrike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两层 FSM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0515" y="23441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5300" y="2247900"/>
              <a:ext cx="1524000" cy="32385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66843" y="2352199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strike="sngStrike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生命周期 + hold 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40265" y="23441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925050" y="2247900"/>
              <a:ext cx="1543050" cy="323850"/>
            </a:xfrm>
            <a:prstGeom prst="roundRect">
              <a:avLst>
                <a:gd name="adj" fmla="val 1176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89856" y="2352199"/>
              <a:ext cx="1213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显式 SB + 隐式 SB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88418" y="2599849"/>
              <a:ext cx="3841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原版这些位本来就是"发射置位、事件清除"，和 SB 同一模式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00800" y="28194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24612" y="2976562"/>
              <a:ext cx="142875" cy="142875"/>
              <a:chOff x="6424612" y="2976562"/>
              <a:chExt cx="142875" cy="14287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24612" y="29765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52997" y="30083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77794" y="30876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653212" y="29837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先在现有代码里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找已有的统一机制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并命名，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3212" y="3212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不要另造一套抽象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3400" y="3771900"/>
            <a:ext cx="5448300" cy="2362200"/>
            <a:chOff x="533400" y="3771900"/>
            <a:chExt cx="5448300" cy="2362200"/>
          </a:xfrm>
        </p:grpSpPr>
        <p:sp>
          <p:nvSpPr>
            <p:cNvPr id="44" name="Rectangle 44"/>
            <p:cNvSpPr/>
            <p:nvPr/>
          </p:nvSpPr>
          <p:spPr>
            <a:xfrm>
              <a:off x="5334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72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855" y="39500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测量基础设施本身可能不确定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1570" y="4227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验证方法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565" y="4553902"/>
              <a:ext cx="3638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d1 第一次比对出现差异，查下来是 runtime 线程调度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565" y="4763452"/>
              <a:ext cx="343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引起的，与 RTL 无关；同一二进制两次运行的拍数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565" y="4973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就不一样。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239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47712" y="5491162"/>
              <a:ext cx="142875" cy="142875"/>
              <a:chOff x="747712" y="5491162"/>
              <a:chExt cx="142875" cy="14287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477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60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00894" y="56022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76312" y="5498306"/>
              <a:ext cx="2977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A/B 之前先确认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同一二进制重复跑一致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312" y="5726906"/>
              <a:ext cx="18277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否则差异无法归因到 RTL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10300" y="3771900"/>
            <a:ext cx="5448300" cy="2362200"/>
            <a:chOff x="6210300" y="3771900"/>
            <a:chExt cx="5448300" cy="2362200"/>
          </a:xfrm>
        </p:grpSpPr>
        <p:sp>
          <p:nvSpPr>
            <p:cNvPr id="59" name="Rectangle 59"/>
            <p:cNvSpPr/>
            <p:nvPr/>
          </p:nvSpPr>
          <p:spPr>
            <a:xfrm>
              <a:off x="62103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741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02755" y="395001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死逻辑与静默挂起，读比跑更易发现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08470" y="4227195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structure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88418" y="4561999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head_const_tag_hit ≡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88418" y="4771549"/>
              <a:ext cx="27801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trap_reserved_barrier_slot_o → unused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88418" y="498109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selection_changed_o 悬空 · guard_capture_q 死寄存器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4008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24612" y="5491162"/>
              <a:ext cx="142875" cy="142875"/>
              <a:chOff x="6424612" y="54911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246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7"/>
                    </a:moveTo>
                    <a:lnTo>
                      <a:pt x="26194" y="26194"/>
                    </a:lnTo>
                    <a:moveTo>
                      <a:pt x="122238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529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77794" y="56022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653212" y="5498306"/>
              <a:ext cx="2838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回归测不出来，要靠"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状态有没有主人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3212" y="57269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这类结构规则来暴露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4" name="TextBox 74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  <p:bldP spid="58" grpId="0"/>
      <p:bldP spid="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810024" cy="678656"/>
            <a:chOff x="533400" y="419100"/>
            <a:chExt cx="7810024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64809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有效的做法：让违例写不出来，让每一步都可验证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5903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左：这一周验证有效的 5 条做法；右：准备用来量化 AI 生成 RTL 的研究框架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1409700"/>
            <a:ext cx="9525" cy="4533900"/>
            <a:chOff x="800100" y="1409700"/>
            <a:chExt cx="9525" cy="4533900"/>
          </a:xfrm>
        </p:grpSpPr>
        <p:sp>
          <p:nvSpPr>
            <p:cNvPr id="7" name="Line 7"/>
            <p:cNvSpPr/>
            <p:nvPr/>
          </p:nvSpPr>
          <p:spPr>
            <a:xfrm>
              <a:off x="800100" y="1409700"/>
              <a:ext cx="9525" cy="4533900"/>
            </a:xfrm>
            <a:custGeom>
              <a:avLst/>
              <a:gdLst/>
              <a:ahLst/>
              <a:cxnLst/>
              <a:rect l="l" t="t" r="r" b="b"/>
              <a:pathLst>
                <a:path w="9525" h="4533900">
                  <a:moveTo>
                    <a:pt x="0" y="0"/>
                  </a:moveTo>
                  <a:lnTo>
                    <a:pt x="0" y="453390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28650" y="1352550"/>
            <a:ext cx="4434459" cy="481012"/>
            <a:chOff x="628650" y="1352550"/>
            <a:chExt cx="4434459" cy="481012"/>
          </a:xfrm>
        </p:grpSpPr>
        <p:sp>
          <p:nvSpPr>
            <p:cNvPr id="9" name="Ellipse 9"/>
            <p:cNvSpPr/>
            <p:nvPr/>
          </p:nvSpPr>
          <p:spPr>
            <a:xfrm>
              <a:off x="628650" y="135255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8331" y="14678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7758" y="1367314"/>
              <a:ext cx="27697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小步走、保持行为、每步留工件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0615" y="1620202"/>
              <a:ext cx="39524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参考模型二进制 + lockstep 拍数 + 逐信号报告（0 差异）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" y="2266950"/>
            <a:ext cx="3287940" cy="481012"/>
            <a:chOff x="628650" y="2266950"/>
            <a:chExt cx="3287940" cy="481012"/>
          </a:xfrm>
        </p:grpSpPr>
        <p:sp>
          <p:nvSpPr>
            <p:cNvPr id="14" name="Ellipse 14"/>
            <p:cNvSpPr/>
            <p:nvPr/>
          </p:nvSpPr>
          <p:spPr>
            <a:xfrm>
              <a:off x="628650" y="226695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204" y="2382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7758" y="2281714"/>
              <a:ext cx="28088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"只改写法"与"改拍数"分开提交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0615" y="25346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前者逐信号比，后者用端到端用例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" y="3181350"/>
            <a:ext cx="3729037" cy="690562"/>
            <a:chOff x="628650" y="3181350"/>
            <a:chExt cx="3729037" cy="690562"/>
          </a:xfrm>
        </p:grpSpPr>
        <p:sp>
          <p:nvSpPr>
            <p:cNvPr id="19" name="Ellipse 19"/>
            <p:cNvSpPr/>
            <p:nvPr/>
          </p:nvSpPr>
          <p:spPr>
            <a:xfrm>
              <a:off x="628650" y="3181350"/>
              <a:ext cx="342900" cy="3429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04" y="3296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7758" y="3196114"/>
              <a:ext cx="2574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用模板和结构让违例写不出来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0615" y="34490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一大级一模块，端口只放寄存输出和事件通道；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0615" y="3658552"/>
              <a:ext cx="29250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rdy 只能是下一级 ena；优先级只编码一次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" y="4305300"/>
            <a:ext cx="4258104" cy="481012"/>
            <a:chOff x="628650" y="4305300"/>
            <a:chExt cx="4258104" cy="481012"/>
          </a:xfrm>
        </p:grpSpPr>
        <p:sp>
          <p:nvSpPr>
            <p:cNvPr id="25" name="Ellipse 25"/>
            <p:cNvSpPr/>
            <p:nvPr/>
          </p:nvSpPr>
          <p:spPr>
            <a:xfrm>
              <a:off x="628650" y="430530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204" y="44205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7758" y="4320064"/>
              <a:ext cx="2818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每条决定写依据和"已定 / 待定"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0615" y="4572952"/>
              <a:ext cx="3776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作废方案保留并用删除线标出，方便 AI 和人对齐上下文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" y="5219700"/>
            <a:ext cx="3951399" cy="690562"/>
            <a:chOff x="628650" y="5219700"/>
            <a:chExt cx="3951399" cy="690562"/>
          </a:xfrm>
        </p:grpSpPr>
        <p:sp>
          <p:nvSpPr>
            <p:cNvPr id="30" name="Ellipse 30"/>
            <p:cNvSpPr/>
            <p:nvPr/>
          </p:nvSpPr>
          <p:spPr>
            <a:xfrm>
              <a:off x="628650" y="521970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204" y="53349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7758" y="523446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讨论稿、图、代码分开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0615" y="54873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讨论稿放 git 排除的 document/；图由脚本生成，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0615" y="56969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渲染成 PNG 目视检查后再推送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86500" y="1219200"/>
            <a:ext cx="5372100" cy="4914900"/>
            <a:chOff x="6286500" y="1219200"/>
            <a:chExt cx="5372100" cy="4914900"/>
          </a:xfrm>
        </p:grpSpPr>
        <p:sp>
          <p:nvSpPr>
            <p:cNvPr id="36" name="Rectangle 36"/>
            <p:cNvSpPr/>
            <p:nvPr/>
          </p:nvSpPr>
          <p:spPr>
            <a:xfrm>
              <a:off x="6286500" y="1219200"/>
              <a:ext cx="5372100" cy="4914900"/>
            </a:xfrm>
            <a:prstGeom prst="roundRect">
              <a:avLst>
                <a:gd name="adj" fmla="val 1550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28594" y="1430338"/>
              <a:ext cx="144462" cy="196056"/>
              <a:chOff x="6528594" y="1430338"/>
              <a:chExt cx="144462" cy="19605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38912" y="1450975"/>
                <a:ext cx="1238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82550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61912"/>
                    </a:lnTo>
                    <a:cubicBezTo>
                      <a:pt x="123825" y="73310"/>
                      <a:pt x="114585" y="82550"/>
                      <a:pt x="103188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00825" y="1430338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69869" y="1533525"/>
                <a:ext cx="95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9">
                    <a:moveTo>
                      <a:pt x="0" y="0"/>
                    </a:moveTo>
                    <a:lnTo>
                      <a:pt x="0" y="92869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31781" y="1533525"/>
                <a:ext cx="95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9">
                    <a:moveTo>
                      <a:pt x="0" y="0"/>
                    </a:moveTo>
                    <a:lnTo>
                      <a:pt x="0" y="92869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28594" y="1554162"/>
                <a:ext cx="4127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8">
                    <a:moveTo>
                      <a:pt x="0" y="20638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31781" y="1554162"/>
                <a:ext cx="4127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8">
                    <a:moveTo>
                      <a:pt x="0" y="0"/>
                    </a:moveTo>
                    <a:lnTo>
                      <a:pt x="41275" y="20638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69869" y="1595438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80188" y="149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21462" y="149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02755" y="1454468"/>
              <a:ext cx="19803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 研究框架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4618" y="178069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docs/design/ai-rtl-study/ · 13389eca5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2712" y="210740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四种实验条件，逐级叠加输入做消融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23812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7000" y="2381250"/>
              <a:ext cx="1247775" cy="381000"/>
            </a:xfrm>
            <a:prstGeom prst="roundRect">
              <a:avLst>
                <a:gd name="adj" fmla="val 10000"/>
              </a:avLst>
            </a:prstGeom>
            <a:solidFill>
              <a:srgbClr val="1F3A5F">
                <a:alpha val="2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15112" y="25074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nl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92415" y="25155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只给自然语言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7000" y="28384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7000" y="2838450"/>
              <a:ext cx="2495550" cy="381000"/>
            </a:xfrm>
            <a:prstGeom prst="roundRect">
              <a:avLst>
                <a:gd name="adj" fmla="val 10000"/>
              </a:avLst>
            </a:prstGeom>
            <a:solidFill>
              <a:srgbClr val="1F3A5F">
                <a:alpha val="4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2964656"/>
              <a:ext cx="611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+ model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30665" y="29727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加功能 / 性能模型代码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77000" y="32956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7000" y="3295650"/>
              <a:ext cx="3743325" cy="381000"/>
            </a:xfrm>
            <a:prstGeom prst="roundRect">
              <a:avLst>
                <a:gd name="adj" fmla="val 10000"/>
              </a:avLst>
            </a:prstGeom>
            <a:solidFill>
              <a:srgbClr val="1F3A5F">
                <a:alpha val="7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3421856"/>
              <a:ext cx="579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+ style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49865" y="3429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代码规范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37528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5112" y="3879056"/>
              <a:ext cx="792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+ diagram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88955" y="3887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流水线图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2712" y="43553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缺陷记录：本应被哪一项挡住？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4618" y="4638199"/>
              <a:ext cx="40048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cycle-semantics · boundary · ordering · abstraction-gap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4618" y="48477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structure · interface · style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3665" y="5125402"/>
              <a:ext cx="30553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代价：轮数、token、人工干预次数与分钟数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77000" y="5467350"/>
              <a:ext cx="49911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16065" y="5649278"/>
              <a:ext cx="3791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现状：只有模板（E000 / D000），还没有任何实验实例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2" name="TextBox 72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8" grpId="0"/>
      <p:bldP spid="24" grpId="0"/>
      <p:bldP spid="29" grpId="0"/>
      <p:bldP spid="35" grpId="0"/>
      <p:bldP spid="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774894" cy="678656"/>
            <a:chOff x="533400" y="419100"/>
            <a:chExt cx="6774894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612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下一步：先做完保持行为的整理，再动拍数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300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会改拍数的结构改动只能用端到端用例验证，所以放在后面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219200"/>
            <a:ext cx="3505200" cy="4914900"/>
            <a:chOff x="533400" y="1219200"/>
            <a:chExt cx="3505200" cy="49149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3505200" cy="4914900"/>
            </a:xfrm>
            <a:prstGeom prst="roundRect">
              <a:avLst>
                <a:gd name="adj" fmla="val 2174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19200"/>
              <a:ext cx="35052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2950" y="1495425"/>
              <a:ext cx="190500" cy="95250"/>
              <a:chOff x="742950" y="1495425"/>
              <a:chExt cx="190500" cy="95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90575" y="14954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2950" y="14954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moveTo>
                      <a:pt x="95250" y="4762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11555" y="1463992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近期 · 保持行为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9612" y="1916906"/>
              <a:ext cx="6755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1 提交 d1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2153602"/>
              <a:ext cx="2572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补 wave_compare 与 sm_context，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23441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更新断言里的层级路径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9612" y="2736056"/>
              <a:ext cx="364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 d2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2972752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分支 / CONV 序列（约 1100 行）和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316325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its_top 搬进 subcore_issue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612" y="3555206"/>
              <a:ext cx="142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3 定 ctx 保存格式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37919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建议 A：按子模块各自拼接，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398240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 sm_context 往返测试验证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612" y="4374356"/>
              <a:ext cx="554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4 S2-e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461105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payload 译码挪到 S3；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480155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端口按"源+目的"统一改名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43400" y="1219200"/>
            <a:ext cx="3505200" cy="4914900"/>
            <a:chOff x="4343400" y="1219200"/>
            <a:chExt cx="3505200" cy="4914900"/>
          </a:xfrm>
        </p:grpSpPr>
        <p:sp>
          <p:nvSpPr>
            <p:cNvPr id="26" name="Rectangle 26"/>
            <p:cNvSpPr/>
            <p:nvPr/>
          </p:nvSpPr>
          <p:spPr>
            <a:xfrm>
              <a:off x="4343400" y="1219200"/>
              <a:ext cx="3505200" cy="4914900"/>
            </a:xfrm>
            <a:prstGeom prst="roundRect">
              <a:avLst>
                <a:gd name="adj" fmla="val 2174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43400" y="1219200"/>
              <a:ext cx="3505200" cy="381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562475" y="1495425"/>
              <a:ext cx="171450" cy="95250"/>
              <a:chOff x="4562475" y="1495425"/>
              <a:chExt cx="171450" cy="95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572000" y="15049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57150" y="9525"/>
                    </a:lnTo>
                    <a:lnTo>
                      <a:pt x="104775" y="5715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67250" y="15525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19625" y="15049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562475" y="15716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4875" y="1495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821555" y="1463992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之后 · 会改拍数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612" y="1916906"/>
              <a:ext cx="15726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5 S2 到 S4 一起重构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9165" y="21536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两者必须同时做，否则会同拍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49165" y="23441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写同一写口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9612" y="2736056"/>
              <a:ext cx="19435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6 S1 改为 2 项 head FIFO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19612" y="31361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7 ev_complete 改为 +1 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49165" y="33728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在访存密集用例上量代价，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49165" y="35633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同步改性能模型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9612" y="3955256"/>
              <a:ext cx="22454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8 MEMBAR 协议位拆到访存侧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4191952"/>
              <a:ext cx="12381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代价：放行晚 1 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19612" y="4583906"/>
              <a:ext cx="22109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9 S0 三级、L0I 数据进 SRAM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1219200"/>
            <a:ext cx="3505200" cy="4914900"/>
            <a:chOff x="8153400" y="1219200"/>
            <a:chExt cx="3505200" cy="4914900"/>
          </a:xfrm>
        </p:grpSpPr>
        <p:sp>
          <p:nvSpPr>
            <p:cNvPr id="46" name="Rectangle 46"/>
            <p:cNvSpPr/>
            <p:nvPr/>
          </p:nvSpPr>
          <p:spPr>
            <a:xfrm>
              <a:off x="8153400" y="1219200"/>
              <a:ext cx="3505200" cy="49149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372475" y="1457325"/>
              <a:ext cx="171450" cy="171450"/>
              <a:chOff x="8372475" y="1457325"/>
              <a:chExt cx="171450" cy="1714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72475" y="1457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458200" y="1590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439150" y="1493125"/>
                <a:ext cx="44771" cy="64212"/>
              </a:xfrm>
              <a:custGeom>
                <a:avLst/>
                <a:gdLst/>
                <a:ahLst/>
                <a:cxnLst/>
                <a:rect l="l" t="t" r="r" b="b"/>
                <a:pathLst>
                  <a:path w="44771" h="64212">
                    <a:moveTo>
                      <a:pt x="19050" y="64212"/>
                    </a:moveTo>
                    <a:cubicBezTo>
                      <a:pt x="18690" y="57860"/>
                      <a:pt x="22573" y="52035"/>
                      <a:pt x="28575" y="49925"/>
                    </a:cubicBezTo>
                    <a:cubicBezTo>
                      <a:pt x="38392" y="46170"/>
                      <a:pt x="44771" y="36628"/>
                      <a:pt x="44485" y="26121"/>
                    </a:cubicBezTo>
                    <a:cubicBezTo>
                      <a:pt x="44200" y="15614"/>
                      <a:pt x="37313" y="6432"/>
                      <a:pt x="27306" y="3216"/>
                    </a:cubicBezTo>
                    <a:cubicBezTo>
                      <a:pt x="17300" y="0"/>
                      <a:pt x="6353" y="3451"/>
                      <a:pt x="0" y="118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631555" y="1463992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想请大家一起判断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29612" y="1916906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 拉长流水线是否接受？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59165" y="215360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发射到写回变长，stall 数要加大，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59165" y="2344102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单 warp 依赖链会变慢（待定 F）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29612" y="2736056"/>
              <a:ext cx="21333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B 单 warp 取指 0.67 条/拍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9165" y="29727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要不要补？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9612" y="3364706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 分支 FSM 的粒度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59165" y="3601402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整个 subcore 一个，还是每 warp 一个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9612" y="3993356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 AI 实验的第一个模块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59165" y="4230052"/>
              <a:ext cx="21966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按四种条件生成，把今天的 8 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59165" y="442055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观察补成 D 记录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43900" y="5334000"/>
              <a:ext cx="3124200" cy="609600"/>
            </a:xfrm>
            <a:prstGeom prst="roundRect">
              <a:avLst>
                <a:gd name="adj" fmla="val 937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46680" y="54711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谢谢，欢迎讨论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21368" y="5713095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dyf · curryGPU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5" grpId="0"/>
      <p:bldP spid="6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