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大家好，今天汇报我在 curryGPU 上做的 subcore 流水线结构整理：先把现有 RTL 读清楚、定下目标结构，再一步步改，同时讲讲这个过程对 AI 生成 RTL 的启示，以及我们用 AI 写代码的方法。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今天分六部分。先讲背景，性能模型是什么结构，为什么照它生成的 RTL 流水线会混乱；然后是重点，subcore 的目标结构，每一级想做什么、内部怎么做；接着讲怎么验证改完的 RTL 和目前的结果；再讲 AI 生成 RTL 的观察；然后介绍 humanize 这套用 AI 写代码的方法；最后是下一步。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先看性能模型。它是事件驱动的，每个 subcore 在发射那一拍调用一次 process_issue。先筛候选 warp，再查写口有没有被预约，选出一个 warp 之后，在同一个函数里一次算完读冲突、单元占用、队列 credit、写回预约和 scoreboard，最后得到这个 warp 下一次能发射的时刻。这个函数大约 760 行。之后的完成、还 credit、唤醒，都只是排在未来某个时刻的事件。所以它有四个特点：没有级的概念，时间是算出来的，事件之间没有握手，下一条指令直接可得。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问题在于，照着这个模型写 RTL，模型里一次算完的东西就被原样搬进了同一拍。发射路径变成一个三十五到四十五级逻辑的大组合锥；调度器直接组合读执行单元内部的信号；写回窗口只按延迟检查，有些指令类别根本不在检查里；完成事件同一拍回到调度器。另外 RTL 每个 warp 只有一项 head，同一 warp 只能隔拍发射，和模型的 max(1, stall) 对不上。结论是：模型和 RTL 之间缺了一层流水级结构。每一级做什么、级间寄存什么、哪份状态归谁，这一层要先定下来，再让人或 AI 按它写 RTL。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我们定的目标结构可以用一句话概括：大流水线套小流水线。三条边界规则：向前只走寄存器，向后只走寄存的事件通道，每份状态只有一个主人。做到这三条，跨级组合读取在结构上就写不出来。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七个大级每拍并行工作。每个大级内部用统一的握手模板，取自公司 DSP 设计里的写法：rdy 等于下一级的 ena，ena 等于握手或者当前级为空。状态机只用在一次做一件、要做多拍的单元上。另外，S2 是全流水线唯一的单拍环，发射后下一拍选 warp 就要读到的状态只能放在 S2，其他状态都可以晚一拍看到。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这张是目标结构的总图。橙色框住的是 S2，唯一的单拍环。全流水线逐级组合握手，rdy 只能来自下一级的 ena、常数一或者外部寄存输出。S2 到 S3 之间只寄存 warp 号和 ITS 状态，完整指令由 S1 按 warp 号直接送到 S3。底部是向后的事件通道，每个来源一条，迟到的事件直接丢弃。接下来逐级讲每一级想做什么。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S0 要做的是按 PC 从 L0I 取指令送进 IB。现状有一把全局锁，每两拍才查一次，平均每拍不到一条，正好等于发射上限，没有余量。目标是在途位按 warp 设，不同 warp 每拍都能查；L0I 数据放进 SRAM，分成查 tag、读数据、写 IB 三级。代价是取指到发射从三拍变成四拍，只在分支跳转、IB 清空后显现。还有两个待定点：单 warp 每三拍才能查一次要不要补，回填频繁时要不要改成双口 SRAM。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S1 从 IB 取队头并预译码，S2 每拍从十六个 warp 里选一条能发的指令发出去。S1 的 head 定为每个 warp 两项的 FIFO，大约一 KB 触发器，目标是同一 warp 可以每拍发射。S2 的发射条件整理成显式 scoreboard 加隐式 scoreboard：显式的是编译器分配的计数器，隐式的是硬件为 MEMBAR、CCTL、SETMAXREG、ERRBAR、分支和初始化各设的一位，发射置位、事件清除。发射本身简化成选中、credit 够、下一级 ready 三个条件，读口、写口的检查都挪到 S4。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S3 是新切出来的一级，一拍做完三件事：译码完整指令、根据 ITS 状态取 lane mask、决定走固定延迟路径还是变长队列。它不拥有任何持久状态。原版这些事和 S2 在同一拍组合完成，现在独立出来，S2 不用再做两百五十五位的十六选一。变长指令推进各自的队列，credit 在 S2 已经扣过，所以推入一定成功，不进反压链。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S4 的核心是 allocate：替固定延迟指令一次订好读口和写回拍，查读口表、写回拍表、VALU 出口计数、入口拍表四张表，全部通过才放行。过了这一级，读几拍、哪拍执行、哪拍写回都是固定的，所以后面不需要结果队列。变长前门也在这一级抢读口，用轮询加防饿死。这样 S2 不再需要 rd_busy 这类检查。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S5 把操作数变成结果。v1 只改执行单元和流水线之间的接口，不改单元内部的算法和拍数。固定延迟的 VALU 六级、SALU 四级全流水，不会被反压。变长单元在队头读操作数后再送进单元；控制、TQ、async 三个前门是新增的模块，原来这些逻辑散在 subcore_top 里，被 S2 组合读取。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SW 把结果写进寄存器堆，并通知 S2 这条指令完成了。固定延迟结果按 allocate 预约好的写口直接写，不经过仲裁；变长结果只用当拍空着的口，保留原版和性能模型一致的让步规则。完成事件寄存后送 S2。不设结果队列，是因为固定延迟指令靠编译器 stall 保护依赖，写回拍必须确定。风险是写口前的多路选择比较宽，时序不够的话要加一拍，并同步改编译器和性能模型。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验证的思路是分步改，每一步都在完整 SoC 上跑端到端 CUDA 用例，不写单元测试。保持行为的步骤用逐信号波形比较，要求零差异；会改拍数的步骤先看功能是否通过，再和性能模型比周期，差距超出已知差异的就要查。用例覆盖依赖链、分支、MEMBAR、FP64、TMA 和上下文切换。还有一个前提：SoC 仿真本身不确定，同一模型跑两次拍数会不同，所以比较时统一开 lockstep。每一步的命令、日志、周期数都存档，可以复现。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目前第一步，把隐式 scoreboard 搬出 subcore_top，已经通过：十万个信号零差异，拍数不变，抢占用例也通过了，已经提交。第二步首版放开同 warp 每拍发射，iadd3 通过，但 mix 和 control_flow 出错。原因是原版 S2 和 ITS 默认发射后空一拍，PC 推进晚一拍。所以这一步先屏蔽刚发射的 warp 一拍，三个用例都通过了；连续发射留到第三步 S2 重构时再放开。另一个发现是判据本身要核对：发射数变多其实是 S1 多读了几条再冲刷，不代表行为变了。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 AI 生成 RTL 的观察。最核心的一条：AI 缺的不是细节，而是结构这一层，这就是前面讲的性能模型的问题。第二，风格脚本不保证行为不变，只改写法的提交也要做等价检查。第三，契约要从代码里读。第四，AI 读 RTL 的结论会随代码过时，每条结论都要写上依据的提交号和行号。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后四条。第五，AI 也会讲错，有行号依据才能快速纠正。第六，抽象层次比细节重要，先找已有机制，不要另造。第七，测量基础设施本身可能不确定，比较之前先确认同一二进制重复跑结果一致。第八，死逻辑和静默挂起回归测不出来，要靠状态有没有主人这类结构规则来暴露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成五条做法：小步走、每步留工件；只改写法和改拍数分开提交；用模板和结构让违例写不出来；每条决定写依据和状态；讨论稿、图、代码分开管理。右边是准备用来量化的研究框架，逐级叠加输入，从只给自然语言，到加模型、加规范、加流水线图，看每一层输入能挡住哪类缺陷。目前只有模板，还没有实例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老师之前问到用 AI 写代码的方法，这里介绍我们在用的 humanize。它是装在 Codex 上的一组 skill，流程是：gen-idea 把一句想法变成有仓库证据的草稿；gen-plan 把草稿变成带验收标准的计划；refine-plan 让人在计划里批注、AI 逐条回应；最后 rlcr 循环，一个 AI 按计划实现，另一个模型独立评审，有问题就把意见变成下一轮的任务，直到没有问题。它还有两个保护：目标和验收标准第零轮写定不许改，以及退出由 hook 判断，AI 不能自己宣布完成。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先看前两步的真实例子。左边是我在 PyTorchSim 上用 gen-idea 的结果：输入就一句话，输出一份一百五十行的草稿，六个方向，每条判断都落到具体的代码行和实验数据上，找不到证据就明确写没有先例。右边是另一个项目的实施计划，十四条验收标准，每条都有应当通过和应当失败的测试。人在这一步最重要的工作就是把做完的标准写清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这是一次真实的循环，跑了二十一轮，大约六个小时。前七轮是实现阶段，评审一直给阻塞意见；第六轮评审写出 COMPLETE 后进入代码审查，每轮一到四条分级意见。几个典型的拦截：第零轮实现者只建了跟踪文件就想交；另一次运行里实现者以源码不在仓库为由推迟任务，评审在本机找到了源码，还指出占位数据被标成已测量；第二十轮发现超时后子进程没被杀掉，这是测试全过也发现不了的问题。每轮都有文件留档，事后可以复盘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具体用法四步：gen-idea、gen-plan、可选的 refine-plan、rlcr。人只管想法、计划和最后验收。几条经验：计划越具体循环越短；评审要用不同的模型；验证命令要写进验收标准；做不通时让它停下来写问题，而不是自己改目标。Codex 和 Kimi 有官方安装脚本；Claude Code 和 opencode 我本机没有验证过。但做法本身不绑定工具，核心就是带验收标准的计划加独立评审。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下一步分三步。第一，先出一版重构后的 RTL，把 subcore 按目标结构整体改完，每一步都跑端到端用例。第二，以这版手改 RTL 为参照，和性能模型生成的 RTL 对比，看结构、时序、周期、可维护性上差了什么，每处差别归到缺了哪类输入。第三，据此判断补上哪些输入后，这份工作可以交给 AI 来做。想请老师给两点意见：比较范围先做整个 subcore 还是先挑一个大级；以及可以交给 AI 的判据用这几项是否够。谢谢大家。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c3fdf723a507af2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742e904929fc597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bc8ddc70ae7e86e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d5ad3639e499bd8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1bee6795e1ee5fd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e047beb723d04f7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fa853900622c79b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0" y="0"/>
            <a:ext cx="4267200" cy="6858000"/>
            <a:chOff x="0" y="0"/>
            <a:chExt cx="42672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4191000" cy="6858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191000" y="0"/>
              <a:ext cx="76200" cy="68580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858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333500" y="14287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076450"/>
              <a:ext cx="533400" cy="5334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>
                  <a:alpha val="3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20764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07A1F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465" y="2934652"/>
              <a:ext cx="24036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Consolas"/>
                  <a:ea typeface="Microsoft YaHei"/>
                  <a:cs typeface="Consolas"/>
                </a:rPr>
                <a:t>SM · 4 × subcore · 16 warp slots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2465" y="5696902"/>
              <a:ext cx="22579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S0 → S1 → S2 → S3 → S4 → S5 → SW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03470" y="2203132"/>
            <a:ext cx="4375294" cy="2678430"/>
            <a:chOff x="4903470" y="2203132"/>
            <a:chExt cx="4375294" cy="2678430"/>
          </a:xfrm>
        </p:grpSpPr>
        <p:sp>
          <p:nvSpPr>
            <p:cNvPr id="12" name="TextBox 12"/>
            <p:cNvSpPr txBox="1"/>
            <p:nvPr/>
          </p:nvSpPr>
          <p:spPr>
            <a:xfrm>
              <a:off x="4932045" y="2203132"/>
              <a:ext cx="24583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curryGPU · 组会汇报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03470" y="2722245"/>
              <a:ext cx="437529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subcore 流水线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03470" y="3369945"/>
              <a:ext cx="2491359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结构整理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32045" y="4222432"/>
              <a:ext cx="29939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从读 RTL 到可验证的重构，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32045" y="4546282"/>
              <a:ext cx="26204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以及 AI 生成 RTL 的启示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35855" y="5334000"/>
            <a:ext cx="6303645" cy="766762"/>
            <a:chOff x="4935855" y="5334000"/>
            <a:chExt cx="6303645" cy="766762"/>
          </a:xfrm>
        </p:grpSpPr>
        <p:sp>
          <p:nvSpPr>
            <p:cNvPr id="18" name="Line 18"/>
            <p:cNvSpPr/>
            <p:nvPr/>
          </p:nvSpPr>
          <p:spPr>
            <a:xfrm>
              <a:off x="4953000" y="5334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35855" y="556926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汇报人：dyf</a:t>
              </a:r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 xml:space="preserve"> | </a:t>
              </a:r>
              <a:r>
                <a:rPr lang="zh-CN" sz="13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2026-10-10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39665" y="588740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branch: subcore-pipeline-structure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33400" y="381000"/>
            <a:ext cx="11125200" cy="847725"/>
            <a:chOff x="533400" y="381000"/>
            <a:chExt cx="11125200" cy="847725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81012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今天讲什么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906000" y="381000"/>
              <a:ext cx="1752600" cy="609600"/>
            </a:xfrm>
            <a:prstGeom prst="roundRect">
              <a:avLst>
                <a:gd name="adj" fmla="val 125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19601" y="459105"/>
              <a:ext cx="132539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≈25</a:t>
              </a:r>
              <a:r>
                <a:rPr lang="zh-CN" sz="1200" b="1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分钟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613136" y="798195"/>
              <a:ext cx="3383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23 页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33400" y="1219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66800" y="1676400"/>
            <a:ext cx="9525" cy="4286250"/>
            <a:chOff x="1066800" y="1676400"/>
            <a:chExt cx="9525" cy="4286250"/>
          </a:xfrm>
        </p:grpSpPr>
        <p:sp>
          <p:nvSpPr>
            <p:cNvPr id="10" name="Line 10"/>
            <p:cNvSpPr/>
            <p:nvPr/>
          </p:nvSpPr>
          <p:spPr>
            <a:xfrm>
              <a:off x="1066800" y="16764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57250" y="1460182"/>
            <a:ext cx="10815638" cy="532924"/>
            <a:chOff x="857250" y="1460182"/>
            <a:chExt cx="10815638" cy="532924"/>
          </a:xfrm>
        </p:grpSpPr>
        <p:sp>
          <p:nvSpPr>
            <p:cNvPr id="12" name="Ellipse 12"/>
            <p:cNvSpPr/>
            <p:nvPr/>
          </p:nvSpPr>
          <p:spPr>
            <a:xfrm>
              <a:off x="857250" y="14668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9191" y="161210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3045" y="1460182"/>
              <a:ext cx="25722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背景：性能模型的结构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9712" y="1764506"/>
              <a:ext cx="4177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它怎么算一条指令，为什么照它生成的 RTL 流水线会混乱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76040" y="16121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 分钟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7250" y="2317432"/>
            <a:ext cx="10815637" cy="532924"/>
            <a:chOff x="857250" y="2317432"/>
            <a:chExt cx="10815637" cy="532924"/>
          </a:xfrm>
        </p:grpSpPr>
        <p:sp>
          <p:nvSpPr>
            <p:cNvPr id="18" name="Ellipse 18"/>
            <p:cNvSpPr/>
            <p:nvPr/>
          </p:nvSpPr>
          <p:spPr>
            <a:xfrm>
              <a:off x="857250" y="2324100"/>
              <a:ext cx="419100" cy="4191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626" y="2469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03045" y="2317432"/>
              <a:ext cx="2104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subcore 目标结构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9712" y="2621756"/>
              <a:ext cx="45141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大流水线套小流水线；S0 到 SW 每一级想做什么、内部怎么做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52626" y="24693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9 分钟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3174682"/>
            <a:ext cx="10815638" cy="532924"/>
            <a:chOff x="857250" y="3174682"/>
            <a:chExt cx="10815638" cy="532924"/>
          </a:xfrm>
        </p:grpSpPr>
        <p:sp>
          <p:nvSpPr>
            <p:cNvPr id="24" name="Ellipse 24"/>
            <p:cNvSpPr/>
            <p:nvPr/>
          </p:nvSpPr>
          <p:spPr>
            <a:xfrm>
              <a:off x="857250" y="31813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7626" y="332660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03045" y="3174682"/>
              <a:ext cx="230654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怎么验证改完的 RTL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09712" y="3479006"/>
              <a:ext cx="3807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用例、比较方法、可重复的工件；目前的结果和发现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76040" y="33266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 分钟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4031932"/>
            <a:ext cx="10815637" cy="532924"/>
            <a:chOff x="857250" y="4031932"/>
            <a:chExt cx="10815637" cy="532924"/>
          </a:xfrm>
        </p:grpSpPr>
        <p:sp>
          <p:nvSpPr>
            <p:cNvPr id="30" name="Ellipse 30"/>
            <p:cNvSpPr/>
            <p:nvPr/>
          </p:nvSpPr>
          <p:spPr>
            <a:xfrm>
              <a:off x="857250" y="4038600"/>
              <a:ext cx="419100" cy="4191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57626" y="4183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03045" y="4031932"/>
              <a:ext cx="21673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生成 RTL 的观察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9712" y="4336256"/>
              <a:ext cx="31257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8 条带实例的观察，有效的做法，研究框架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52626" y="4183856"/>
              <a:ext cx="5202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3 分钟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" y="4889182"/>
            <a:ext cx="10815638" cy="532924"/>
            <a:chOff x="857250" y="4889182"/>
            <a:chExt cx="10815638" cy="532924"/>
          </a:xfrm>
        </p:grpSpPr>
        <p:sp>
          <p:nvSpPr>
            <p:cNvPr id="36" name="Ellipse 36"/>
            <p:cNvSpPr/>
            <p:nvPr/>
          </p:nvSpPr>
          <p:spPr>
            <a:xfrm>
              <a:off x="857250" y="489585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F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626" y="504110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03045" y="4889182"/>
              <a:ext cx="2774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 AI 写代码：humanize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09712" y="5193506"/>
              <a:ext cx="5327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从想法到计划，再到"实现 + 独立评审"的循环；两个真实示例和上手步骤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76040" y="5041106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6 分钟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57250" y="5746432"/>
            <a:ext cx="10815637" cy="532924"/>
            <a:chOff x="857250" y="5746432"/>
            <a:chExt cx="10815637" cy="532924"/>
          </a:xfrm>
        </p:grpSpPr>
        <p:sp>
          <p:nvSpPr>
            <p:cNvPr id="42" name="Ellipse 42"/>
            <p:cNvSpPr/>
            <p:nvPr/>
          </p:nvSpPr>
          <p:spPr>
            <a:xfrm>
              <a:off x="857250" y="5753100"/>
              <a:ext cx="419100" cy="4191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7626" y="58983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03045" y="5746432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09712" y="6050756"/>
              <a:ext cx="5302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先出一版重构后的 RTL，对比手改与模型生成的差别，再讨论怎么交给 AI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95756" y="5898356"/>
              <a:ext cx="477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1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5" grpId="0"/>
      <p:bldP spid="41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477607" cy="678656"/>
            <a:chOff x="533400" y="419100"/>
            <a:chExt cx="847760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9925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性能模型：一条指令在发射那一刻就被"算完"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83013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事件驱动的 event_issue_simulation（simulator/binding/）：每个 subcore 在发射拍执行一次 process_issue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1219200"/>
            <a:ext cx="6096000" cy="2266950"/>
            <a:chOff x="533400" y="1219200"/>
            <a:chExt cx="6096000" cy="226695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6096000" cy="64770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47700" y="140970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3562" y="147732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3460" y="1318260"/>
              <a:ext cx="2247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候选：ready(warp, tick)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318" y="1590199"/>
              <a:ext cx="5037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在位、未等屏障、ready_tick 已到、队列 credit 够、取指就绪、等待掩码清零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581400" y="1866900"/>
              <a:ext cx="1" cy="1524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038350"/>
              <a:ext cx="6096000" cy="64770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47700" y="22288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3434" y="22964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3460" y="2137410"/>
              <a:ext cx="2155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再筛：wb_slot_available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6318" y="2409349"/>
              <a:ext cx="36203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发射拍 + 延迟 那一拍的写口没被预约，同一 bank 没被占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581400" y="2686050"/>
              <a:ext cx="1" cy="1524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57500"/>
              <a:ext cx="6096000" cy="476250"/>
            </a:xfrm>
            <a:prstGeom prst="roundRect">
              <a:avLst>
                <a:gd name="adj" fmla="val 16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47700" y="2962275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3434" y="30299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3460" y="3023235"/>
              <a:ext cx="3480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选一个 warp</a:t>
              </a:r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按 age、last_issued、yield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581400" y="3333750"/>
              <a:ext cx="1" cy="1524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33400" y="3505200"/>
            <a:ext cx="7212050" cy="2971800"/>
            <a:chOff x="533400" y="3505200"/>
            <a:chExt cx="7212050" cy="2971800"/>
          </a:xfrm>
        </p:grpSpPr>
        <p:sp>
          <p:nvSpPr>
            <p:cNvPr id="25" name="Rectangle 25"/>
            <p:cNvSpPr/>
            <p:nvPr/>
          </p:nvSpPr>
          <p:spPr>
            <a:xfrm>
              <a:off x="533400" y="3505200"/>
              <a:ext cx="60960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47700" y="3619500"/>
              <a:ext cx="266700" cy="2667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3434" y="36871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460" y="3680460"/>
              <a:ext cx="4161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同一个函数里一次算完</a:t>
              </a:r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process_issue，约 760 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518" y="4047649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读冲突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6368" y="4047649"/>
              <a:ext cx="47524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rounds = rf_read_rounds(reuse 命中后) penalty = max(1, rounds) − 1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1518" y="43524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单元占用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6368" y="4352449"/>
              <a:ext cx="39336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pipe_next_free = tick + max(1, rounds)（VALU）或 + 间隔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518" y="4657249"/>
              <a:ext cx="8246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队列 credit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16368" y="4657249"/>
              <a:ext cx="34423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发射当拍扣；释放在 tick + 延迟（访存：SM 接收时）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1518" y="4962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写回预约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6368" y="4962049"/>
              <a:ext cx="41329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reserve_wb_slot(tick + latency) 每拍 ≤ 写口数、每 bank 1 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518" y="52668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依赖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16368" y="5266849"/>
              <a:ext cx="42540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allocate_scoreboard warp.ready_tick = tick + stall + penalty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1518" y="5609749"/>
              <a:ext cx="5955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scheduler.cpp:1810 起；读冲突 :1963，单元占用 :2014，写回预约 :2161，ready_tick :2517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581400" y="5886450"/>
              <a:ext cx="1" cy="152400"/>
            </a:xfrm>
            <a:prstGeom prst="line">
              <a:avLst/>
            </a:prstGeom>
            <a:noFill/>
            <a:ln w="19050">
              <a:solidFill>
                <a:srgbClr val="1F3A5F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6057900"/>
              <a:ext cx="6096000" cy="419100"/>
            </a:xfrm>
            <a:prstGeom prst="roundRect">
              <a:avLst>
                <a:gd name="adj" fmla="val 181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7700" y="613410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3434" y="620172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4412" y="6203156"/>
              <a:ext cx="67310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之后只是未来的事件</a:t>
              </a:r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完成、还 credit、唤醒，都是 engine.schedule_local(某个 tick)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917055" y="1283018"/>
            <a:ext cx="4741545" cy="5079682"/>
            <a:chOff x="6917055" y="1283018"/>
            <a:chExt cx="4741545" cy="5079682"/>
          </a:xfrm>
        </p:grpSpPr>
        <p:sp>
          <p:nvSpPr>
            <p:cNvPr id="46" name="TextBox 46"/>
            <p:cNvSpPr txBox="1"/>
            <p:nvPr/>
          </p:nvSpPr>
          <p:spPr>
            <a:xfrm>
              <a:off x="6917055" y="128301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这个结构的四个特点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34200" y="1600200"/>
              <a:ext cx="47244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34200" y="1600200"/>
              <a:ext cx="38100" cy="1104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9460" y="1756410"/>
              <a:ext cx="7849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没有"级"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11365" y="2039302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没有 head、没有 S3 / S4 的寄存器边界；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1365" y="22488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所有资源检查和预约都在发射这一个函数里完成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934200" y="2819400"/>
              <a:ext cx="47244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34200" y="2819400"/>
              <a:ext cx="38100" cy="1104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09460" y="2975610"/>
              <a:ext cx="1521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时间是"算"出来的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11365" y="3258502"/>
              <a:ext cx="26796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写回拍 = 发射拍 + 延迟，不含读冲突；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11365" y="346805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读冲突只推迟这个 warp 自己的 ready_tick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934200" y="4038600"/>
              <a:ext cx="47244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34200" y="4038600"/>
              <a:ext cx="38100" cy="1104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09460" y="41948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事件没有握手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1365" y="4477702"/>
              <a:ext cx="3231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credit 释放、完成都是未来某个 tick 的事件，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11365" y="46872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没有反压，也没有"这一拍对方收不收"的问题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934200" y="5257800"/>
              <a:ext cx="4724400" cy="1104900"/>
            </a:xfrm>
            <a:prstGeom prst="roundRect">
              <a:avLst>
                <a:gd name="adj" fmla="val 6897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34200" y="5257800"/>
              <a:ext cx="38100" cy="11049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9460" y="54140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指令直接可得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11365" y="5696902"/>
              <a:ext cx="30860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下一条指令不经过 IB 和 head，每个 warp 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11365" y="5906452"/>
              <a:ext cx="35921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发射间隔就是 max(1, stall)，没有"补 head"这一拍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597491"/>
            <a:ext cx="11146155" cy="167640"/>
            <a:chOff x="522922" y="6597491"/>
            <a:chExt cx="11146155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597491"/>
              <a:ext cx="7895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依据：simulator/binding/timing_model_event_issue_scheduler.cpp、_common.cpp（读代码得出）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15582" y="65974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5" grpId="0"/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039927" cy="678656"/>
            <a:chOff x="533400" y="419100"/>
            <a:chExt cx="703992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90563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照它生成的 RTL，为什么流水线会混乱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863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模型里"一次算完"的每一件事，都被原样搬进了 RTL 的同一拍，而 RTL 里这些事分属不同的级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19200"/>
            <a:ext cx="11125200" cy="361950"/>
            <a:chOff x="533400" y="1219200"/>
            <a:chExt cx="11125200" cy="36195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32385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771900" y="1219200"/>
              <a:ext cx="3810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152900" y="1219200"/>
              <a:ext cx="34290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81900" y="1219200"/>
              <a:ext cx="3810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962900" y="1219200"/>
              <a:ext cx="3695700" cy="36195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512" y="133588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性能模型这样做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91012" y="1335881"/>
              <a:ext cx="14518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照搬进 RTL 就成了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01012" y="1335881"/>
              <a:ext cx="14518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在原 RTL 里看到的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581150"/>
            <a:ext cx="11125200" cy="762000"/>
            <a:chOff x="533400" y="1581150"/>
            <a:chExt cx="11125200" cy="762000"/>
          </a:xfrm>
        </p:grpSpPr>
        <p:sp>
          <p:nvSpPr>
            <p:cNvPr id="16" name="Rectangle 16"/>
            <p:cNvSpPr/>
            <p:nvPr/>
          </p:nvSpPr>
          <p:spPr>
            <a:xfrm>
              <a:off x="533400" y="1581150"/>
              <a:ext cx="11125200" cy="7620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2465" y="17345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在发射这一个函数里，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465" y="1944052"/>
              <a:ext cx="2641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一次查完读冲突、占用、写口、credit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46195" y="18602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91965" y="1734502"/>
              <a:ext cx="19282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的一个大组合锥：选择、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91965" y="194405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allocate、ITS、分发、RF 读地址同一拍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56195" y="18602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01965" y="17345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估计 35–45 级逻辑；发射路径上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01965" y="1944052"/>
              <a:ext cx="2142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只有 IB → head 一处寄存器边界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2381250"/>
            <a:ext cx="11125200" cy="762000"/>
            <a:chOff x="533400" y="2381250"/>
            <a:chExt cx="11125200" cy="762000"/>
          </a:xfrm>
        </p:grpSpPr>
        <p:sp>
          <p:nvSpPr>
            <p:cNvPr id="26" name="Rectangle 26"/>
            <p:cNvSpPr/>
            <p:nvPr/>
          </p:nvSpPr>
          <p:spPr>
            <a:xfrm>
              <a:off x="533400" y="2381250"/>
              <a:ext cx="111252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2465" y="25346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要知道后级有没有空，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2465" y="2744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直接读对方的状态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46195" y="2660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91965" y="25346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调度器组合读执行单元内部信号，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1965" y="27441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写口预约藏在调度器里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56195" y="26603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1965" y="2534602"/>
              <a:ext cx="2825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sched_top 读 collect_fire、rd_busy、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1965" y="2744152"/>
              <a:ext cx="2372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valu_wb_warps（跨级组合读取）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3181350"/>
            <a:ext cx="11125200" cy="762000"/>
            <a:chOff x="533400" y="3181350"/>
            <a:chExt cx="11125200" cy="762000"/>
          </a:xfrm>
        </p:grpSpPr>
        <p:sp>
          <p:nvSpPr>
            <p:cNvPr id="36" name="Rectangle 36"/>
            <p:cNvSpPr/>
            <p:nvPr/>
          </p:nvSpPr>
          <p:spPr>
            <a:xfrm>
              <a:off x="533400" y="3181350"/>
              <a:ext cx="11125200" cy="7620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2465" y="3334702"/>
              <a:ext cx="1759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写回拍 = 发射拍 + 延迟，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2465" y="35442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不含读冲突造成的推迟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46195" y="34604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91965" y="3334702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写回窗口只按"延迟"检查，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91965" y="35442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没有读口表，也没有按写口分的预约表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56195" y="34604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01965" y="3334702"/>
              <a:ext cx="3024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写回窗口只覆盖部分类别，IntAdd（tap 6）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01965" y="35442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这类指令不在检查里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3981450"/>
            <a:ext cx="11125200" cy="762000"/>
            <a:chOff x="533400" y="3981450"/>
            <a:chExt cx="11125200" cy="762000"/>
          </a:xfrm>
        </p:grpSpPr>
        <p:sp>
          <p:nvSpPr>
            <p:cNvPr id="46" name="Rectangle 46"/>
            <p:cNvSpPr/>
            <p:nvPr/>
          </p:nvSpPr>
          <p:spPr>
            <a:xfrm>
              <a:off x="533400" y="3981450"/>
              <a:ext cx="11125200" cy="7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2465" y="4134802"/>
              <a:ext cx="24266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完成、还 credit 都是零延迟事件，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2465" y="434435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当拍就可见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46195" y="42605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91965" y="41348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完成事件同一拍回到调度器，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291965" y="43443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没有寄存、没有向后的通道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56195" y="42605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01965" y="4134802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scoreboard 在完成的同一拍组合释放：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01965" y="4344352"/>
              <a:ext cx="2564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released = counter_q − decrement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33400" y="4781550"/>
            <a:ext cx="11125200" cy="762000"/>
            <a:chOff x="533400" y="4781550"/>
            <a:chExt cx="11125200" cy="762000"/>
          </a:xfrm>
        </p:grpSpPr>
        <p:sp>
          <p:nvSpPr>
            <p:cNvPr id="56" name="Rectangle 56"/>
            <p:cNvSpPr/>
            <p:nvPr/>
          </p:nvSpPr>
          <p:spPr>
            <a:xfrm>
              <a:off x="533400" y="4781550"/>
              <a:ext cx="11125200" cy="7620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2465" y="4934902"/>
              <a:ext cx="2165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没有 IB 和 head，同一 warp 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2465" y="514445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发射间隔就是 max(1, stall)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846195" y="50606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291965" y="493490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 warp 只有 1 项 head，发射后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91965" y="51444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要等补充，补充用寄存的有效位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56195" y="5060632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01965" y="4934902"/>
              <a:ext cx="2326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波形确认：同一 warp 隔拍发射，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01965" y="5144452"/>
              <a:ext cx="2579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单 warp 峰值 IPC 0.5，与模型对不上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33400" y="5695950"/>
            <a:ext cx="11125200" cy="723900"/>
            <a:chOff x="533400" y="5695950"/>
            <a:chExt cx="11125200" cy="723900"/>
          </a:xfrm>
        </p:grpSpPr>
        <p:sp>
          <p:nvSpPr>
            <p:cNvPr id="66" name="Rectangle 66"/>
            <p:cNvSpPr/>
            <p:nvPr/>
          </p:nvSpPr>
          <p:spPr>
            <a:xfrm>
              <a:off x="533400" y="5695950"/>
              <a:ext cx="11125200" cy="723900"/>
            </a:xfrm>
            <a:prstGeom prst="roundRect">
              <a:avLst>
                <a:gd name="adj" fmla="val 10526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59619" y="5922169"/>
              <a:ext cx="214312" cy="214313"/>
              <a:chOff x="759619" y="5922169"/>
              <a:chExt cx="214312" cy="21431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59619" y="5922169"/>
                <a:ext cx="214312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7156">
                    <a:moveTo>
                      <a:pt x="0" y="107156"/>
                    </a:moveTo>
                    <a:lnTo>
                      <a:pt x="11906" y="107156"/>
                    </a:lnTo>
                    <a:moveTo>
                      <a:pt x="107156" y="0"/>
                    </a:moveTo>
                    <a:lnTo>
                      <a:pt x="107156" y="11906"/>
                    </a:lnTo>
                    <a:moveTo>
                      <a:pt x="202406" y="107156"/>
                    </a:moveTo>
                    <a:lnTo>
                      <a:pt x="214312" y="107156"/>
                    </a:lnTo>
                    <a:moveTo>
                      <a:pt x="30956" y="30956"/>
                    </a:moveTo>
                    <a:lnTo>
                      <a:pt x="39291" y="39291"/>
                    </a:lnTo>
                    <a:moveTo>
                      <a:pt x="183356" y="30956"/>
                    </a:moveTo>
                    <a:lnTo>
                      <a:pt x="175022" y="39291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2196" y="5969794"/>
                <a:ext cx="129159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29159" h="166688">
                    <a:moveTo>
                      <a:pt x="28861" y="107156"/>
                    </a:moveTo>
                    <a:cubicBezTo>
                      <a:pt x="8361" y="91782"/>
                      <a:pt x="0" y="65015"/>
                      <a:pt x="8103" y="40706"/>
                    </a:cubicBezTo>
                    <a:cubicBezTo>
                      <a:pt x="16206" y="16397"/>
                      <a:pt x="38955" y="0"/>
                      <a:pt x="64579" y="0"/>
                    </a:cubicBezTo>
                    <a:cubicBezTo>
                      <a:pt x="90203" y="0"/>
                      <a:pt x="112953" y="16397"/>
                      <a:pt x="121056" y="40706"/>
                    </a:cubicBezTo>
                    <a:cubicBezTo>
                      <a:pt x="129159" y="65015"/>
                      <a:pt x="120797" y="91782"/>
                      <a:pt x="100298" y="107156"/>
                    </a:cubicBezTo>
                    <a:cubicBezTo>
                      <a:pt x="90870" y="116489"/>
                      <a:pt x="86449" y="129752"/>
                      <a:pt x="88392" y="142875"/>
                    </a:cubicBezTo>
                    <a:cubicBezTo>
                      <a:pt x="88392" y="156026"/>
                      <a:pt x="77731" y="166688"/>
                      <a:pt x="64579" y="166688"/>
                    </a:cubicBezTo>
                    <a:cubicBezTo>
                      <a:pt x="51428" y="166688"/>
                      <a:pt x="40767" y="156026"/>
                      <a:pt x="40767" y="142875"/>
                    </a:cubicBezTo>
                    <a:cubicBezTo>
                      <a:pt x="42710" y="129752"/>
                      <a:pt x="38288" y="116489"/>
                      <a:pt x="28861" y="107156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9391" y="6088856"/>
                <a:ext cx="547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9525">
                    <a:moveTo>
                      <a:pt x="0" y="0"/>
                    </a:moveTo>
                    <a:lnTo>
                      <a:pt x="54769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163955" y="5855018"/>
              <a:ext cx="36261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模型和 RTL 之间缺了一层"流水级结构"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67765" y="6135052"/>
              <a:ext cx="57773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每一级做什么、级间寄存什么、哪份状态归谁——先定这一层，再让人或 AI 按它写 RTL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22922" y="6597491"/>
            <a:ext cx="11146155" cy="167640"/>
            <a:chOff x="522922" y="6597491"/>
            <a:chExt cx="11146155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22922" y="6597491"/>
              <a:ext cx="60756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右列为读 RTL 得出（规范 §3 第 6 条、§10；单 warp 间隔经波形确认）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15582" y="659749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  <p:bldP spid="35" grpId="0"/>
      <p:bldP spid="45" grpId="0"/>
      <p:bldP spid="55" grpId="0"/>
      <p:bldP spid="65" grpId="0"/>
      <p:bldP spid="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434233" y="5557838"/>
            <a:ext cx="1310092" cy="137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6750" b="1" dirty="0">
                <a:solidFill>
                  <a:srgbClr val="FFFF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7280" y="2025968"/>
            <a:ext cx="5060061" cy="1269682"/>
            <a:chOff x="1097280" y="2025968"/>
            <a:chExt cx="5060061" cy="1269682"/>
          </a:xfrm>
        </p:grpSpPr>
        <p:sp>
          <p:nvSpPr>
            <p:cNvPr id="4" name="TextBox 4"/>
            <p:cNvSpPr txBox="1"/>
            <p:nvPr/>
          </p:nvSpPr>
          <p:spPr>
            <a:xfrm>
              <a:off x="1125855" y="2025968"/>
              <a:ext cx="25777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PART 02 · subcore 目标结构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7280" y="256413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大流水线套小流水线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43000" y="3238500"/>
              <a:ext cx="914400" cy="38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22045" y="3727132"/>
            <a:ext cx="4355497" cy="1911668"/>
            <a:chOff x="1122045" y="3727132"/>
            <a:chExt cx="4355497" cy="1911668"/>
          </a:xfrm>
        </p:grpSpPr>
        <p:sp>
          <p:nvSpPr>
            <p:cNvPr id="8" name="TextBox 8"/>
            <p:cNvSpPr txBox="1"/>
            <p:nvPr/>
          </p:nvSpPr>
          <p:spPr>
            <a:xfrm>
              <a:off x="1122045" y="3727132"/>
              <a:ext cx="17287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向前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只走寄存器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2045" y="4165282"/>
              <a:ext cx="43554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向后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只走已寄存的事件通道，晚 1 拍看到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045" y="4603432"/>
              <a:ext cx="41386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每份状态</a:t>
              </a:r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只有一个主人，只有主人能写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7760" y="5394960"/>
              <a:ext cx="4236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三条规则做到之后，跨级组合读取在结构上就写不出来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999797" cy="678656"/>
            <a:chOff x="533400" y="419100"/>
            <a:chExt cx="799979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8378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一个握手模板 + 三条边界规则，S2 是唯一的单拍环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897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7 个大级每拍并行，各自处理不同 warp；大级内部照公司 DSP 设计 DSP.v 的任务流水线写法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1219200"/>
            <a:ext cx="11125200" cy="533400"/>
            <a:chOff x="533400" y="1219200"/>
            <a:chExt cx="11125200" cy="5334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7802" y="1421606"/>
              <a:ext cx="7104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S0 fetch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288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06206" y="1421606"/>
              <a:ext cx="759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S1 decode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719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78420" y="1421606"/>
              <a:ext cx="7014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S2 issue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149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1938" y="1421606"/>
              <a:ext cx="940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S3 dispatch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69634" y="14216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S4 operand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01050" y="1333500"/>
              <a:ext cx="131445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97669" y="1421606"/>
              <a:ext cx="1121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S5 exe_&lt;unit&gt;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944100" y="1333500"/>
              <a:ext cx="1562100" cy="3048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72618" y="1421606"/>
              <a:ext cx="5050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SW wb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16255" y="2006918"/>
            <a:ext cx="5804202" cy="4203382"/>
            <a:chOff x="516255" y="2006918"/>
            <a:chExt cx="5804202" cy="4203382"/>
          </a:xfrm>
        </p:grpSpPr>
        <p:sp>
          <p:nvSpPr>
            <p:cNvPr id="23" name="TextBox 23"/>
            <p:cNvSpPr txBox="1"/>
            <p:nvPr/>
          </p:nvSpPr>
          <p:spPr>
            <a:xfrm>
              <a:off x="516255" y="2006918"/>
              <a:ext cx="27359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小级握手模板（取自 DSP.v）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2305050"/>
              <a:ext cx="5143500" cy="3810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9612" y="24312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信号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14612" y="24312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7708" y="2853214"/>
              <a:ext cx="6468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rdy_sN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12708" y="2853214"/>
              <a:ext cx="101000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ena_s(N+1)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3143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7708" y="3291364"/>
              <a:ext cx="126139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handshake_sN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12708" y="329136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rdy &amp; vld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33400" y="35814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7708" y="3729514"/>
              <a:ext cx="6468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ena_sN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12708" y="3729514"/>
              <a:ext cx="14848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handshake | ~vld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33400" y="40195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7708" y="4167664"/>
              <a:ext cx="6003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vld_sN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12708" y="4167664"/>
              <a:ext cx="5910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寄存器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33400" y="44577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7708" y="4605814"/>
              <a:ext cx="4420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x_sN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12708" y="46058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在上游握手时采样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33400" y="48958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0065" y="5106352"/>
              <a:ext cx="45505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与 DSP 的区别：DSP 外层是互斥的任务 FSM，subcore 外层没有。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0065" y="5334952"/>
              <a:ext cx="5800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FSM 只用在"一次做一件、要做多拍"的单元：SFU、XLANE、分支序列、上下文切换。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5676900"/>
              <a:ext cx="5143500" cy="533400"/>
            </a:xfrm>
            <a:prstGeom prst="roundRect">
              <a:avLst>
                <a:gd name="adj" fmla="val 14286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4375" y="5857875"/>
              <a:ext cx="171450" cy="171450"/>
              <a:chOff x="714375" y="5857875"/>
              <a:chExt cx="171450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3425" y="58769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1525" y="59150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14375" y="592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4375" y="59626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1050" y="5857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9150" y="5857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66775" y="59245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66775" y="59626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9150" y="6010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81050" y="60102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14412" y="5879306"/>
              <a:ext cx="4160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一大级一模块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subcore_&lt;级名&gt;，subcore_top 只做连接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78855" y="2006918"/>
            <a:ext cx="4241459" cy="1448276"/>
            <a:chOff x="6078855" y="2006918"/>
            <a:chExt cx="4241459" cy="1448276"/>
          </a:xfrm>
        </p:grpSpPr>
        <p:sp>
          <p:nvSpPr>
            <p:cNvPr id="58" name="TextBox 58"/>
            <p:cNvSpPr txBox="1"/>
            <p:nvPr/>
          </p:nvSpPr>
          <p:spPr>
            <a:xfrm>
              <a:off x="6078855" y="20069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三条边界规则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115050" y="2381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10912" y="24488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9858" y="2434114"/>
              <a:ext cx="36542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向前只走寄存器（</a:t>
              </a:r>
              <a:r>
                <a:rPr lang="zh-CN" sz="12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vld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+ 已寄存的 payload）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115050" y="2762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90784" y="28298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79858" y="2815114"/>
              <a:ext cx="38404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向后只走已寄存的事件通道，目的级 </a:t>
              </a:r>
              <a:r>
                <a:rPr lang="zh-CN" sz="127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+1 拍</a:t>
              </a:r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看到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115050" y="3143250"/>
              <a:ext cx="266700" cy="2667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90784" y="32108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79858" y="319611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每份状态只有一个主人，只有主人能写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096000" y="3657600"/>
            <a:ext cx="5562600" cy="2552700"/>
            <a:chOff x="6096000" y="3657600"/>
            <a:chExt cx="5562600" cy="2552700"/>
          </a:xfrm>
        </p:grpSpPr>
        <p:sp>
          <p:nvSpPr>
            <p:cNvPr id="69" name="Rectangle 69"/>
            <p:cNvSpPr/>
            <p:nvPr/>
          </p:nvSpPr>
          <p:spPr>
            <a:xfrm>
              <a:off x="6096000" y="3657600"/>
              <a:ext cx="5562600" cy="2552700"/>
            </a:xfrm>
            <a:prstGeom prst="roundRect">
              <a:avLst>
                <a:gd name="adj" fmla="val 2985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334125" y="3857625"/>
              <a:ext cx="133350" cy="171450"/>
              <a:chOff x="6334125" y="3857625"/>
              <a:chExt cx="133350" cy="1714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334125" y="39338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91275" y="39719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62700" y="3857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593205" y="3864292"/>
              <a:ext cx="35123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是唯一的单拍环：白名单只放在 S2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73165" y="41919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发射沿上更新、下一拍选 warp 就要读到的状态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86500" y="44958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702623" y="4602956"/>
              <a:ext cx="7679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head 消耗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44958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413016" y="4602956"/>
              <a:ext cx="7761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stall 载入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715500" y="4495800"/>
              <a:ext cx="17526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392668" y="4602956"/>
              <a:ext cx="3982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SB +1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86500" y="495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27269" y="50601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credit −1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001000" y="495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101513" y="506825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last_issued / yield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715500" y="4953000"/>
              <a:ext cx="17526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109240" y="5060156"/>
              <a:ext cx="965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隐式 SB 置位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86500" y="54102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604040" y="5517356"/>
              <a:ext cx="965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ITS 状态更新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987665" y="5525452"/>
              <a:ext cx="2158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其他级的状态都可以晚 1 拍看到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86500" y="588645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442377" y="594169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94" name="TextBox 94"/>
            <p:cNvSpPr txBox="1"/>
            <p:nvPr/>
          </p:nvSpPr>
          <p:spPr>
            <a:xfrm>
              <a:off x="522922" y="6540341"/>
              <a:ext cx="58768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依据：document/2026-10-05-subcore-rtl-structure-spec.md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7" grpId="0"/>
      <p:bldP spid="68" grpId="0"/>
      <p:bldP spid="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6941343" cy="678656"/>
            <a:chOff x="533400" y="419100"/>
            <a:chExt cx="6941343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5612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目标结构：7 个大级，边界寄存，事件回传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651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黑横条是小级寄存器；同一拍完成的功能用灰色虚线框在一起；底部是已寄存的反向事件通道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104900"/>
            <a:ext cx="9029700" cy="4953000"/>
            <a:chOff x="495300" y="1104900"/>
            <a:chExt cx="9029700" cy="4953000"/>
          </a:xfrm>
        </p:grpSpPr>
        <p:sp>
          <p:nvSpPr>
            <p:cNvPr id="7" name="Rectangle 7"/>
            <p:cNvSpPr/>
            <p:nvPr/>
          </p:nvSpPr>
          <p:spPr>
            <a:xfrm>
              <a:off x="495300" y="1104900"/>
              <a:ext cx="9029700" cy="4953000"/>
            </a:xfrm>
            <a:prstGeom prst="roundRect">
              <a:avLst>
                <a:gd name="adj" fmla="val 153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143000"/>
              <a:ext cx="8953500" cy="487680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2933700" y="1371600"/>
            <a:ext cx="1409700" cy="2893219"/>
            <a:chOff x="2933700" y="1371600"/>
            <a:chExt cx="1409700" cy="2893219"/>
          </a:xfrm>
        </p:grpSpPr>
        <p:sp>
          <p:nvSpPr>
            <p:cNvPr id="10" name="Rectangle 10"/>
            <p:cNvSpPr/>
            <p:nvPr/>
          </p:nvSpPr>
          <p:spPr>
            <a:xfrm>
              <a:off x="2933700" y="1371600"/>
              <a:ext cx="1409700" cy="2590800"/>
            </a:xfrm>
            <a:prstGeom prst="roundRect">
              <a:avLst>
                <a:gd name="adj" fmla="val 2703"/>
              </a:avLst>
            </a:prstGeom>
            <a:noFill/>
            <a:ln w="28575">
              <a:solidFill>
                <a:srgbClr val="E07A1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933700" y="4000500"/>
              <a:ext cx="1409700" cy="247650"/>
            </a:xfrm>
            <a:prstGeom prst="roundRect">
              <a:avLst>
                <a:gd name="adj" fmla="val 15385"/>
              </a:avLst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84162" y="4066699"/>
              <a:ext cx="11087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S2 · 唯一单拍环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15500" y="1104900"/>
            <a:ext cx="1943100" cy="1524000"/>
            <a:chOff x="9715500" y="1104900"/>
            <a:chExt cx="1943100" cy="1524000"/>
          </a:xfrm>
        </p:grpSpPr>
        <p:sp>
          <p:nvSpPr>
            <p:cNvPr id="14" name="Rectangle 14"/>
            <p:cNvSpPr/>
            <p:nvPr/>
          </p:nvSpPr>
          <p:spPr>
            <a:xfrm>
              <a:off x="9715500" y="1104900"/>
              <a:ext cx="1943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52660" y="12611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流控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4565" y="15440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逐级组合握手：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54565" y="17535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vld 寄存，ena/rdy 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54565" y="20202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rdy 只能是下一级 ena、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4565" y="2229802"/>
              <a:ext cx="1544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常数 1 或外部寄存输出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15500" y="2743200"/>
            <a:ext cx="1943100" cy="1524000"/>
            <a:chOff x="9715500" y="2743200"/>
            <a:chExt cx="1943100" cy="1524000"/>
          </a:xfrm>
        </p:grpSpPr>
        <p:sp>
          <p:nvSpPr>
            <p:cNvPr id="21" name="Rectangle 21"/>
            <p:cNvSpPr/>
            <p:nvPr/>
          </p:nvSpPr>
          <p:spPr>
            <a:xfrm>
              <a:off x="9715500" y="2743200"/>
              <a:ext cx="1943100" cy="1524000"/>
            </a:xfrm>
            <a:prstGeom prst="roundRect">
              <a:avLst>
                <a:gd name="adj" fmla="val 5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52660" y="2899410"/>
              <a:ext cx="6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S2 → S3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4565" y="31823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S2/S3 reg 只寄存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54565" y="339185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号 + ITS 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54565" y="36585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255 位指令由 S1 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4565" y="38681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号直接送 S3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15500" y="4381500"/>
            <a:ext cx="1943100" cy="1676400"/>
            <a:chOff x="9715500" y="4381500"/>
            <a:chExt cx="1943100" cy="1676400"/>
          </a:xfrm>
        </p:grpSpPr>
        <p:sp>
          <p:nvSpPr>
            <p:cNvPr id="28" name="Rectangle 28"/>
            <p:cNvSpPr/>
            <p:nvPr/>
          </p:nvSpPr>
          <p:spPr>
            <a:xfrm>
              <a:off x="9715500" y="4381500"/>
              <a:ext cx="1943100" cy="1676400"/>
            </a:xfrm>
            <a:prstGeom prst="roundRect">
              <a:avLst>
                <a:gd name="adj" fmla="val 454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52660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事件通道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54565" y="48206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每个来源一条，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4565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不合并成总线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54565" y="52968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带 warp 号与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54565" y="5506402"/>
              <a:ext cx="9314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wslot_gen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54565" y="57159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迟到的事件丢弃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6191250"/>
            <a:ext cx="5000530" cy="245269"/>
            <a:chOff x="533400" y="6191250"/>
            <a:chExt cx="5000530" cy="245269"/>
          </a:xfrm>
        </p:grpSpPr>
        <p:sp>
          <p:nvSpPr>
            <p:cNvPr id="36" name="Rectangle 36"/>
            <p:cNvSpPr/>
            <p:nvPr/>
          </p:nvSpPr>
          <p:spPr>
            <a:xfrm>
              <a:off x="533400" y="619125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277" y="624649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78318" y="6238399"/>
              <a:ext cx="3755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11 目标流水线（PPT-generate 8822eed，2026-10-09）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0" grpId="0"/>
      <p:bldP spid="27" grpId="0"/>
      <p:bldP spid="35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499485" cy="678656"/>
            <a:chOff x="533400" y="419100"/>
            <a:chExt cx="7499485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3375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S0 取指：去掉全局锁，L0I 数据进 SRAM 分三级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157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 PC 从 L0I 取指令送进 IB；去掉全局锁，多 warp 时取指带宽到每拍 2 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219200"/>
            <a:ext cx="4762500" cy="342900"/>
            <a:chOff x="533400" y="1219200"/>
            <a:chExt cx="4762500" cy="342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47625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2465" y="13344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5415" y="13344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现状（读 RTL）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77565" y="133445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3400" y="1745456"/>
            <a:ext cx="4762500" cy="664369"/>
            <a:chOff x="533400" y="1745456"/>
            <a:chExt cx="4762500" cy="664369"/>
          </a:xfrm>
        </p:grpSpPr>
        <p:sp>
          <p:nvSpPr>
            <p:cNvPr id="12" name="TextBox 12"/>
            <p:cNvSpPr txBox="1"/>
            <p:nvPr/>
          </p:nvSpPr>
          <p:spPr>
            <a:xfrm>
              <a:off x="671512" y="17454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小级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5415" y="1753552"/>
              <a:ext cx="14681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c0 一拍做完：仲裁、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15415" y="1944052"/>
              <a:ext cx="1698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64 路 tag 比较、1024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5415" y="2134552"/>
              <a:ext cx="486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64 选 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77565" y="1753552"/>
              <a:ext cx="15908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s0 选 warp + tag 比较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7565" y="1944052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s1 L0I 数据 SRAM 同步读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7565" y="2134552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s2 写 IB 或发 miss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33400" y="24003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33400" y="2409825"/>
            <a:ext cx="4762500" cy="847725"/>
            <a:chOff x="533400" y="2409825"/>
            <a:chExt cx="4762500" cy="847725"/>
          </a:xfrm>
        </p:grpSpPr>
        <p:sp>
          <p:nvSpPr>
            <p:cNvPr id="21" name="Rectangle 21"/>
            <p:cNvSpPr/>
            <p:nvPr/>
          </p:nvSpPr>
          <p:spPr>
            <a:xfrm>
              <a:off x="533400" y="2409825"/>
              <a:ext cx="4762500" cy="838200"/>
            </a:xfrm>
            <a:prstGeom prst="rect">
              <a:avLst/>
            </a:prstGeom>
            <a:solidFill>
              <a:srgbClr val="E07A1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512" y="25646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吞吐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5415" y="257270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全局锁 lookup_busy：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5415" y="27632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每 2 拍查一次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5415" y="295370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每次最多 2 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77565" y="25727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在途位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按 warp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设，不同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7565" y="2763202"/>
              <a:ext cx="12074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warp 每拍都能查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77565" y="29537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多 warp 时最多每拍 2 条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33400" y="32480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33400" y="3402806"/>
            <a:ext cx="4762500" cy="473869"/>
            <a:chOff x="533400" y="3402806"/>
            <a:chExt cx="4762500" cy="473869"/>
          </a:xfrm>
        </p:grpSpPr>
        <p:sp>
          <p:nvSpPr>
            <p:cNvPr id="31" name="TextBox 31"/>
            <p:cNvSpPr txBox="1"/>
            <p:nvPr/>
          </p:nvSpPr>
          <p:spPr>
            <a:xfrm>
              <a:off x="671512" y="34028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资格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15415" y="3410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IB 至少空 2 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5415" y="360140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（count ≤ 6）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77565" y="341090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IB 空位用 credit 预约：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77565" y="3601402"/>
              <a:ext cx="1337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现有 + 在途 + 2 ≤ 8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33400" y="3867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33400" y="4021931"/>
            <a:ext cx="4762500" cy="473869"/>
            <a:chOff x="533400" y="4021931"/>
            <a:chExt cx="4762500" cy="473869"/>
          </a:xfrm>
        </p:grpSpPr>
        <p:sp>
          <p:nvSpPr>
            <p:cNvPr id="38" name="TextBox 38"/>
            <p:cNvSpPr txBox="1"/>
            <p:nvPr/>
          </p:nvSpPr>
          <p:spPr>
            <a:xfrm>
              <a:off x="671512" y="40219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反压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15415" y="4030028"/>
              <a:ext cx="1498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miss_rsp_pending_q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15415" y="4220528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停车位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77565" y="4030028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逐级反压，L1I ready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77565" y="42205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必须是寄存器输出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" y="448627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533400" y="4641056"/>
            <a:ext cx="4762500" cy="473869"/>
            <a:chOff x="533400" y="4641056"/>
            <a:chExt cx="4762500" cy="473869"/>
          </a:xfrm>
        </p:grpSpPr>
        <p:sp>
          <p:nvSpPr>
            <p:cNvPr id="45" name="TextBox 45"/>
            <p:cNvSpPr txBox="1"/>
            <p:nvPr/>
          </p:nvSpPr>
          <p:spPr>
            <a:xfrm>
              <a:off x="671512" y="46410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延迟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15415" y="4649152"/>
              <a:ext cx="12841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授权到 S2 见 head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15415" y="48396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共 3 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77565" y="464915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共 4 拍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，只在分支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77565" y="483965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跳转、IB 清空后显现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51054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33400" y="5295900"/>
            <a:ext cx="4762500" cy="842962"/>
            <a:chOff x="533400" y="5295900"/>
            <a:chExt cx="4762500" cy="842962"/>
          </a:xfrm>
        </p:grpSpPr>
        <p:sp>
          <p:nvSpPr>
            <p:cNvPr id="52" name="Rectangle 52"/>
            <p:cNvSpPr/>
            <p:nvPr/>
          </p:nvSpPr>
          <p:spPr>
            <a:xfrm>
              <a:off x="533400" y="5295900"/>
              <a:ext cx="4762500" cy="838200"/>
            </a:xfrm>
            <a:prstGeom prst="roundRect">
              <a:avLst>
                <a:gd name="adj" fmla="val 9091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11994" y="5455444"/>
              <a:ext cx="157162" cy="157162"/>
              <a:chOff x="711994" y="5455444"/>
              <a:chExt cx="157162" cy="157162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1994" y="54554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90575" y="55776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3112" y="5488261"/>
                <a:ext cx="41040" cy="58861"/>
              </a:xfrm>
              <a:custGeom>
                <a:avLst/>
                <a:gdLst/>
                <a:ahLst/>
                <a:cxnLst/>
                <a:rect l="l" t="t" r="r" b="b"/>
                <a:pathLst>
                  <a:path w="41040" h="58861">
                    <a:moveTo>
                      <a:pt x="17462" y="58861"/>
                    </a:moveTo>
                    <a:cubicBezTo>
                      <a:pt x="17132" y="53038"/>
                      <a:pt x="20692" y="47699"/>
                      <a:pt x="26194" y="45764"/>
                    </a:cubicBezTo>
                    <a:cubicBezTo>
                      <a:pt x="35193" y="42323"/>
                      <a:pt x="41040" y="33575"/>
                      <a:pt x="40778" y="23944"/>
                    </a:cubicBezTo>
                    <a:cubicBezTo>
                      <a:pt x="40516" y="14313"/>
                      <a:pt x="34204" y="5896"/>
                      <a:pt x="25031" y="2948"/>
                    </a:cubicBezTo>
                    <a:cubicBezTo>
                      <a:pt x="15858" y="0"/>
                      <a:pt x="5824" y="3163"/>
                      <a:pt x="0" y="10839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957262" y="5469731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待定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2465" y="5735002"/>
              <a:ext cx="4128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 warp 最快每 3 拍查一次（≈0.67 条/拍），要不要补？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2465" y="5925502"/>
              <a:ext cx="3829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SRAM 为 1RW、回填写优先；回填频繁时是否改用 1R1W？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524500" y="1219200"/>
            <a:ext cx="6134100" cy="4914900"/>
            <a:chOff x="5524500" y="1219200"/>
            <a:chExt cx="6134100" cy="4914900"/>
          </a:xfrm>
        </p:grpSpPr>
        <p:sp>
          <p:nvSpPr>
            <p:cNvPr id="61" name="Rectangle 61"/>
            <p:cNvSpPr/>
            <p:nvPr/>
          </p:nvSpPr>
          <p:spPr>
            <a:xfrm>
              <a:off x="5524500" y="1219200"/>
              <a:ext cx="6134100" cy="4133850"/>
            </a:xfrm>
            <a:prstGeom prst="roundRect">
              <a:avLst>
                <a:gd name="adj" fmla="val 184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00" y="1257300"/>
              <a:ext cx="6057900" cy="3952875"/>
            </a:xfrm>
            <a:prstGeom prst="rect">
              <a:avLst/>
            </a:prstGeom>
          </p:spPr>
        </p:pic>
        <p:sp>
          <p:nvSpPr>
            <p:cNvPr id="63" name="TextBox 63"/>
            <p:cNvSpPr txBox="1"/>
            <p:nvPr/>
          </p:nvSpPr>
          <p:spPr>
            <a:xfrm>
              <a:off x="5588318" y="5438299"/>
              <a:ext cx="3420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12 S0 目标三级取指，底部为命中与反压的逐拍例子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24500" y="5715000"/>
              <a:ext cx="6134100" cy="419100"/>
            </a:xfrm>
            <a:prstGeom prst="roundRect">
              <a:avLst>
                <a:gd name="adj" fmla="val 18182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700712" y="5860256"/>
              <a:ext cx="47359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S0/S1 的大级边界就是 IB：</a:t>
              </a:r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vld = count != 0</a:t>
              </a:r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，S1 组合 pop 取队头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381000"/>
            <a:ext cx="11146155" cy="6326981"/>
            <a:chOff x="522922" y="381000"/>
            <a:chExt cx="11146155" cy="6326981"/>
          </a:xfrm>
        </p:grpSpPr>
        <p:sp>
          <p:nvSpPr>
            <p:cNvPr id="67" name="Rectangle 67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2922" y="6540341"/>
              <a:ext cx="50454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依据：document/2026-10-08-s0-fetch-spec.md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30" grpId="0"/>
      <p:bldP spid="37" grpId="0"/>
      <p:bldP spid="44" grpId="0"/>
      <p:bldP spid="51" grpId="0"/>
      <p:bldP spid="60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638127" cy="678656"/>
            <a:chOff x="533400" y="419100"/>
            <a:chExt cx="863812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47620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S1/S2：2 项 head FIFO，发射条件 = 显式 SB + 隐式 SB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9025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S1 从 IB 取队头并预译码；S2 每拍从 16 个 warp 里选一条能发的发出去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219200"/>
            <a:ext cx="5219700" cy="3810000"/>
            <a:chOff x="533400" y="1219200"/>
            <a:chExt cx="5219700" cy="38100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219700" cy="38100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4060" y="1257300"/>
              <a:ext cx="5138379" cy="3495675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597218" y="4828699"/>
              <a:ext cx="2765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13 S1 head FIFO 与 S2 单拍环、事件通道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5181600"/>
            <a:ext cx="5257038" cy="952500"/>
            <a:chOff x="533400" y="5181600"/>
            <a:chExt cx="5257038" cy="952500"/>
          </a:xfrm>
        </p:grpSpPr>
        <p:sp>
          <p:nvSpPr>
            <p:cNvPr id="11" name="Rectangle 11"/>
            <p:cNvSpPr/>
            <p:nvPr/>
          </p:nvSpPr>
          <p:spPr>
            <a:xfrm>
              <a:off x="533400" y="5181600"/>
              <a:ext cx="5219700" cy="952500"/>
            </a:xfrm>
            <a:prstGeom prst="roundRect">
              <a:avLst>
                <a:gd name="adj" fmla="val 8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0560" y="5318760"/>
              <a:ext cx="3278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S1 head：每 warp 2 项 FIFO（触发器）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2465" y="5582602"/>
              <a:ext cx="5117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16 × 2 × 255 位 ≈ </a:t>
              </a:r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1 KB</a:t>
              </a:r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；S2 每拍同时读 16 个 warp 的第 0 项，SRAM 做不到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2465" y="5792152"/>
              <a:ext cx="4335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按 ev_head_consumed 以 credit 补充：现有 + 未处理事件 ≤ 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81700" y="1219200"/>
            <a:ext cx="5676900" cy="623888"/>
            <a:chOff x="5981700" y="1219200"/>
            <a:chExt cx="5676900" cy="623888"/>
          </a:xfrm>
        </p:grpSpPr>
        <p:sp>
          <p:nvSpPr>
            <p:cNvPr id="16" name="Rectangle 16"/>
            <p:cNvSpPr/>
            <p:nvPr/>
          </p:nvSpPr>
          <p:spPr>
            <a:xfrm>
              <a:off x="5981700" y="1219200"/>
              <a:ext cx="5676900" cy="609600"/>
            </a:xfrm>
            <a:prstGeom prst="roundRect">
              <a:avLst>
                <a:gd name="adj" fmla="val 125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58865" y="1372552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S2 发射（§11 第 14 条）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55055" y="1568768"/>
              <a:ext cx="33363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issue = 选中 &amp; credit_ok &amp; rdy_s3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68365" y="2001202"/>
            <a:ext cx="4834271" cy="213360"/>
            <a:chOff x="5968365" y="2001202"/>
            <a:chExt cx="4834271" cy="213360"/>
          </a:xfrm>
        </p:grpSpPr>
        <p:sp>
          <p:nvSpPr>
            <p:cNvPr id="20" name="TextBox 20"/>
            <p:cNvSpPr txBox="1"/>
            <p:nvPr/>
          </p:nvSpPr>
          <p:spPr>
            <a:xfrm>
              <a:off x="5968365" y="2001202"/>
              <a:ext cx="4834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rd_ok / wb_ok / fu_ok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移到 S4 allocate；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const_ok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是死逻辑，删除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66460" y="2346960"/>
            <a:ext cx="5692140" cy="2653665"/>
            <a:chOff x="5966460" y="2346960"/>
            <a:chExt cx="5692140" cy="2653665"/>
          </a:xfrm>
        </p:grpSpPr>
        <p:sp>
          <p:nvSpPr>
            <p:cNvPr id="22" name="TextBox 22"/>
            <p:cNvSpPr txBox="1"/>
            <p:nvPr/>
          </p:nvSpPr>
          <p:spPr>
            <a:xfrm>
              <a:off x="5966460" y="2346960"/>
              <a:ext cx="4520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隐式 SB：硬件分配，每 warp 一位，挡住后续所有指令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981700" y="2609850"/>
              <a:ext cx="5676900" cy="304800"/>
            </a:xfrm>
            <a:prstGeom prst="rect">
              <a:avLst/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20765" y="2696528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35265" y="26965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置位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68765" y="269652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清除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0765" y="3048952"/>
              <a:ext cx="594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MEMBAR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35265" y="30489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68765" y="30489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屏障完成 &amp; (非 CTA 范围 | drained)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981700" y="32766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20765" y="33918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CCTL.IVALL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35265" y="33918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68765" y="33918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L1 作废完成（正常挡 1 拍）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981700" y="36195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20765" y="3734752"/>
              <a:ext cx="8164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SETMAXREG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35265" y="3734752"/>
              <a:ext cx="3333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68765" y="3734752"/>
              <a:ext cx="8854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SM 调整完成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5981700" y="39624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0765" y="4077652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ERRBAR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35265" y="4077652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发射，装入 29/92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68765" y="4077652"/>
              <a:ext cx="1383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倒数到 0（实测值）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981700" y="43053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0765" y="4420552"/>
              <a:ext cx="532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BRANCH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35265" y="4420552"/>
              <a:ext cx="1015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分支 FSM 启动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68765" y="4420552"/>
              <a:ext cx="969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FSM 回到 Idle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981700" y="46482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0765" y="4763452"/>
              <a:ext cx="2873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INIT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35265" y="4763452"/>
              <a:ext cx="4943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launch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68765" y="4763452"/>
              <a:ext cx="14451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RF 清零 walker 完成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981700" y="49911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981700" y="5181600"/>
            <a:ext cx="5676900" cy="952500"/>
            <a:chOff x="5981700" y="5181600"/>
            <a:chExt cx="5676900" cy="952500"/>
          </a:xfrm>
        </p:grpSpPr>
        <p:sp>
          <p:nvSpPr>
            <p:cNvPr id="52" name="Rectangle 52"/>
            <p:cNvSpPr/>
            <p:nvPr/>
          </p:nvSpPr>
          <p:spPr>
            <a:xfrm>
              <a:off x="5981700" y="5181600"/>
              <a:ext cx="5676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160294" y="5341144"/>
              <a:ext cx="157162" cy="157163"/>
              <a:chOff x="6160294" y="5341144"/>
              <a:chExt cx="157162" cy="1571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60294" y="5341144"/>
                <a:ext cx="157162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2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191517" y="537606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218793" y="546338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05562" y="5355431"/>
              <a:ext cx="441062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原则：多步的功能状态归执行它的单元，S2 只留一位关卡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0765" y="5620702"/>
              <a:ext cx="4427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显式 SB：编译器分配，每 warp 6 个计数器，按 wait mask 等待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20765" y="5830252"/>
              <a:ext cx="47959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原版只有 ACQBULK、ERRBAR 完全符合；MEMBAR 的 7 位协议状态待拆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1" name="TextBox 61"/>
            <p:cNvSpPr txBox="1"/>
            <p:nvPr/>
          </p:nvSpPr>
          <p:spPr>
            <a:xfrm>
              <a:off x="522922" y="6540341"/>
              <a:ext cx="55213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依据：document/2026-10-09-s1-s2-issue-conditions.md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9" grpId="0"/>
      <p:bldP spid="21" grpId="0"/>
      <p:bldP spid="51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3400" y="381000"/>
            <a:ext cx="11125200" cy="538162"/>
            <a:chOff x="533400" y="381000"/>
            <a:chExt cx="11125200" cy="538162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1305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S3 分发：把已发射的指令变成"可执行的命令"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914400"/>
            <a:ext cx="11125200" cy="419100"/>
            <a:chOff x="533400" y="914400"/>
            <a:chExt cx="11125200" cy="419100"/>
          </a:xfrm>
        </p:grpSpPr>
        <p:sp>
          <p:nvSpPr>
            <p:cNvPr id="8" name="Rectangle 8"/>
            <p:cNvSpPr/>
            <p:nvPr/>
          </p:nvSpPr>
          <p:spPr>
            <a:xfrm>
              <a:off x="533400" y="914400"/>
              <a:ext cx="11125200" cy="419100"/>
            </a:xfrm>
            <a:prstGeom prst="roundRect">
              <a:avLst>
                <a:gd name="adj" fmla="val 181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914400"/>
              <a:ext cx="38100" cy="419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8660" y="1051560"/>
              <a:ext cx="83115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译码、取 lane mask，并决定这条指令走固定延迟路径还是变长队列；一拍做完，不拥有持久状态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485900"/>
            <a:ext cx="6896100" cy="4398169"/>
            <a:chOff x="533400" y="1485900"/>
            <a:chExt cx="6896100" cy="4398169"/>
          </a:xfrm>
        </p:grpSpPr>
        <p:sp>
          <p:nvSpPr>
            <p:cNvPr id="12" name="Rectangle 12"/>
            <p:cNvSpPr/>
            <p:nvPr/>
          </p:nvSpPr>
          <p:spPr>
            <a:xfrm>
              <a:off x="533400" y="1485900"/>
              <a:ext cx="68961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191" y="1524000"/>
              <a:ext cx="6720517" cy="40195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97218" y="5685949"/>
              <a:ext cx="65822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14 S3 dispatch：三步同拍组合完成；变长指令直接推进级间队列（drawio 源文件 14-s3-dispatch）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0" y="1538764"/>
            <a:ext cx="4038600" cy="4042886"/>
            <a:chOff x="7620000" y="1538764"/>
            <a:chExt cx="4038600" cy="4042886"/>
          </a:xfrm>
        </p:grpSpPr>
        <p:sp>
          <p:nvSpPr>
            <p:cNvPr id="16" name="TextBox 16"/>
            <p:cNvSpPr txBox="1"/>
            <p:nvPr/>
          </p:nvSpPr>
          <p:spPr>
            <a:xfrm>
              <a:off x="7680008" y="1538764"/>
              <a:ext cx="23786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内部做的三件事（同一拍）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75" y="18954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3790" y="1961674"/>
              <a:ext cx="69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2912" y="1840706"/>
              <a:ext cx="10464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payload 译码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4818" y="2066449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完整指令由 S1 按寄存的 warp 号送来，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4818" y="225694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不经过 S2；预译码字段直接取用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75" y="25812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95100" y="26474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2912" y="2526506"/>
              <a:ext cx="10550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取 lane mask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4818" y="2752249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 S2 寄存的 ITS 状态，选出当前组；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4818" y="29427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只算不改，所以能放到环外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75" y="32670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5100" y="33332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2912" y="3212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分流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4818" y="343804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固定延迟 → dispatch reg → S4 allocate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4818" y="3628549"/>
              <a:ext cx="30436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变长 → 各自的级间队列；credit 已在 S2 扣过，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4818" y="3819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推入一定成功，不进反压链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0" y="4152900"/>
              <a:ext cx="40386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58112" y="42791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与原版的差别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60018" y="4542949"/>
              <a:ext cx="32429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 exec_dispatch 的分流和 its_top 的 channel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0018" y="47334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过滤，都和 S2 在同一拍组合完成；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0018" y="4923949"/>
              <a:ext cx="2815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现在独立成 1 拍，S2 不再做 255 位的 16 选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0018" y="5190649"/>
              <a:ext cx="28442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队列是 S3 与前门之间的"桥"，不归任何一级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5943600"/>
            <a:ext cx="11755516" cy="495300"/>
            <a:chOff x="533400" y="5943600"/>
            <a:chExt cx="11755516" cy="495300"/>
          </a:xfrm>
        </p:grpSpPr>
        <p:sp>
          <p:nvSpPr>
            <p:cNvPr id="40" name="Rectangle 40"/>
            <p:cNvSpPr/>
            <p:nvPr/>
          </p:nvSpPr>
          <p:spPr>
            <a:xfrm>
              <a:off x="533400" y="5943600"/>
              <a:ext cx="11125200" cy="495300"/>
            </a:xfrm>
            <a:prstGeom prst="roundRect">
              <a:avLst>
                <a:gd name="adj" fmla="val 1538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9612" y="6126956"/>
              <a:ext cx="115793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credit 池：LSU 8 · AGU 2 · SFU/XLANE 18 · CBU 1 · 控制 1 · TQ 8 · async 2 · FP64 5 · valu_var 2；每个池等于对应队列深度，前门读完操作数的下一拍归还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2922" y="6597491"/>
            <a:ext cx="11146156" cy="167640"/>
            <a:chOff x="522922" y="6597491"/>
            <a:chExt cx="11146156" cy="167640"/>
          </a:xfrm>
        </p:grpSpPr>
        <p:sp>
          <p:nvSpPr>
            <p:cNvPr id="43" name="TextBox 43"/>
            <p:cNvSpPr txBox="1"/>
            <p:nvPr/>
          </p:nvSpPr>
          <p:spPr>
            <a:xfrm>
              <a:off x="522922" y="6597491"/>
              <a:ext cx="60334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依据：subcore-target-design-v1 §2–§3；规范 §11 第 16、23、24 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45705" y="65974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39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3400" y="381000"/>
            <a:ext cx="11125200" cy="538162"/>
            <a:chOff x="533400" y="381000"/>
            <a:chExt cx="11125200" cy="538162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85512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S4 读操作数：allocate 一次订好，之后拍数全固定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914400"/>
            <a:ext cx="11125200" cy="419100"/>
            <a:chOff x="533400" y="914400"/>
            <a:chExt cx="11125200" cy="419100"/>
          </a:xfrm>
        </p:grpSpPr>
        <p:sp>
          <p:nvSpPr>
            <p:cNvPr id="8" name="Rectangle 8"/>
            <p:cNvSpPr/>
            <p:nvPr/>
          </p:nvSpPr>
          <p:spPr>
            <a:xfrm>
              <a:off x="533400" y="914400"/>
              <a:ext cx="11125200" cy="419100"/>
            </a:xfrm>
            <a:prstGeom prst="roundRect">
              <a:avLst>
                <a:gd name="adj" fmla="val 181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914400"/>
              <a:ext cx="38100" cy="419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8660" y="1051560"/>
              <a:ext cx="9196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替固定延迟指令一次订好读口和写回拍；过了这一级，读几拍、哪拍执行、哪拍写回都固定，不需要结果队列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485900"/>
            <a:ext cx="6896100" cy="4112419"/>
            <a:chOff x="533400" y="1485900"/>
            <a:chExt cx="6896100" cy="4112419"/>
          </a:xfrm>
        </p:grpSpPr>
        <p:sp>
          <p:nvSpPr>
            <p:cNvPr id="12" name="Rectangle 12"/>
            <p:cNvSpPr/>
            <p:nvPr/>
          </p:nvSpPr>
          <p:spPr>
            <a:xfrm>
              <a:off x="533400" y="1485900"/>
              <a:ext cx="68961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24000"/>
              <a:ext cx="6819900" cy="379095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97218" y="5400199"/>
              <a:ext cx="42041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15 S4 allocate 与四张预约表；下方逐拍例子为 IADD3（tap 6）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0" y="1538764"/>
            <a:ext cx="4038600" cy="4042886"/>
            <a:chOff x="7620000" y="1538764"/>
            <a:chExt cx="4038600" cy="4042886"/>
          </a:xfrm>
        </p:grpSpPr>
        <p:sp>
          <p:nvSpPr>
            <p:cNvPr id="16" name="TextBox 16"/>
            <p:cNvSpPr txBox="1"/>
            <p:nvPr/>
          </p:nvSpPr>
          <p:spPr>
            <a:xfrm>
              <a:off x="7680008" y="15387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内部做的三件事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75" y="1895475"/>
              <a:ext cx="247650" cy="24765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3790" y="1961674"/>
              <a:ext cx="69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2912" y="1840706"/>
              <a:ext cx="30994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allocate：查四张表，每拍最多放行 1 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4818" y="2066449"/>
              <a:ext cx="3086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读口表、写回拍表、VALU 出口计数、入口拍表；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4818" y="225694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全部通过才占位放行，否则停在这里下一拍重试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75" y="25812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95100" y="26474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2912" y="2526506"/>
              <a:ext cx="1995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读 RF：rounds = 0 – 3 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4818" y="2752249"/>
              <a:ext cx="28300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按需，不固定 3 拍：编译器已按需算 stall；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4818" y="2942749"/>
              <a:ext cx="29368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写回偏移 = tap + rounds，allocate 当拍相加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75" y="32670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5100" y="33332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2912" y="3212306"/>
              <a:ext cx="17710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reuse cache 保留原版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4818" y="3438049"/>
              <a:ext cx="29439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标签在 allocate 按序更新，数据读完后填入；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4818" y="36285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命中的源不计入读次数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3962400"/>
              <a:ext cx="40386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58112" y="4088606"/>
              <a:ext cx="2098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变长前门也在这一级抢读口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0018" y="4352449"/>
              <a:ext cx="33284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队头每次申请下一拍的一个读口；allocate 先占位，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60018" y="4542949"/>
              <a:ext cx="31504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多个前门之间轮询；某 bank 等满 N 拍（v1 取 8）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0018" y="47334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就保留一格，防饿死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0018" y="5000149"/>
              <a:ext cx="35206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 因此不再有 rd_busy：读不到口只会停在前门队头，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0018" y="5190649"/>
              <a:ext cx="20254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前门队列满了由 credit 挡住 S2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753100"/>
            <a:ext cx="11125200" cy="685800"/>
            <a:chOff x="533400" y="5753100"/>
            <a:chExt cx="11125200" cy="685800"/>
          </a:xfrm>
        </p:grpSpPr>
        <p:sp>
          <p:nvSpPr>
            <p:cNvPr id="40" name="Rectangle 40"/>
            <p:cNvSpPr/>
            <p:nvPr/>
          </p:nvSpPr>
          <p:spPr>
            <a:xfrm>
              <a:off x="53340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" y="58793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拥有的状态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418" y="6124099"/>
              <a:ext cx="47666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读口表 · 写回拍表 · 出口计数 · 入口拍表 · reuse cache；表长 v1 取 16 格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2935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67462" y="58793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还没验证的规则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9368" y="6124099"/>
              <a:ext cx="42397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stall 只在 ena_s4_0 = 1 时减 1；要用依赖链加读口冲突的用例确认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922" y="6597491"/>
            <a:ext cx="11146156" cy="167640"/>
            <a:chOff x="522922" y="6597491"/>
            <a:chExt cx="11146156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597491"/>
              <a:ext cx="62503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依据：subcore-target-design-v1 §4；规范 §11 第 13、15、17、18、20 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75828" y="6597491"/>
              <a:ext cx="932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39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3400" y="381000"/>
            <a:ext cx="11125200" cy="538162"/>
            <a:chOff x="533400" y="381000"/>
            <a:chExt cx="11125200" cy="538162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09603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S5 执行：固定延迟单元原样复用，变长走前门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914400"/>
            <a:ext cx="11125200" cy="419100"/>
            <a:chOff x="533400" y="914400"/>
            <a:chExt cx="11125200" cy="419100"/>
          </a:xfrm>
        </p:grpSpPr>
        <p:sp>
          <p:nvSpPr>
            <p:cNvPr id="8" name="Rectangle 8"/>
            <p:cNvSpPr/>
            <p:nvPr/>
          </p:nvSpPr>
          <p:spPr>
            <a:xfrm>
              <a:off x="533400" y="914400"/>
              <a:ext cx="11125200" cy="419100"/>
            </a:xfrm>
            <a:prstGeom prst="roundRect">
              <a:avLst>
                <a:gd name="adj" fmla="val 181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914400"/>
              <a:ext cx="38100" cy="419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8660" y="1051560"/>
              <a:ext cx="7295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把操作数变成结果；v1 只改单元和流水线的接口，不改各执行单元内部的算法和拍数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485900"/>
            <a:ext cx="6896100" cy="4095750"/>
            <a:chOff x="533400" y="1485900"/>
            <a:chExt cx="6896100" cy="4095750"/>
          </a:xfrm>
        </p:grpSpPr>
        <p:sp>
          <p:nvSpPr>
            <p:cNvPr id="12" name="Rectangle 12"/>
            <p:cNvSpPr/>
            <p:nvPr/>
          </p:nvSpPr>
          <p:spPr>
            <a:xfrm>
              <a:off x="533400" y="1485900"/>
              <a:ext cx="68961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24000"/>
              <a:ext cx="6819900" cy="3648075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97218" y="5285899"/>
              <a:ext cx="5044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16 S5：左为固定延迟单元（VALU 6 级、SALU 4 级），右为变长单元与各前门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0" y="1538764"/>
            <a:ext cx="4038600" cy="4042886"/>
            <a:chOff x="7620000" y="1538764"/>
            <a:chExt cx="4038600" cy="4042886"/>
          </a:xfrm>
        </p:grpSpPr>
        <p:sp>
          <p:nvSpPr>
            <p:cNvPr id="16" name="TextBox 16"/>
            <p:cNvSpPr txBox="1"/>
            <p:nvPr/>
          </p:nvSpPr>
          <p:spPr>
            <a:xfrm>
              <a:off x="7680008" y="15387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内部做的三件事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75" y="18954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3790" y="1961674"/>
              <a:ext cx="69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2912" y="1840706"/>
              <a:ext cx="2564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固定延迟：VALU 6 级、SALU 4 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4818" y="206644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全流水，不会被反压（rdy 恒为 1）；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4818" y="2256949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tap 3 / 4 / 6，每拍最多 2 个结果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75" y="25812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95100" y="26474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2912" y="25265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变长：队头读操作数，再送单元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4818" y="2752249"/>
              <a:ext cx="24313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访存、SFU/XLANE、CBU 沿用原单元；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4818" y="2942749"/>
              <a:ext cx="2495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控制、TQ、async 三个前门是新增模块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75" y="32670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5100" y="33332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2912" y="3212306"/>
              <a:ext cx="27544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 VALU 序列借固定路径读操作数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4818" y="3438049"/>
              <a:ext cx="2815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IMAD.WIDE、cvt64、packed、DFMA 系列：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4818" y="3628549"/>
              <a:ext cx="31860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S4 只预约读口，结果走变长写口，靠 scoreboard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3962400"/>
              <a:ext cx="40386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58112" y="40886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新增的前门模块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0018" y="43524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subcore_membar_track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2618" y="435244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MEMBAR 的 7 位协议状态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0018" y="45619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subcore_ctrl_fd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12618" y="4561999"/>
              <a:ext cx="16623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分支 / EXIT，回 S2 改 ITS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0018" y="47715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subcore_tq_fd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12618" y="4771549"/>
              <a:ext cx="8221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tensor 提交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60018" y="4981099"/>
              <a:ext cx="12778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subcore_async_fd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12618" y="498109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TMA 异步拷贝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60018" y="5247799"/>
              <a:ext cx="33070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原版这些逻辑散在 subcore_top 里，S2 组合读它们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5753100"/>
            <a:ext cx="11125200" cy="685800"/>
            <a:chOff x="533400" y="5753100"/>
            <a:chExt cx="11125200" cy="685800"/>
          </a:xfrm>
        </p:grpSpPr>
        <p:sp>
          <p:nvSpPr>
            <p:cNvPr id="44" name="Rectangle 44"/>
            <p:cNvSpPr/>
            <p:nvPr/>
          </p:nvSpPr>
          <p:spPr>
            <a:xfrm>
              <a:off x="53340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512" y="58793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拥有的状态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3418" y="6124099"/>
              <a:ext cx="50372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只有各单元内部状态；共享 FP64、tensor、lsu_top、sm_membar_ctl 都不改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2935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2A7F9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67462" y="587930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7F9E"/>
                  </a:solidFill>
                  <a:latin typeface="Arial"/>
                  <a:ea typeface="Microsoft YaHei"/>
                  <a:cs typeface="Arial"/>
                </a:rPr>
                <a:t>暂时照搬的分类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69368" y="6124099"/>
              <a:ext cx="4439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哪些指令算固定、哪些算变长，先照编译器现状；以后可改成固定延迟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22922" y="6597491"/>
            <a:ext cx="11146156" cy="167640"/>
            <a:chOff x="522922" y="6597491"/>
            <a:chExt cx="11146156" cy="167640"/>
          </a:xfrm>
        </p:grpSpPr>
        <p:sp>
          <p:nvSpPr>
            <p:cNvPr id="51" name="TextBox 51"/>
            <p:cNvSpPr txBox="1"/>
            <p:nvPr/>
          </p:nvSpPr>
          <p:spPr>
            <a:xfrm>
              <a:off x="522922" y="6597491"/>
              <a:ext cx="65636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依据：subcore-target-design-v1 §5；s5-execute；规范 §11 第 21、23–27 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45705" y="65974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43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33400" y="381000"/>
            <a:ext cx="11125200" cy="538162"/>
            <a:chOff x="533400" y="381000"/>
            <a:chExt cx="11125200" cy="538162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5445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SW 写回：写口在 allocate 预约，SW 只按表写入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0515600" y="3810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671477" y="436245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已定 · 未实现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914400"/>
            <a:ext cx="11125200" cy="419100"/>
            <a:chOff x="533400" y="914400"/>
            <a:chExt cx="11125200" cy="419100"/>
          </a:xfrm>
        </p:grpSpPr>
        <p:sp>
          <p:nvSpPr>
            <p:cNvPr id="8" name="Rectangle 8"/>
            <p:cNvSpPr/>
            <p:nvPr/>
          </p:nvSpPr>
          <p:spPr>
            <a:xfrm>
              <a:off x="533400" y="914400"/>
              <a:ext cx="11125200" cy="419100"/>
            </a:xfrm>
            <a:prstGeom prst="roundRect">
              <a:avLst>
                <a:gd name="adj" fmla="val 181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914400"/>
              <a:ext cx="38100" cy="4191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08660" y="1051560"/>
              <a:ext cx="6804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 xml:space="preserve">想做什么 </a:t>
              </a:r>
              <a:r>
                <a:rPr lang="zh-CN" sz="120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把结果写进寄存器堆，并告诉 S2 "这条做完了"；结构沿用原版 exec_wb_arb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485900"/>
            <a:ext cx="6896100" cy="4095750"/>
            <a:chOff x="533400" y="1485900"/>
            <a:chExt cx="6896100" cy="4095750"/>
          </a:xfrm>
        </p:grpSpPr>
        <p:sp>
          <p:nvSpPr>
            <p:cNvPr id="12" name="Rectangle 12"/>
            <p:cNvSpPr/>
            <p:nvPr/>
          </p:nvSpPr>
          <p:spPr>
            <a:xfrm>
              <a:off x="533400" y="1485900"/>
              <a:ext cx="68961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636814"/>
              <a:ext cx="6819900" cy="3584372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97218" y="5381149"/>
              <a:ext cx="45032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图 17 SW：左为固定延迟结果，中为写口选择，右为 RF 写口与完成事件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0" y="1538764"/>
            <a:ext cx="4038600" cy="4042886"/>
            <a:chOff x="7620000" y="1538764"/>
            <a:chExt cx="4038600" cy="4042886"/>
          </a:xfrm>
        </p:grpSpPr>
        <p:sp>
          <p:nvSpPr>
            <p:cNvPr id="16" name="TextBox 16"/>
            <p:cNvSpPr txBox="1"/>
            <p:nvPr/>
          </p:nvSpPr>
          <p:spPr>
            <a:xfrm>
              <a:off x="7680008" y="15387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内部做的三件事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75" y="18954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13790" y="1961674"/>
              <a:ext cx="696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62912" y="184070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固定延迟结果：按预约直接写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64818" y="2066449"/>
              <a:ext cx="22461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S4 allocate 已占好写回拍的写口；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4818" y="225694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fixed、fixed2 两路，不经过仲裁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75" y="25812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95100" y="26474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2912" y="2526506"/>
              <a:ext cx="22713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变长结果：只用当拍空着的口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64818" y="27522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抢不到就保持到下一拍；C07 让步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64818" y="2942749"/>
              <a:ext cx="22105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（yield_q）保留，与性能模型一致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75" y="3267075"/>
              <a:ext cx="247650" cy="24765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5100" y="3333274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2912" y="3212306"/>
              <a:ext cx="19780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发完成事件 ev_complete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4818" y="3438049"/>
              <a:ext cx="2495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寄存后送 S2，下一拍 scoreboard −1；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4818" y="3628549"/>
              <a:ext cx="2046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带 wslot_gen，迟到的事件丢弃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0" y="3962400"/>
              <a:ext cx="4038600" cy="161925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58112" y="408860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为什么不设结果队列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0018" y="4352449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固定延迟指令靠编译器 stall 保护依赖，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60018" y="456199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写回拍必须确定；结果队列会让写回变晚，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0018" y="47715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后面的指令读到旧值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0018" y="5038249"/>
              <a:ext cx="2374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所以写口冲突提前在 allocate 解决，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0018" y="5247799"/>
              <a:ext cx="19613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SW 对固定延迟结果不需要仲裁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753100"/>
            <a:ext cx="11125200" cy="685800"/>
            <a:chOff x="533400" y="5753100"/>
            <a:chExt cx="11125200" cy="685800"/>
          </a:xfrm>
        </p:grpSpPr>
        <p:sp>
          <p:nvSpPr>
            <p:cNvPr id="40" name="Rectangle 40"/>
            <p:cNvSpPr/>
            <p:nvPr/>
          </p:nvSpPr>
          <p:spPr>
            <a:xfrm>
              <a:off x="53340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" y="58793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拥有的状态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418" y="6124099"/>
              <a:ext cx="36915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RF 阵列（2 bank）、P、URF、UP；其他级只能经写口访问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29350" y="5753100"/>
              <a:ext cx="542925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67462" y="587930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风险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69368" y="6124099"/>
              <a:ext cx="46598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写口前是 1024 位多路选择；时序不够就加一拍，同步改编译器和性能模型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922" y="6597491"/>
            <a:ext cx="11146156" cy="167640"/>
            <a:chOff x="522922" y="6597491"/>
            <a:chExt cx="11146156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597491"/>
              <a:ext cx="57804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依据：subcore-target-design-v1 §6–§7；规范 §11 第 19、22 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45705" y="659749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39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482858" cy="678656"/>
            <a:chOff x="533400" y="419100"/>
            <a:chExt cx="8482858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32093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怎么验证整体改完的 RTL：分步改，每步跑端到端用例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951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不写单元测试；每一步都要能在完整 SoC 上跑通 CUDA 用例，并留下可重复的工件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7208" y="1291114"/>
            <a:ext cx="5350192" cy="3971448"/>
            <a:chOff x="517208" y="1291114"/>
            <a:chExt cx="5350192" cy="3971448"/>
          </a:xfrm>
        </p:grpSpPr>
        <p:sp>
          <p:nvSpPr>
            <p:cNvPr id="7" name="TextBox 7"/>
            <p:cNvSpPr txBox="1"/>
            <p:nvPr/>
          </p:nvSpPr>
          <p:spPr>
            <a:xfrm>
              <a:off x="517208" y="1291114"/>
              <a:ext cx="32780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按 v1 实现顺序分 6 步，判据随步骤变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581150"/>
              <a:ext cx="53340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2465" y="16964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步骤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4165" y="16964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怎么判断改对了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2465" y="2077402"/>
              <a:ext cx="1912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1 隐式 SB 搬出（保持行为）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44165" y="207740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波形逐信号 0 差异，拍数相同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33400" y="23431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2465" y="2496502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2 S1 两项 head FIFO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44165" y="2496502"/>
              <a:ext cx="2595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功能 PASS，kernel 拍数与第 1 步相同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27622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71775"/>
              <a:ext cx="5334000" cy="838200"/>
            </a:xfrm>
            <a:prstGeom prst="rect">
              <a:avLst/>
            </a:prstGeom>
            <a:solidFill>
              <a:srgbClr val="E07A1F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2465" y="2915602"/>
              <a:ext cx="1084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3 S2–S4 一起改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2465" y="3125152"/>
              <a:ext cx="1100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4 前门 5 访存侧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2465" y="3334702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6 写法整理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44165" y="2915602"/>
              <a:ext cx="1943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拍数会变：先看功能 PASS，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44165" y="31251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再和性能模型比周期；差距超出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4165" y="3334702"/>
              <a:ext cx="2066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v1 第 8 节已知差异的，就要查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3609975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7208" y="3843814"/>
              <a:ext cx="38842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用例：soc-core 集合，每类覆盖一个风险点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0065" y="413480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local/iadd3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依赖链、读口冲突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0065" y="436340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unit/control_flow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convergence_regions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分支与 ITS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0065" y="4592002"/>
              <a:ext cx="30477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unit/mix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混合指令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memory_order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MEMBAR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065" y="4820602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double_math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FP64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tcgen_throughput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tma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TQ / async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065" y="50492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cp/timeslice_preemption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上下文保存与恢复（约 2 小时）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70308" y="1291114"/>
            <a:ext cx="5388292" cy="3895248"/>
            <a:chOff x="6270308" y="1291114"/>
            <a:chExt cx="5388292" cy="3895248"/>
          </a:xfrm>
        </p:grpSpPr>
        <p:sp>
          <p:nvSpPr>
            <p:cNvPr id="32" name="TextBox 32"/>
            <p:cNvSpPr txBox="1"/>
            <p:nvPr/>
          </p:nvSpPr>
          <p:spPr>
            <a:xfrm>
              <a:off x="6270308" y="129111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两种比较工具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86500" y="1581150"/>
              <a:ext cx="53721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24612" y="1726406"/>
              <a:ext cx="26509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A/B 拍数比较 </a:t>
              </a:r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model_compare.sh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5565" y="20012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参考模型和被测模型并行跑同一组用例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5565" y="2229802"/>
              <a:ext cx="2718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比每个 kernel 的 PASS / FAIL 和周期数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5565" y="24584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需要时同时抓一段波形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86500" y="2838450"/>
              <a:ext cx="5372100" cy="1143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24612" y="2983706"/>
              <a:ext cx="27802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逐信号波形比较 </a:t>
              </a:r>
              <a:r>
                <a:rPr lang="zh-CN" sz="112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wave_compare.py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5565" y="3258502"/>
              <a:ext cx="3201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u_subcore 下约 10 万个信号，逐个比变化序列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5565" y="34871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新增或改名的信号单独列出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5565" y="3715702"/>
              <a:ext cx="1728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只用于"保持行为"的步骤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86500" y="4095750"/>
              <a:ext cx="5372100" cy="1066800"/>
            </a:xfrm>
            <a:prstGeom prst="roundRect">
              <a:avLst>
                <a:gd name="adj" fmla="val 714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5619" y="4252393"/>
              <a:ext cx="176105" cy="151297"/>
              <a:chOff x="6455619" y="4252393"/>
              <a:chExt cx="176105" cy="15129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543675" y="43076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55619" y="42523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3675" y="4368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10362" y="426958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先要让仿真结果可重复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25565" y="45539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同一个模型跑两次，拍数会落在两条时间线之一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5565" y="4763452"/>
              <a:ext cx="29557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（runtime 线程调度引起）；比较时统一开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25565" y="4973002"/>
              <a:ext cx="3001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CURRYGPU_LOCKSTEP=1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，结果才能逐拍对上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33400" y="5448300"/>
            <a:ext cx="11125200" cy="685800"/>
            <a:chOff x="533400" y="5448300"/>
            <a:chExt cx="11125200" cy="685800"/>
          </a:xfrm>
        </p:grpSpPr>
        <p:sp>
          <p:nvSpPr>
            <p:cNvPr id="53" name="Rectangle 53"/>
            <p:cNvSpPr/>
            <p:nvPr/>
          </p:nvSpPr>
          <p:spPr>
            <a:xfrm>
              <a:off x="533400" y="5448300"/>
              <a:ext cx="11125200" cy="685800"/>
            </a:xfrm>
            <a:prstGeom prst="roundRect">
              <a:avLst>
                <a:gd name="adj" fmla="val 11111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75494" y="5688806"/>
              <a:ext cx="144462" cy="185738"/>
              <a:chOff x="775494" y="5688806"/>
              <a:chExt cx="144462" cy="18573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68362" y="56888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5494" y="5688806"/>
                <a:ext cx="144462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8">
                    <a:moveTo>
                      <a:pt x="123825" y="185738"/>
                    </a:move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9" y="0"/>
                    </a:lnTo>
                    <a:lnTo>
                      <a:pt x="144462" y="51594"/>
                    </a:lnTo>
                    <a:lnTo>
                      <a:pt x="144462" y="165100"/>
                    </a:lnTo>
                    <a:cubicBezTo>
                      <a:pt x="144462" y="176498"/>
                      <a:pt x="135223" y="185738"/>
                      <a:pt x="123825" y="1857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6769" y="5750719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6769" y="579199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6769" y="5833269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90612" y="5622131"/>
              <a:ext cx="34531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 xml:space="preserve">每一步留下的工件 </a:t>
              </a:r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document/runs/&lt;步骤&gt;/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1565" y="5877878"/>
              <a:ext cx="80393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完整命令、构建和运行日志、各用例的总周期与 kernel 周期、模型 sha256、比较报告；拿同一组命令能复现同样的数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22922" y="6540341"/>
              <a:ext cx="64009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依据：subcore-target-design-v1 §9–§10；test/cmake/currygpu.cmake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2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517362" cy="678656"/>
            <a:chOff x="533400" y="419100"/>
            <a:chExt cx="8517362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3554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目前的结果：第 1 步通过，第 2 步暴露了一个隐藏依赖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9353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数据来自 2 SM 模型 curry2，lockstep 下运行；工件在 document/runs/G1、G2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219200"/>
            <a:ext cx="3543300" cy="1866900"/>
            <a:chOff x="533400" y="1219200"/>
            <a:chExt cx="35433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3543300" cy="1866900"/>
            </a:xfrm>
            <a:prstGeom prst="roundRect">
              <a:avLst>
                <a:gd name="adj" fmla="val 40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19200"/>
              <a:ext cx="38100" cy="18669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4538" y="1462881"/>
              <a:ext cx="206374" cy="103187"/>
              <a:chOff x="744538" y="1462881"/>
              <a:chExt cx="206374" cy="1031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6131" y="146288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lnTo>
                      <a:pt x="154781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4538" y="146288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moveTo>
                      <a:pt x="103187" y="51594"/>
                    </a:moveTo>
                    <a:lnTo>
                      <a:pt x="154781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3462" y="1450181"/>
              <a:ext cx="15640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第 1 步 隐式 SB 搬出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5800" y="1828800"/>
              <a:ext cx="13873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0</a:t>
              </a:r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差异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518" y="2352199"/>
              <a:ext cx="2616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u_subcore 公共信号 100,031 个逐个相同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518" y="2561749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总周期 349,783、kernel 89,228 不变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518" y="2771299"/>
              <a:ext cx="2231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抢占用例 PASS；已提交 8c17f5d73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24350" y="1219200"/>
            <a:ext cx="3543300" cy="1866900"/>
            <a:chOff x="4324350" y="1219200"/>
            <a:chExt cx="3543300" cy="1866900"/>
          </a:xfrm>
        </p:grpSpPr>
        <p:sp>
          <p:nvSpPr>
            <p:cNvPr id="18" name="Rectangle 18"/>
            <p:cNvSpPr/>
            <p:nvPr/>
          </p:nvSpPr>
          <p:spPr>
            <a:xfrm>
              <a:off x="4324350" y="1219200"/>
              <a:ext cx="3543300" cy="1866900"/>
            </a:xfrm>
            <a:prstGeom prst="roundRect">
              <a:avLst>
                <a:gd name="adj" fmla="val 40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24350" y="1219200"/>
              <a:ext cx="38100" cy="1866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45806" y="1442244"/>
              <a:ext cx="185738" cy="154781"/>
              <a:chOff x="4545806" y="1442244"/>
              <a:chExt cx="185738" cy="15478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607719" y="1442244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41275"/>
                    </a:move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4127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587081" y="1483519"/>
                <a:ext cx="103188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13506">
                    <a:moveTo>
                      <a:pt x="10319" y="0"/>
                    </a:moveTo>
                    <a:lnTo>
                      <a:pt x="92869" y="0"/>
                    </a:lnTo>
                    <a:cubicBezTo>
                      <a:pt x="99015" y="9210"/>
                      <a:pt x="102578" y="19900"/>
                      <a:pt x="103188" y="30956"/>
                    </a:cubicBezTo>
                    <a:lnTo>
                      <a:pt x="103188" y="61912"/>
                    </a:lnTo>
                    <a:cubicBezTo>
                      <a:pt x="103188" y="90407"/>
                      <a:pt x="80088" y="113506"/>
                      <a:pt x="51594" y="113506"/>
                    </a:cubicBezTo>
                    <a:cubicBezTo>
                      <a:pt x="23099" y="113506"/>
                      <a:pt x="0" y="90407"/>
                      <a:pt x="0" y="61912"/>
                    </a:cubicBezTo>
                    <a:lnTo>
                      <a:pt x="0" y="30956"/>
                    </a:lnTo>
                    <a:cubicBezTo>
                      <a:pt x="610" y="19900"/>
                      <a:pt x="4173" y="921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545806" y="152479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690269" y="152479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38675" y="1535112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556125" y="1566069"/>
                <a:ext cx="3456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8">
                    <a:moveTo>
                      <a:pt x="0" y="20638"/>
                    </a:moveTo>
                    <a:lnTo>
                      <a:pt x="34568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86657" y="1566069"/>
                <a:ext cx="3456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8">
                    <a:moveTo>
                      <a:pt x="34568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556125" y="146288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0" y="0"/>
                    </a:moveTo>
                    <a:lnTo>
                      <a:pt x="38695" y="2476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82530" y="146288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38695" y="0"/>
                    </a:moveTo>
                    <a:lnTo>
                      <a:pt x="0" y="24765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4824412" y="1450181"/>
              <a:ext cx="23489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第 2 步首版 同 warp 每拍发射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76750" y="1828800"/>
              <a:ext cx="97331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FAIL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2468" y="2352199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PASS，但 unit/mix 错 128 项、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2468" y="25617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unit/control_flow 错 212 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2468" y="2771299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只有 iadd3 的话发现不了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1219200"/>
            <a:ext cx="3543300" cy="1866900"/>
            <a:chOff x="8115300" y="1219200"/>
            <a:chExt cx="3543300" cy="1866900"/>
          </a:xfrm>
        </p:grpSpPr>
        <p:sp>
          <p:nvSpPr>
            <p:cNvPr id="36" name="Rectangle 36"/>
            <p:cNvSpPr/>
            <p:nvPr/>
          </p:nvSpPr>
          <p:spPr>
            <a:xfrm>
              <a:off x="8115300" y="1219200"/>
              <a:ext cx="3543300" cy="1866900"/>
            </a:xfrm>
            <a:prstGeom prst="roundRect">
              <a:avLst>
                <a:gd name="adj" fmla="val 4082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15300" y="1219200"/>
              <a:ext cx="38100" cy="18669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322831" y="1421606"/>
              <a:ext cx="201507" cy="185738"/>
              <a:chOff x="8322831" y="1421606"/>
              <a:chExt cx="201507" cy="185738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22831" y="1421606"/>
                <a:ext cx="201507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7" h="184148">
                    <a:moveTo>
                      <a:pt x="101222" y="184148"/>
                    </a:moveTo>
                    <a:cubicBezTo>
                      <a:pt x="36580" y="164111"/>
                      <a:pt x="0" y="95886"/>
                      <a:pt x="19085" y="30956"/>
                    </a:cubicBezTo>
                    <a:cubicBezTo>
                      <a:pt x="51233" y="32427"/>
                      <a:pt x="82692" y="21324"/>
                      <a:pt x="106794" y="0"/>
                    </a:cubicBezTo>
                    <a:cubicBezTo>
                      <a:pt x="130897" y="21324"/>
                      <a:pt x="162355" y="32427"/>
                      <a:pt x="194504" y="30956"/>
                    </a:cubicBezTo>
                    <a:cubicBezTo>
                      <a:pt x="201507" y="54783"/>
                      <a:pt x="201183" y="80166"/>
                      <a:pt x="193575" y="103807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60581" y="156606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615362" y="1450181"/>
              <a:ext cx="28493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第 2 步修订 刚发射的 warp 屏蔽 1 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7700" y="1828800"/>
              <a:ext cx="19854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3/3</a:t>
              </a:r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 xml:space="preserve"> PASS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3418" y="2352199"/>
              <a:ext cx="32287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iadd3、mix（0/1604）、control_flow（0/1536）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3418" y="256174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kernel 89,228，与第 1 步相同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93418" y="27712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抢占用例还在跑；尚未提交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17208" y="3367564"/>
            <a:ext cx="5350192" cy="1890236"/>
            <a:chOff x="517208" y="3367564"/>
            <a:chExt cx="5350192" cy="1890236"/>
          </a:xfrm>
        </p:grpSpPr>
        <p:sp>
          <p:nvSpPr>
            <p:cNvPr id="47" name="TextBox 47"/>
            <p:cNvSpPr txBox="1"/>
            <p:nvPr/>
          </p:nvSpPr>
          <p:spPr>
            <a:xfrm>
              <a:off x="517208" y="3367564"/>
              <a:ext cx="36202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发现 1：原版 S2/ITS 默认"发射后空一拍"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657600"/>
              <a:ext cx="53340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2465" y="383000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原版单项 head，同一 warp 本来就隔拍发射；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2465" y="4058602"/>
              <a:ext cx="31550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ITS 的 PC 推进、分支信息都依赖这一拍空档。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2465" y="4287202"/>
              <a:ext cx="31780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波形上看到 warp 0 连续两拍发射，ITS 选中的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2465" y="4515802"/>
              <a:ext cx="2625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PC 却都是 8，说明 PC 推进晚了一拍。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2465" y="4820602"/>
              <a:ext cx="26183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处理：这一步先屏蔽 1 拍保持原时序，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2465" y="5030152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放开连续发射推迟到第 3 步 S2 重构之后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270308" y="3367564"/>
            <a:ext cx="5388292" cy="1890236"/>
            <a:chOff x="6270308" y="3367564"/>
            <a:chExt cx="5388292" cy="1890236"/>
          </a:xfrm>
        </p:grpSpPr>
        <p:sp>
          <p:nvSpPr>
            <p:cNvPr id="56" name="TextBox 56"/>
            <p:cNvSpPr txBox="1"/>
            <p:nvPr/>
          </p:nvSpPr>
          <p:spPr>
            <a:xfrm>
              <a:off x="6270308" y="3367564"/>
              <a:ext cx="23493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发现 2：判据本身也要核对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86500" y="3657600"/>
              <a:ext cx="53721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25565" y="383000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PMU 的 instructions_issued 是 296，第 1 步是 288，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25565" y="40586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起初以为行为变了。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25565" y="4287202"/>
              <a:ext cx="37991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查代码发现它数的是 S1 读 IB 的次数，不是 S2 发射数；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25565" y="4515802"/>
              <a:ext cx="34004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两项 FIFO 在分支、EXIT 后会多读几条再冲刷掉。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25565" y="4820602"/>
              <a:ext cx="341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处理：判据改为"功能 PASS + kernel 周期相同"，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25565" y="5030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不再用发射数判等价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33400" y="5448300"/>
            <a:ext cx="11125200" cy="685800"/>
            <a:chOff x="533400" y="5448300"/>
            <a:chExt cx="11125200" cy="685800"/>
          </a:xfrm>
        </p:grpSpPr>
        <p:sp>
          <p:nvSpPr>
            <p:cNvPr id="65" name="Rectangle 65"/>
            <p:cNvSpPr/>
            <p:nvPr/>
          </p:nvSpPr>
          <p:spPr>
            <a:xfrm>
              <a:off x="533400" y="5448300"/>
              <a:ext cx="11125200" cy="685800"/>
            </a:xfrm>
            <a:prstGeom prst="roundRect">
              <a:avLst>
                <a:gd name="adj" fmla="val 11111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60016" y="5704284"/>
              <a:ext cx="170259" cy="149622"/>
              <a:chOff x="760016" y="5704284"/>
              <a:chExt cx="170259" cy="14962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60016" y="570428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60016" y="576619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60016" y="582810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7406" y="5719762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7406" y="5781675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7406" y="5843588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90612" y="56221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还缺的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91565" y="5877878"/>
              <a:ext cx="91204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mix、control_flow 在第 1 步模型上的 kernel 周期基线（第 2 步是 115,323 / 106,350）；抢占用例结果；首个出错指令的逐指令定位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6" name="TextBox 76"/>
            <p:cNvSpPr txBox="1"/>
            <p:nvPr/>
          </p:nvSpPr>
          <p:spPr>
            <a:xfrm>
              <a:off x="522922" y="6540341"/>
              <a:ext cx="68889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依据：document/runs/G1/summary.md；runs/G2/；2026-10-09-codex-goals.md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5" grpId="0"/>
      <p:bldP spid="46" grpId="0"/>
      <p:bldP spid="55" grpId="0"/>
      <p:bldP spid="64" grpId="0"/>
      <p:bldP spid="7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292459" cy="678656"/>
            <a:chOff x="533400" y="419100"/>
            <a:chExt cx="7292459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1305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 缺的不是细节，而是"结构"这一层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4456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观察 1–4：来自本次整理 RTL 的实例，括号内为缺陷根因类别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19200"/>
            <a:ext cx="5448300" cy="2362200"/>
            <a:chOff x="533400" y="1219200"/>
            <a:chExt cx="5448300" cy="23622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335405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5855" y="139731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性能模型缺一层结构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1570" y="1674495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abstraction-gap / structure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565" y="2001202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模型把 eligible → … → dispatch 当成一个事件，写口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65" y="2210752"/>
              <a:ext cx="3745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预约放在发射时、不算读冲突。照着它生成的 RTL 就在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420302"/>
              <a:ext cx="3852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 组合读后级信号；IntAdd（tap 6）不在写回检查里。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47712" y="2938462"/>
              <a:ext cx="142875" cy="142875"/>
              <a:chOff x="747712" y="2938462"/>
              <a:chExt cx="1428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477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60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0894" y="30495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76312" y="2945606"/>
              <a:ext cx="3405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生成前先给出"哪些逻辑在哪一级、级间寄存器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312" y="3174206"/>
              <a:ext cx="1778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是什么"——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光有模型不够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219200"/>
            <a:ext cx="5448300" cy="2362200"/>
            <a:chOff x="6210300" y="1219200"/>
            <a:chExt cx="5448300" cy="23622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41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2755" y="139731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风格脚本不保证行为不变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0" y="1674495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style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7465" y="2001202"/>
              <a:ext cx="33084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PR #38 最后一个提交 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872e78e2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把 ifetch_ib 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87465" y="2210752"/>
              <a:ext cx="399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next_deadline 改成 if/else 链：分支里读未赋值的自身，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87465" y="2420302"/>
              <a:ext cx="3530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形成组合环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；同拍 push + pop 漏掉了 pop 的减法。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008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24612" y="2938462"/>
              <a:ext cx="142875" cy="142875"/>
              <a:chOff x="6424612" y="2938462"/>
              <a:chExt cx="142875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246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529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77794" y="30495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653212" y="2945606"/>
              <a:ext cx="30025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任何"只改写法"的提交都要做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等价性检查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3212" y="3174206"/>
              <a:ext cx="20166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——这正是逐信号比对的理由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3771900"/>
            <a:ext cx="5448300" cy="2362200"/>
            <a:chOff x="533400" y="3771900"/>
            <a:chExt cx="5448300" cy="2362200"/>
          </a:xfrm>
        </p:grpSpPr>
        <p:sp>
          <p:nvSpPr>
            <p:cNvPr id="37" name="Rectangle 37"/>
            <p:cNvSpPr/>
            <p:nvPr/>
          </p:nvSpPr>
          <p:spPr>
            <a:xfrm>
              <a:off x="5334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2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5855" y="395001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契约从代码里读出来，会推翻计划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1570" y="4227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验证计划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0565" y="4553902"/>
              <a:ext cx="4075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IADD3 链的依赖完全由 stall count 保证，不产生 SB 流量，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0565" y="4763452"/>
              <a:ext cx="3385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原定"用 IADD3 依赖链验证 SB 环"根本测不到它。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0565" y="49730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同时整理出 8 条不变量（6 条已有 trap 标志）。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239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47712" y="5491162"/>
              <a:ext cx="142875" cy="142875"/>
              <a:chOff x="747712" y="5491162"/>
              <a:chExt cx="142875" cy="14287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477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60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0894" y="56022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76312" y="5498306"/>
              <a:ext cx="34214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先写契约再写验证计划；验证改为 S1a–S4 分级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10300" y="3771900"/>
            <a:ext cx="5448300" cy="2362200"/>
            <a:chOff x="6210300" y="3771900"/>
            <a:chExt cx="5448300" cy="2362200"/>
          </a:xfrm>
        </p:grpSpPr>
        <p:sp>
          <p:nvSpPr>
            <p:cNvPr id="51" name="Rectangle 51"/>
            <p:cNvSpPr/>
            <p:nvPr/>
          </p:nvSpPr>
          <p:spPr>
            <a:xfrm>
              <a:off x="62103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741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02755" y="3950018"/>
              <a:ext cx="2808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读 RTL 的结论会随代码过时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08470" y="422719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cycle-semantics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87465" y="4553902"/>
              <a:ext cx="3753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本地 main 落后 </a:t>
              </a:r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1558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个提交时，"换 warp 有 1 拍气泡"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87465" y="4763452"/>
              <a:ext cx="27946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"VALU 4 级、IntAdd tap 1"都已不成立，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87465" y="49730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图和文档要全部重读。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008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24612" y="5491162"/>
              <a:ext cx="142875" cy="142875"/>
              <a:chOff x="6424612" y="5491162"/>
              <a:chExt cx="142875" cy="14287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246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8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529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77794" y="56022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653212" y="54983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每条结论写上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依据的提交号和行号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53212" y="57269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切换基准后逐项复核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22922" y="6540341"/>
              <a:ext cx="59190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根因类别取自 docs/design/ai-rtl-study/defect-template.yaml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0"/>
      <p:bldP spid="50" grpId="0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464981" cy="678656"/>
            <a:chOff x="533400" y="419100"/>
            <a:chExt cx="7464981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30305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结论要可追溯，机制要找已有的，测量要先可信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75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观察 5–8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19200"/>
            <a:ext cx="5448300" cy="2362200"/>
            <a:chOff x="533400" y="1219200"/>
            <a:chExt cx="5448300" cy="23622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2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5855" y="1397318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也会讲错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1570" y="16744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ordering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0565" y="2001202"/>
              <a:ext cx="3998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讲 MEMBAR 时说 GPU 范围在 SM 层"Drain 等 load 排空"，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0565" y="2210752"/>
              <a:ext cx="3645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错：</a:t>
              </a:r>
              <a:r>
                <a:rPr lang="zh-CN" sz="1050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sm_membar_ctl.v:121-123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 xml:space="preserve"> 直接转 Fence，在途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2420302"/>
              <a:ext cx="40905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load 由其后的 ERRBAR 等。S1 head 讨论中 2 项→1 项→2 项。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3900" y="27813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47712" y="2938462"/>
              <a:ext cx="142875" cy="142875"/>
              <a:chOff x="747712" y="2938462"/>
              <a:chExt cx="1428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47712" y="29384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76097" y="29702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0894" y="30495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76312" y="2945606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结论带依据（RTL 行号、模型代码行），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312" y="31742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才能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快速推翻或确认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10300" y="1219200"/>
            <a:ext cx="5448300" cy="2362200"/>
            <a:chOff x="6210300" y="1219200"/>
            <a:chExt cx="5448300" cy="23622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2192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4130" y="13354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2755" y="139731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抽象层次比细节更重要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0" y="167449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87465" y="200120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 挡发射的位，换了三版抽象：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00800" y="2247900"/>
              <a:ext cx="1428750" cy="3238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7315" y="235219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strike="sngStrike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两层 FSM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0515" y="23441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15300" y="2247900"/>
              <a:ext cx="1524000" cy="32385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66843" y="2352199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strike="sngStrike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生命周期 + hold 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40265" y="234410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925050" y="2247900"/>
              <a:ext cx="1543050" cy="323850"/>
            </a:xfrm>
            <a:prstGeom prst="roundRect">
              <a:avLst>
                <a:gd name="adj" fmla="val 11765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89856" y="2352199"/>
              <a:ext cx="12134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显式 SB + 隐式 SB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88418" y="2599849"/>
              <a:ext cx="3841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原版这些位本来就是"发射置位、事件清除"，和 SB 同一模式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00800" y="28194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24612" y="2976562"/>
              <a:ext cx="142875" cy="142875"/>
              <a:chOff x="6424612" y="2976562"/>
              <a:chExt cx="142875" cy="14287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424612" y="29765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8"/>
                    </a:moveTo>
                    <a:lnTo>
                      <a:pt x="26194" y="26194"/>
                    </a:lnTo>
                    <a:moveTo>
                      <a:pt x="122238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52997" y="30083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477794" y="30876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653212" y="298370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先在现有代码里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找已有的统一机制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并命名，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3212" y="3212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不要另造一套抽象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33400" y="3771900"/>
            <a:ext cx="5448300" cy="2362200"/>
            <a:chOff x="533400" y="3771900"/>
            <a:chExt cx="5448300" cy="2362200"/>
          </a:xfrm>
        </p:grpSpPr>
        <p:sp>
          <p:nvSpPr>
            <p:cNvPr id="44" name="Rectangle 44"/>
            <p:cNvSpPr/>
            <p:nvPr/>
          </p:nvSpPr>
          <p:spPr>
            <a:xfrm>
              <a:off x="5334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2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855" y="39500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测量基础设施本身可能不确定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1570" y="4227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验证方法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0565" y="4553902"/>
              <a:ext cx="3638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d1 第一次比对出现差异，查下来是 runtime 线程调度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0565" y="4763452"/>
              <a:ext cx="34387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引起的，与 RTL 无关；同一二进制两次运行的拍数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0565" y="49730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就不一样。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239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47712" y="5491162"/>
              <a:ext cx="142875" cy="142875"/>
              <a:chOff x="747712" y="5491162"/>
              <a:chExt cx="142875" cy="14287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477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60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00894" y="56022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76312" y="5498306"/>
              <a:ext cx="29778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A/B 之前先确认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同一二进制重复跑一致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312" y="5726906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否则差异无法归因到 RTL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10300" y="3771900"/>
            <a:ext cx="5448300" cy="2362200"/>
            <a:chOff x="6210300" y="3771900"/>
            <a:chExt cx="5448300" cy="2362200"/>
          </a:xfrm>
        </p:grpSpPr>
        <p:sp>
          <p:nvSpPr>
            <p:cNvPr id="59" name="Rectangle 59"/>
            <p:cNvSpPr/>
            <p:nvPr/>
          </p:nvSpPr>
          <p:spPr>
            <a:xfrm>
              <a:off x="6210300" y="3771900"/>
              <a:ext cx="5448300" cy="2362200"/>
            </a:xfrm>
            <a:prstGeom prst="roundRect">
              <a:avLst>
                <a:gd name="adj" fmla="val 3226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74130" y="388810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02755" y="3950018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死逻辑与静默挂起，读比跑更易发现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08470" y="4227195"/>
              <a:ext cx="6735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88418" y="4561999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head_const_tag_hit ≡ 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88418" y="4771549"/>
              <a:ext cx="27801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trap_reserved_barrier_slot_o → unused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88418" y="4981099"/>
              <a:ext cx="37200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selection_changed_o 悬空 · guard_capture_q 死寄存器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400800" y="533400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24612" y="5491162"/>
              <a:ext cx="142875" cy="142875"/>
              <a:chOff x="6424612" y="54911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424612" y="54911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8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452997" y="55229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477794" y="56022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653212" y="5498306"/>
              <a:ext cx="2838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回归测不出来，要靠"</a:t>
              </a:r>
              <a:r>
                <a:rPr lang="zh-CN" sz="112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状态有没有主人</a:t>
              </a:r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3212" y="572690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这类结构规则来暴露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4" name="TextBox 74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3" grpId="0"/>
      <p:bldP spid="58" grpId="0"/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810024" cy="678656"/>
            <a:chOff x="533400" y="419100"/>
            <a:chExt cx="7810024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64809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有效的做法：让违例写不出来，让每一步都可验证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4260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左：本次验证有效的 5 条做法；右：准备用来量化 AI 生成 RTL 的研究框架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00100" y="1409700"/>
            <a:ext cx="9525" cy="4533900"/>
            <a:chOff x="800100" y="1409700"/>
            <a:chExt cx="9525" cy="4533900"/>
          </a:xfrm>
        </p:grpSpPr>
        <p:sp>
          <p:nvSpPr>
            <p:cNvPr id="7" name="Line 7"/>
            <p:cNvSpPr/>
            <p:nvPr/>
          </p:nvSpPr>
          <p:spPr>
            <a:xfrm>
              <a:off x="800100" y="1409700"/>
              <a:ext cx="9525" cy="4533900"/>
            </a:xfrm>
            <a:custGeom>
              <a:avLst/>
              <a:gdLst/>
              <a:ahLst/>
              <a:cxnLst/>
              <a:rect l="l" t="t" r="r" b="b"/>
              <a:pathLst>
                <a:path w="9525" h="4533900">
                  <a:moveTo>
                    <a:pt x="0" y="0"/>
                  </a:moveTo>
                  <a:lnTo>
                    <a:pt x="0" y="4533900"/>
                  </a:lnTo>
                </a:path>
              </a:pathLst>
            </a:custGeom>
            <a:noFill/>
            <a:ln w="28575">
              <a:solidFill>
                <a:srgbClr val="D8DEE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28650" y="1352550"/>
            <a:ext cx="4434459" cy="481012"/>
            <a:chOff x="628650" y="1352550"/>
            <a:chExt cx="4434459" cy="481012"/>
          </a:xfrm>
        </p:grpSpPr>
        <p:sp>
          <p:nvSpPr>
            <p:cNvPr id="9" name="Ellipse 9"/>
            <p:cNvSpPr/>
            <p:nvPr/>
          </p:nvSpPr>
          <p:spPr>
            <a:xfrm>
              <a:off x="628650" y="135255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8331" y="14678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7758" y="1367314"/>
              <a:ext cx="27697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小步走、保持行为、每步留工件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0615" y="1620202"/>
              <a:ext cx="39524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参考模型二进制 + lockstep 拍数 + 逐信号报告（0 差异）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" y="2266950"/>
            <a:ext cx="3287940" cy="481012"/>
            <a:chOff x="628650" y="2266950"/>
            <a:chExt cx="3287940" cy="481012"/>
          </a:xfrm>
        </p:grpSpPr>
        <p:sp>
          <p:nvSpPr>
            <p:cNvPr id="14" name="Ellipse 14"/>
            <p:cNvSpPr/>
            <p:nvPr/>
          </p:nvSpPr>
          <p:spPr>
            <a:xfrm>
              <a:off x="628650" y="226695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204" y="2382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7758" y="2281714"/>
              <a:ext cx="28088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"只改写法"与"改拍数"分开提交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0615" y="253460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前者逐信号比，后者用端到端用例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" y="3181350"/>
            <a:ext cx="3729037" cy="690562"/>
            <a:chOff x="628650" y="3181350"/>
            <a:chExt cx="3729037" cy="690562"/>
          </a:xfrm>
        </p:grpSpPr>
        <p:sp>
          <p:nvSpPr>
            <p:cNvPr id="19" name="Ellipse 19"/>
            <p:cNvSpPr/>
            <p:nvPr/>
          </p:nvSpPr>
          <p:spPr>
            <a:xfrm>
              <a:off x="628650" y="3181350"/>
              <a:ext cx="342900" cy="3429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04" y="32966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7758" y="3196114"/>
              <a:ext cx="25742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用模板和结构让违例写不出来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0615" y="34490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一大级一模块，端口只放寄存输出和事件通道；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0615" y="3658552"/>
              <a:ext cx="29250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rdy 只能是下一级 ena；优先级只编码一次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" y="4305300"/>
            <a:ext cx="4258104" cy="481012"/>
            <a:chOff x="628650" y="4305300"/>
            <a:chExt cx="4258104" cy="481012"/>
          </a:xfrm>
        </p:grpSpPr>
        <p:sp>
          <p:nvSpPr>
            <p:cNvPr id="25" name="Ellipse 25"/>
            <p:cNvSpPr/>
            <p:nvPr/>
          </p:nvSpPr>
          <p:spPr>
            <a:xfrm>
              <a:off x="628650" y="430530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204" y="44205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7758" y="4320064"/>
              <a:ext cx="2818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每条决定写依据和"已定 / 待定"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0615" y="4572952"/>
              <a:ext cx="37761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作废方案保留并用删除线标出，方便 AI 和人对齐上下文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" y="5219700"/>
            <a:ext cx="3951399" cy="690562"/>
            <a:chOff x="628650" y="5219700"/>
            <a:chExt cx="3951399" cy="690562"/>
          </a:xfrm>
        </p:grpSpPr>
        <p:sp>
          <p:nvSpPr>
            <p:cNvPr id="30" name="Ellipse 30"/>
            <p:cNvSpPr/>
            <p:nvPr/>
          </p:nvSpPr>
          <p:spPr>
            <a:xfrm>
              <a:off x="628650" y="5219700"/>
              <a:ext cx="342900" cy="3429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204" y="53349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7758" y="523446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讨论稿、图、代码分开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0615" y="54873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讨论稿放 git 排除的 document/；图由脚本生成，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0615" y="56969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渲染成 PNG 目视检查后再推送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86500" y="1219200"/>
            <a:ext cx="5372100" cy="4914900"/>
            <a:chOff x="6286500" y="1219200"/>
            <a:chExt cx="5372100" cy="4914900"/>
          </a:xfrm>
        </p:grpSpPr>
        <p:sp>
          <p:nvSpPr>
            <p:cNvPr id="36" name="Rectangle 36"/>
            <p:cNvSpPr/>
            <p:nvPr/>
          </p:nvSpPr>
          <p:spPr>
            <a:xfrm>
              <a:off x="6286500" y="1219200"/>
              <a:ext cx="53721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28594" y="1430338"/>
              <a:ext cx="144462" cy="196056"/>
              <a:chOff x="6528594" y="1430338"/>
              <a:chExt cx="144462" cy="19605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38912" y="1450975"/>
                <a:ext cx="1238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82550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61912"/>
                    </a:lnTo>
                    <a:cubicBezTo>
                      <a:pt x="123825" y="73310"/>
                      <a:pt x="114585" y="82550"/>
                      <a:pt x="103188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00825" y="1430338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69869" y="1533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31781" y="1533525"/>
                <a:ext cx="95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2869">
                    <a:moveTo>
                      <a:pt x="0" y="0"/>
                    </a:moveTo>
                    <a:lnTo>
                      <a:pt x="0" y="92869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28594" y="1554162"/>
                <a:ext cx="4127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8">
                    <a:moveTo>
                      <a:pt x="0" y="20638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31781" y="1554162"/>
                <a:ext cx="4127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0638">
                    <a:moveTo>
                      <a:pt x="0" y="0"/>
                    </a:moveTo>
                    <a:lnTo>
                      <a:pt x="41275" y="20638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69869" y="1595438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80188" y="149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21462" y="1492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02755" y="1454468"/>
              <a:ext cx="19803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AI 生成 RTL 研究框架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4618" y="178069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Consolas"/>
                  <a:ea typeface="Microsoft YaHei"/>
                  <a:cs typeface="Consolas"/>
                </a:rPr>
                <a:t>docs/design/ai-rtl-study/ · 13389eca5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2712" y="210740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四种实验条件，逐级叠加输入做消融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23812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7000" y="2381250"/>
              <a:ext cx="1247775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2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15112" y="25074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nl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2415" y="25155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只给自然语言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28384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7000" y="2838450"/>
              <a:ext cx="2495550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4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2964656"/>
              <a:ext cx="611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model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30665" y="29727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加功能 / 性能模型代码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77000" y="32956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477000" y="3295650"/>
              <a:ext cx="3743325" cy="381000"/>
            </a:xfrm>
            <a:prstGeom prst="roundRect">
              <a:avLst>
                <a:gd name="adj" fmla="val 10000"/>
              </a:avLst>
            </a:prstGeom>
            <a:solidFill>
              <a:srgbClr val="1F3A5F">
                <a:alpha val="7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3421856"/>
              <a:ext cx="5790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style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49865" y="34299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代码规范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3752850"/>
              <a:ext cx="4991100" cy="381000"/>
            </a:xfrm>
            <a:prstGeom prst="roundRect">
              <a:avLst>
                <a:gd name="adj" fmla="val 100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5112" y="3879056"/>
              <a:ext cx="792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+ diagram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88955" y="38871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流水线图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2712" y="4355306"/>
              <a:ext cx="24438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缺陷记录：本应被哪一项挡住？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64618" y="4638199"/>
              <a:ext cx="40048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cycle-semantics · boundary · ordering · abstraction-gap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64618" y="48477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structure · interface · style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63665" y="5125402"/>
              <a:ext cx="30553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代价：轮数、token、人工干预次数与分钟数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77000" y="5467350"/>
              <a:ext cx="4991100" cy="47625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616065" y="5649278"/>
              <a:ext cx="37914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现状：只有模板（E000 / D000），还没有任何实验实例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72" name="TextBox 72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8" grpId="0"/>
      <p:bldP spid="24" grpId="0"/>
      <p:bldP spid="29" grpId="0"/>
      <p:bldP spid="35" grpId="0"/>
      <p:bldP spid="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9966543" cy="678656"/>
            <a:chOff x="533400" y="419100"/>
            <a:chExt cx="9966543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98046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humanize：一个 AI 写，另一个 AI 独立审，直到验收标准全满足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71676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装在 Codex / Claude Code 上的一组 skill；核心是 RLCR 循环（Ralph-Loop with Codex Review）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33400" y="1295400"/>
            <a:ext cx="11125200" cy="1428750"/>
            <a:chOff x="533400" y="1295400"/>
            <a:chExt cx="11125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295400"/>
              <a:ext cx="2438400" cy="1428750"/>
            </a:xfrm>
            <a:prstGeom prst="roundRect">
              <a:avLst>
                <a:gd name="adj" fmla="val 533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54856" y="1497806"/>
              <a:ext cx="185738" cy="185737"/>
              <a:chOff x="754856" y="1497806"/>
              <a:chExt cx="185738" cy="1857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4856" y="149780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91756" y="1539081"/>
                <a:ext cx="111938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2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2"/>
                      <a:pt x="55969" y="144462"/>
                    </a:cubicBezTo>
                    <a:cubicBezTo>
                      <a:pt x="44571" y="144462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23992" y="164226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3462" y="1526381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gen-idea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18488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一句想法 → 草稿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565" y="2077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并行探索 N 个方向，每条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0565" y="22869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都要给出仓库里的证据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0565" y="24965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只写草稿，不改代码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971800" y="20097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38500" y="1952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52800" y="1295400"/>
              <a:ext cx="2438400" cy="1428750"/>
            </a:xfrm>
            <a:prstGeom prst="roundRect">
              <a:avLst>
                <a:gd name="adj" fmla="val 533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579416" y="1513284"/>
              <a:ext cx="170259" cy="149622"/>
              <a:chOff x="3579416" y="1513284"/>
              <a:chExt cx="170259" cy="14962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579416" y="151328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579416" y="157519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79416" y="163710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56806" y="1528762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656806" y="1590675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56806" y="1652588"/>
                <a:ext cx="928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525">
                    <a:moveTo>
                      <a:pt x="0" y="0"/>
                    </a:moveTo>
                    <a:lnTo>
                      <a:pt x="92869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852862" y="1526381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gen-plan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29965" y="1848802"/>
              <a:ext cx="12764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草稿 → 结构化计划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9965" y="207740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目标、验收标准 AC-x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29965" y="22869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（正反两类测试）、范围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29965" y="24965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上下界、里程碑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791200" y="20097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057900" y="1952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295400"/>
              <a:ext cx="2438400" cy="1428750"/>
            </a:xfrm>
            <a:prstGeom prst="roundRect">
              <a:avLst>
                <a:gd name="adj" fmla="val 5333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383090" y="1500128"/>
              <a:ext cx="206004" cy="182611"/>
            </a:xfrm>
            <a:custGeom>
              <a:avLst/>
              <a:gdLst/>
              <a:ahLst/>
              <a:cxnLst/>
              <a:rect l="l" t="t" r="r" b="b"/>
              <a:pathLst>
                <a:path w="206004" h="182611">
                  <a:moveTo>
                    <a:pt x="10566" y="173097"/>
                  </a:moveTo>
                  <a:lnTo>
                    <a:pt x="23981" y="132854"/>
                  </a:lnTo>
                  <a:cubicBezTo>
                    <a:pt x="0" y="97388"/>
                    <a:pt x="9266" y="51625"/>
                    <a:pt x="45650" y="25807"/>
                  </a:cubicBezTo>
                  <a:cubicBezTo>
                    <a:pt x="82034" y="0"/>
                    <a:pt x="134288" y="2115"/>
                    <a:pt x="167876" y="30760"/>
                  </a:cubicBezTo>
                  <a:cubicBezTo>
                    <a:pt x="201463" y="59415"/>
                    <a:pt x="206004" y="105736"/>
                    <a:pt x="178494" y="139117"/>
                  </a:cubicBezTo>
                  <a:cubicBezTo>
                    <a:pt x="150984" y="172499"/>
                    <a:pt x="99916" y="182611"/>
                    <a:pt x="59065" y="162778"/>
                  </a:cubicBezTo>
                  <a:lnTo>
                    <a:pt x="10566" y="173097"/>
                  </a:lnTo>
                </a:path>
              </a:pathLst>
            </a:custGeom>
            <a:noFill/>
            <a:ln w="19050">
              <a:solidFill>
                <a:srgbClr val="1F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72262" y="1526381"/>
              <a:ext cx="9860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refine-plan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9365" y="18488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人在计划里写批注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49365" y="2077402"/>
              <a:ext cx="1107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CMT: … ENDCMT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49365" y="2286952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逐条回答或修改，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9365" y="24965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留一份问答记录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610600" y="20097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877300" y="1952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991600" y="1295400"/>
              <a:ext cx="2667000" cy="1428750"/>
            </a:xfrm>
            <a:prstGeom prst="roundRect">
              <a:avLst>
                <a:gd name="adj" fmla="val 5333"/>
              </a:avLst>
            </a:prstGeom>
            <a:solidFill>
              <a:srgbClr val="1F3A5F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223375" y="1497806"/>
              <a:ext cx="165100" cy="185738"/>
              <a:chOff x="9223375" y="1497806"/>
              <a:chExt cx="165100" cy="185738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223375" y="1497806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92869"/>
                    </a:moveTo>
                    <a:lnTo>
                      <a:pt x="0" y="61912"/>
                    </a:lnTo>
                    <a:cubicBezTo>
                      <a:pt x="0" y="44816"/>
                      <a:pt x="13860" y="30956"/>
                      <a:pt x="30956" y="30956"/>
                    </a:cubicBezTo>
                    <a:lnTo>
                      <a:pt x="165100" y="30956"/>
                    </a:lnTo>
                    <a:moveTo>
                      <a:pt x="134144" y="0"/>
                    </a:moveTo>
                    <a:lnTo>
                      <a:pt x="165100" y="30956"/>
                    </a:lnTo>
                    <a:lnTo>
                      <a:pt x="134144" y="619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23375" y="1590675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165100" y="0"/>
                    </a:moveTo>
                    <a:lnTo>
                      <a:pt x="165100" y="30956"/>
                    </a:lnTo>
                    <a:cubicBezTo>
                      <a:pt x="165100" y="48053"/>
                      <a:pt x="151240" y="61912"/>
                      <a:pt x="134144" y="61912"/>
                    </a:cubicBezTo>
                    <a:lnTo>
                      <a:pt x="0" y="61912"/>
                    </a:lnTo>
                    <a:moveTo>
                      <a:pt x="30956" y="92869"/>
                    </a:moveTo>
                    <a:lnTo>
                      <a:pt x="0" y="61912"/>
                    </a:lnTo>
                    <a:lnTo>
                      <a:pt x="30956" y="3095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491662" y="1526381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rlcr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68765" y="184880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按计划实现 + 独立评审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68765" y="20774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的循环，直到评审说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68765" y="22869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COMPLETE 且代码审查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68765" y="24965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没有问题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490966" y="3005614"/>
            <a:ext cx="11167634" cy="1525905"/>
            <a:chOff x="490966" y="3005614"/>
            <a:chExt cx="11167634" cy="1525905"/>
          </a:xfrm>
        </p:grpSpPr>
        <p:sp>
          <p:nvSpPr>
            <p:cNvPr id="53" name="TextBox 53"/>
            <p:cNvSpPr txBox="1"/>
            <p:nvPr/>
          </p:nvSpPr>
          <p:spPr>
            <a:xfrm>
              <a:off x="517208" y="3005614"/>
              <a:ext cx="14988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RLCR 一轮怎么走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3295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12830" y="3459956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实现者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0966" y="3704749"/>
              <a:ext cx="19898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读本轮 prompt，改代码、提交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2438400" y="36385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2705100" y="35814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2819400" y="3295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278865" y="3459956"/>
              <a:ext cx="9860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写 summary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976324" y="37047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做了什么、改了哪些文件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4724400" y="36385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4991100" y="35814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105400" y="3295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39787" y="34599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Stop hook 拦截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94043" y="37047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想退出时自动触发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7010400" y="36385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277100" y="35814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391400" y="3295650"/>
              <a:ext cx="19050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53265" y="34599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评审者（另一模型）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19524" y="37047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对照计划和代码挑问题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9296400" y="36385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563100" y="35814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677400" y="3295650"/>
              <a:ext cx="1981200" cy="685800"/>
            </a:xfrm>
            <a:prstGeom prst="roundRect">
              <a:avLst>
                <a:gd name="adj" fmla="val 11111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136148" y="34599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无问题才放行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44266" y="370474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否则意见变成下一轮 prompt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1485900" y="3981450"/>
              <a:ext cx="6858000" cy="247650"/>
            </a:xfrm>
            <a:custGeom>
              <a:avLst/>
              <a:gdLst/>
              <a:ahLst/>
              <a:cxnLst/>
              <a:rect l="l" t="t" r="r" b="b"/>
              <a:pathLst>
                <a:path w="6858000" h="247650">
                  <a:moveTo>
                    <a:pt x="6858000" y="0"/>
                  </a:moveTo>
                  <a:lnTo>
                    <a:pt x="6858000" y="247650"/>
                  </a:lnTo>
                  <a:lnTo>
                    <a:pt x="0" y="247650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C62828"/>
              </a:solidFill>
              <a:custDash>
                <a:ds d="300000" sp="200000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1428750" y="39814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95250"/>
                  </a:moveTo>
                  <a:lnTo>
                    <a:pt x="57150" y="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908935" y="4333399"/>
              <a:ext cx="40119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有问题：评审意见写进 round-(N+1)-prompt.md，实现者继续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533400" y="4667250"/>
            <a:ext cx="11125200" cy="1466850"/>
            <a:chOff x="533400" y="4667250"/>
            <a:chExt cx="11125200" cy="1466850"/>
          </a:xfrm>
        </p:grpSpPr>
        <p:sp>
          <p:nvSpPr>
            <p:cNvPr id="81" name="Rectangle 81"/>
            <p:cNvSpPr/>
            <p:nvPr/>
          </p:nvSpPr>
          <p:spPr>
            <a:xfrm>
              <a:off x="533400" y="4667250"/>
              <a:ext cx="35433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52475" y="4867275"/>
              <a:ext cx="171450" cy="171450"/>
              <a:chOff x="752475" y="4867275"/>
              <a:chExt cx="171450" cy="17145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28675" y="49434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90575" y="4905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52475" y="48672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33462" y="48887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防止目标漂移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1518" y="5190649"/>
              <a:ext cx="30222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goal-tracker.md：目标和 AC 在第 0 轮写定，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11518" y="54001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之后不许改；推迟的任务必须写理由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11518" y="566689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 5 轮做一次全面对齐检查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324350" y="4667250"/>
              <a:ext cx="35433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4562475" y="4867275"/>
              <a:ext cx="133350" cy="171450"/>
              <a:chOff x="4562475" y="4867275"/>
              <a:chExt cx="133350" cy="17145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4562475" y="494347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4619625" y="4981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4591050" y="48672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4824412" y="4888706"/>
              <a:ext cx="16589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防止 AI 自己宣布完成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502468" y="5190649"/>
              <a:ext cx="26805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退出由 hook 判断：要求 summary 存在、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502468" y="54001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工作区干净、没有未完成任务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502468" y="56668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不许手改状态文件或自己跑取消脚本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115300" y="4667250"/>
              <a:ext cx="3543300" cy="1466850"/>
            </a:xfrm>
            <a:prstGeom prst="roundRect">
              <a:avLst>
                <a:gd name="adj" fmla="val 5195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8334375" y="4895850"/>
              <a:ext cx="171450" cy="114300"/>
              <a:chOff x="8334375" y="4895850"/>
              <a:chExt cx="171450" cy="1143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8401050" y="4933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34375" y="48958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8615362" y="48887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两个阶段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93418" y="5190649"/>
              <a:ext cx="2708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实现阶段：评审看 summary 是否完成计划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293418" y="5400199"/>
              <a:ext cx="2787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审查阶段：codex review 对比 base 分支，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293418" y="5666899"/>
              <a:ext cx="23814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意见按 [P0]–[P9] 分级，清零才结束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108" name="TextBox 108"/>
            <p:cNvSpPr txBox="1"/>
            <p:nvPr/>
          </p:nvSpPr>
          <p:spPr>
            <a:xfrm>
              <a:off x="522922" y="6540341"/>
              <a:ext cx="479240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依据：~/.codex/skills/humanize*/SKILL.md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80" grpId="0"/>
      <p:bldP spid="1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9126616" cy="678656"/>
            <a:chOff x="533400" y="419100"/>
            <a:chExt cx="9126616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59228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示例一：从一句话到一份可验收的计划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89504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左：PyTorchSim 上的 gen-idea 草稿（2026-07-20）；右：trace 压缩项目里按 gen-plan 格式写的计划（2026-05-08）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219200"/>
            <a:ext cx="5334000" cy="4914900"/>
            <a:chOff x="533400" y="1219200"/>
            <a:chExt cx="5334000" cy="4914900"/>
          </a:xfrm>
        </p:grpSpPr>
        <p:sp>
          <p:nvSpPr>
            <p:cNvPr id="7" name="Rectangle 7"/>
            <p:cNvSpPr/>
            <p:nvPr/>
          </p:nvSpPr>
          <p:spPr>
            <a:xfrm>
              <a:off x="533400" y="1219200"/>
              <a:ext cx="53340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52475" y="1419225"/>
              <a:ext cx="171450" cy="171450"/>
              <a:chOff x="752475" y="1419225"/>
              <a:chExt cx="171450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52475" y="14192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86537" y="14573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16292" y="15525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32510" y="1432560"/>
              <a:ext cx="26252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$humanize-gen-idea "&lt;想法&gt;"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0565" y="17916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输入（原话，一句）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23900" y="2000250"/>
              <a:ext cx="4953000" cy="5334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2965" y="2115502"/>
              <a:ext cx="26413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"他们是如何将 Fusion / 模板选择纳入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2965" y="2306002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软硬件协同优化的？"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706052"/>
              <a:ext cx="357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输出：150 行草稿，6 个方向，1 个主方案 + 5 个备选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2914650"/>
              <a:ext cx="4953000" cy="89535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2965" y="3029902"/>
              <a:ext cx="2643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主方向：Hierarchical Joint Search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3918" y="3266599"/>
              <a:ext cx="4076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外层搜硬件 × Fusion × 模板，内层对每个组合求最优 mapping；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3918" y="3476149"/>
              <a:ext cx="25452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对照 FAST、CASCO、HASCO 三篇的做法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0565" y="398240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每条判断都要落到仓库里的证据，例如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2470" y="4246245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mlir_lowering.py:180-189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470" y="4665345"/>
              <a:ext cx="31906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route4_fusion_pilot/conv_codesign_analysis.json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518" y="4428649"/>
              <a:ext cx="3129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按固定优先级只选一个 Conv 模板，没有比较周期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518" y="4847749"/>
              <a:ext cx="31646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Fusion 加速比随硬件在 4.83× 到 6.90× 之间变化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3900" y="5181600"/>
              <a:ext cx="4953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3918" y="5323999"/>
              <a:ext cx="33426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规则：找不到证据就写 "exploratory, no concrete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3918" y="5533549"/>
              <a:ext cx="2231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precedent"，不许编路径和数据；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918" y="574309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这一步只写草稿，不改任何代码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24550" y="3619500"/>
            <a:ext cx="361950" cy="114300"/>
            <a:chOff x="5924550" y="3619500"/>
            <a:chExt cx="361950" cy="114300"/>
          </a:xfrm>
        </p:grpSpPr>
        <p:sp>
          <p:nvSpPr>
            <p:cNvPr id="32" name="Freeform 32"/>
            <p:cNvSpPr/>
            <p:nvPr/>
          </p:nvSpPr>
          <p:spPr>
            <a:xfrm>
              <a:off x="5924550" y="36766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191250" y="3619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6324600" y="1219200"/>
            <a:ext cx="5334000" cy="4914900"/>
            <a:chOff x="6324600" y="1219200"/>
            <a:chExt cx="5334000" cy="4914900"/>
          </a:xfrm>
        </p:grpSpPr>
        <p:sp>
          <p:nvSpPr>
            <p:cNvPr id="35" name="Rectangle 35"/>
            <p:cNvSpPr/>
            <p:nvPr/>
          </p:nvSpPr>
          <p:spPr>
            <a:xfrm>
              <a:off x="6324600" y="1219200"/>
              <a:ext cx="5334000" cy="4914900"/>
            </a:xfrm>
            <a:prstGeom prst="roundRect">
              <a:avLst>
                <a:gd name="adj" fmla="val 1550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548438" y="1433512"/>
              <a:ext cx="157162" cy="138113"/>
              <a:chOff x="6548438" y="1433512"/>
              <a:chExt cx="157162" cy="1381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48438" y="14335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48438" y="149066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48438" y="1547812"/>
                <a:ext cx="3810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3812">
                    <a:moveTo>
                      <a:pt x="0" y="9525"/>
                    </a:moveTo>
                    <a:lnTo>
                      <a:pt x="14288" y="23812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19875" y="14478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619875" y="15049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19875" y="15621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823710" y="1432560"/>
              <a:ext cx="33520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gen-plan --input draft --output plan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1765" y="1791652"/>
              <a:ext cx="2579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输出：A 线 PKA-M1 实施计划，523 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515100" y="2000250"/>
              <a:ext cx="495300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4165" y="2115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章节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59165" y="2115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作用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4165" y="2477452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Goal Description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60118" y="24855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要做成什么，整条链路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7241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4165" y="28584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硬约束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0118" y="28665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哪些事绝对不能做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515100" y="31051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15100" y="3114675"/>
              <a:ext cx="4953000" cy="762000"/>
            </a:xfrm>
            <a:prstGeom prst="rect">
              <a:avLst/>
            </a:prstGeom>
            <a:solidFill>
              <a:srgbClr val="E07A1F">
                <a:alpha val="8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4165" y="3258502"/>
              <a:ext cx="14436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AC-M1-1 … AC-M1-14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60118" y="32665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14 条验收标准，每条都有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60118" y="34761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应当通过 / 应当失败的测试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0118" y="36856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评审逐条对照它们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515100" y="38766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54165" y="4020502"/>
              <a:ext cx="1215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Path Boundaries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0118" y="402859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做到多少算够、最多做多少；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0118" y="42381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能用 / 不能用的技术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6515100" y="4476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54165" y="46110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里程碑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0118" y="46191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先后顺序和依赖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515100" y="48577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15100" y="5048250"/>
              <a:ext cx="4953000" cy="89535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4288">
              <a:solidFill>
                <a:srgbClr val="1F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55118" y="5190649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生成过程中，草稿有不清楚、前后矛盾的地方，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5118" y="5400199"/>
              <a:ext cx="34636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 会停下来问人；有数字指标时问清是硬要求还是趋势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5118" y="5666899"/>
              <a:ext cx="3029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人的主要工作在这一步：把"做完"的标准写清楚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72" name="TextBox 72"/>
            <p:cNvSpPr txBox="1"/>
            <p:nvPr/>
          </p:nvSpPr>
          <p:spPr>
            <a:xfrm>
              <a:off x="522922" y="6540341"/>
              <a:ext cx="956386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依据：PyTorchSim/.humanize/ideas/fusion-template-codesign-20260720.md；trace-compression-industrial 的 RLCR plan.md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7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9824918" cy="678656"/>
            <a:chOff x="533400" y="419100"/>
            <a:chExt cx="9824918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75790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示例二：一次真实的 RLCR 运行，评审挡住了什么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964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trace 压缩项目 · .humanize/rlcr/2026-05-08_16-57-40 · 实现者是一个 Codex 会话，评审者是另起的 codex（gpt-5.4, high）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7208" y="1272064"/>
            <a:ext cx="11141392" cy="992505"/>
            <a:chOff x="517208" y="1272064"/>
            <a:chExt cx="11141392" cy="992505"/>
          </a:xfrm>
        </p:grpSpPr>
        <p:sp>
          <p:nvSpPr>
            <p:cNvPr id="7" name="TextBox 7"/>
            <p:cNvSpPr txBox="1"/>
            <p:nvPr/>
          </p:nvSpPr>
          <p:spPr>
            <a:xfrm>
              <a:off x="517208" y="1272064"/>
              <a:ext cx="31021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21 轮，约 6 小时（16:57 → 23:08）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562100"/>
              <a:ext cx="11125200" cy="381000"/>
            </a:xfrm>
            <a:prstGeom prst="roundRect">
              <a:avLst>
                <a:gd name="adj" fmla="val 10000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562100"/>
              <a:ext cx="3705225" cy="381000"/>
            </a:xfrm>
            <a:prstGeom prst="roundRect">
              <a:avLst>
                <a:gd name="adj" fmla="val 100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79554" y="1696402"/>
              <a:ext cx="14033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实现阶段 第 0–6 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38625" y="1562100"/>
              <a:ext cx="6772275" cy="381000"/>
            </a:xfrm>
            <a:prstGeom prst="rect">
              <a:avLst/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3003" y="1696402"/>
              <a:ext cx="1813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代码审查阶段 第 7–20 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10900" y="1562100"/>
              <a:ext cx="647700" cy="381000"/>
            </a:xfrm>
            <a:prstGeom prst="roundRect">
              <a:avLst>
                <a:gd name="adj" fmla="val 1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172849" y="17044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收尾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1018" y="2066449"/>
              <a:ext cx="39549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第 0–5 轮评审都给出"阻塞"问题，第 6 轮评审写出 COMPLETE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26242" y="206644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每轮 1–4 条 [P1]/[P2] 意见，逐条修完再审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17208" y="2491264"/>
            <a:ext cx="11141392" cy="2537936"/>
            <a:chOff x="517208" y="2491264"/>
            <a:chExt cx="11141392" cy="2537936"/>
          </a:xfrm>
        </p:grpSpPr>
        <p:sp>
          <p:nvSpPr>
            <p:cNvPr id="18" name="TextBox 18"/>
            <p:cNvSpPr txBox="1"/>
            <p:nvPr/>
          </p:nvSpPr>
          <p:spPr>
            <a:xfrm>
              <a:off x="517208" y="2491264"/>
              <a:ext cx="23786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评审意见原文摘录（翻译）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81300"/>
              <a:ext cx="3543300" cy="224790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2465" y="2934652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第 0 轮 · 阻塞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3418" y="3209449"/>
              <a:ext cx="2217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实现者只初始化了 goal tracker，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418" y="34189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计划里的实现一项都没做。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3418" y="3723799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AI 常见的"先交一个壳"，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418" y="39333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被挡回去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24350" y="2781300"/>
              <a:ext cx="3543300" cy="224790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4288">
              <a:solidFill>
                <a:srgbClr val="C6282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63415" y="2934652"/>
              <a:ext cx="2007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同项目另一次运行 · 第 0 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4368" y="3209449"/>
              <a:ext cx="23173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实现者说"模拟器源码不在仓库"，把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4368" y="3418999"/>
              <a:ext cx="2139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3 项任务推迟；评审在本机找到了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4368" y="36285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这份源码，判定理由不成立。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64368" y="3838099"/>
              <a:ext cx="21749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还指出占位数据被标成"已测量"、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4368" y="4047649"/>
              <a:ext cx="1932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由占位数据推出了"GO"结论。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64368" y="4352449"/>
              <a:ext cx="1605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挡住的是"编理由不做"和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64368" y="4561999"/>
              <a:ext cx="11781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"假数据当真结果"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115300" y="2781300"/>
              <a:ext cx="3543300" cy="224790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4288">
              <a:solidFill>
                <a:srgbClr val="E07A1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54365" y="2934652"/>
              <a:ext cx="11216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07A1F"/>
                  </a:solidFill>
                  <a:latin typeface="Arial"/>
                  <a:ea typeface="Microsoft YaHei"/>
                  <a:cs typeface="Arial"/>
                </a:rPr>
                <a:t>第 20 轮 · [P1]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5318" y="3209449"/>
              <a:ext cx="2530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超时后 subprocess 只杀了外层 bash，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55318" y="3418999"/>
              <a:ext cx="21607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模拟器子进程还在跑，后续运行会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55318" y="36285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和泄漏的进程抢资源。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55318" y="39333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测试全过也发现不了的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55318" y="41428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运行时问题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33400" y="5219700"/>
            <a:ext cx="11125200" cy="931069"/>
            <a:chOff x="533400" y="5219700"/>
            <a:chExt cx="11125200" cy="931069"/>
          </a:xfrm>
        </p:grpSpPr>
        <p:sp>
          <p:nvSpPr>
            <p:cNvPr id="42" name="Rectangle 42"/>
            <p:cNvSpPr/>
            <p:nvPr/>
          </p:nvSpPr>
          <p:spPr>
            <a:xfrm>
              <a:off x="533400" y="5219700"/>
              <a:ext cx="11125200" cy="914400"/>
            </a:xfrm>
            <a:prstGeom prst="roundRect">
              <a:avLst>
                <a:gd name="adj" fmla="val 8333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71525" y="5419725"/>
              <a:ext cx="133350" cy="171450"/>
              <a:chOff x="771525" y="5419725"/>
              <a:chExt cx="133350" cy="17145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57250" y="54197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1525" y="54197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9625" y="5476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9625" y="55149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09625" y="55530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33462" y="5441156"/>
              <a:ext cx="27889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每轮都留下文件，事后可以逐轮复盘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1518" y="5743099"/>
              <a:ext cx="80631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round-N-prompt.md · round-N-summary.md · round-N-review-result.md · goal-tracker.md · finalize-summary.md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1518" y="5952649"/>
              <a:ext cx="4894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收尾时验证：pytest 70 passed，L1 回归 0 failures；第 20 轮之后进入收尾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2922" y="6540341"/>
            <a:ext cx="11146156" cy="167640"/>
            <a:chOff x="522922" y="6540341"/>
            <a:chExt cx="11146156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22922" y="6540341"/>
              <a:ext cx="87204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依据：worktrees/trace-compression-industrial/.humanize/rlcr/2026-05-08_16-57-40、2026-05-03_22-55-59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45705" y="6540341"/>
              <a:ext cx="123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1" grpId="0"/>
      <p:bldP spid="5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7119937" cy="678656"/>
            <a:chOff x="533400" y="419100"/>
            <a:chExt cx="7119937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69580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怎么用：四步，人只管想法、计划和最后验收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67733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以 Codex CLI 为例；前提是装好 codex，并运行 humanize 的安装脚本（会装好 Stop hook）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295400"/>
            <a:ext cx="5257800" cy="950119"/>
            <a:chOff x="609600" y="1295400"/>
            <a:chExt cx="5257800" cy="950119"/>
          </a:xfrm>
        </p:grpSpPr>
        <p:sp>
          <p:nvSpPr>
            <p:cNvPr id="7" name="Ellipse 7"/>
            <p:cNvSpPr/>
            <p:nvPr/>
          </p:nvSpPr>
          <p:spPr>
            <a:xfrm>
              <a:off x="609600" y="1295400"/>
              <a:ext cx="304800" cy="3048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4512" y="13916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13754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把想法变成草稿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1619250"/>
              <a:ext cx="4838700" cy="32385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0618" y="1723549"/>
              <a:ext cx="28442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$humanize-gen-idea "想研究的问题" --n 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6318" y="2047399"/>
              <a:ext cx="27303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人：读草稿，选方向；不满意就改草稿再来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419350"/>
            <a:ext cx="5257800" cy="950119"/>
            <a:chOff x="609600" y="2419350"/>
            <a:chExt cx="5257800" cy="950119"/>
          </a:xfrm>
        </p:grpSpPr>
        <p:sp>
          <p:nvSpPr>
            <p:cNvPr id="14" name="Ellipse 14"/>
            <p:cNvSpPr/>
            <p:nvPr/>
          </p:nvSpPr>
          <p:spPr>
            <a:xfrm>
              <a:off x="609600" y="2419350"/>
              <a:ext cx="304800" cy="3048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4384" y="25155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3460" y="249936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生成计划，定验收标准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743200"/>
              <a:ext cx="4838700" cy="32385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0618" y="2847499"/>
              <a:ext cx="38980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$humanize-gen-plan --input draft.md --output plan.md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6318" y="3171349"/>
              <a:ext cx="374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人：回答 AI 的澄清问题；重点检查每条 AC 能不能被测出来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543300"/>
            <a:ext cx="5257800" cy="950119"/>
            <a:chOff x="609600" y="3543300"/>
            <a:chExt cx="5257800" cy="950119"/>
          </a:xfrm>
        </p:grpSpPr>
        <p:sp>
          <p:nvSpPr>
            <p:cNvPr id="21" name="Ellipse 21"/>
            <p:cNvSpPr/>
            <p:nvPr/>
          </p:nvSpPr>
          <p:spPr>
            <a:xfrm>
              <a:off x="609600" y="3543300"/>
              <a:ext cx="304800" cy="304800"/>
            </a:xfrm>
            <a:prstGeom prst="ellipse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384" y="363950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3460" y="3623310"/>
              <a:ext cx="15026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（可选）批注计划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3867150"/>
              <a:ext cx="4838700" cy="32385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0618" y="3971449"/>
              <a:ext cx="39407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CMT: 这里为什么不用 X？ ENDCMT → $humanize-refine-plan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6318" y="4295299"/>
              <a:ext cx="39478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人：在 plan.md 里直接写疑问，AI 回答并改计划，留问答记录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667250"/>
            <a:ext cx="5257800" cy="1140619"/>
            <a:chOff x="609600" y="4667250"/>
            <a:chExt cx="5257800" cy="1140619"/>
          </a:xfrm>
        </p:grpSpPr>
        <p:sp>
          <p:nvSpPr>
            <p:cNvPr id="28" name="Ellipse 28"/>
            <p:cNvSpPr/>
            <p:nvPr/>
          </p:nvSpPr>
          <p:spPr>
            <a:xfrm>
              <a:off x="609600" y="4667250"/>
              <a:ext cx="304800" cy="3048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4384" y="47634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47472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启动循环，等它跑完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28700" y="4991100"/>
              <a:ext cx="4838700" cy="323850"/>
            </a:xfrm>
            <a:prstGeom prst="roundRect">
              <a:avLst>
                <a:gd name="adj" fmla="val 11765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0618" y="5095399"/>
              <a:ext cx="37342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22222"/>
                  </a:solidFill>
                  <a:latin typeface="Consolas"/>
                  <a:ea typeface="Microsoft YaHei"/>
                  <a:cs typeface="Consolas"/>
                </a:rPr>
                <a:t>$humanize-rlcr plan.md --max 42 --base-branch main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318" y="5419249"/>
              <a:ext cx="40688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人：中途看 round-N-review-result.md；评审提出的开放问题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6318" y="5609749"/>
              <a:ext cx="3235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默认会问人；结束后自己再审一遍 diff 和测试结果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219200"/>
            <a:ext cx="5372100" cy="2857500"/>
            <a:chOff x="6286500" y="1219200"/>
            <a:chExt cx="5372100" cy="2857500"/>
          </a:xfrm>
        </p:grpSpPr>
        <p:sp>
          <p:nvSpPr>
            <p:cNvPr id="36" name="Rectangle 36"/>
            <p:cNvSpPr/>
            <p:nvPr/>
          </p:nvSpPr>
          <p:spPr>
            <a:xfrm>
              <a:off x="6286500" y="1219200"/>
              <a:ext cx="5372100" cy="2857500"/>
            </a:xfrm>
            <a:prstGeom prst="roundRect">
              <a:avLst>
                <a:gd name="adj" fmla="val 2667"/>
              </a:avLst>
            </a:prstGeom>
            <a:solidFill>
              <a:srgbClr val="F4F6F9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05575" y="1419225"/>
              <a:ext cx="171450" cy="171450"/>
              <a:chOff x="6505575" y="1419225"/>
              <a:chExt cx="171450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05575" y="1419225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3"/>
                    </a:lnTo>
                    <a:moveTo>
                      <a:pt x="146685" y="24765"/>
                    </a:moveTo>
                    <a:lnTo>
                      <a:pt x="140018" y="31433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39637" y="1457325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69392" y="1552575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85610" y="14325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用下来的经验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3665" y="1772602"/>
              <a:ext cx="28483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计划写得越具体，循环越短。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AC 含糊时，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3665" y="1982152"/>
              <a:ext cx="24956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评审和实现者会来回争"算不算完成"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3665" y="23060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评审要用不同的模型。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同一个模型自己审自己，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3665" y="25155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容易认同自己的理由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3665" y="2839402"/>
              <a:ext cx="31703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验证命令写进 AC。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"测试通过"要写成具体命令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63665" y="304895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和预期输出，评审才能逐条核对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3665" y="337280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它不替人做设计决定。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做不通时让它停下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3665" y="35823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写问题，而不是自己改目标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86500" y="4229100"/>
            <a:ext cx="5372100" cy="1905000"/>
            <a:chOff x="6286500" y="4229100"/>
            <a:chExt cx="53721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6286500" y="4229100"/>
              <a:ext cx="5372100" cy="1905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05575" y="4438650"/>
              <a:ext cx="171450" cy="152400"/>
              <a:chOff x="6505575" y="4438650"/>
              <a:chExt cx="171450" cy="1524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53200" y="4486275"/>
                <a:ext cx="285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57150">
                    <a:moveTo>
                      <a:pt x="0" y="0"/>
                    </a:moveTo>
                    <a:lnTo>
                      <a:pt x="28575" y="28575"/>
                    </a:ln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600825" y="45434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05575" y="44386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52400" y="0"/>
                    </a:lnTo>
                    <a:cubicBezTo>
                      <a:pt x="162921" y="0"/>
                      <a:pt x="171450" y="8529"/>
                      <a:pt x="171450" y="19050"/>
                    </a:cubicBezTo>
                    <a:lnTo>
                      <a:pt x="171450" y="133350"/>
                    </a:lnTo>
                    <a:cubicBezTo>
                      <a:pt x="171450" y="143871"/>
                      <a:pt x="162921" y="152400"/>
                      <a:pt x="15240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F3A5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85610" y="44424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换别的工具能不能用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3665" y="4782502"/>
              <a:ext cx="22732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Codex、Kimi：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安装脚本直接支持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3665" y="5011102"/>
              <a:ext cx="32394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Claude Code、opencode：</a:t>
              </a:r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本机没装对应版本，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3665" y="52397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没有验证过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3665" y="5563552"/>
              <a:ext cx="3362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做法本身不绑工具：写带 AC 的计划，一个 agent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3665" y="5773102"/>
              <a:ext cx="2741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实现，换一个模型按 AC 审，不过就继续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3" name="TextBox 63"/>
            <p:cNvSpPr txBox="1"/>
            <p:nvPr/>
          </p:nvSpPr>
          <p:spPr>
            <a:xfrm>
              <a:off x="522922" y="6540341"/>
              <a:ext cx="67925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 | 依据：humanize/SKILL.md、humanize-rlcr/SKILL.md、scripts/install-skill.sh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5" grpId="0"/>
      <p:bldP spid="50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19100"/>
            <a:ext cx="8206823" cy="678656"/>
            <a:chOff x="533400" y="419100"/>
            <a:chExt cx="8206823" cy="678656"/>
          </a:xfrm>
        </p:grpSpPr>
        <p:sp>
          <p:nvSpPr>
            <p:cNvPr id="3" name="Rectangle 3"/>
            <p:cNvSpPr/>
            <p:nvPr/>
          </p:nvSpPr>
          <p:spPr>
            <a:xfrm>
              <a:off x="533400" y="419100"/>
              <a:ext cx="57150" cy="342900"/>
            </a:xfrm>
            <a:prstGeom prst="rect">
              <a:avLst/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95325" y="461962"/>
              <a:ext cx="8044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3A5F"/>
                  </a:solidFill>
                  <a:latin typeface="Arial"/>
                  <a:ea typeface="Microsoft YaHei"/>
                  <a:cs typeface="Arial"/>
                </a:rPr>
                <a:t>下一步：先做出一版，再比较，再判断哪些能交给 AI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09612" y="869156"/>
              <a:ext cx="56971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手改的重构版 RTL 是参照物：有了它，才能说清性能模型生成的 RTL 差在哪里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295400"/>
            <a:ext cx="3467100" cy="3810000"/>
            <a:chOff x="533400" y="1295400"/>
            <a:chExt cx="3467100" cy="3810000"/>
          </a:xfrm>
        </p:grpSpPr>
        <p:sp>
          <p:nvSpPr>
            <p:cNvPr id="7" name="Rectangle 7"/>
            <p:cNvSpPr/>
            <p:nvPr/>
          </p:nvSpPr>
          <p:spPr>
            <a:xfrm>
              <a:off x="533400" y="1295400"/>
              <a:ext cx="3467100" cy="3810000"/>
            </a:xfrm>
            <a:prstGeom prst="roundRect">
              <a:avLst>
                <a:gd name="adj" fmla="val 219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9540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1520" y="1512570"/>
              <a:ext cx="373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3A5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3902" y="1998821"/>
              <a:ext cx="199201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出一版重构后的 RTL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8665" y="2382202"/>
              <a:ext cx="2395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按目标结构把 subcore 整体改完：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6108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S0–SW 七个大级、边界寄存、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8394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事件通道回传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31823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每一步都跑端到端用例，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3410902"/>
              <a:ext cx="2250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功能 PASS，周期和性能模型对照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3810000"/>
              <a:ext cx="30099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2018" y="395239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目前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2018" y="4180999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第 1 步已提交；第 2 步功能通过，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2018" y="4390549"/>
              <a:ext cx="1754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等抢占用例；之后是第 3 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2018" y="4600099"/>
              <a:ext cx="21678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S2–S4 一起改（第一个改拍数的）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38600" y="3143250"/>
            <a:ext cx="323850" cy="114300"/>
            <a:chOff x="4038600" y="3143250"/>
            <a:chExt cx="323850" cy="114300"/>
          </a:xfrm>
        </p:grpSpPr>
        <p:sp>
          <p:nvSpPr>
            <p:cNvPr id="22" name="Freeform 22"/>
            <p:cNvSpPr/>
            <p:nvPr/>
          </p:nvSpPr>
          <p:spPr>
            <a:xfrm>
              <a:off x="4038600" y="32004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267200" y="31432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4381500" y="1295400"/>
            <a:ext cx="3467100" cy="3810000"/>
            <a:chOff x="4381500" y="1295400"/>
            <a:chExt cx="3467100" cy="3810000"/>
          </a:xfrm>
        </p:grpSpPr>
        <p:sp>
          <p:nvSpPr>
            <p:cNvPr id="25" name="Rectangle 25"/>
            <p:cNvSpPr/>
            <p:nvPr/>
          </p:nvSpPr>
          <p:spPr>
            <a:xfrm>
              <a:off x="4381500" y="1295400"/>
              <a:ext cx="3467100" cy="3810000"/>
            </a:xfrm>
            <a:prstGeom prst="roundRect">
              <a:avLst>
                <a:gd name="adj" fmla="val 2198"/>
              </a:avLst>
            </a:prstGeom>
            <a:solidFill>
              <a:srgbClr val="F4F6F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81500" y="1295400"/>
              <a:ext cx="3467100" cy="57150"/>
            </a:xfrm>
            <a:prstGeom prst="roundRect">
              <a:avLst>
                <a:gd name="adj" fmla="val 50000"/>
              </a:avLst>
            </a:prstGeom>
            <a:solidFill>
              <a:srgbClr val="2A7F9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79620" y="15125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A7F9E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2002" y="1998821"/>
              <a:ext cx="20029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对比手改与模型生成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6765" y="23822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同一组用例、同一套判据，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6765" y="261080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比两份 RTL 差了什么：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6765" y="29537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• 结构：级怎么切、状态归谁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6765" y="32204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• 时序：组合深度、同拍读写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6765" y="3487102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• 周期：和性能模型差多少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96765" y="37538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• 可维护性：模块边界、改动面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610100" y="4095750"/>
              <a:ext cx="30099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50118" y="425719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每一处差别记成缺陷条目，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0118" y="446674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并归类：是缺了哪类输入导致的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886700" y="3143250"/>
            <a:ext cx="323850" cy="114300"/>
            <a:chOff x="7886700" y="3143250"/>
            <a:chExt cx="323850" cy="114300"/>
          </a:xfrm>
        </p:grpSpPr>
        <p:sp>
          <p:nvSpPr>
            <p:cNvPr id="39" name="Freeform 39"/>
            <p:cNvSpPr/>
            <p:nvPr/>
          </p:nvSpPr>
          <p:spPr>
            <a:xfrm>
              <a:off x="7886700" y="32004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1F3A5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115300" y="31432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F3A5F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8229600" y="1295400"/>
            <a:ext cx="3429000" cy="3810000"/>
            <a:chOff x="8229600" y="1295400"/>
            <a:chExt cx="3429000" cy="3810000"/>
          </a:xfrm>
        </p:grpSpPr>
        <p:sp>
          <p:nvSpPr>
            <p:cNvPr id="42" name="Rectangle 42"/>
            <p:cNvSpPr/>
            <p:nvPr/>
          </p:nvSpPr>
          <p:spPr>
            <a:xfrm>
              <a:off x="8229600" y="1295400"/>
              <a:ext cx="3429000" cy="3810000"/>
            </a:xfrm>
            <a:prstGeom prst="roundRect">
              <a:avLst>
                <a:gd name="adj" fmla="val 2222"/>
              </a:avLst>
            </a:prstGeom>
            <a:solidFill>
              <a:srgbClr val="1F3A5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27720" y="1512570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E07A1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0102" y="1998821"/>
              <a:ext cx="18171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确认哪些能交给 AI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4865" y="238220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按差别的类别逐项回答：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44865" y="27251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补上什么输入（结构规范、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4865" y="295370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流水线图、代码模板）后，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44865" y="318230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AI 生成的 RTL 能不能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4865" y="3410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达到手改版的水平？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458200" y="3810000"/>
              <a:ext cx="2971800" cy="1066800"/>
            </a:xfrm>
            <a:prstGeom prst="roundRect">
              <a:avLst>
                <a:gd name="adj" fmla="val 535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98218" y="39523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判据要事先定好：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98218" y="4180999"/>
              <a:ext cx="22319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端到端功能 PASS、周期与性能模型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8218" y="43905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的偏差、结构规则违例数、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98218" y="46000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需要人工干预的次数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33400" y="5295900"/>
            <a:ext cx="11125200" cy="838200"/>
            <a:chOff x="533400" y="5295900"/>
            <a:chExt cx="11125200" cy="838200"/>
          </a:xfrm>
        </p:grpSpPr>
        <p:sp>
          <p:nvSpPr>
            <p:cNvPr id="56" name="Rectangle 56"/>
            <p:cNvSpPr/>
            <p:nvPr/>
          </p:nvSpPr>
          <p:spPr>
            <a:xfrm>
              <a:off x="533400" y="5295900"/>
              <a:ext cx="111252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E07A1F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52475" y="5495925"/>
              <a:ext cx="171450" cy="171450"/>
              <a:chOff x="752475" y="5495925"/>
              <a:chExt cx="171450" cy="17145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52475" y="5495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56292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9150" y="5531725"/>
                <a:ext cx="44771" cy="64212"/>
              </a:xfrm>
              <a:custGeom>
                <a:avLst/>
                <a:gdLst/>
                <a:ahLst/>
                <a:cxnLst/>
                <a:rect l="l" t="t" r="r" b="b"/>
                <a:pathLst>
                  <a:path w="44771" h="64212">
                    <a:moveTo>
                      <a:pt x="19050" y="64212"/>
                    </a:moveTo>
                    <a:cubicBezTo>
                      <a:pt x="18690" y="57860"/>
                      <a:pt x="22573" y="52035"/>
                      <a:pt x="28575" y="49925"/>
                    </a:cubicBezTo>
                    <a:cubicBezTo>
                      <a:pt x="38392" y="46170"/>
                      <a:pt x="44771" y="36628"/>
                      <a:pt x="44485" y="26121"/>
                    </a:cubicBezTo>
                    <a:cubicBezTo>
                      <a:pt x="44200" y="15614"/>
                      <a:pt x="37313" y="6432"/>
                      <a:pt x="27306" y="3216"/>
                    </a:cubicBezTo>
                    <a:cubicBezTo>
                      <a:pt x="17300" y="0"/>
                      <a:pt x="6353" y="3451"/>
                      <a:pt x="0" y="11825"/>
                    </a:cubicBezTo>
                  </a:path>
                </a:pathLst>
              </a:custGeom>
              <a:noFill/>
              <a:ln w="19050">
                <a:solidFill>
                  <a:srgbClr val="E07A1F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32510" y="55092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2222"/>
                  </a:solidFill>
                  <a:latin typeface="Arial"/>
                  <a:ea typeface="Microsoft YaHei"/>
                  <a:cs typeface="Arial"/>
                </a:rPr>
                <a:t>想请老师给意见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0565" y="5811202"/>
              <a:ext cx="7655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比较的范围先做整个 subcore 还是先挑一个大级（比如 S2–S4）？"可以交给 AI"的判据，用上面几项是否足够？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22922" y="6540341"/>
            <a:ext cx="11146155" cy="167640"/>
            <a:chOff x="522922" y="6540341"/>
            <a:chExt cx="11146155" cy="167640"/>
          </a:xfrm>
        </p:grpSpPr>
        <p:sp>
          <p:nvSpPr>
            <p:cNvPr id="64" name="TextBox 64"/>
            <p:cNvSpPr txBox="1"/>
            <p:nvPr/>
          </p:nvSpPr>
          <p:spPr>
            <a:xfrm>
              <a:off x="522922" y="65403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curryGPU · subcore 组会 · 2026-10-10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15582" y="6540341"/>
              <a:ext cx="1534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38" grpId="0"/>
      <p:bldP spid="41" grpId="0"/>
      <p:bldP spid="55" grpId="0"/>
      <p:bldP spid="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