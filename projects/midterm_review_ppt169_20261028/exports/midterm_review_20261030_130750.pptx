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各位老师好，我汇报的题目是硕士中期考核工作进展。这一年我的工作围绕三条线展开：GPU 体系结构学习与 RTL 实践、AI for EDA 方向的工具与实验，以及在公司参与芯片项目、学习工业界的设计验证流程。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先用一页说明三条线的关系。GPU 是我的研究对象；公司的芯片项目给了我一个工程参照，让我看到成熟团队怎样组织规格、设计和验证；这两条线最后收敛到我的研究问题，也就是 AI 写大规模 RTL 时，如何验收它。时间轴上方是研究线，下方是公司项目，空心点表示学习或暂缓的工作。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第一部分是 GPU 学习。我以 curryGPU 这个工程为对象，按图从左到右：最外层是整机，命令处理器把线程块分发到各个 SM；中间是 SM，四个 subcore 共享访存和特殊功能单元；右边是我重点读的 subcore，每个 subcore 管理十六个 warp。读下来最核心的一点是：GPU 不靠单线程快，而是靠每拍从多个 warp 里挑一个能发射的来掩盖访存延迟，调度器、scoreboard 和独立线程调度都是围绕这件事设计的。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读懂结构之后，我对 subcore 的 RTL 做了一次流水线重构。原来的 RTL 功能是正确的，问题在于结构不清晰：发射路径是一整条组合链，级与级之间直接组合读取对方的内部状态，挡住发射的条件散落在六千多行的顶层里，还有同一 warp 只能隔拍发射这样的隐式约定。右边是重构的目标结构。另外，在此之前我还探索过加速器模拟器和 workload trace 压缩，这条线需要定制 NPU 的系统经验做支撑，我目前还缺这方面的积累，所以先暂缓，计划在后续接触到机柜级 NPU 之后再继续。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这一页是重构后 subcore 的具体结构。上面是七个大级：取指、译码、发射、分派、操作数、执行和写回，每一级是一个独立的模块。下面是三个关键设计。第一，操作数级里有四张预约表，读口、写回拍、执行单元出口和入口，资源冲突从同一拍看忙不忙，改成了提前按拍预约。第二，访存、特殊函数、分支这些延迟不固定的指令，经过分派级的队列进入各自的前门模块，用 credit 控制：发射时减一，前门读完操作数后再加回，credit 等于队列深度，所以入队一定成功。第三，级与级之间只走寄存过的事件，目的级下一拍才看到，唯一的反向信号是在途掩码。总的原则就是：每一级持有自己的状态，级间只走寄存过的事件。目前 RTL 已经按这个结构实现，只有常量前门还没做。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方法上是先定结构、再动代码：先写结构规范、画出目标图，对照目标图列出六十三项修改，然后在行为不变的前提下按级搬迁，每次提交都跑完整的 VCS 验收并记录周期变化。最终一共一百三十次提交，顶层代码减少了百分之四十三，新建了十六个模块。过程中还顺带修掉了一些真实缺陷，比如 shared memory 的读后写漏洞，在七千多次重试里有九十六次读到了新值。但重构中我也发现，有些问题功能验证全部通过也抓不到，这就是第二部分的出发点。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进入第二部分，先简单看一下领域现状。AI 生成 RTL 的工作大致分四条路线，区别主要在于给模型什么输入。看右边的结果：单个模块已经能做到九成以上，一到 SoC 和子系统级就掉到六成、三成，到流水线和层次化设计，所有模型都失败了。文献里有一个规律：换一种中间表示，成功率能从百分之三提到百分之八十八，换更强的模型提升不到一点二五倍。而现有工作检查正确性时只看端口输入输出，不看逻辑在哪一级、状态归谁、时序对不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这个空白我在 subcore 上实际碰到了。这个 subcore 有十万多行 Verilog，大部分由 AI agent 编写和重构，每次提交都跑完整的功能验证，但功能全部通过，问题照样漏过去。举一个例子：有一次提交把一段逻辑从一个模块搬到另一个模块，说明写的是行为不变，结果也确实是周期数完全不变；但搬完之后，有一段本该属于上一级的逻辑落进了 S4，和设计图对不上，这个偏差一路带过了好几次提交，现有检查都没有发现。第二类是时序，有两次提交让程序慢了百分之六到八，恰好落在性能模型的误差范围内。第三类是验证手段自己失效了，比如验收脚本只看有没有打印 PASS，漏掉了实际发生的硬件故障。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针对这三类问题，我已经实现了三种检查工具，都在 subcore 上日常运行。第一是逐指令比对，逐线程比较 RTL 和功能模型执行的指令序列，只报告第一处分歧；一个有错的发射改动，在三个用例的第二、三条指令处就被报了出来。第二是网表结构检查，一份结构数据同时生成流水线图、给 AI 的约束清单和检查器，读 Verilator 的网表，核对层次、边界寄存器和级间连线，没有登记的触发器和连线一律报出；人为注入的十六种缺陷全部被拦下，第一次在真实 RTL 上运行就发现了五处结构分歧，上一页的结构偏离就是其中之一，目前六个流水级都接入了门禁。第三是断言和验收门禁，检查每个断言文件是否真的被运行，验收要求没有硬件故障并且用例自己打印 PASS，断言文件从十七个增加到五十个全部运行。时序方面的逐周期检查，则用接下来两页的 FML 来做。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FML 是一套周期级建模框架，由我的合作者开发，模型用 Rust 写。它的基本结构是模块和事件：每个模块声明自己拥有的状态，里面的任务由时钟沿或者事件触发，模块之间只通过带延迟的事件通信。下面这段代码来自官方示例，可以看到状态、时钟入口、事件出口都是显式声明的。它适合作结构规格有四点原因：状态归属写在结构里；级间传递是显式的；同一拍内的依赖必须说清楚，虚拟机在加载时就推出执行顺序，有歧义直接拒绝；并行运行结果确定，可以作比对参照。合作者已经用它逐周期复现了 GPGPU-Sim，在 rodinia 的十一个基准上和原版完全一致，速度还更快。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我在 FML 上做的工作是路线 B 实验。左边是边界规格的样子：以取指和译码级为例，每个 subcore 拆成 Fetch 和 Decode 两个模块，规格写清每个模块拥有哪些寄存器、每拍按什么顺序更新、允许哪些同拍路径、相对参照模型有哪些偏差和代价。实验流程是：规格先和 GPGPU-Sim 逐周期对齐，再只把规格和接口交给 AI，让它独立写 RTL，最后在边界上逐周期比对。结果是，规格在一百三十六万个周期上和参照一致；按 subcore 拆分边界后，综合出的最长逻辑路径从四百三十五级降到四十二级；四个模块集成成完整的 subcore，在五百五十一万个周期上通过。还有两个发现：切边界时暴露了顺序模型里看不见的同拍组合环；每个模块各自验收都通过，集成时才暴露出一个接口缺口，说明边界规格本身也需要被检查。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第三部分是公司学习。在公司期间，我参与了三个芯片项目，另外系统学习了一个 SoC 项目的设计，出于保密，这里用 A 到 D 代称。我把这些经验归纳成芯片设计验证的五层流程。大家看右边的点：A 和 B 集中在设计层，C 和 D 集中在验证、多模式仿真和可测性，四个项目合起来覆盖了完整的链条。这五层里我感受最深的是最上面这一层：规格是唯一的来源，设计和验证都从它派生。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先看设计侧。项目 A 是我学习的一个 RISC-V SoC，从它身上我看懂了一颗 SoC 是怎么搭起来的：处理器核、总线、存储器大多是第三方 IP，公司的工作主要是集成；每个 IP 单独一个目录，带自己的文件清单；和工艺相关的单元单独放一层。项目 B 是一个图像处理 DSP，我负责它验证环境里的 scoreboard，也就是自动比对输出的部分。要写比对就得先把设计读透，所以我学到了一个模块应该怎么写：每个任务都是工作态加等待态成对出现，状态编码直接拿来做时钟门控，数据通路统一用握手流水。这种写法后来直接用在了 GPU 重构里，subcore 完成信号的设计就是参考这个 DSP 做的。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再看验证侧。左边是项目 C 验证环境的目录结构：顶层把被测设计、模拟行为模型和接口接在一起；环境目录放驱动、参考模型、寄存器宏和时序检查；所有用例继承同一个基类，每个用例只写配置和激励检查两个任务；运行目录放 Makefile、分组清单和回归脚本，通过开关切换后仿、扫描模式、工艺角和随机种子。在项目 C 里我负责三块验证：AL 光谱通道的数据通路、数模控制信号的时序检查，以及部分看门狗。在项目 D 里我主要协助做数模混合仿真，用的是 Synopsys 和 Cadence 的工具，难点在配置，CPU 侧的启动和固件要求、模拟侧的电路配置都要对上，所以花了很多时间和两边的同事沟通。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最后是总结和计划。这一年我完成了 GPU 体系结构学习和 subcore 流水线重构，实现了三种检查工具，在 FML 上完成了路线 B 实验，也通过公司项目掌握了设计验证的流程。公司流程给我的研究带来的启发是：规格是唯一来源，验证要分层，级与级之间传递什么必须写清楚。后续计划主要有四点：以 FML 为底座建立结构规范；建立可以量化的验收标准，Hazard3 会是第一个外部验证对象；更长远地，深入编译器，探索软硬件协同的 AI 架构设计；最后是学位论文的撰写。具体节奏会根据实验进展和导师的意见调整。我的汇报就到这里，恳请各位老师批评指正。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1fa13a937006080.jp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c3fdf723a507af2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1143000" y="2190750"/>
            <a:ext cx="6675120" cy="1276350"/>
            <a:chOff x="1143000" y="2190750"/>
            <a:chExt cx="6675120" cy="1276350"/>
          </a:xfrm>
        </p:grpSpPr>
        <p:sp>
          <p:nvSpPr>
            <p:cNvPr id="3" name="Rectangle 3"/>
            <p:cNvSpPr/>
            <p:nvPr/>
          </p:nvSpPr>
          <p:spPr>
            <a:xfrm>
              <a:off x="1143000" y="2190750"/>
              <a:ext cx="57150" cy="12192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436370" y="2341245"/>
              <a:ext cx="4883658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硕士中期考核汇报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463040" y="3101340"/>
              <a:ext cx="63550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GPU 体系结构 · AI for EDA · 工业级芯片设计验证流程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6850" y="4000500"/>
            <a:ext cx="5772150" cy="942975"/>
            <a:chOff x="1466850" y="4000500"/>
            <a:chExt cx="5772150" cy="942975"/>
          </a:xfrm>
        </p:grpSpPr>
        <p:sp>
          <p:nvSpPr>
            <p:cNvPr id="7" name="Line 7"/>
            <p:cNvSpPr/>
            <p:nvPr/>
          </p:nvSpPr>
          <p:spPr>
            <a:xfrm>
              <a:off x="1485900" y="4000500"/>
              <a:ext cx="5753100" cy="9525"/>
            </a:xfrm>
            <a:custGeom>
              <a:avLst/>
              <a:gdLst/>
              <a:ahLst/>
              <a:cxnLst/>
              <a:rect l="l" t="t" r="r" b="b"/>
              <a:pathLst>
                <a:path w="5753100" h="9525">
                  <a:moveTo>
                    <a:pt x="0" y="0"/>
                  </a:moveTo>
                  <a:lnTo>
                    <a:pt x="57531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66850" y="4276725"/>
              <a:ext cx="356520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汇报人：________ 导师：________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66850" y="4638675"/>
              <a:ext cx="13415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2026 年 10 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1020" y="483870"/>
            <a:ext cx="11079480" cy="487680"/>
            <a:chOff x="541020" y="483870"/>
            <a:chExt cx="11079480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631774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一年工作总览：三条线，一个研究问题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55308" y="1295400"/>
            <a:ext cx="2667310" cy="959644"/>
            <a:chOff x="555308" y="1295400"/>
            <a:chExt cx="2667310" cy="959644"/>
          </a:xfrm>
        </p:grpSpPr>
        <p:grpSp>
          <p:nvGrpSpPr>
            <p:cNvPr id="16" name="Group 16"/>
            <p:cNvGrpSpPr/>
            <p:nvPr/>
          </p:nvGrpSpPr>
          <p:grpSpPr>
            <a:xfrm>
              <a:off x="609600" y="1295400"/>
              <a:ext cx="228600" cy="228600"/>
              <a:chOff x="609600" y="1295400"/>
              <a:chExt cx="228600" cy="2286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635000" y="1320800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165100" y="0"/>
                    </a:lnTo>
                    <a:cubicBezTo>
                      <a:pt x="172114" y="0"/>
                      <a:pt x="177800" y="5686"/>
                      <a:pt x="177800" y="12700"/>
                    </a:cubicBezTo>
                    <a:lnTo>
                      <a:pt x="177800" y="165100"/>
                    </a:lnTo>
                    <a:cubicBezTo>
                      <a:pt x="177800" y="172114"/>
                      <a:pt x="172114" y="177800"/>
                      <a:pt x="165100" y="177800"/>
                    </a:cubicBezTo>
                    <a:lnTo>
                      <a:pt x="12700" y="177800"/>
                    </a:lnTo>
                    <a:cubicBezTo>
                      <a:pt x="5686" y="177800"/>
                      <a:pt x="0" y="172114"/>
                      <a:pt x="0" y="1651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5800" y="13716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76200"/>
                    </a:lnTo>
                    <a:lnTo>
                      <a:pt x="0" y="76200"/>
                    </a:ln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09600" y="13843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09600" y="14351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98500" y="12954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49300" y="12954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12800" y="13843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254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12800" y="14351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254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49300" y="14986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98500" y="14986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967740" y="1310640"/>
              <a:ext cx="113605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GPU 学习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5308" y="1748314"/>
              <a:ext cx="266731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研究对象：体系结构 → 模拟器与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5308" y="1995964"/>
              <a:ext cx="17269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性能模型 → RTL 实现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65308" y="1295395"/>
            <a:ext cx="2648688" cy="959649"/>
            <a:chOff x="4365308" y="1295395"/>
            <a:chExt cx="2648688" cy="959649"/>
          </a:xfrm>
        </p:grpSpPr>
        <p:grpSp>
          <p:nvGrpSpPr>
            <p:cNvPr id="26" name="Group 26"/>
            <p:cNvGrpSpPr/>
            <p:nvPr/>
          </p:nvGrpSpPr>
          <p:grpSpPr>
            <a:xfrm>
              <a:off x="4419600" y="1295395"/>
              <a:ext cx="228600" cy="238130"/>
              <a:chOff x="4419600" y="1295395"/>
              <a:chExt cx="228600" cy="23813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419600" y="152400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4288">
                <a:solidFill>
                  <a:srgbClr val="5B7BA6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445000" y="1371600"/>
                <a:ext cx="1778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52400">
                    <a:moveTo>
                      <a:pt x="0" y="152400"/>
                    </a:moveTo>
                    <a:lnTo>
                      <a:pt x="0" y="0"/>
                    </a:lnTo>
                    <a:lnTo>
                      <a:pt x="63500" y="50800"/>
                    </a:lnTo>
                    <a:lnTo>
                      <a:pt x="63500" y="0"/>
                    </a:lnTo>
                    <a:lnTo>
                      <a:pt x="127000" y="50800"/>
                    </a:lnTo>
                    <a:lnTo>
                      <a:pt x="177800" y="50800"/>
                    </a:lnTo>
                  </a:path>
                </a:pathLst>
              </a:custGeom>
              <a:noFill/>
              <a:ln w="14288">
                <a:solidFill>
                  <a:srgbClr val="5B7BA6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559300" y="1295395"/>
                <a:ext cx="63500" cy="22860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28605">
                    <a:moveTo>
                      <a:pt x="63500" y="228605"/>
                    </a:moveTo>
                    <a:lnTo>
                      <a:pt x="63500" y="127005"/>
                    </a:lnTo>
                    <a:lnTo>
                      <a:pt x="45263" y="5415"/>
                    </a:lnTo>
                    <a:cubicBezTo>
                      <a:pt x="44797" y="2303"/>
                      <a:pt x="42123" y="2"/>
                      <a:pt x="38976" y="5"/>
                    </a:cubicBezTo>
                    <a:lnTo>
                      <a:pt x="24435" y="5"/>
                    </a:lnTo>
                    <a:cubicBezTo>
                      <a:pt x="21326" y="0"/>
                      <a:pt x="18671" y="2247"/>
                      <a:pt x="18161" y="5313"/>
                    </a:cubicBezTo>
                    <a:lnTo>
                      <a:pt x="0" y="114305"/>
                    </a:lnTo>
                  </a:path>
                </a:pathLst>
              </a:custGeom>
              <a:noFill/>
              <a:ln w="14288">
                <a:solidFill>
                  <a:srgbClr val="5B7BA6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495800" y="147320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14288">
                <a:solidFill>
                  <a:srgbClr val="5B7BA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559300" y="147320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14288">
                <a:solidFill>
                  <a:srgbClr val="5B7BA6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4777740" y="131064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公司学习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65308" y="1748314"/>
              <a:ext cx="264868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工程参照：参与 3 个、学习 1 个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65308" y="1995964"/>
              <a:ext cx="21831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芯片项目的设计—验证流程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175308" y="1295400"/>
            <a:ext cx="2713863" cy="959644"/>
            <a:chOff x="8175308" y="1295400"/>
            <a:chExt cx="2713863" cy="959644"/>
          </a:xfrm>
        </p:grpSpPr>
        <p:grpSp>
          <p:nvGrpSpPr>
            <p:cNvPr id="34" name="Group 34"/>
            <p:cNvGrpSpPr/>
            <p:nvPr/>
          </p:nvGrpSpPr>
          <p:grpSpPr>
            <a:xfrm>
              <a:off x="8229600" y="1295400"/>
              <a:ext cx="228600" cy="228600"/>
              <a:chOff x="8229600" y="1295400"/>
              <a:chExt cx="228600" cy="2286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229600" y="1295400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0" y="114300"/>
                    </a:moveTo>
                    <a:lnTo>
                      <a:pt x="12700" y="114300"/>
                    </a:lnTo>
                    <a:moveTo>
                      <a:pt x="114300" y="0"/>
                    </a:moveTo>
                    <a:lnTo>
                      <a:pt x="114300" y="12700"/>
                    </a:lnTo>
                    <a:moveTo>
                      <a:pt x="215900" y="114300"/>
                    </a:moveTo>
                    <a:lnTo>
                      <a:pt x="228600" y="114300"/>
                    </a:lnTo>
                    <a:moveTo>
                      <a:pt x="33020" y="33020"/>
                    </a:moveTo>
                    <a:lnTo>
                      <a:pt x="41910" y="41910"/>
                    </a:lnTo>
                    <a:moveTo>
                      <a:pt x="195580" y="33020"/>
                    </a:moveTo>
                    <a:lnTo>
                      <a:pt x="186690" y="41910"/>
                    </a:lnTo>
                  </a:path>
                </a:pathLst>
              </a:custGeom>
              <a:noFill/>
              <a:ln w="14288">
                <a:solidFill>
                  <a:srgbClr val="C8102E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5015" y="1346200"/>
                <a:ext cx="13776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7769" h="177800">
                    <a:moveTo>
                      <a:pt x="30785" y="114300"/>
                    </a:moveTo>
                    <a:cubicBezTo>
                      <a:pt x="8919" y="97901"/>
                      <a:pt x="0" y="69349"/>
                      <a:pt x="8643" y="43420"/>
                    </a:cubicBezTo>
                    <a:cubicBezTo>
                      <a:pt x="17286" y="17490"/>
                      <a:pt x="41552" y="0"/>
                      <a:pt x="68885" y="0"/>
                    </a:cubicBezTo>
                    <a:cubicBezTo>
                      <a:pt x="96217" y="0"/>
                      <a:pt x="120483" y="17490"/>
                      <a:pt x="129126" y="43420"/>
                    </a:cubicBezTo>
                    <a:cubicBezTo>
                      <a:pt x="137769" y="69349"/>
                      <a:pt x="128850" y="97901"/>
                      <a:pt x="106985" y="114300"/>
                    </a:cubicBezTo>
                    <a:cubicBezTo>
                      <a:pt x="96928" y="124255"/>
                      <a:pt x="92212" y="138402"/>
                      <a:pt x="94285" y="152400"/>
                    </a:cubicBezTo>
                    <a:cubicBezTo>
                      <a:pt x="94285" y="166428"/>
                      <a:pt x="82913" y="177800"/>
                      <a:pt x="68885" y="177800"/>
                    </a:cubicBezTo>
                    <a:cubicBezTo>
                      <a:pt x="54857" y="177800"/>
                      <a:pt x="43485" y="166428"/>
                      <a:pt x="43485" y="152400"/>
                    </a:cubicBezTo>
                    <a:cubicBezTo>
                      <a:pt x="45557" y="138402"/>
                      <a:pt x="40841" y="124255"/>
                      <a:pt x="30785" y="114300"/>
                    </a:cubicBezTo>
                  </a:path>
                </a:pathLst>
              </a:custGeom>
              <a:noFill/>
              <a:ln w="14288">
                <a:solidFill>
                  <a:srgbClr val="C8102E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14690" y="1473200"/>
                <a:ext cx="584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9525">
                    <a:moveTo>
                      <a:pt x="0" y="0"/>
                    </a:moveTo>
                    <a:lnTo>
                      <a:pt x="58420" y="0"/>
                    </a:lnTo>
                  </a:path>
                </a:pathLst>
              </a:custGeom>
              <a:noFill/>
              <a:ln w="14288">
                <a:solidFill>
                  <a:srgbClr val="C8102E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8587740" y="1310640"/>
              <a:ext cx="135688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AI for EDA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75308" y="1748314"/>
              <a:ext cx="271386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研究问题：AI 写大规模 RTL 时，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75308" y="199596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缺少一层可检查的规格与验收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7212" y="2640806"/>
            <a:ext cx="11063288" cy="1750219"/>
            <a:chOff x="557212" y="2640806"/>
            <a:chExt cx="11063288" cy="1750219"/>
          </a:xfrm>
        </p:grpSpPr>
        <p:sp>
          <p:nvSpPr>
            <p:cNvPr id="39" name="TextBox 39"/>
            <p:cNvSpPr txBox="1"/>
            <p:nvPr/>
          </p:nvSpPr>
          <p:spPr>
            <a:xfrm>
              <a:off x="557212" y="2640806"/>
              <a:ext cx="51220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时间线（轴上方：研究线；轴下方：公司项目；空心点：学习或暂缓）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571500" y="4381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527495" y="4314825"/>
            <a:ext cx="1231011" cy="942975"/>
            <a:chOff x="527495" y="4314825"/>
            <a:chExt cx="1231011" cy="942975"/>
          </a:xfrm>
        </p:grpSpPr>
        <p:sp>
          <p:nvSpPr>
            <p:cNvPr id="42" name="Line 42"/>
            <p:cNvSpPr/>
            <p:nvPr/>
          </p:nvSpPr>
          <p:spPr>
            <a:xfrm>
              <a:off x="1143000" y="4381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076325" y="4314825"/>
              <a:ext cx="133350" cy="1333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A3A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38939" y="4774406"/>
              <a:ext cx="4081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2025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7495" y="5013960"/>
              <a:ext cx="12310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项目 A（学习）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840802" y="3593306"/>
            <a:ext cx="1423797" cy="864394"/>
            <a:chOff x="1840802" y="3593306"/>
            <a:chExt cx="1423797" cy="864394"/>
          </a:xfrm>
        </p:grpSpPr>
        <p:sp>
          <p:nvSpPr>
            <p:cNvPr id="47" name="Line 47"/>
            <p:cNvSpPr/>
            <p:nvPr/>
          </p:nvSpPr>
          <p:spPr>
            <a:xfrm>
              <a:off x="2552700" y="4095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2476500" y="4305300"/>
              <a:ext cx="152400" cy="1524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063978" y="3593306"/>
              <a:ext cx="9774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2025 下半年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840802" y="3832860"/>
              <a:ext cx="14237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GPU 体系结构入门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3285554" y="4305300"/>
            <a:ext cx="1353693" cy="952500"/>
            <a:chOff x="3285554" y="4305300"/>
            <a:chExt cx="1353693" cy="952500"/>
          </a:xfrm>
        </p:grpSpPr>
        <p:sp>
          <p:nvSpPr>
            <p:cNvPr id="52" name="Line 52"/>
            <p:cNvSpPr/>
            <p:nvPr/>
          </p:nvSpPr>
          <p:spPr>
            <a:xfrm>
              <a:off x="3962400" y="4381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3886200" y="4305300"/>
              <a:ext cx="152400" cy="152400"/>
            </a:xfrm>
            <a:prstGeom prst="ellipse">
              <a:avLst/>
            </a:prstGeom>
            <a:solidFill>
              <a:srgbClr val="5B7BA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637574" y="4774406"/>
              <a:ext cx="6496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2026.01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285554" y="5013960"/>
              <a:ext cx="1353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项目 D · OIS SoC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660202" y="4305300"/>
            <a:ext cx="1423797" cy="952500"/>
            <a:chOff x="4660202" y="4305300"/>
            <a:chExt cx="1423797" cy="952500"/>
          </a:xfrm>
        </p:grpSpPr>
        <p:sp>
          <p:nvSpPr>
            <p:cNvPr id="57" name="Line 57"/>
            <p:cNvSpPr/>
            <p:nvPr/>
          </p:nvSpPr>
          <p:spPr>
            <a:xfrm>
              <a:off x="5372100" y="4381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5295900" y="4305300"/>
              <a:ext cx="152400" cy="152400"/>
            </a:xfrm>
            <a:prstGeom prst="ellipse">
              <a:avLst/>
            </a:prstGeom>
            <a:solidFill>
              <a:srgbClr val="5B7BA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025708" y="4774406"/>
              <a:ext cx="6927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2026.03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660202" y="5013960"/>
              <a:ext cx="14237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项目 B · 图像 DSP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750052" y="3593306"/>
            <a:ext cx="2063496" cy="854869"/>
            <a:chOff x="5750052" y="3593306"/>
            <a:chExt cx="2063496" cy="854869"/>
          </a:xfrm>
        </p:grpSpPr>
        <p:sp>
          <p:nvSpPr>
            <p:cNvPr id="62" name="Line 62"/>
            <p:cNvSpPr/>
            <p:nvPr/>
          </p:nvSpPr>
          <p:spPr>
            <a:xfrm>
              <a:off x="6781800" y="4095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6715125" y="4314825"/>
              <a:ext cx="133350" cy="1333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A3AF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435408" y="3593306"/>
              <a:ext cx="6927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2026.06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750052" y="3832860"/>
              <a:ext cx="20634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trace 压缩（探索·暂缓）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475220" y="4305300"/>
            <a:ext cx="1432560" cy="952500"/>
            <a:chOff x="7475220" y="4305300"/>
            <a:chExt cx="1432560" cy="952500"/>
          </a:xfrm>
        </p:grpSpPr>
        <p:sp>
          <p:nvSpPr>
            <p:cNvPr id="67" name="Line 67"/>
            <p:cNvSpPr/>
            <p:nvPr/>
          </p:nvSpPr>
          <p:spPr>
            <a:xfrm>
              <a:off x="8191500" y="4381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8115300" y="4305300"/>
              <a:ext cx="152400" cy="152400"/>
            </a:xfrm>
            <a:prstGeom prst="ellipse">
              <a:avLst/>
            </a:prstGeom>
            <a:solidFill>
              <a:srgbClr val="5B7BA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702778" y="4774406"/>
              <a:ext cx="9774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2026.06–09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475220" y="5013960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项目 C · 光感芯片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876157" y="3593306"/>
            <a:ext cx="1450086" cy="864394"/>
            <a:chOff x="8876157" y="3593306"/>
            <a:chExt cx="1450086" cy="864394"/>
          </a:xfrm>
        </p:grpSpPr>
        <p:sp>
          <p:nvSpPr>
            <p:cNvPr id="72" name="Line 72"/>
            <p:cNvSpPr/>
            <p:nvPr/>
          </p:nvSpPr>
          <p:spPr>
            <a:xfrm>
              <a:off x="9601200" y="4095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9525000" y="4305300"/>
              <a:ext cx="152400" cy="1524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276374" y="3593306"/>
              <a:ext cx="6496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2026.10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876157" y="3832860"/>
              <a:ext cx="14500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subcore RTL 重构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9975342" y="3174206"/>
            <a:ext cx="1660398" cy="1302544"/>
            <a:chOff x="9975342" y="3174206"/>
            <a:chExt cx="1660398" cy="1302544"/>
          </a:xfrm>
        </p:grpSpPr>
        <p:sp>
          <p:nvSpPr>
            <p:cNvPr id="77" name="Line 77"/>
            <p:cNvSpPr/>
            <p:nvPr/>
          </p:nvSpPr>
          <p:spPr>
            <a:xfrm>
              <a:off x="11010900" y="36766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10915650" y="4286250"/>
              <a:ext cx="190500" cy="190500"/>
            </a:xfrm>
            <a:prstGeom prst="ellipse">
              <a:avLst/>
            </a:prstGeom>
            <a:solidFill>
              <a:srgbClr val="C8102E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985135" y="3174206"/>
              <a:ext cx="6496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2026.10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975342" y="3413760"/>
              <a:ext cx="16603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结构规范 · FML 实验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71500" y="5715000"/>
            <a:ext cx="11049000" cy="533400"/>
            <a:chOff x="571500" y="5715000"/>
            <a:chExt cx="11049000" cy="533400"/>
          </a:xfrm>
        </p:grpSpPr>
        <p:sp>
          <p:nvSpPr>
            <p:cNvPr id="82" name="Rectangle 82"/>
            <p:cNvSpPr/>
            <p:nvPr/>
          </p:nvSpPr>
          <p:spPr>
            <a:xfrm>
              <a:off x="571500" y="5715000"/>
              <a:ext cx="11049000" cy="5334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81050" y="5895975"/>
              <a:ext cx="82862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以 GPU 为对象、以工业流程为参照，收敛到研究问题：</a:t>
              </a:r>
              <a:r>
                <a:rPr lang="zh-CN" sz="1500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如何验收 AI 生成的大规模 RTL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85" name="TextBox 85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36775" y="658939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3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7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55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0" grpId="0"/>
      <p:bldP spid="38" grpId="0"/>
      <p:bldP spid="41" grpId="0"/>
      <p:bldP spid="46" grpId="0"/>
      <p:bldP spid="51" grpId="0"/>
      <p:bldP spid="56" grpId="0"/>
      <p:bldP spid="61" grpId="0"/>
      <p:bldP spid="66" grpId="0"/>
      <p:bldP spid="71" grpId="0"/>
      <p:bldP spid="76" grpId="0"/>
      <p:bldP spid="81" grpId="0"/>
      <p:bldP spid="8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83870"/>
            <a:ext cx="11093767" cy="487680"/>
            <a:chOff x="541020" y="483870"/>
            <a:chExt cx="11093767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609691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GPU 学习：从整机到 subcore 流水线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03944" y="621506"/>
              <a:ext cx="1030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一 · GPU 学习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1162050"/>
            <a:ext cx="11061382" cy="4055269"/>
            <a:chOff x="571500" y="1162050"/>
            <a:chExt cx="11061382" cy="4055269"/>
          </a:xfrm>
        </p:grpSpPr>
        <p:sp>
          <p:nvSpPr>
            <p:cNvPr id="7" name="Rectangle 7"/>
            <p:cNvSpPr/>
            <p:nvPr/>
          </p:nvSpPr>
          <p:spPr>
            <a:xfrm>
              <a:off x="571500" y="1162050"/>
              <a:ext cx="11049000" cy="3771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7873" y="1171575"/>
              <a:ext cx="10996254" cy="375285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8532304" y="5019199"/>
              <a:ext cx="31005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curryGPU 三层架构：GPU / SoC → SM → subcore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52450" y="5305425"/>
            <a:ext cx="2987421" cy="828675"/>
            <a:chOff x="552450" y="5305425"/>
            <a:chExt cx="2987421" cy="828675"/>
          </a:xfrm>
        </p:grpSpPr>
        <p:sp>
          <p:nvSpPr>
            <p:cNvPr id="11" name="TextBox 11"/>
            <p:cNvSpPr txBox="1"/>
            <p:nvPr/>
          </p:nvSpPr>
          <p:spPr>
            <a:xfrm>
              <a:off x="552450" y="53054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层次结构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6260" y="5642610"/>
              <a:ext cx="2983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GPU → GPC → TPC → SM → 4 个 subcore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6260" y="5890260"/>
              <a:ext cx="24052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每个 subcore </a:t>
              </a:r>
              <a:r>
                <a:rPr lang="zh-CN" sz="1200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16</a:t>
              </a:r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个 warp slot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191000" y="5295900"/>
            <a:ext cx="3363468" cy="990600"/>
            <a:chOff x="4191000" y="5295900"/>
            <a:chExt cx="3363468" cy="990600"/>
          </a:xfrm>
        </p:grpSpPr>
        <p:sp>
          <p:nvSpPr>
            <p:cNvPr id="15" name="Line 15"/>
            <p:cNvSpPr/>
            <p:nvPr/>
          </p:nvSpPr>
          <p:spPr>
            <a:xfrm>
              <a:off x="4191000" y="5295900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00550" y="5305425"/>
              <a:ext cx="16828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subcore 流水线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04360" y="5642610"/>
              <a:ext cx="24052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取指 → 译码 → warp 调度 → ITS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04360" y="5890260"/>
              <a:ext cx="31501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→ scoreboard → 读寄存器 → 执行 → 写回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01000" y="5295900"/>
            <a:ext cx="3135630" cy="990600"/>
            <a:chOff x="8001000" y="5295900"/>
            <a:chExt cx="3135630" cy="990600"/>
          </a:xfrm>
        </p:grpSpPr>
        <p:sp>
          <p:nvSpPr>
            <p:cNvPr id="20" name="Line 20"/>
            <p:cNvSpPr/>
            <p:nvPr/>
          </p:nvSpPr>
          <p:spPr>
            <a:xfrm>
              <a:off x="8001000" y="5295900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10550" y="53054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学习产出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14360" y="5642610"/>
              <a:ext cx="29222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整机 / ITS / LSU / 寄存器堆子系统图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14360" y="5890260"/>
              <a:ext cx="2133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subcore 7 级目标流水线图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25" name="TextBox 25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536775" y="658939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9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83870"/>
            <a:ext cx="11093767" cy="487680"/>
            <a:chOff x="541020" y="483870"/>
            <a:chExt cx="11093767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712744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RTL 实践：旧 RTL 功能正确，但结构不清晰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03944" y="621506"/>
              <a:ext cx="1030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一 · GPU 学习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50545" y="1231582"/>
            <a:ext cx="3685565" cy="335280"/>
            <a:chOff x="550545" y="1231582"/>
            <a:chExt cx="3685565" cy="335280"/>
          </a:xfrm>
        </p:grpSpPr>
        <p:sp>
          <p:nvSpPr>
            <p:cNvPr id="7" name="TextBox 7"/>
            <p:cNvSpPr txBox="1"/>
            <p:nvPr/>
          </p:nvSpPr>
          <p:spPr>
            <a:xfrm>
              <a:off x="550545" y="1231582"/>
              <a:ext cx="36855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读 subcore RTL 发现的四个问题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4355" y="1702118"/>
            <a:ext cx="3729513" cy="729138"/>
            <a:chOff x="554355" y="1702118"/>
            <a:chExt cx="3729513" cy="729138"/>
          </a:xfrm>
        </p:grpSpPr>
        <p:sp>
          <p:nvSpPr>
            <p:cNvPr id="9" name="TextBox 9"/>
            <p:cNvSpPr txBox="1"/>
            <p:nvPr/>
          </p:nvSpPr>
          <p:spPr>
            <a:xfrm>
              <a:off x="554355" y="1702118"/>
              <a:ext cx="963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2005" y="1702118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发射路径是一整条组合链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4862" y="1993106"/>
              <a:ext cx="3479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选 warp → 读寄存器 → 进执行单元同一拍完成，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4862" y="2202656"/>
              <a:ext cx="30435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估计 35–45 级逻辑，难以插入级间寄存器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54355" y="2616518"/>
            <a:ext cx="2907982" cy="519588"/>
            <a:chOff x="554355" y="2616518"/>
            <a:chExt cx="2907982" cy="519588"/>
          </a:xfrm>
        </p:grpSpPr>
        <p:sp>
          <p:nvSpPr>
            <p:cNvPr id="14" name="TextBox 14"/>
            <p:cNvSpPr txBox="1"/>
            <p:nvPr/>
          </p:nvSpPr>
          <p:spPr>
            <a:xfrm>
              <a:off x="554355" y="26165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2005" y="26165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跨级组合读取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4862" y="2907506"/>
              <a:ext cx="2657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调度器直接读执行单元内部的忙状态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54355" y="3321368"/>
            <a:ext cx="3368039" cy="729138"/>
            <a:chOff x="554355" y="3321368"/>
            <a:chExt cx="3368039" cy="729138"/>
          </a:xfrm>
        </p:grpSpPr>
        <p:sp>
          <p:nvSpPr>
            <p:cNvPr id="18" name="TextBox 18"/>
            <p:cNvSpPr txBox="1"/>
            <p:nvPr/>
          </p:nvSpPr>
          <p:spPr>
            <a:xfrm>
              <a:off x="554355" y="33213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2005" y="332136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状态散落在顶层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4862" y="3612356"/>
              <a:ext cx="31175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挡住发射的条件散在 6000 多行的顶层里，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4862" y="3821906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波形上看不出是谁挡的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54355" y="4235768"/>
            <a:ext cx="4000619" cy="729138"/>
            <a:chOff x="554355" y="4235768"/>
            <a:chExt cx="4000619" cy="729138"/>
          </a:xfrm>
        </p:grpSpPr>
        <p:sp>
          <p:nvSpPr>
            <p:cNvPr id="23" name="TextBox 23"/>
            <p:cNvSpPr txBox="1"/>
            <p:nvPr/>
          </p:nvSpPr>
          <p:spPr>
            <a:xfrm>
              <a:off x="554355" y="42357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2005" y="42357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隐式约定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4862" y="4526756"/>
              <a:ext cx="37501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同一 warp 只能隔拍发射，单 warp 峰值 IPC 0.5，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4862" y="473630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与性能模型不一致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143500" y="1200150"/>
            <a:ext cx="5619750" cy="4191000"/>
            <a:chOff x="5143500" y="1200150"/>
            <a:chExt cx="5619750" cy="4191000"/>
          </a:xfrm>
        </p:grpSpPr>
        <p:sp>
          <p:nvSpPr>
            <p:cNvPr id="28" name="Line 28"/>
            <p:cNvSpPr/>
            <p:nvPr/>
          </p:nvSpPr>
          <p:spPr>
            <a:xfrm>
              <a:off x="5143500" y="1200150"/>
              <a:ext cx="9525" cy="4133850"/>
            </a:xfrm>
            <a:custGeom>
              <a:avLst/>
              <a:gdLst/>
              <a:ahLst/>
              <a:cxnLst/>
              <a:rect l="l" t="t" r="r" b="b"/>
              <a:pathLst>
                <a:path w="9525" h="4133850">
                  <a:moveTo>
                    <a:pt x="0" y="0"/>
                  </a:moveTo>
                  <a:lnTo>
                    <a:pt x="0" y="41338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08295" y="1231582"/>
              <a:ext cx="2281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目标结构：7 个大级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429250" y="1562100"/>
              <a:ext cx="5334000" cy="2905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47534" y="1571625"/>
              <a:ext cx="5297431" cy="2886075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5414010" y="4652010"/>
              <a:ext cx="19320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每一级持有自己的状态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14010" y="4899660"/>
              <a:ext cx="38599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级与级之间只走寄存过的事件，不再跨级组合读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14010" y="5147310"/>
              <a:ext cx="43944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固定延迟路径不反压，变长指令按配额（credit）发射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1500" y="5676900"/>
            <a:ext cx="11049000" cy="609600"/>
            <a:chOff x="571500" y="5676900"/>
            <a:chExt cx="11049000" cy="609600"/>
          </a:xfrm>
        </p:grpSpPr>
        <p:sp>
          <p:nvSpPr>
            <p:cNvPr id="36" name="Rectangle 36"/>
            <p:cNvSpPr/>
            <p:nvPr/>
          </p:nvSpPr>
          <p:spPr>
            <a:xfrm>
              <a:off x="571500" y="5676900"/>
              <a:ext cx="11049000" cy="6096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85812" y="5803106"/>
              <a:ext cx="71758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前期探索（暂缓）</a:t>
              </a:r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：PyTorchSim 编译与模拟流程；workload trace 压缩（PKA 基线 → GCL 方案）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5812" y="6031706"/>
              <a:ext cx="65186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该方向需要定制 NPU 的系统经验支撑，目前暂缓，计划在后续接触机柜级 NPU 后继续推进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40" name="TextBox 40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36775" y="658939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7" grpId="0"/>
      <p:bldP spid="22" grpId="0"/>
      <p:bldP spid="27" grpId="0"/>
      <p:bldP spid="35" grpId="0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83870"/>
            <a:ext cx="11093767" cy="487680"/>
            <a:chOff x="541020" y="483870"/>
            <a:chExt cx="11093767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718265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subcore 实现：7 个大级、预约表与 credit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03944" y="621506"/>
              <a:ext cx="1030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一 · GPU 学习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558165" y="1162050"/>
            <a:ext cx="11062335" cy="1433512"/>
            <a:chOff x="558165" y="1162050"/>
            <a:chExt cx="11062335" cy="1433512"/>
          </a:xfrm>
        </p:grpSpPr>
        <p:sp>
          <p:nvSpPr>
            <p:cNvPr id="7" name="Rectangle 7"/>
            <p:cNvSpPr/>
            <p:nvPr/>
          </p:nvSpPr>
          <p:spPr>
            <a:xfrm>
              <a:off x="571500" y="1162050"/>
              <a:ext cx="1428750" cy="110490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9610" y="1280160"/>
              <a:ext cx="6561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S0 取指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93420" y="1503045"/>
              <a:ext cx="962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7BA6"/>
                  </a:solidFill>
                  <a:latin typeface="Consolas"/>
                  <a:ea typeface="Microsoft YaHei"/>
                  <a:cs typeface="Consolas"/>
                </a:rPr>
                <a:t>subcore_fetch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2468" y="1742599"/>
              <a:ext cx="12280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每个 subcore 一份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2468" y="19330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取指前端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000250" y="1714500"/>
              <a:ext cx="11430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171700" y="1162050"/>
              <a:ext cx="1428750" cy="110490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289810" y="1280160"/>
              <a:ext cx="6101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S1 译码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93620" y="1503045"/>
              <a:ext cx="10349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7BA6"/>
                  </a:solidFill>
                  <a:latin typeface="Consolas"/>
                  <a:ea typeface="Microsoft YaHei"/>
                  <a:cs typeface="Consolas"/>
                </a:rPr>
                <a:t>subcore_decode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92668" y="1742599"/>
              <a:ext cx="1185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读指令缓冲 + 译码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92668" y="1933099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head FIFO：2 项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600450" y="1714500"/>
              <a:ext cx="11430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771900" y="1162050"/>
              <a:ext cx="1428750" cy="1104900"/>
            </a:xfrm>
            <a:prstGeom prst="roundRect">
              <a:avLst>
                <a:gd name="adj" fmla="val 3448"/>
              </a:avLst>
            </a:prstGeom>
            <a:solidFill>
              <a:srgbClr val="F5F7FA"/>
            </a:solidFill>
            <a:ln w="14288">
              <a:solidFill>
                <a:srgbClr val="1F3A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90010" y="1280160"/>
              <a:ext cx="6561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S2 发射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93820" y="1503045"/>
              <a:ext cx="9298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7BA6"/>
                  </a:solidFill>
                  <a:latin typeface="Consolas"/>
                  <a:ea typeface="Microsoft YaHei"/>
                  <a:cs typeface="Consolas"/>
                </a:rPr>
                <a:t>subcore_issue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92868" y="1742599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16 个 warp 选一个；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92868" y="1933099"/>
              <a:ext cx="13989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需 credit 与下游就绪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200650" y="1714500"/>
              <a:ext cx="11430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72100" y="1162050"/>
              <a:ext cx="1428750" cy="110490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490210" y="1280160"/>
              <a:ext cx="6561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S3 分派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94020" y="1503045"/>
              <a:ext cx="11467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7BA6"/>
                  </a:solidFill>
                  <a:latin typeface="Consolas"/>
                  <a:ea typeface="Microsoft YaHei"/>
                  <a:cs typeface="Consolas"/>
                </a:rPr>
                <a:t>subcore_dispatch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93068" y="1742599"/>
              <a:ext cx="14701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按通道 + 操作码分流；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93068" y="19330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变长指令推入队列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800850" y="1714500"/>
              <a:ext cx="11430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72300" y="1162050"/>
              <a:ext cx="1428750" cy="1104900"/>
            </a:xfrm>
            <a:prstGeom prst="roundRect">
              <a:avLst>
                <a:gd name="adj" fmla="val 3448"/>
              </a:avLst>
            </a:prstGeom>
            <a:solidFill>
              <a:srgbClr val="F5F7FA"/>
            </a:solidFill>
            <a:ln w="14288">
              <a:solidFill>
                <a:srgbClr val="1F3A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90410" y="1280160"/>
              <a:ext cx="84018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S4 操作数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94220" y="1503045"/>
              <a:ext cx="11072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7BA6"/>
                  </a:solidFill>
                  <a:latin typeface="Consolas"/>
                  <a:ea typeface="Microsoft YaHei"/>
                  <a:cs typeface="Consolas"/>
                </a:rPr>
                <a:t>subcore_operand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93268" y="17425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按拍预约资源，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93268" y="1933099"/>
              <a:ext cx="10571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读寄存器 0–3 拍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401050" y="1714500"/>
              <a:ext cx="11430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572500" y="1162050"/>
              <a:ext cx="1428750" cy="110490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90610" y="1280160"/>
              <a:ext cx="6561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S5 执行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94420" y="1503045"/>
              <a:ext cx="8181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7BA6"/>
                  </a:solidFill>
                  <a:latin typeface="Consolas"/>
                  <a:ea typeface="Microsoft YaHei"/>
                  <a:cs typeface="Consolas"/>
                </a:rPr>
                <a:t>subcore_exe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93468" y="17425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固定延迟单元：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93468" y="1933099"/>
              <a:ext cx="1406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VALU 6 级、SALU 4 级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10001250" y="1714500"/>
              <a:ext cx="11430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172700" y="1162050"/>
              <a:ext cx="1447800" cy="110490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290810" y="1280160"/>
              <a:ext cx="6929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SW 写回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294620" y="1503045"/>
              <a:ext cx="7720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7BA6"/>
                  </a:solidFill>
                  <a:latin typeface="Consolas"/>
                  <a:ea typeface="Microsoft YaHei"/>
                  <a:cs typeface="Consolas"/>
                </a:rPr>
                <a:t>subcore_wb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93668" y="174259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寄存器堆，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93668" y="19330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写口仲裁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58165" y="2382202"/>
              <a:ext cx="84917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变长路径（访存、SFU、分支、FP64 等）经 S3 后的队列进入各自的“前门”模块；当前 RTL 已按此结构实现（常量前门除外）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53402" y="2724150"/>
            <a:ext cx="11067098" cy="2252662"/>
            <a:chOff x="553402" y="2724150"/>
            <a:chExt cx="11067098" cy="2252662"/>
          </a:xfrm>
        </p:grpSpPr>
        <p:sp>
          <p:nvSpPr>
            <p:cNvPr id="50" name="Line 50"/>
            <p:cNvSpPr/>
            <p:nvPr/>
          </p:nvSpPr>
          <p:spPr>
            <a:xfrm>
              <a:off x="571500" y="2724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53402" y="2913221"/>
              <a:ext cx="165329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S4 的四张预约表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57212" y="3269456"/>
              <a:ext cx="32571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① 读口表：每个 bank 一张，带防饿死保留位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57212" y="3555206"/>
              <a:ext cx="35940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② 写回拍表：按写口分（B0 / B1 / P / URF / UP）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57212" y="3840956"/>
              <a:ext cx="23617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③ VALU 出口计数：每拍不超过 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57212" y="4126706"/>
              <a:ext cx="17866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④ VALU / SALU 入口拍表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58165" y="4553902"/>
              <a:ext cx="33544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资源冲突从“同拍看 busy”改为“提前按拍预约”；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58165" y="4763452"/>
              <a:ext cx="27103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数据相关仍由 stall + scoreboard 负责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4268152" y="2913221"/>
            <a:ext cx="3447098" cy="2577941"/>
            <a:chOff x="4268152" y="2913221"/>
            <a:chExt cx="3447098" cy="2577941"/>
          </a:xfrm>
        </p:grpSpPr>
        <p:sp>
          <p:nvSpPr>
            <p:cNvPr id="59" name="TextBox 59"/>
            <p:cNvSpPr txBox="1"/>
            <p:nvPr/>
          </p:nvSpPr>
          <p:spPr>
            <a:xfrm>
              <a:off x="4268152" y="2913221"/>
              <a:ext cx="248370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变长路径：队列 + credit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286250" y="3219450"/>
              <a:ext cx="3429000" cy="24765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387215" y="32775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前门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54165" y="3277552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credit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387215" y="3563302"/>
              <a:ext cx="1061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访存 LSU / AGU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387215" y="3791902"/>
              <a:ext cx="9544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SFU / 跨 lane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387215" y="4020502"/>
              <a:ext cx="18592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控制（分支、收敛、EXIT）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387215" y="4249102"/>
              <a:ext cx="1061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张量 TQ / 异步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387215" y="4477702"/>
              <a:ext cx="3640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FP64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387215" y="4706302"/>
              <a:ext cx="11461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变长 VALU · CBU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54165" y="3563302"/>
              <a:ext cx="3717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8 / 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54165" y="3791902"/>
              <a:ext cx="15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18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654165" y="4020502"/>
              <a:ext cx="726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54165" y="4249102"/>
              <a:ext cx="3717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8 / 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54165" y="44777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5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654165" y="4706302"/>
              <a:ext cx="2950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1 · 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272915" y="5068252"/>
              <a:ext cx="30323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发射时减 1，前门读完操作数后经事件加回；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4272915" y="5277802"/>
              <a:ext cx="28406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credit 等于队列深度，所以入队一定成功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8001000" y="2895600"/>
            <a:ext cx="2807375" cy="2819400"/>
            <a:chOff x="8001000" y="2895600"/>
            <a:chExt cx="2807375" cy="2819400"/>
          </a:xfrm>
        </p:grpSpPr>
        <p:sp>
          <p:nvSpPr>
            <p:cNvPr id="78" name="Line 78"/>
            <p:cNvSpPr/>
            <p:nvPr/>
          </p:nvSpPr>
          <p:spPr>
            <a:xfrm>
              <a:off x="8001000" y="2895600"/>
              <a:ext cx="9525" cy="2819400"/>
            </a:xfrm>
            <a:custGeom>
              <a:avLst/>
              <a:gdLst/>
              <a:ahLst/>
              <a:cxnLst/>
              <a:rect l="l" t="t" r="r" b="b"/>
              <a:pathLst>
                <a:path w="9525" h="2819400">
                  <a:moveTo>
                    <a:pt x="0" y="0"/>
                  </a:moveTo>
                  <a:lnTo>
                    <a:pt x="0" y="281940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230552" y="2913221"/>
              <a:ext cx="134735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级间事件通道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236268" y="32094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源级寄存，目的级下一拍看到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236268" y="35142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ev_head_consumed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236268" y="37428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ev_complete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236268" y="3971449"/>
              <a:ext cx="1242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ev_credit_return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236268" y="4200049"/>
              <a:ext cx="1320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ev_branch_resolve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236268" y="4428649"/>
              <a:ext cx="8506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ev_redirect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236268" y="4657249"/>
              <a:ext cx="8293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ev_wb_wait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893618" y="3514249"/>
              <a:ext cx="4662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S2 → S1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893618" y="3742849"/>
              <a:ext cx="5302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SW → S2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893618" y="3971449"/>
              <a:ext cx="629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前门 → S2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893618" y="4200049"/>
              <a:ext cx="9147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控制前门 → S2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893618" y="4428649"/>
              <a:ext cx="5018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S2 → S0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893618" y="4657249"/>
              <a:ext cx="5302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SW → S4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235315" y="50682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唯一的反向完成信号：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235315" y="5277802"/>
              <a:ext cx="23346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S3 / S4 的在途掩码点对点送回 S2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571500" y="5810250"/>
            <a:ext cx="11049000" cy="438150"/>
            <a:chOff x="571500" y="5810250"/>
            <a:chExt cx="11049000" cy="438150"/>
          </a:xfrm>
        </p:grpSpPr>
        <p:sp>
          <p:nvSpPr>
            <p:cNvPr id="96" name="Rectangle 96"/>
            <p:cNvSpPr/>
            <p:nvPr/>
          </p:nvSpPr>
          <p:spPr>
            <a:xfrm>
              <a:off x="571500" y="5810250"/>
              <a:ext cx="11049000" cy="43815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782955" y="5950268"/>
              <a:ext cx="84040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核心原则：</a:t>
              </a:r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每级持有自己的状态，级间只走寄存过的事件</a:t>
              </a:r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——固定路径不反压，变长路径靠 credit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99" name="TextBox 99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536775" y="658939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8" grpId="0"/>
      <p:bldP spid="77" grpId="0"/>
      <p:bldP spid="95" grpId="0"/>
      <p:bldP spid="9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83870"/>
            <a:ext cx="11093767" cy="487680"/>
            <a:chOff x="541020" y="483870"/>
            <a:chExt cx="11093767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668578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重构方法与结果：先定结构，再按级搬迁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03944" y="621506"/>
              <a:ext cx="1030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一 · GPU 学习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71500" y="1219200"/>
            <a:ext cx="11114961" cy="742950"/>
            <a:chOff x="571500" y="1219200"/>
            <a:chExt cx="11114961" cy="742950"/>
          </a:xfrm>
        </p:grpSpPr>
        <p:sp>
          <p:nvSpPr>
            <p:cNvPr id="7" name="Rectangle 7"/>
            <p:cNvSpPr/>
            <p:nvPr/>
          </p:nvSpPr>
          <p:spPr>
            <a:xfrm>
              <a:off x="571500" y="1219200"/>
              <a:ext cx="2476500" cy="742950"/>
            </a:xfrm>
            <a:prstGeom prst="roundRect">
              <a:avLst>
                <a:gd name="adj" fmla="val 5128"/>
              </a:avLst>
            </a:prstGeom>
            <a:solidFill>
              <a:srgbClr val="F5F7FA"/>
            </a:solidFill>
            <a:ln w="14288">
              <a:solidFill>
                <a:srgbClr val="1F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5808" y="1386364"/>
              <a:ext cx="117620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① 写结构规范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8665" y="1677352"/>
              <a:ext cx="23192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架构 → 流水线 → RTL，画出目标图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048000" y="1590675"/>
              <a:ext cx="32385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429000" y="1219200"/>
              <a:ext cx="2476500" cy="742950"/>
            </a:xfrm>
            <a:prstGeom prst="roundRect">
              <a:avLst>
                <a:gd name="adj" fmla="val 5128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603308" y="1386364"/>
              <a:ext cx="117620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② 列修改清单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06165" y="1677352"/>
              <a:ext cx="22809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对照目标图，逐条列出 63 项改动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905500" y="1590675"/>
              <a:ext cx="32385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86500" y="1219200"/>
              <a:ext cx="2476500" cy="742950"/>
            </a:xfrm>
            <a:prstGeom prst="roundRect">
              <a:avLst>
                <a:gd name="adj" fmla="val 5128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60808" y="1386364"/>
              <a:ext cx="19583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③ 行为不变地按级搬迁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3665" y="167735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逻辑归到所属的级，顶层只做连线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763000" y="1590675"/>
              <a:ext cx="32385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144000" y="1219200"/>
              <a:ext cx="2476500" cy="742950"/>
            </a:xfrm>
            <a:prstGeom prst="roundRect">
              <a:avLst>
                <a:gd name="adj" fmla="val 5128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18308" y="1386364"/>
              <a:ext cx="15672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④ 每次提交都验收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21165" y="1677352"/>
              <a:ext cx="23652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完整 VCS 验收，逐条记录周期变化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59118" y="2470785"/>
            <a:ext cx="10808791" cy="993934"/>
            <a:chOff x="559118" y="2470785"/>
            <a:chExt cx="10808791" cy="993934"/>
          </a:xfrm>
        </p:grpSpPr>
        <p:sp>
          <p:nvSpPr>
            <p:cNvPr id="23" name="TextBox 23"/>
            <p:cNvSpPr txBox="1"/>
            <p:nvPr/>
          </p:nvSpPr>
          <p:spPr>
            <a:xfrm>
              <a:off x="1161774" y="2470785"/>
              <a:ext cx="64825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130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25153" y="2926556"/>
              <a:ext cx="521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次提交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44003" y="2470785"/>
              <a:ext cx="97949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−43%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88300" y="2926556"/>
              <a:ext cx="14909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顶层 6169 → 3486 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71338" y="2470785"/>
              <a:ext cx="42052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16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56547" y="29265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个新建模块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53567" y="2470785"/>
              <a:ext cx="75176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≈80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04397" y="29265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次完整验收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5445" y="2470785"/>
              <a:ext cx="110370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17→50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87941" y="292655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启用的断言文件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21539" y="2470785"/>
              <a:ext cx="120722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−7.9%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082391" y="2926556"/>
              <a:ext cx="12855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carry2_mw 周期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9118" y="3266599"/>
              <a:ext cx="50016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统计区间 2026-10-10 至 10-22，curryGPU subcore-pipeline-structure 分支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52450" y="3600450"/>
            <a:ext cx="11068050" cy="504825"/>
            <a:chOff x="552450" y="3600450"/>
            <a:chExt cx="11068050" cy="504825"/>
          </a:xfrm>
        </p:grpSpPr>
        <p:sp>
          <p:nvSpPr>
            <p:cNvPr id="37" name="Line 37"/>
            <p:cNvSpPr/>
            <p:nvPr/>
          </p:nvSpPr>
          <p:spPr>
            <a:xfrm>
              <a:off x="571500" y="36004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52450" y="3800475"/>
              <a:ext cx="46386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重构中顺带发现并修掉的真实缺陷（举两例）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5308" y="4205764"/>
            <a:ext cx="3645216" cy="987742"/>
            <a:chOff x="555308" y="4205764"/>
            <a:chExt cx="3645216" cy="987742"/>
          </a:xfrm>
        </p:grpSpPr>
        <p:sp>
          <p:nvSpPr>
            <p:cNvPr id="40" name="TextBox 40"/>
            <p:cNvSpPr txBox="1"/>
            <p:nvPr/>
          </p:nvSpPr>
          <p:spPr>
            <a:xfrm>
              <a:off x="555308" y="4205764"/>
              <a:ext cx="249599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shared memory 读后写漏洞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7212" y="4507706"/>
              <a:ext cx="3643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读请求被拒绝重试时，后面同地址的写抢先执行：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7212" y="4736306"/>
              <a:ext cx="23206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 xml:space="preserve">7691 次重试中 </a:t>
              </a:r>
              <a:r>
                <a:rPr lang="zh-CN" sz="1125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96 次</a:t>
              </a:r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读到了新值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7212" y="4964906"/>
              <a:ext cx="3388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→ 新增 smem_war 用例，修改编译器插入等待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96000" y="4191000"/>
            <a:ext cx="4021574" cy="1143000"/>
            <a:chOff x="6096000" y="4191000"/>
            <a:chExt cx="4021574" cy="1143000"/>
          </a:xfrm>
        </p:grpSpPr>
        <p:sp>
          <p:nvSpPr>
            <p:cNvPr id="45" name="Line 45"/>
            <p:cNvSpPr/>
            <p:nvPr/>
          </p:nvSpPr>
          <p:spPr>
            <a:xfrm>
              <a:off x="6096000" y="41910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65558" y="4205764"/>
              <a:ext cx="249599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多 warp 时 ELECT 选错 lane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67462" y="4507706"/>
              <a:ext cx="37501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数据搬运被发起两次，mbarrier 永远等不到完成，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67462" y="4736306"/>
              <a:ext cx="2895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只在每个 subcore 有多个 warp 时出现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67462" y="4964906"/>
              <a:ext cx="23042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→ 修复并新增多 warp 混合用例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5676900"/>
            <a:ext cx="11049000" cy="533400"/>
            <a:chOff x="571500" y="5676900"/>
            <a:chExt cx="11049000" cy="533400"/>
          </a:xfrm>
        </p:grpSpPr>
        <p:sp>
          <p:nvSpPr>
            <p:cNvPr id="51" name="Rectangle 51"/>
            <p:cNvSpPr/>
            <p:nvPr/>
          </p:nvSpPr>
          <p:spPr>
            <a:xfrm>
              <a:off x="571500" y="5676900"/>
              <a:ext cx="11049000" cy="5334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82002" y="5856446"/>
              <a:ext cx="817373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但重构中也发现：</a:t>
              </a:r>
              <a:r>
                <a:rPr lang="zh-CN" sz="14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有些问题，功能验证全部通过也抓不到</a:t>
              </a:r>
              <a:r>
                <a:rPr lang="zh-CN" sz="14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——这是第二部分研究问题的来源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54" name="TextBox 54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36775" y="658939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6" grpId="0"/>
      <p:bldP spid="39" grpId="0"/>
      <p:bldP spid="44" grpId="0"/>
      <p:bldP spid="50" grpId="0"/>
      <p:bldP spid="5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83870"/>
            <a:ext cx="11093767" cy="487680"/>
            <a:chOff x="541020" y="483870"/>
            <a:chExt cx="11093767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745868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AI 生成 RTL：模块级已饱和，到流水线就断崖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72499" y="621506"/>
              <a:ext cx="11622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二 · AI for EDA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50545" y="1250632"/>
            <a:ext cx="5937547" cy="335280"/>
            <a:chOff x="550545" y="1250632"/>
            <a:chExt cx="5937547" cy="335280"/>
          </a:xfrm>
        </p:grpSpPr>
        <p:sp>
          <p:nvSpPr>
            <p:cNvPr id="7" name="TextBox 7"/>
            <p:cNvSpPr txBox="1"/>
            <p:nvPr/>
          </p:nvSpPr>
          <p:spPr>
            <a:xfrm>
              <a:off x="550545" y="1250632"/>
              <a:ext cx="593754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现有工作的四条路线</a:t>
              </a:r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 xml:space="preserve"> 按给模型的输入，从低到高排列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2450" y="1724025"/>
            <a:ext cx="5383911" cy="542925"/>
            <a:chOff x="552450" y="1724025"/>
            <a:chExt cx="5383911" cy="542925"/>
          </a:xfrm>
        </p:grpSpPr>
        <p:sp>
          <p:nvSpPr>
            <p:cNvPr id="9" name="TextBox 9"/>
            <p:cNvSpPr txBox="1"/>
            <p:nvPr/>
          </p:nvSpPr>
          <p:spPr>
            <a:xfrm>
              <a:off x="552450" y="1724025"/>
              <a:ext cx="2336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4402" y="1732121"/>
              <a:ext cx="156588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数据与微调模型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7260" y="2023110"/>
              <a:ext cx="49991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RTLCoder、CodeV-R1、VeriReason：用模块级 testbench 训练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52450" y="2524125"/>
            <a:ext cx="4770501" cy="542925"/>
            <a:chOff x="552450" y="2524125"/>
            <a:chExt cx="4770501" cy="542925"/>
          </a:xfrm>
        </p:grpSpPr>
        <p:sp>
          <p:nvSpPr>
            <p:cNvPr id="13" name="TextBox 13"/>
            <p:cNvSpPr txBox="1"/>
            <p:nvPr/>
          </p:nvSpPr>
          <p:spPr>
            <a:xfrm>
              <a:off x="552450" y="252412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4402" y="2532221"/>
              <a:ext cx="113975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Agent 流程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7260" y="2823210"/>
              <a:ext cx="43856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VerilogCoder、MAGE：多 agent 生成，靠仿真反馈修正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52450" y="3324225"/>
            <a:ext cx="4200906" cy="542925"/>
            <a:chOff x="552450" y="3324225"/>
            <a:chExt cx="4200906" cy="542925"/>
          </a:xfrm>
        </p:grpSpPr>
        <p:sp>
          <p:nvSpPr>
            <p:cNvPr id="17" name="TextBox 17"/>
            <p:cNvSpPr txBox="1"/>
            <p:nvPr/>
          </p:nvSpPr>
          <p:spPr>
            <a:xfrm>
              <a:off x="552450" y="332422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4402" y="3332321"/>
              <a:ext cx="272408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结构化中间层</a:t>
              </a:r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 xml:space="preserve"> 最接近本研究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7260" y="3623310"/>
              <a:ext cx="38160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ROME、SysVCoder、HINT：先写 IR，再生成 RTL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52450" y="4124325"/>
            <a:ext cx="4481322" cy="542925"/>
            <a:chOff x="552450" y="4124325"/>
            <a:chExt cx="4481322" cy="542925"/>
          </a:xfrm>
        </p:grpSpPr>
        <p:sp>
          <p:nvSpPr>
            <p:cNvPr id="21" name="TextBox 21"/>
            <p:cNvSpPr txBox="1"/>
            <p:nvPr/>
          </p:nvSpPr>
          <p:spPr>
            <a:xfrm>
              <a:off x="552450" y="412432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4402" y="4132421"/>
              <a:ext cx="20357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参考模型 + 形式等价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7260" y="4423410"/>
              <a:ext cx="40965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FormalRTL 等：只覆盖数据通路，不涉及流水线控制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0" y="1162050"/>
            <a:ext cx="5194516" cy="3655219"/>
            <a:chOff x="6096000" y="1162050"/>
            <a:chExt cx="5194516" cy="3655219"/>
          </a:xfrm>
        </p:grpSpPr>
        <p:sp>
          <p:nvSpPr>
            <p:cNvPr id="25" name="Line 25"/>
            <p:cNvSpPr/>
            <p:nvPr/>
          </p:nvSpPr>
          <p:spPr>
            <a:xfrm>
              <a:off x="6096000" y="1162050"/>
              <a:ext cx="9525" cy="3600450"/>
            </a:xfrm>
            <a:custGeom>
              <a:avLst/>
              <a:gdLst/>
              <a:ahLst/>
              <a:cxnLst/>
              <a:rect l="l" t="t" r="r" b="b"/>
              <a:pathLst>
                <a:path w="9525" h="3600450">
                  <a:moveTo>
                    <a:pt x="0" y="0"/>
                  </a:moveTo>
                  <a:lnTo>
                    <a:pt x="0" y="36004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60795" y="1250632"/>
              <a:ext cx="218002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Benchmark 通过率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66510" y="1756410"/>
              <a:ext cx="19320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VerilogEval v2 · 单模块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381750" y="1981200"/>
              <a:ext cx="4191000" cy="1714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652760" y="1994535"/>
              <a:ext cx="637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89–98%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66510" y="2499360"/>
              <a:ext cx="23964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HWE-Bench · SoC 级 bug 修复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381750" y="2724150"/>
              <a:ext cx="2781300" cy="171450"/>
            </a:xfrm>
            <a:prstGeom prst="rect">
              <a:avLst/>
            </a:prstGeom>
            <a:solidFill>
              <a:srgbClr val="5B7BA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43060" y="2737485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&lt; 65%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66510" y="3242310"/>
              <a:ext cx="25542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CVDP · 模块到小子系统，pass@1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381750" y="3467100"/>
              <a:ext cx="1457325" cy="171450"/>
            </a:xfrm>
            <a:prstGeom prst="rect">
              <a:avLst/>
            </a:prstGeom>
            <a:solidFill>
              <a:srgbClr val="5B7BA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919085" y="3480435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≤ 34%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66510" y="3985260"/>
              <a:ext cx="29222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ArchXBench L4 起 · 流水线 / 层次化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381750" y="42100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28575">
              <a:solidFill>
                <a:srgbClr val="C8102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99860" y="4223385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所有模型全部失败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381750" y="45339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69368" y="4619149"/>
              <a:ext cx="36060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数据来源：各 benchmark 论文（arXiv，2026-10 检索）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71500" y="5143500"/>
            <a:ext cx="11049000" cy="1066800"/>
            <a:chOff x="571500" y="5143500"/>
            <a:chExt cx="11049000" cy="1066800"/>
          </a:xfrm>
        </p:grpSpPr>
        <p:sp>
          <p:nvSpPr>
            <p:cNvPr id="42" name="Rectangle 42"/>
            <p:cNvSpPr/>
            <p:nvPr/>
          </p:nvSpPr>
          <p:spPr>
            <a:xfrm>
              <a:off x="571500" y="5143500"/>
              <a:ext cx="11049000" cy="10668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1050" y="5381625"/>
              <a:ext cx="89873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规律：</a:t>
              </a:r>
              <a:r>
                <a:rPr lang="zh-CN" sz="15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表示比模型更重要</a:t>
              </a:r>
              <a:r>
                <a:rPr lang="zh-CN" sz="15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——换中间表示，成功率 3% → 88%；换更强的模型，提升不到 1.25 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1050" y="5781675"/>
              <a:ext cx="70923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空白：正确性只看端口 I/O 等价，</a:t>
              </a:r>
              <a:r>
                <a:rPr lang="zh-CN" sz="1500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不检查级边界、状态归属、握手与时序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46" name="TextBox 46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36775" y="658939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  <p:bldP spid="20" grpId="0"/>
      <p:bldP spid="24" grpId="0"/>
      <p:bldP spid="41" grpId="0"/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83870"/>
            <a:ext cx="11093767" cy="487680"/>
            <a:chOff x="541020" y="483870"/>
            <a:chExt cx="11093767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190119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问题的提出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72499" y="621506"/>
              <a:ext cx="11622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二 · AI for EDA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33400" y="1416368"/>
            <a:ext cx="7437120" cy="1155382"/>
            <a:chOff x="533400" y="1416368"/>
            <a:chExt cx="7437120" cy="1155382"/>
          </a:xfrm>
        </p:grpSpPr>
        <p:sp>
          <p:nvSpPr>
            <p:cNvPr id="7" name="TextBox 7"/>
            <p:cNvSpPr txBox="1"/>
            <p:nvPr/>
          </p:nvSpPr>
          <p:spPr>
            <a:xfrm>
              <a:off x="554355" y="1416368"/>
              <a:ext cx="7122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观察对象：由 agent 编写、约 10.8 万行 Verilog 的 GPU subcore，正在逐步重构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33400" y="1962150"/>
              <a:ext cx="743712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功能验证全部通过，问题</a:t>
              </a:r>
              <a:r>
                <a:rPr lang="zh-CN" sz="3000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照样漏过去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54355" y="2925246"/>
            <a:ext cx="3612880" cy="1622942"/>
            <a:chOff x="554355" y="2925246"/>
            <a:chExt cx="3612880" cy="1622942"/>
          </a:xfrm>
        </p:grpSpPr>
        <p:grpSp>
          <p:nvGrpSpPr>
            <p:cNvPr id="13" name="Group 13"/>
            <p:cNvGrpSpPr/>
            <p:nvPr/>
          </p:nvGrpSpPr>
          <p:grpSpPr>
            <a:xfrm>
              <a:off x="592779" y="2925246"/>
              <a:ext cx="224133" cy="192560"/>
              <a:chOff x="592779" y="2925246"/>
              <a:chExt cx="224133" cy="19256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04850" y="299561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92779" y="2925246"/>
                <a:ext cx="224133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3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2"/>
                    </a:cubicBezTo>
                    <a:cubicBezTo>
                      <a:pt x="7482" y="188388"/>
                      <a:pt x="14426" y="192475"/>
                      <a:pt x="21982" y="192560"/>
                    </a:cubicBezTo>
                    <a:lnTo>
                      <a:pt x="202160" y="192560"/>
                    </a:lnTo>
                    <a:cubicBezTo>
                      <a:pt x="209712" y="192473"/>
                      <a:pt x="216652" y="188387"/>
                      <a:pt x="220393" y="181825"/>
                    </a:cubicBezTo>
                    <a:cubicBezTo>
                      <a:pt x="224133" y="175263"/>
                      <a:pt x="224113" y="167210"/>
                      <a:pt x="220340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09" y="0"/>
                      <a:pt x="112071" y="0"/>
                    </a:cubicBezTo>
                    <a:cubicBezTo>
                      <a:pt x="104632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04850" y="3073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929640" y="292989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结构偏离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4355" y="3416618"/>
              <a:ext cx="26171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一次“行为不变”的模块搬迁：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3702368"/>
              <a:ext cx="36128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周期数完全不变，功能比对 0 处不一致，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3988118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但一段逻辑落进了错误的流水级，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4355" y="427386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与设计图不一致，跨越多次提交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191000" y="2857500"/>
            <a:ext cx="3270266" cy="2095500"/>
            <a:chOff x="4191000" y="2857500"/>
            <a:chExt cx="3270266" cy="2095500"/>
          </a:xfrm>
        </p:grpSpPr>
        <p:sp>
          <p:nvSpPr>
            <p:cNvPr id="20" name="Line 20"/>
            <p:cNvSpPr/>
            <p:nvPr/>
          </p:nvSpPr>
          <p:spPr>
            <a:xfrm>
              <a:off x="4191000" y="2857500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498029" y="2925246"/>
              <a:ext cx="224133" cy="192560"/>
              <a:chOff x="4498029" y="2925246"/>
              <a:chExt cx="224133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610100" y="299561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498029" y="2925246"/>
                <a:ext cx="224133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3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2"/>
                    </a:cubicBezTo>
                    <a:cubicBezTo>
                      <a:pt x="7482" y="188388"/>
                      <a:pt x="14426" y="192475"/>
                      <a:pt x="21982" y="192560"/>
                    </a:cubicBezTo>
                    <a:lnTo>
                      <a:pt x="202160" y="192560"/>
                    </a:lnTo>
                    <a:cubicBezTo>
                      <a:pt x="209712" y="192473"/>
                      <a:pt x="216652" y="188387"/>
                      <a:pt x="220393" y="181825"/>
                    </a:cubicBezTo>
                    <a:cubicBezTo>
                      <a:pt x="224133" y="175263"/>
                      <a:pt x="224113" y="167210"/>
                      <a:pt x="220340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09" y="0"/>
                      <a:pt x="112071" y="0"/>
                    </a:cubicBezTo>
                    <a:cubicBezTo>
                      <a:pt x="104632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610100" y="3073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4834890" y="2929890"/>
              <a:ext cx="18399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时序回归 6–8%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59605" y="3416618"/>
              <a:ext cx="30016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WARPSYNC 分叉每次 6 拍 → 9 拍；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59605" y="370236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访存响应那一拍挡住全部发射。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59605" y="3988118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两次变慢都落在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59605" y="4273868"/>
              <a:ext cx="22031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性能模型的误差范围之内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96250" y="2857500"/>
            <a:ext cx="2345817" cy="2095500"/>
            <a:chOff x="8096250" y="2857500"/>
            <a:chExt cx="2345817" cy="2095500"/>
          </a:xfrm>
        </p:grpSpPr>
        <p:sp>
          <p:nvSpPr>
            <p:cNvPr id="31" name="Line 31"/>
            <p:cNvSpPr/>
            <p:nvPr/>
          </p:nvSpPr>
          <p:spPr>
            <a:xfrm>
              <a:off x="8096250" y="2857500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403279" y="2925246"/>
              <a:ext cx="224133" cy="192560"/>
              <a:chOff x="8403279" y="2925246"/>
              <a:chExt cx="224133" cy="1925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515350" y="299561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403279" y="2925246"/>
                <a:ext cx="224133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3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2"/>
                    </a:cubicBezTo>
                    <a:cubicBezTo>
                      <a:pt x="7482" y="188388"/>
                      <a:pt x="14426" y="192475"/>
                      <a:pt x="21982" y="192560"/>
                    </a:cubicBezTo>
                    <a:lnTo>
                      <a:pt x="202160" y="192560"/>
                    </a:lnTo>
                    <a:cubicBezTo>
                      <a:pt x="209712" y="192473"/>
                      <a:pt x="216652" y="188387"/>
                      <a:pt x="220393" y="181825"/>
                    </a:cubicBezTo>
                    <a:cubicBezTo>
                      <a:pt x="224133" y="175263"/>
                      <a:pt x="224113" y="167210"/>
                      <a:pt x="220340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09" y="0"/>
                      <a:pt x="112071" y="0"/>
                    </a:cubicBezTo>
                    <a:cubicBezTo>
                      <a:pt x="104632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515350" y="3073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740140" y="292989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验证手段失效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64855" y="3416618"/>
              <a:ext cx="19073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旧验收脚本判 PASS，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64855" y="3702368"/>
              <a:ext cx="18876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实际存在 SM fault；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64855" y="3988118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删掉一个信号，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64855" y="4273868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整份断言静默失效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0545" y="5448300"/>
            <a:ext cx="11069955" cy="652462"/>
            <a:chOff x="550545" y="5448300"/>
            <a:chExt cx="11069955" cy="652462"/>
          </a:xfrm>
        </p:grpSpPr>
        <p:sp>
          <p:nvSpPr>
            <p:cNvPr id="42" name="Line 42"/>
            <p:cNvSpPr/>
            <p:nvPr/>
          </p:nvSpPr>
          <p:spPr>
            <a:xfrm>
              <a:off x="571500" y="5448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50545" y="5765482"/>
              <a:ext cx="97053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需要一层</a:t>
              </a:r>
              <a:r>
                <a:rPr lang="zh-CN" sz="16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可被检查的规格</a:t>
              </a:r>
              <a:r>
                <a:rPr lang="zh-CN" sz="1650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，同时管住结构、功能、时序三类需求，并能发现“检查本身失效”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45" name="TextBox 45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36775" y="658939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9" grpId="0"/>
      <p:bldP spid="30" grpId="0"/>
      <p:bldP spid="41" grpId="0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83870"/>
            <a:ext cx="11093767" cy="487680"/>
            <a:chOff x="541020" y="483870"/>
            <a:chExt cx="11093767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742188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已实现的检查工具：抓住功能测试漏掉的问题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72499" y="621506"/>
              <a:ext cx="11622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二 · AI for EDA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58165" y="1163002"/>
            <a:ext cx="11062335" cy="237173"/>
            <a:chOff x="558165" y="1163002"/>
            <a:chExt cx="11062335" cy="237173"/>
          </a:xfrm>
        </p:grpSpPr>
        <p:sp>
          <p:nvSpPr>
            <p:cNvPr id="7" name="TextBox 7"/>
            <p:cNvSpPr txBox="1"/>
            <p:nvPr/>
          </p:nvSpPr>
          <p:spPr>
            <a:xfrm>
              <a:off x="558165" y="1163002"/>
              <a:ext cx="13389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工具 · 针对的问题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77665" y="1163002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怎么做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82915" y="116300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在 curryGPU 上的结果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13906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1F3A5F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53402" y="1617821"/>
            <a:ext cx="11067098" cy="887254"/>
            <a:chOff x="553402" y="1617821"/>
            <a:chExt cx="11067098" cy="887254"/>
          </a:xfrm>
        </p:grpSpPr>
        <p:sp>
          <p:nvSpPr>
            <p:cNvPr id="12" name="TextBox 12"/>
            <p:cNvSpPr txBox="1"/>
            <p:nvPr/>
          </p:nvSpPr>
          <p:spPr>
            <a:xfrm>
              <a:off x="553402" y="1617821"/>
              <a:ext cx="131458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① 逐指令比对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7212" y="191690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功能：控制流走错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76712" y="1650206"/>
              <a:ext cx="33557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逐线程比较 RTL 与功能模型执行的指令序列，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76712" y="1878806"/>
              <a:ext cx="31503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只报告第一处分歧，直接定位到出错的指令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81962" y="1650206"/>
              <a:ext cx="26328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一个有错的发射改动：3 个用例都在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81962" y="1878806"/>
              <a:ext cx="24274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kernel 第 </a:t>
              </a:r>
              <a:r>
                <a:rPr lang="zh-CN" sz="1125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2–3 条指令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处报出分歧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81962" y="2107406"/>
              <a:ext cx="23699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当前 RTL 跑 6 次，0 个分歧线程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71500" y="2495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553402" y="2722721"/>
            <a:ext cx="11067098" cy="1268254"/>
            <a:chOff x="553402" y="2722721"/>
            <a:chExt cx="11067098" cy="1268254"/>
          </a:xfrm>
        </p:grpSpPr>
        <p:sp>
          <p:nvSpPr>
            <p:cNvPr id="21" name="TextBox 21"/>
            <p:cNvSpPr txBox="1"/>
            <p:nvPr/>
          </p:nvSpPr>
          <p:spPr>
            <a:xfrm>
              <a:off x="553402" y="2722721"/>
              <a:ext cx="153310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② 网表结构检查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7212" y="3021806"/>
              <a:ext cx="2164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结构：逻辑放错级、多出连线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76712" y="2755106"/>
              <a:ext cx="3388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一份结构数据同时生成流水线图、给 AI 的约束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76712" y="2983706"/>
              <a:ext cx="34872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清单和检查器；读 Verilator 网表，核对层次、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76712" y="3212306"/>
              <a:ext cx="35036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边界寄存器、预约表长度、允许 / 禁止的连线；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76712" y="3440906"/>
              <a:ext cx="3314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没在结构数据里登记的触发器和连线一律报出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81962" y="2755106"/>
              <a:ext cx="2238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人为注入 16 种缺陷：</a:t>
              </a:r>
              <a:r>
                <a:rPr lang="zh-CN" sz="1125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全部拦下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81962" y="2983706"/>
              <a:ext cx="2838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首次跑真实 RTL：发现 </a:t>
              </a:r>
              <a:r>
                <a:rPr lang="zh-CN" sz="1125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5 处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结构分歧，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81962" y="3212306"/>
              <a:ext cx="23452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其中一处就是上页的“结构偏离”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81962" y="3440906"/>
              <a:ext cx="2657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S1–SW 六级接入门禁，只拦新增问题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571500" y="39814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553402" y="4208621"/>
            <a:ext cx="11067098" cy="1039654"/>
            <a:chOff x="553402" y="4208621"/>
            <a:chExt cx="11067098" cy="1039654"/>
          </a:xfrm>
        </p:grpSpPr>
        <p:sp>
          <p:nvSpPr>
            <p:cNvPr id="33" name="TextBox 33"/>
            <p:cNvSpPr txBox="1"/>
            <p:nvPr/>
          </p:nvSpPr>
          <p:spPr>
            <a:xfrm>
              <a:off x="553402" y="4208621"/>
              <a:ext cx="175163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③ 断言与验收门禁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7212" y="4507706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检查本身失效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76712" y="4241006"/>
              <a:ext cx="3314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检查每个断言文件是否真的被编译、被运行；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76712" y="4469606"/>
              <a:ext cx="36022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验收改为“没有硬件故障 + 用例自己打印 PASS”，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76712" y="4698206"/>
              <a:ext cx="24931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每次提交都跑完整验收并记录周期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81962" y="424100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断言文件 17 个 → </a:t>
              </a:r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50 个全部运行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81962" y="4469606"/>
              <a:ext cx="30846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堵住了“脚本判 PASS、实际有故障”的漏洞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81962" y="4698206"/>
              <a:ext cx="24438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约 80 次验收，周期变化逐条记录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5238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571500" y="5619750"/>
            <a:ext cx="11049000" cy="590550"/>
            <a:chOff x="571500" y="5619750"/>
            <a:chExt cx="11049000" cy="590550"/>
          </a:xfrm>
        </p:grpSpPr>
        <p:sp>
          <p:nvSpPr>
            <p:cNvPr id="43" name="Rectangle 43"/>
            <p:cNvSpPr/>
            <p:nvPr/>
          </p:nvSpPr>
          <p:spPr>
            <a:xfrm>
              <a:off x="571500" y="5619750"/>
              <a:ext cx="11049000" cy="59055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82955" y="5835968"/>
              <a:ext cx="92222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三种工具都已在 curryGPU subcore 上日常运行；</a:t>
              </a:r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时序方面的逐周期检查</a:t>
              </a:r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，用后两页的 FML 边界规格来做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46" name="TextBox 46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36775" y="658939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/>
      <p:bldP spid="32" grpId="0"/>
      <p:bldP spid="42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83870"/>
            <a:ext cx="11093767" cy="487680"/>
            <a:chOff x="541020" y="483870"/>
            <a:chExt cx="11093767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637294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FML 框架：用模块和事件写周期级规格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72499" y="621506"/>
              <a:ext cx="11622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二 · AI for EDA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2450" y="1228725"/>
            <a:ext cx="3890915" cy="304800"/>
            <a:chOff x="552450" y="1228725"/>
            <a:chExt cx="3890915" cy="304800"/>
          </a:xfrm>
        </p:grpSpPr>
        <p:sp>
          <p:nvSpPr>
            <p:cNvPr id="7" name="TextBox 7"/>
            <p:cNvSpPr txBox="1"/>
            <p:nvPr/>
          </p:nvSpPr>
          <p:spPr>
            <a:xfrm>
              <a:off x="552450" y="12287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基本结构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10665" y="1277302"/>
              <a:ext cx="29327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FML 框架由合作者开发，模型用 Rust 编写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58165" y="1581150"/>
            <a:ext cx="5347335" cy="1143000"/>
            <a:chOff x="558165" y="1581150"/>
            <a:chExt cx="5347335" cy="1143000"/>
          </a:xfrm>
        </p:grpSpPr>
        <p:sp>
          <p:nvSpPr>
            <p:cNvPr id="10" name="TextBox 10"/>
            <p:cNvSpPr txBox="1"/>
            <p:nvPr/>
          </p:nvSpPr>
          <p:spPr>
            <a:xfrm>
              <a:off x="558165" y="18869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时钟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76300" y="1952625"/>
              <a:ext cx="30480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238250" y="1581150"/>
              <a:ext cx="1905000" cy="1143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75410" y="1699260"/>
              <a:ext cx="7849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module A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390650" y="192405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78268" y="202834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状态：自己拥有的寄存器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78268" y="2237899"/>
              <a:ext cx="11924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task：时钟沿触发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78268" y="2447449"/>
              <a:ext cx="1313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出口：EventSource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143250" y="2152650"/>
              <a:ext cx="80010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88519" y="19521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事件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22974" y="2245995"/>
              <a:ext cx="6406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带延迟 / Δ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000500" y="1581150"/>
              <a:ext cx="1905000" cy="1143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137660" y="1699260"/>
              <a:ext cx="7849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module B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152900" y="192405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40518" y="202834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状态：自己拥有的寄存器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40518" y="2237899"/>
              <a:ext cx="14772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task：事件到达时触发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40518" y="2447449"/>
              <a:ext cx="11995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入口：EventRelay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59118" y="2914650"/>
            <a:ext cx="5556956" cy="1940719"/>
            <a:chOff x="559118" y="2914650"/>
            <a:chExt cx="5556956" cy="1940719"/>
          </a:xfrm>
        </p:grpSpPr>
        <p:sp>
          <p:nvSpPr>
            <p:cNvPr id="28" name="Rectangle 28"/>
            <p:cNvSpPr/>
            <p:nvPr/>
          </p:nvSpPr>
          <p:spPr>
            <a:xfrm>
              <a:off x="571500" y="2914650"/>
              <a:ext cx="5334000" cy="16383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1518" y="3057049"/>
              <a:ext cx="11069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#[fml::module]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1518" y="3247549"/>
              <a:ext cx="15626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pub struct Producer {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78218" y="3438049"/>
              <a:ext cx="3129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#[fml::trigger] pub clock: fml::ClockRelay,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78218" y="3628549"/>
              <a:ext cx="36274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#[fml::trigger] pub done: fml::EventSource&lt;u64&gt;,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8218" y="3819049"/>
              <a:ext cx="8150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value: u64,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1518" y="40095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1518" y="4200049"/>
              <a:ext cx="36772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#[fml::task(triggers = (clock,), emits = (done,))]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9118" y="4657249"/>
              <a:ext cx="55569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出自 FML 官方示例 event_pipeline：每个时钟沿累加，再过一个 Δ 周期把结果发给下游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286500" y="1200150"/>
            <a:ext cx="3504009" cy="3657600"/>
            <a:chOff x="6286500" y="1200150"/>
            <a:chExt cx="3504009" cy="3657600"/>
          </a:xfrm>
        </p:grpSpPr>
        <p:sp>
          <p:nvSpPr>
            <p:cNvPr id="38" name="Line 38"/>
            <p:cNvSpPr/>
            <p:nvPr/>
          </p:nvSpPr>
          <p:spPr>
            <a:xfrm>
              <a:off x="6286500" y="1200150"/>
              <a:ext cx="9525" cy="3657600"/>
            </a:xfrm>
            <a:custGeom>
              <a:avLst/>
              <a:gdLst/>
              <a:ahLst/>
              <a:cxnLst/>
              <a:rect l="l" t="t" r="r" b="b"/>
              <a:pathLst>
                <a:path w="9525" h="3657600">
                  <a:moveTo>
                    <a:pt x="0" y="0"/>
                  </a:moveTo>
                  <a:lnTo>
                    <a:pt x="0" y="365760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3200" y="1228725"/>
              <a:ext cx="23383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为什么适合作结构规格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56058" y="1672114"/>
              <a:ext cx="19583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① 状态归属写在结构里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57962" y="193595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每个模块只能改自己声明的状态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56058" y="2357914"/>
              <a:ext cx="17627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② 级间传递是显式的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57962" y="262175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模块之间只通过事件和接口通信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56058" y="3043714"/>
              <a:ext cx="19583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③ 同拍依赖必须说清楚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57962" y="3307556"/>
              <a:ext cx="32325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task 声明读的是别人写之前还是之后的值；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57962" y="3517106"/>
              <a:ext cx="31503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虚拟机加载时推出全部顺序，有歧义就拒绝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56058" y="3939064"/>
              <a:ext cx="23493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④ 结果确定，可作比对参照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57962" y="4202906"/>
              <a:ext cx="24931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多核并行只改变速度，不改变结果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5029200"/>
            <a:ext cx="12015430" cy="1181100"/>
            <a:chOff x="571500" y="5029200"/>
            <a:chExt cx="12015430" cy="1181100"/>
          </a:xfrm>
        </p:grpSpPr>
        <p:sp>
          <p:nvSpPr>
            <p:cNvPr id="50" name="Rectangle 50"/>
            <p:cNvSpPr/>
            <p:nvPr/>
          </p:nvSpPr>
          <p:spPr>
            <a:xfrm>
              <a:off x="571500" y="5029200"/>
              <a:ext cx="11049000" cy="11811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82955" y="5207318"/>
              <a:ext cx="71663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已有成果：用 FML 逐周期复现 GPGPU-Sim（Volta QV100 配置，合作者完成）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5812" y="5555456"/>
              <a:ext cx="118011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结构：80 个 SM（各有流水线与回复网络两个 task）· 命令处理器 · 交叉开关（每个子网一个 task）· 32 个存储分区（2 个 L2 子分区 + DRAM 通道，独立时钟）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5812" y="5822156"/>
              <a:ext cx="95665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结果：rodinia 11 个基准的统计数据和逐周期事件日志</a:t>
              </a:r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与原版完全一致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；例如 nn 用时 16.0 s → 3.61 s（单线程）→ 0.89 s（8 线程）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55" name="TextBox 55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497342" y="6589395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7" grpId="0"/>
      <p:bldP spid="37" grpId="0"/>
      <p:bldP spid="49" grpId="0"/>
      <p:bldP spid="5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1020" y="483870"/>
            <a:ext cx="11079480" cy="487680"/>
            <a:chOff x="541020" y="483870"/>
            <a:chExt cx="11079480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928051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路线 B 实验：在 GPGPU-Sim 上写边界规格，让 AI 写 RTL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52450" y="1228725"/>
            <a:ext cx="4824841" cy="304800"/>
            <a:chOff x="552450" y="1228725"/>
            <a:chExt cx="4824841" cy="304800"/>
          </a:xfrm>
        </p:grpSpPr>
        <p:sp>
          <p:nvSpPr>
            <p:cNvPr id="6" name="TextBox 6"/>
            <p:cNvSpPr txBox="1"/>
            <p:nvPr/>
          </p:nvSpPr>
          <p:spPr>
            <a:xfrm>
              <a:off x="552450" y="1228725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边界规格长什么样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367915" y="1277302"/>
              <a:ext cx="30093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以取指 / 译码级为例，4 个 subcore 各一份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1562100"/>
            <a:ext cx="5334000" cy="1809750"/>
            <a:chOff x="571500" y="1562100"/>
            <a:chExt cx="5334000" cy="1809750"/>
          </a:xfrm>
        </p:grpSpPr>
        <p:sp>
          <p:nvSpPr>
            <p:cNvPr id="9" name="Rectangle 9"/>
            <p:cNvSpPr/>
            <p:nvPr/>
          </p:nvSpPr>
          <p:spPr>
            <a:xfrm>
              <a:off x="571500" y="1562100"/>
              <a:ext cx="5334000" cy="180975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1518" y="16854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一个 subcore（16 个 warp）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14400" y="2000250"/>
              <a:ext cx="1809750" cy="952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1560" y="2118360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Fetch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4418" y="23902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拥有：取指缓冲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4418" y="2580799"/>
              <a:ext cx="14701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16 个 warp 轮询选一个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810000" y="2000250"/>
              <a:ext cx="1809750" cy="952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947160" y="2118360"/>
              <a:ext cx="637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Decode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50018" y="23902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拥有：指令缓冲、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50018" y="2580799"/>
              <a:ext cx="14558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trace 位置、在途计数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2724150" y="2247900"/>
              <a:ext cx="102870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898458" y="20745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寄存后传递</a:t>
              </a:r>
            </a:p>
          </p:txBody>
        </p:sp>
        <p:sp>
          <p:nvSpPr>
            <p:cNvPr id="21" name="Line 21"/>
            <p:cNvSpPr/>
            <p:nvPr/>
          </p:nvSpPr>
          <p:spPr>
            <a:xfrm flipH="1">
              <a:off x="2781300" y="2743200"/>
              <a:ext cx="1028700" cy="1"/>
            </a:xfrm>
            <a:prstGeom prst="line">
              <a:avLst/>
            </a:prstGeom>
            <a:noFill/>
            <a:ln w="14288">
              <a:solidFill>
                <a:srgbClr val="C8102E"/>
              </a:solidFill>
              <a:custDash>
                <a:ds d="333333" sp="200000"/>
              </a:custDash>
              <a:tailEnd type="triangle" w="lg" len="lg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748582" y="281749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B1 同拍（已声明）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2018" y="3114199"/>
              <a:ext cx="45245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输入：发射级的消耗（B2，同拍）、完成信号 输出：exit / finish 脉冲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56260" y="3585210"/>
            <a:ext cx="4038600" cy="1265396"/>
            <a:chOff x="556260" y="3585210"/>
            <a:chExt cx="4038600" cy="1265396"/>
          </a:xfrm>
        </p:grpSpPr>
        <p:sp>
          <p:nvSpPr>
            <p:cNvPr id="25" name="TextBox 25"/>
            <p:cNvSpPr txBox="1"/>
            <p:nvPr/>
          </p:nvSpPr>
          <p:spPr>
            <a:xfrm>
              <a:off x="556260" y="35852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规格里写明：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7212" y="3879056"/>
              <a:ext cx="36186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每个模块拥有哪些寄存器，每拍按什么顺序更新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7212" y="4126706"/>
              <a:ext cx="36104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允许的同拍路径（B1、B2），其余一律经寄存器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7212" y="4374356"/>
              <a:ext cx="40376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相对参照模型的偏差及代价（如 D2：周期 +0.026%）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7212" y="4622006"/>
              <a:ext cx="21399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位宽、取值范围与不关心值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86500" y="1200150"/>
            <a:ext cx="4243387" cy="3657600"/>
            <a:chOff x="6286500" y="1200150"/>
            <a:chExt cx="4243387" cy="3657600"/>
          </a:xfrm>
        </p:grpSpPr>
        <p:sp>
          <p:nvSpPr>
            <p:cNvPr id="31" name="Line 31"/>
            <p:cNvSpPr/>
            <p:nvPr/>
          </p:nvSpPr>
          <p:spPr>
            <a:xfrm>
              <a:off x="6286500" y="1200150"/>
              <a:ext cx="9525" cy="3657600"/>
            </a:xfrm>
            <a:custGeom>
              <a:avLst/>
              <a:gdLst/>
              <a:ahLst/>
              <a:cxnLst/>
              <a:rect l="l" t="t" r="r" b="b"/>
              <a:pathLst>
                <a:path w="9525" h="3657600">
                  <a:moveTo>
                    <a:pt x="0" y="0"/>
                  </a:moveTo>
                  <a:lnTo>
                    <a:pt x="0" y="365760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53200" y="1228725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实验流程与结果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57962" y="1593056"/>
              <a:ext cx="37501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规格先对 GPGPU-Sim 逐周期对齐 → 只把规格和接口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57962" y="1821656"/>
              <a:ext cx="39719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交给 AI，独立写 RTL → 在边界上逐周期 lockstep 比对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541770" y="2331720"/>
            <a:ext cx="3400782" cy="487680"/>
            <a:chOff x="6541770" y="2331720"/>
            <a:chExt cx="3400782" cy="487680"/>
          </a:xfrm>
        </p:grpSpPr>
        <p:sp>
          <p:nvSpPr>
            <p:cNvPr id="36" name="TextBox 36"/>
            <p:cNvSpPr txBox="1"/>
            <p:nvPr/>
          </p:nvSpPr>
          <p:spPr>
            <a:xfrm>
              <a:off x="6541770" y="2331720"/>
              <a:ext cx="105468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136 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81962" y="2374106"/>
              <a:ext cx="18605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个周期：取指 / 译码规格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81962" y="258365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与参照逐周期一致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541770" y="3112770"/>
            <a:ext cx="3614380" cy="487680"/>
            <a:chOff x="6541770" y="3112770"/>
            <a:chExt cx="3614380" cy="487680"/>
          </a:xfrm>
        </p:grpSpPr>
        <p:sp>
          <p:nvSpPr>
            <p:cNvPr id="40" name="TextBox 40"/>
            <p:cNvSpPr txBox="1"/>
            <p:nvPr/>
          </p:nvSpPr>
          <p:spPr>
            <a:xfrm>
              <a:off x="6541770" y="3112770"/>
              <a:ext cx="127551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435→42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81962" y="31551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级：综合后最长逻辑路径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81962" y="3364706"/>
              <a:ext cx="20741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（按 subcore 拆分边界后）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541770" y="3893820"/>
            <a:ext cx="3729394" cy="487680"/>
            <a:chOff x="6541770" y="3893820"/>
            <a:chExt cx="3729394" cy="487680"/>
          </a:xfrm>
        </p:grpSpPr>
        <p:sp>
          <p:nvSpPr>
            <p:cNvPr id="44" name="TextBox 44"/>
            <p:cNvSpPr txBox="1"/>
            <p:nvPr/>
          </p:nvSpPr>
          <p:spPr>
            <a:xfrm>
              <a:off x="6541770" y="3893820"/>
              <a:ext cx="105468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551 万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81962" y="3936206"/>
              <a:ext cx="21892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个周期：取指 + 译码 + 发射 +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81962" y="4145756"/>
              <a:ext cx="21234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计分板集成后 lockstep 通过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5143500"/>
            <a:ext cx="11049000" cy="1066800"/>
            <a:chOff x="571500" y="5143500"/>
            <a:chExt cx="11049000" cy="1066800"/>
          </a:xfrm>
        </p:grpSpPr>
        <p:sp>
          <p:nvSpPr>
            <p:cNvPr id="48" name="Rectangle 48"/>
            <p:cNvSpPr/>
            <p:nvPr/>
          </p:nvSpPr>
          <p:spPr>
            <a:xfrm>
              <a:off x="571500" y="5143500"/>
              <a:ext cx="11049000" cy="10668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83908" y="53297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两个发现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5812" y="5650706"/>
              <a:ext cx="92790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切出边界时，暴露出顺序模型里看不见的同拍组合环（一个 warp 结束 → 释放屏障 → 另一个 warp 同拍结束），登记为偏差 D1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5812" y="5917406"/>
              <a:ext cx="62475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每个模块各自验收都通过，</a:t>
              </a:r>
              <a:r>
                <a:rPr lang="zh-CN" sz="1125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集成时才暴露一个接口缺口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：边界规格本身也需要被检查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53" name="TextBox 53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30203" y="6589395"/>
              <a:ext cx="1017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4" grpId="0"/>
      <p:bldP spid="30" grpId="0"/>
      <p:bldP spid="35" grpId="0"/>
      <p:bldP spid="39" grpId="0"/>
      <p:bldP spid="43" grpId="0"/>
      <p:bldP spid="47" grpId="0"/>
      <p:bldP spid="5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83870"/>
            <a:ext cx="11093767" cy="487680"/>
            <a:chOff x="541020" y="483870"/>
            <a:chExt cx="11093767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615212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公司学习：芯片设计—验证的五层流程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5729" y="621506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三 · 公司学习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9155906" y="1111568"/>
            <a:ext cx="2395796" cy="357663"/>
            <a:chOff x="9155906" y="1111568"/>
            <a:chExt cx="2395796" cy="357663"/>
          </a:xfrm>
        </p:grpSpPr>
        <p:sp>
          <p:nvSpPr>
            <p:cNvPr id="7" name="TextBox 7"/>
            <p:cNvSpPr txBox="1"/>
            <p:nvPr/>
          </p:nvSpPr>
          <p:spPr>
            <a:xfrm>
              <a:off x="9212798" y="11115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155906" y="1301591"/>
              <a:ext cx="2619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学习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974798" y="11115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B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736798" y="11115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C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03548" y="11115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D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466850"/>
            <a:ext cx="10982325" cy="781050"/>
            <a:chOff x="571500" y="1466850"/>
            <a:chExt cx="10982325" cy="781050"/>
          </a:xfrm>
        </p:grpSpPr>
        <p:sp>
          <p:nvSpPr>
            <p:cNvPr id="13" name="Rectangle 13"/>
            <p:cNvSpPr/>
            <p:nvPr/>
          </p:nvSpPr>
          <p:spPr>
            <a:xfrm>
              <a:off x="571500" y="1466850"/>
              <a:ext cx="419100" cy="781050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7496" y="1762125"/>
              <a:ext cx="107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90600" y="1466850"/>
              <a:ext cx="7772400" cy="781050"/>
            </a:xfrm>
            <a:prstGeom prst="rect">
              <a:avLst/>
            </a:prstGeom>
            <a:solidFill>
              <a:srgbClr val="F5F7FA"/>
            </a:solidFill>
            <a:ln w="14288">
              <a:solidFill>
                <a:srgbClr val="C8102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62050" y="1762125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规格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56510" y="1794510"/>
              <a:ext cx="63661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系统说明 · 寄存器表（复位值 / 读写 mask）· 指令集表 · 数模接口表 → </a:t>
              </a:r>
              <a:r>
                <a:rPr lang="zh-CN" sz="1200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唯一来源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10725150" y="1771650"/>
              <a:ext cx="171450" cy="1714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401425" y="1781175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571500" y="2362200"/>
            <a:ext cx="10982325" cy="781050"/>
            <a:chOff x="571500" y="2362200"/>
            <a:chExt cx="10982325" cy="781050"/>
          </a:xfrm>
        </p:grpSpPr>
        <p:sp>
          <p:nvSpPr>
            <p:cNvPr id="21" name="Rectangle 21"/>
            <p:cNvSpPr/>
            <p:nvPr/>
          </p:nvSpPr>
          <p:spPr>
            <a:xfrm>
              <a:off x="571500" y="2362200"/>
              <a:ext cx="419100" cy="7810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8742" y="265747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90600" y="2362200"/>
              <a:ext cx="7772400" cy="78105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62050" y="2657475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设计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56510" y="2689860"/>
              <a:ext cx="59630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RTL 按 IP 分目录 + filelist · 第三方 IP 集成 · 工艺单元分层 · 模拟行为模型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9201150" y="2667000"/>
              <a:ext cx="171450" cy="171450"/>
            </a:xfrm>
            <a:prstGeom prst="ellipse">
              <a:avLst/>
            </a:prstGeom>
            <a:solidFill>
              <a:srgbClr val="9CA3AF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963150" y="2667000"/>
              <a:ext cx="171450" cy="1714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734675" y="2676525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1401425" y="2676525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571500" y="3257550"/>
            <a:ext cx="10982325" cy="781050"/>
            <a:chOff x="571500" y="3257550"/>
            <a:chExt cx="10982325" cy="781050"/>
          </a:xfrm>
        </p:grpSpPr>
        <p:sp>
          <p:nvSpPr>
            <p:cNvPr id="31" name="Rectangle 31"/>
            <p:cNvSpPr/>
            <p:nvPr/>
          </p:nvSpPr>
          <p:spPr>
            <a:xfrm>
              <a:off x="571500" y="3257550"/>
              <a:ext cx="419100" cy="7810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8742" y="35528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90600" y="3257550"/>
              <a:ext cx="7772400" cy="78105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62050" y="3552825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验证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556510" y="3585210"/>
              <a:ext cx="64274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验证环境（VIP / 寄存器访问层）→ tc_base 基类 → 每目录一个 case → 回归 → 集群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9972675" y="3571875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0725150" y="3562350"/>
              <a:ext cx="171450" cy="1714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1401425" y="3571875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71500" y="4152900"/>
            <a:ext cx="10991850" cy="781050"/>
            <a:chOff x="571500" y="4152900"/>
            <a:chExt cx="10991850" cy="781050"/>
          </a:xfrm>
        </p:grpSpPr>
        <p:sp>
          <p:nvSpPr>
            <p:cNvPr id="40" name="Rectangle 40"/>
            <p:cNvSpPr/>
            <p:nvPr/>
          </p:nvSpPr>
          <p:spPr>
            <a:xfrm>
              <a:off x="571500" y="4152900"/>
              <a:ext cx="419100" cy="7810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8742" y="444817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90600" y="4152900"/>
              <a:ext cx="7772400" cy="78105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62050" y="44481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多模式仿真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56510" y="4480560"/>
              <a:ext cx="57702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同一 testbench：RTL 前仿 / 门级后仿（带 SDF，多 corner）/ 数模混仿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10734675" y="4467225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11391900" y="4457700"/>
              <a:ext cx="171450" cy="1714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571500" y="5048250"/>
            <a:ext cx="10982325" cy="781050"/>
            <a:chOff x="571500" y="5048250"/>
            <a:chExt cx="10982325" cy="781050"/>
          </a:xfrm>
        </p:grpSpPr>
        <p:sp>
          <p:nvSpPr>
            <p:cNvPr id="48" name="Rectangle 48"/>
            <p:cNvSpPr/>
            <p:nvPr/>
          </p:nvSpPr>
          <p:spPr>
            <a:xfrm>
              <a:off x="571500" y="5048250"/>
              <a:ext cx="419100" cy="7810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8742" y="53435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90600" y="5048250"/>
              <a:ext cx="7772400" cy="78105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62050" y="5343525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可测性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556510" y="5375910"/>
              <a:ext cx="54985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MBIST · Flash BIST · bypass 通路 · ATPG（stuck-at / Iddq）· trim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9210675" y="5362575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A3AF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10734675" y="5362575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11401425" y="5362575"/>
              <a:ext cx="152400" cy="152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581025" y="6060281"/>
            <a:ext cx="4472463" cy="457200"/>
            <a:chOff x="581025" y="6060281"/>
            <a:chExt cx="4472463" cy="457200"/>
          </a:xfrm>
        </p:grpSpPr>
        <p:sp>
          <p:nvSpPr>
            <p:cNvPr id="57" name="Ellipse 57"/>
            <p:cNvSpPr/>
            <p:nvPr/>
          </p:nvSpPr>
          <p:spPr>
            <a:xfrm>
              <a:off x="581025" y="6067425"/>
              <a:ext cx="133350" cy="1333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590550" y="6305550"/>
              <a:ext cx="114300" cy="1143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85812" y="6060281"/>
              <a:ext cx="42676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重点 A：RISC-V MCU SoC（学习，灰色） B：图像处理 DSP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5812" y="6288881"/>
              <a:ext cx="37829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涉及 C：混合信号光感芯片 D：潜望式 OIS 驱动 SoC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497342" y="658939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  <p:bldP spid="30" grpId="0"/>
      <p:bldP spid="39" grpId="0"/>
      <p:bldP spid="47" grpId="0"/>
      <p:bldP spid="56" grpId="0"/>
      <p:bldP spid="6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83870"/>
            <a:ext cx="11093767" cy="487680"/>
            <a:chOff x="541020" y="483870"/>
            <a:chExt cx="11093767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593129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设计侧：SoC 怎么集成，模块怎么写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5729" y="621506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三 · 公司学习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0545" y="1231582"/>
            <a:ext cx="3875339" cy="551974"/>
            <a:chOff x="550545" y="1231582"/>
            <a:chExt cx="3875339" cy="551974"/>
          </a:xfrm>
        </p:grpSpPr>
        <p:sp>
          <p:nvSpPr>
            <p:cNvPr id="7" name="TextBox 7"/>
            <p:cNvSpPr txBox="1"/>
            <p:nvPr/>
          </p:nvSpPr>
          <p:spPr>
            <a:xfrm>
              <a:off x="550545" y="1231582"/>
              <a:ext cx="38753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项目 A · RISC-V MCU SoC</a:t>
              </a:r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（学习）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7212" y="1554956"/>
              <a:ext cx="25095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学到：SoC 怎么集成、IP 怎么组织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1866900"/>
            <a:ext cx="5238750" cy="2438400"/>
            <a:chOff x="571500" y="1866900"/>
            <a:chExt cx="5238750" cy="2438400"/>
          </a:xfrm>
        </p:grpSpPr>
        <p:sp>
          <p:nvSpPr>
            <p:cNvPr id="10" name="Rectangle 10"/>
            <p:cNvSpPr/>
            <p:nvPr/>
          </p:nvSpPr>
          <p:spPr>
            <a:xfrm>
              <a:off x="571500" y="1866900"/>
              <a:ext cx="2381250" cy="4191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9140" y="2004060"/>
              <a:ext cx="20459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RISC-V 核 + 协处理器接口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429000" y="1866900"/>
              <a:ext cx="2381250" cy="4191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90975" y="2004060"/>
              <a:ext cx="12573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脉动阵列加速器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762125" y="22860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4288">
              <a:solidFill>
                <a:srgbClr val="5B7BA6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619625" y="22860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4288">
              <a:solidFill>
                <a:srgbClr val="5B7BA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" y="2495550"/>
              <a:ext cx="5238750" cy="2857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63336" y="2574131"/>
              <a:ext cx="10550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AHB 总线矩阵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333500" y="27813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5B7BA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3190875" y="27813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5B7BA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048250" y="27813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5B7BA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71500" y="2971800"/>
              <a:ext cx="1524000" cy="381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5B7BA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3942" y="3098006"/>
              <a:ext cx="14991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Flash（ECC / CRC）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28875" y="2971800"/>
              <a:ext cx="1524000" cy="381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5B7BA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61714" y="3098006"/>
              <a:ext cx="8583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ROM / RAM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286250" y="2971800"/>
              <a:ext cx="1524000" cy="381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5B7BA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81979" y="3098006"/>
              <a:ext cx="3325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DMA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3190875" y="33528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5B7BA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71500" y="3543300"/>
              <a:ext cx="5238750" cy="285750"/>
            </a:xfrm>
            <a:prstGeom prst="rect">
              <a:avLst/>
            </a:prstGeom>
            <a:solidFill>
              <a:srgbClr val="5B7BA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663336" y="3621881"/>
              <a:ext cx="10550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APB 外设总线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3924300"/>
              <a:ext cx="5238750" cy="381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5B7BA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894999" y="4050506"/>
              <a:ext cx="25917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SPI · I2C · GPIO · PWM · 模拟控制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55308" y="4701064"/>
            <a:ext cx="5004292" cy="1287780"/>
            <a:chOff x="555308" y="4701064"/>
            <a:chExt cx="5004292" cy="1287780"/>
          </a:xfrm>
        </p:grpSpPr>
        <p:sp>
          <p:nvSpPr>
            <p:cNvPr id="33" name="TextBox 33"/>
            <p:cNvSpPr txBox="1"/>
            <p:nvPr/>
          </p:nvSpPr>
          <p:spPr>
            <a:xfrm>
              <a:off x="555308" y="4701064"/>
              <a:ext cx="50042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按 IP 分目录，每个 IP 一份 filelist（约 160 个 RTL 文件）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5308" y="5082064"/>
              <a:ext cx="49670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第三方 IP（RISC-V 核、ARM 总线）直接集成，不重复开发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5308" y="5463064"/>
              <a:ext cx="48646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工艺单元、公司基础 IP（时钟门控、同步器）与业务 RTL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5308" y="5729764"/>
              <a:ext cx="37845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分层存放；RTL 中预留 MBIST 与 bypass 通路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0" y="1200150"/>
            <a:ext cx="4089528" cy="5086350"/>
            <a:chOff x="6096000" y="1200150"/>
            <a:chExt cx="4089528" cy="5086350"/>
          </a:xfrm>
        </p:grpSpPr>
        <p:sp>
          <p:nvSpPr>
            <p:cNvPr id="38" name="Line 38"/>
            <p:cNvSpPr/>
            <p:nvPr/>
          </p:nvSpPr>
          <p:spPr>
            <a:xfrm>
              <a:off x="6096000" y="1200150"/>
              <a:ext cx="9525" cy="5086350"/>
            </a:xfrm>
            <a:custGeom>
              <a:avLst/>
              <a:gdLst/>
              <a:ahLst/>
              <a:cxnLst/>
              <a:rect l="l" t="t" r="r" b="b"/>
              <a:pathLst>
                <a:path w="9525" h="5086350">
                  <a:moveTo>
                    <a:pt x="0" y="0"/>
                  </a:moveTo>
                  <a:lnTo>
                    <a:pt x="0" y="50863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60795" y="1231582"/>
              <a:ext cx="382473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项目 B · 光学位移传感器图像 DSP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67462" y="1554956"/>
              <a:ext cx="38158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负责：DSP 验证 scoreboard 学到：单个模块怎么写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381750" y="1866900"/>
            <a:ext cx="5238750" cy="2438400"/>
            <a:chOff x="6381750" y="1866900"/>
            <a:chExt cx="5238750" cy="2438400"/>
          </a:xfrm>
        </p:grpSpPr>
        <p:sp>
          <p:nvSpPr>
            <p:cNvPr id="42" name="Rectangle 42"/>
            <p:cNvSpPr/>
            <p:nvPr/>
          </p:nvSpPr>
          <p:spPr>
            <a:xfrm>
              <a:off x="6381750" y="1866900"/>
              <a:ext cx="1047750" cy="419100"/>
            </a:xfrm>
            <a:prstGeom prst="roundRect">
              <a:avLst>
                <a:gd name="adj" fmla="val 9091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10963" y="2004060"/>
              <a:ext cx="3893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IDLE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7429500" y="2076450"/>
              <a:ext cx="514350" cy="1"/>
            </a:xfrm>
            <a:prstGeom prst="line">
              <a:avLst/>
            </a:prstGeom>
            <a:noFill/>
            <a:ln w="14288">
              <a:solidFill>
                <a:srgbClr val="5B7BA6"/>
              </a:solidFill>
              <a:tailEnd type="triangle" w="lg" len="lg"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58361" y="1903095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opcode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001000" y="1866900"/>
              <a:ext cx="3619500" cy="4191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239661" y="2012156"/>
              <a:ext cx="31421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9 类任务：NCC 匹配 · 亚像素 · 自动曝光 …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381750" y="2495550"/>
              <a:ext cx="5238750" cy="628650"/>
            </a:xfrm>
            <a:prstGeom prst="roundRect">
              <a:avLst>
                <a:gd name="adj" fmla="val 6061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57010" y="2632710"/>
              <a:ext cx="38686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每个任务成对：X（工作态）⇄ WFNS_X（等待态）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57010" y="2880360"/>
              <a:ext cx="36057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工作态编码为奇数 → bit0 直接作时钟门控使能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381750" y="3295650"/>
              <a:ext cx="5238750" cy="1009650"/>
            </a:xfrm>
            <a:prstGeom prst="roundRect">
              <a:avLst>
                <a:gd name="adj" fmla="val 3774"/>
              </a:avLst>
            </a:prstGeom>
            <a:solidFill>
              <a:srgbClr val="FFFFFF"/>
            </a:solidFill>
            <a:ln w="9525">
              <a:solidFill>
                <a:srgbClr val="5B7BA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57010" y="3432810"/>
              <a:ext cx="32640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数据通路：valid / ready 握手的多级流水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58915" y="3810952"/>
              <a:ext cx="2418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Σx, Σx² → E(x), D(x) → Σxy → NCC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58915" y="4058602"/>
              <a:ext cx="24419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16×16 像素阵列，位宽 int16 → int40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365558" y="4701064"/>
            <a:ext cx="4613243" cy="1402080"/>
            <a:chOff x="6365558" y="4701064"/>
            <a:chExt cx="4613243" cy="1402080"/>
          </a:xfrm>
        </p:grpSpPr>
        <p:sp>
          <p:nvSpPr>
            <p:cNvPr id="56" name="TextBox 56"/>
            <p:cNvSpPr txBox="1"/>
            <p:nvPr/>
          </p:nvSpPr>
          <p:spPr>
            <a:xfrm>
              <a:off x="6365558" y="4701064"/>
              <a:ext cx="455737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41 个状态的 FSM，工作 / 等待成对，按状态门控时钟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365558" y="5082064"/>
              <a:ext cx="461324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数据通路统一 valid / ready 流水，复用参数化计数器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65558" y="5463064"/>
              <a:ext cx="45108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接口按“源模块+目标模块_信号”命名，看名字知边界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65558" y="5844064"/>
              <a:ext cx="43828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→ 完成信号的写法，后来借鉴到 GPU subcore 重构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61" name="TextBox 61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497342" y="6589395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2" grpId="0"/>
      <p:bldP spid="37" grpId="0"/>
      <p:bldP spid="41" grpId="0"/>
      <p:bldP spid="55" grpId="0"/>
      <p:bldP spid="6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83870"/>
            <a:ext cx="11093767" cy="487680"/>
            <a:chOff x="541020" y="483870"/>
            <a:chExt cx="11093767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705383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验证侧：验证环境的结构，与我参与的工作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5729" y="621506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三 · 公司学习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2450" y="1228725"/>
            <a:ext cx="3493913" cy="304800"/>
            <a:chOff x="552450" y="1228725"/>
            <a:chExt cx="3493913" cy="304800"/>
          </a:xfrm>
        </p:grpSpPr>
        <p:sp>
          <p:nvSpPr>
            <p:cNvPr id="7" name="TextBox 7"/>
            <p:cNvSpPr txBox="1"/>
            <p:nvPr/>
          </p:nvSpPr>
          <p:spPr>
            <a:xfrm>
              <a:off x="552450" y="1228725"/>
              <a:ext cx="2108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验证环境的目录结构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3165" y="1277302"/>
              <a:ext cx="1583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以项目 C 为例，已脱敏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543050"/>
            <a:ext cx="5524500" cy="2247900"/>
            <a:chOff x="571500" y="1543050"/>
            <a:chExt cx="5524500" cy="2247900"/>
          </a:xfrm>
        </p:grpSpPr>
        <p:sp>
          <p:nvSpPr>
            <p:cNvPr id="10" name="Rectangle 10"/>
            <p:cNvSpPr/>
            <p:nvPr/>
          </p:nvSpPr>
          <p:spPr>
            <a:xfrm>
              <a:off x="571500" y="1543050"/>
              <a:ext cx="5524500" cy="22479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29615" y="1696402"/>
              <a:ext cx="10081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verification/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9615" y="1925002"/>
              <a:ext cx="1843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├─ testbench/tb/top.sv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9615" y="2153602"/>
              <a:ext cx="14221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├─ testbench/env/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9615" y="2382202"/>
              <a:ext cx="1843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├─ testcase/tc_base.sv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615" y="2610802"/>
              <a:ext cx="17518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├─ testcase/&lt;module&gt;/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615" y="2839402"/>
              <a:ext cx="5787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├─ run/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615" y="3068002"/>
              <a:ext cx="1084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├─ simulation/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9615" y="3296602"/>
              <a:ext cx="16522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└─ testplan / caselist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30868" y="1933099"/>
              <a:ext cx="21536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顶层：DUT + 模拟行为模型 + 接口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30868" y="2161699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驱动、参考模型、寄存器宏、时序检查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30868" y="2390299"/>
              <a:ext cx="11354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所有 case 的基类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30868" y="2618899"/>
              <a:ext cx="2374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按功能分组：AL、时钟、OTP、温度…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30868" y="2847499"/>
              <a:ext cx="20325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Makefile、分组清单、回归脚本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30868" y="307609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各仿真器的运行目录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30868" y="330469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测试计划与用例清单（表格）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58165" y="3943350"/>
            <a:ext cx="5537835" cy="1357312"/>
            <a:chOff x="558165" y="3943350"/>
            <a:chExt cx="5537835" cy="1357312"/>
          </a:xfrm>
        </p:grpSpPr>
        <p:sp>
          <p:nvSpPr>
            <p:cNvPr id="27" name="Rectangle 27"/>
            <p:cNvSpPr/>
            <p:nvPr/>
          </p:nvSpPr>
          <p:spPr>
            <a:xfrm>
              <a:off x="571500" y="3943350"/>
              <a:ext cx="552450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29615" y="4077652"/>
              <a:ext cx="23652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class al_test extends tc_base;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20115" y="4287202"/>
              <a:ext cx="24036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task env_config(); ... endtask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0115" y="4496752"/>
              <a:ext cx="2188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task env_run(); ... endtask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9615" y="4706302"/>
              <a:ext cx="6630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endclass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11918" y="4295299"/>
              <a:ext cx="8577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← 配置寄存器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11918" y="4504849"/>
              <a:ext cx="8577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← 激励与检查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8165" y="5087302"/>
              <a:ext cx="51103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Makefile 开关：后仿（带 SDF）· scan 模式 · 工艺角 · 随机种子 · 投集群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477000" y="1200150"/>
            <a:ext cx="3065145" cy="4229100"/>
            <a:chOff x="6477000" y="1200150"/>
            <a:chExt cx="3065145" cy="4229100"/>
          </a:xfrm>
        </p:grpSpPr>
        <p:sp>
          <p:nvSpPr>
            <p:cNvPr id="36" name="Line 36"/>
            <p:cNvSpPr/>
            <p:nvPr/>
          </p:nvSpPr>
          <p:spPr>
            <a:xfrm>
              <a:off x="6477000" y="1200150"/>
              <a:ext cx="9525" cy="4229100"/>
            </a:xfrm>
            <a:custGeom>
              <a:avLst/>
              <a:gdLst/>
              <a:ahLst/>
              <a:cxnLst/>
              <a:rect l="l" t="t" r="r" b="b"/>
              <a:pathLst>
                <a:path w="9525" h="4229100">
                  <a:moveTo>
                    <a:pt x="0" y="0"/>
                  </a:moveTo>
                  <a:lnTo>
                    <a:pt x="0" y="422910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43700" y="1228725"/>
              <a:ext cx="279844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项目 C · 混合信号光感芯片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49415" y="15440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我负责的验证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47510" y="1851660"/>
              <a:ext cx="20284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AL 光谱通道</a:t>
              </a:r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：数据通路，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47510" y="2080260"/>
              <a:ext cx="2659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检查模数转换、滤波后读出的数据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47510" y="2404110"/>
              <a:ext cx="2133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时序检查</a:t>
              </a:r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：数模控制信号，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47510" y="2632710"/>
              <a:ext cx="2308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按时序图检查先后顺序与间隔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47510" y="2956560"/>
              <a:ext cx="2308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看门狗（部分）</a:t>
              </a:r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：异常恢复，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47510" y="3185160"/>
              <a:ext cx="19583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程序跑飞时能否正确复位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743700" y="3695700"/>
            <a:ext cx="4876800" cy="1745456"/>
            <a:chOff x="6743700" y="3695700"/>
            <a:chExt cx="4876800" cy="1745456"/>
          </a:xfrm>
        </p:grpSpPr>
        <p:sp>
          <p:nvSpPr>
            <p:cNvPr id="46" name="Line 46"/>
            <p:cNvSpPr/>
            <p:nvPr/>
          </p:nvSpPr>
          <p:spPr>
            <a:xfrm>
              <a:off x="6762750" y="36957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43700" y="3876675"/>
              <a:ext cx="30629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项目 D · 潜望式 OIS 驱动 SoC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49415" y="41919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我参与：数模混合仿真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48462" y="4488656"/>
              <a:ext cx="2649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数字 RTL + 模拟电路网表联合仿真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48462" y="4717256"/>
              <a:ext cx="22795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（Synopsys / Cadence 工具）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48462" y="4983956"/>
              <a:ext cx="31175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难点在配置：CPU 侧的启动与固件要求、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48462" y="5212556"/>
              <a:ext cx="2821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模拟侧的电路配置，需和两边同事对齐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71500" y="5676900"/>
            <a:ext cx="11049000" cy="533400"/>
            <a:chOff x="571500" y="5676900"/>
            <a:chExt cx="11049000" cy="533400"/>
          </a:xfrm>
        </p:grpSpPr>
        <p:sp>
          <p:nvSpPr>
            <p:cNvPr id="54" name="Rectangle 54"/>
            <p:cNvSpPr/>
            <p:nvPr/>
          </p:nvSpPr>
          <p:spPr>
            <a:xfrm>
              <a:off x="571500" y="5676900"/>
              <a:ext cx="11049000" cy="5334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82002" y="5856446"/>
              <a:ext cx="752856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共同点：</a:t>
              </a:r>
              <a:r>
                <a:rPr lang="zh-CN" sz="14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规格是唯一来源，验证环境分层</a:t>
              </a:r>
              <a:r>
                <a:rPr lang="zh-CN" sz="14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；同一套环境覆盖前仿、后仿与数模混仿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0070" y="6589395"/>
            <a:ext cx="11071860" cy="182880"/>
            <a:chOff x="560070" y="6589395"/>
            <a:chExt cx="11071860" cy="182880"/>
          </a:xfrm>
        </p:grpSpPr>
        <p:sp>
          <p:nvSpPr>
            <p:cNvPr id="57" name="TextBox 57"/>
            <p:cNvSpPr txBox="1"/>
            <p:nvPr/>
          </p:nvSpPr>
          <p:spPr>
            <a:xfrm>
              <a:off x="560070" y="6589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硕士中期考核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497342" y="6589395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6" grpId="0"/>
      <p:bldP spid="35" grpId="0"/>
      <p:bldP spid="45" grpId="0"/>
      <p:bldP spid="53" grpId="0"/>
      <p:bldP spid="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1020" y="483870"/>
            <a:ext cx="11079480" cy="487680"/>
            <a:chOff x="541020" y="483870"/>
            <a:chExt cx="11079480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483870"/>
              <a:ext cx="263728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总结与后续计划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50545" y="1250632"/>
            <a:ext cx="801005" cy="335280"/>
            <a:chOff x="550545" y="1250632"/>
            <a:chExt cx="801005" cy="335280"/>
          </a:xfrm>
        </p:grpSpPr>
        <p:sp>
          <p:nvSpPr>
            <p:cNvPr id="6" name="TextBox 6"/>
            <p:cNvSpPr txBox="1"/>
            <p:nvPr/>
          </p:nvSpPr>
          <p:spPr>
            <a:xfrm>
              <a:off x="550545" y="1250632"/>
              <a:ext cx="8010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已完成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15156" y="1729264"/>
            <a:ext cx="5082509" cy="3116580"/>
            <a:chOff x="615156" y="1729264"/>
            <a:chExt cx="5082509" cy="3116580"/>
          </a:xfrm>
        </p:grpSpPr>
        <p:sp>
          <p:nvSpPr>
            <p:cNvPr id="8" name="Freeform 8"/>
            <p:cNvSpPr/>
            <p:nvPr/>
          </p:nvSpPr>
          <p:spPr>
            <a:xfrm>
              <a:off x="615156" y="1756569"/>
              <a:ext cx="130969" cy="87313"/>
            </a:xfrm>
            <a:custGeom>
              <a:avLst/>
              <a:gdLst/>
              <a:ahLst/>
              <a:cxnLst/>
              <a:rect l="l" t="t" r="r" b="b"/>
              <a:pathLst>
                <a:path w="130969" h="87313">
                  <a:moveTo>
                    <a:pt x="0" y="43656"/>
                  </a:moveTo>
                  <a:lnTo>
                    <a:pt x="43656" y="87313"/>
                  </a:lnTo>
                  <a:lnTo>
                    <a:pt x="130969" y="0"/>
                  </a:lnTo>
                </a:path>
              </a:pathLst>
            </a:custGeom>
            <a:noFill/>
            <a:ln w="14288">
              <a:solidFill>
                <a:srgbClr val="2E7D32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615156" y="2328069"/>
              <a:ext cx="130969" cy="87313"/>
            </a:xfrm>
            <a:custGeom>
              <a:avLst/>
              <a:gdLst/>
              <a:ahLst/>
              <a:cxnLst/>
              <a:rect l="l" t="t" r="r" b="b"/>
              <a:pathLst>
                <a:path w="130969" h="87313">
                  <a:moveTo>
                    <a:pt x="0" y="43656"/>
                  </a:moveTo>
                  <a:lnTo>
                    <a:pt x="43656" y="87313"/>
                  </a:lnTo>
                  <a:lnTo>
                    <a:pt x="130969" y="0"/>
                  </a:lnTo>
                </a:path>
              </a:pathLst>
            </a:custGeom>
            <a:noFill/>
            <a:ln w="14288">
              <a:solidFill>
                <a:srgbClr val="2E7D32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15156" y="2899569"/>
              <a:ext cx="130969" cy="87312"/>
            </a:xfrm>
            <a:custGeom>
              <a:avLst/>
              <a:gdLst/>
              <a:ahLst/>
              <a:cxnLst/>
              <a:rect l="l" t="t" r="r" b="b"/>
              <a:pathLst>
                <a:path w="130969" h="87312">
                  <a:moveTo>
                    <a:pt x="0" y="43656"/>
                  </a:moveTo>
                  <a:lnTo>
                    <a:pt x="43656" y="87312"/>
                  </a:lnTo>
                  <a:lnTo>
                    <a:pt x="130969" y="0"/>
                  </a:lnTo>
                </a:path>
              </a:pathLst>
            </a:custGeom>
            <a:noFill/>
            <a:ln w="14288">
              <a:solidFill>
                <a:srgbClr val="2E7D32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615156" y="3471069"/>
              <a:ext cx="130969" cy="87312"/>
            </a:xfrm>
            <a:custGeom>
              <a:avLst/>
              <a:gdLst/>
              <a:ahLst/>
              <a:cxnLst/>
              <a:rect l="l" t="t" r="r" b="b"/>
              <a:pathLst>
                <a:path w="130969" h="87312">
                  <a:moveTo>
                    <a:pt x="0" y="43656"/>
                  </a:moveTo>
                  <a:lnTo>
                    <a:pt x="43656" y="87312"/>
                  </a:lnTo>
                  <a:lnTo>
                    <a:pt x="130969" y="0"/>
                  </a:lnTo>
                </a:path>
              </a:pathLst>
            </a:custGeom>
            <a:noFill/>
            <a:ln w="14288">
              <a:solidFill>
                <a:srgbClr val="2E7D32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15156" y="4042569"/>
              <a:ext cx="130969" cy="87312"/>
            </a:xfrm>
            <a:custGeom>
              <a:avLst/>
              <a:gdLst/>
              <a:ahLst/>
              <a:cxnLst/>
              <a:rect l="l" t="t" r="r" b="b"/>
              <a:pathLst>
                <a:path w="130969" h="87312">
                  <a:moveTo>
                    <a:pt x="0" y="43656"/>
                  </a:moveTo>
                  <a:lnTo>
                    <a:pt x="43656" y="87312"/>
                  </a:lnTo>
                  <a:lnTo>
                    <a:pt x="130969" y="0"/>
                  </a:lnTo>
                </a:path>
              </a:pathLst>
            </a:custGeom>
            <a:noFill/>
            <a:ln w="14288">
              <a:solidFill>
                <a:srgbClr val="2E7D32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615156" y="4614069"/>
              <a:ext cx="130969" cy="87312"/>
            </a:xfrm>
            <a:custGeom>
              <a:avLst/>
              <a:gdLst/>
              <a:ahLst/>
              <a:cxnLst/>
              <a:rect l="l" t="t" r="r" b="b"/>
              <a:pathLst>
                <a:path w="130969" h="87312">
                  <a:moveTo>
                    <a:pt x="0" y="43656"/>
                  </a:moveTo>
                  <a:lnTo>
                    <a:pt x="43656" y="87312"/>
                  </a:lnTo>
                  <a:lnTo>
                    <a:pt x="130969" y="0"/>
                  </a:lnTo>
                </a:path>
              </a:pathLst>
            </a:custGeom>
            <a:noFill/>
            <a:ln w="14288">
              <a:solidFill>
                <a:srgbClr val="2E7D3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98208" y="1729264"/>
              <a:ext cx="467841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GPU 体系结构与模拟器学习，形成整机到流水线的架构图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8208" y="2300764"/>
              <a:ext cx="455737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subcore RTL 流水线重构：130 次提交，顶层代码 −43%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8208" y="2872264"/>
              <a:ext cx="308629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AI 生成 RTL 领域调研，研究问题收敛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8208" y="3443764"/>
              <a:ext cx="471566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检查工具：逐指令比对、网表结构检查（发现 5 处分歧）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8208" y="4015264"/>
              <a:ext cx="450151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基于 FML 的路线 B 实验：AI 写的 RTL 通过逐周期验收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8208" y="4586764"/>
              <a:ext cx="479945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公司：参与 3 个、学习 1 个芯片项目，掌握设计—验证流程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667500" y="1200150"/>
            <a:ext cx="1756981" cy="4133850"/>
            <a:chOff x="6667500" y="1200150"/>
            <a:chExt cx="1756981" cy="4133850"/>
          </a:xfrm>
        </p:grpSpPr>
        <p:sp>
          <p:nvSpPr>
            <p:cNvPr id="21" name="Line 21"/>
            <p:cNvSpPr/>
            <p:nvPr/>
          </p:nvSpPr>
          <p:spPr>
            <a:xfrm>
              <a:off x="6667500" y="1200150"/>
              <a:ext cx="9525" cy="4133850"/>
            </a:xfrm>
            <a:custGeom>
              <a:avLst/>
              <a:gdLst/>
              <a:ahLst/>
              <a:cxnLst/>
              <a:rect l="l" t="t" r="r" b="b"/>
              <a:pathLst>
                <a:path w="9525" h="4133850">
                  <a:moveTo>
                    <a:pt x="0" y="0"/>
                  </a:moveTo>
                  <a:lnTo>
                    <a:pt x="0" y="413385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079456" y="1250156"/>
              <a:ext cx="185738" cy="185738"/>
              <a:chOff x="7079456" y="1250156"/>
              <a:chExt cx="185738" cy="18573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162006" y="1332706"/>
                <a:ext cx="20638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20638" h="20638">
                    <a:moveTo>
                      <a:pt x="0" y="10319"/>
                    </a:moveTo>
                    <a:cubicBezTo>
                      <a:pt x="0" y="16018"/>
                      <a:pt x="4620" y="20638"/>
                      <a:pt x="10319" y="20638"/>
                    </a:cubicBezTo>
                    <a:cubicBezTo>
                      <a:pt x="16018" y="20638"/>
                      <a:pt x="20638" y="16018"/>
                      <a:pt x="20638" y="10319"/>
                    </a:cubicBezTo>
                    <a:cubicBezTo>
                      <a:pt x="20638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120731" y="1291431"/>
                <a:ext cx="103187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03187" h="103187">
                    <a:moveTo>
                      <a:pt x="0" y="51594"/>
                    </a:moveTo>
                    <a:cubicBezTo>
                      <a:pt x="0" y="80088"/>
                      <a:pt x="23099" y="103187"/>
                      <a:pt x="51594" y="103187"/>
                    </a:cubicBezTo>
                    <a:cubicBezTo>
                      <a:pt x="80088" y="103187"/>
                      <a:pt x="103187" y="80088"/>
                      <a:pt x="103187" y="51594"/>
                    </a:cubicBezTo>
                    <a:cubicBezTo>
                      <a:pt x="103187" y="23099"/>
                      <a:pt x="80088" y="0"/>
                      <a:pt x="51594" y="0"/>
                    </a:cubicBezTo>
                    <a:cubicBezTo>
                      <a:pt x="23099" y="0"/>
                      <a:pt x="0" y="23099"/>
                      <a:pt x="0" y="51594"/>
                    </a:cubicBez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079456" y="125015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4288">
                <a:solidFill>
                  <a:srgbClr val="1F3A5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370445" y="12506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后续计划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162800" y="1866900"/>
            <a:ext cx="9525" cy="3181350"/>
            <a:chOff x="7162800" y="1866900"/>
            <a:chExt cx="9525" cy="3181350"/>
          </a:xfrm>
        </p:grpSpPr>
        <p:sp>
          <p:nvSpPr>
            <p:cNvPr id="28" name="Line 28"/>
            <p:cNvSpPr/>
            <p:nvPr/>
          </p:nvSpPr>
          <p:spPr>
            <a:xfrm>
              <a:off x="7162800" y="1866900"/>
              <a:ext cx="9525" cy="3181350"/>
            </a:xfrm>
            <a:custGeom>
              <a:avLst/>
              <a:gdLst/>
              <a:ahLst/>
              <a:cxnLst/>
              <a:rect l="l" t="t" r="r" b="b"/>
              <a:pathLst>
                <a:path w="9525" h="3181350">
                  <a:moveTo>
                    <a:pt x="0" y="0"/>
                  </a:moveTo>
                  <a:lnTo>
                    <a:pt x="0" y="3181350"/>
                  </a:lnTo>
                </a:path>
              </a:pathLst>
            </a:custGeom>
            <a:noFill/>
            <a:ln w="19050">
              <a:solidFill>
                <a:srgbClr val="5B7BA6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096125" y="1786414"/>
            <a:ext cx="4696539" cy="492442"/>
            <a:chOff x="7096125" y="1786414"/>
            <a:chExt cx="4696539" cy="492442"/>
          </a:xfrm>
        </p:grpSpPr>
        <p:sp>
          <p:nvSpPr>
            <p:cNvPr id="30" name="Ellipse 30"/>
            <p:cNvSpPr/>
            <p:nvPr/>
          </p:nvSpPr>
          <p:spPr>
            <a:xfrm>
              <a:off x="7096125" y="1800225"/>
              <a:ext cx="133350" cy="1333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75208" y="1786414"/>
              <a:ext cx="26621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以 FML 为底座，建立结构规范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77112" y="2050256"/>
              <a:ext cx="44155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研究 AI 生成 RTL 的实现规范，以及设计知识如何组织与积累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096125" y="2815114"/>
            <a:ext cx="4984075" cy="492442"/>
            <a:chOff x="7096125" y="2815114"/>
            <a:chExt cx="4984075" cy="492442"/>
          </a:xfrm>
        </p:grpSpPr>
        <p:sp>
          <p:nvSpPr>
            <p:cNvPr id="34" name="Ellipse 34"/>
            <p:cNvSpPr/>
            <p:nvPr/>
          </p:nvSpPr>
          <p:spPr>
            <a:xfrm>
              <a:off x="7096125" y="2828925"/>
              <a:ext cx="133350" cy="1333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75208" y="2815114"/>
              <a:ext cx="19876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建立可量化的验收标准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77112" y="3078956"/>
              <a:ext cx="47030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各类检查分别能抓住什么、会漏掉什么；在 Hazard3 上外部验证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096125" y="3843814"/>
            <a:ext cx="3653194" cy="492442"/>
            <a:chOff x="7096125" y="3843814"/>
            <a:chExt cx="3653194" cy="492442"/>
          </a:xfrm>
        </p:grpSpPr>
        <p:sp>
          <p:nvSpPr>
            <p:cNvPr id="38" name="Ellipse 38"/>
            <p:cNvSpPr/>
            <p:nvPr/>
          </p:nvSpPr>
          <p:spPr>
            <a:xfrm>
              <a:off x="7096125" y="3857625"/>
              <a:ext cx="133350" cy="1333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5B7BA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75208" y="3843814"/>
              <a:ext cx="33074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5B7BA6"/>
                  </a:solidFill>
                  <a:latin typeface="Arial"/>
                  <a:ea typeface="Microsoft YaHei"/>
                  <a:cs typeface="Arial"/>
                </a:rPr>
                <a:t>向上延伸：软硬件协同的 AI 架构</a:t>
              </a:r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 xml:space="preserve"> 长期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77112" y="4107656"/>
              <a:ext cx="33722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深入编译器，从 AI for RTL 往上探索架构设计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077075" y="4867275"/>
            <a:ext cx="1503665" cy="264319"/>
            <a:chOff x="7077075" y="4867275"/>
            <a:chExt cx="1503665" cy="264319"/>
          </a:xfrm>
        </p:grpSpPr>
        <p:sp>
          <p:nvSpPr>
            <p:cNvPr id="42" name="Ellipse 42"/>
            <p:cNvSpPr/>
            <p:nvPr/>
          </p:nvSpPr>
          <p:spPr>
            <a:xfrm>
              <a:off x="7077075" y="4867275"/>
              <a:ext cx="171450" cy="171450"/>
            </a:xfrm>
            <a:prstGeom prst="ellipse">
              <a:avLst/>
            </a:prstGeom>
            <a:solidFill>
              <a:srgbClr val="C8102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75208" y="487251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8102E"/>
                  </a:solidFill>
                  <a:latin typeface="Arial"/>
                  <a:ea typeface="Microsoft YaHei"/>
                  <a:cs typeface="Arial"/>
                </a:rPr>
                <a:t>学位论文撰写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5334000"/>
            <a:ext cx="11049000" cy="1019175"/>
            <a:chOff x="571500" y="5334000"/>
            <a:chExt cx="11049000" cy="1019175"/>
          </a:xfrm>
        </p:grpSpPr>
        <p:sp>
          <p:nvSpPr>
            <p:cNvPr id="45" name="Rectangle 45"/>
            <p:cNvSpPr/>
            <p:nvPr/>
          </p:nvSpPr>
          <p:spPr>
            <a:xfrm>
              <a:off x="571500" y="5334000"/>
              <a:ext cx="11049000" cy="4191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85812" y="5479256"/>
              <a:ext cx="8810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公司流程给研究的启发：</a:t>
              </a:r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规格是唯一来源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→ 结构规格作为验收依据；</a:t>
              </a:r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验证分层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→ 多类检查；</a:t>
              </a:r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接口对齐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→ 写清级间传递什么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81575" y="6048375"/>
              <a:ext cx="222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恳请各位老师批评指正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497342" y="658939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/>
      <p:bldP spid="27" grpId="0"/>
      <p:bldP spid="29" grpId="0"/>
      <p:bldP spid="33" grpId="0"/>
      <p:bldP spid="37" grpId="0"/>
      <p:bldP spid="41" grpId="0"/>
      <p:bldP spid="44" grpId="0"/>
      <p:bldP spid="4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