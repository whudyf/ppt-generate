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各位老师好，我汇报的题目是硕士中期考核工作进展。这一年我的工作围绕三条线展开：GPU 体系结构学习、AI for EDA 的研究思路构建，以及在公司参与芯片项目、学习工业界的设计验证流程。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先用一页说明三条线的关系。GPU 是我的研究对象；公司的芯片项目给了我一个工程参照，让我看到成熟团队怎样组织规格、设计和验证；这两条线最后收敛到我的研究问题，也就是 AI 去写大规模 RTL 时，我们该如何验收它。下面的时间轴上，轴上方是研究线，轴下方是公司项目，空心点表示学习或暂缓的工作。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第一部分是 GPU 学习。我的研究对象是 GPU，所以第一件事是把它从上到下读透。我以 curryGPU 这个工程为对象，按图从左到右：最外层是整机，命令处理器把线程块分发到各个 SM；中间是 SM，四个 subcore 共享访存和特殊功能单元；右边是我重点读的 subcore，每个 subcore 管理十六个 warp。读下来最核心的一点是：GPU 不靠单线程快，而是靠每拍从多个 warp 里挑一个能发射的，来掩盖访存延迟，调度器、scoreboard 和独立线程调度都是围绕这件事设计的。有了这张图，我才能往下改 RTL。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在读懂结构之后，我对 subcore 的 RTL 做了一次流水线重构。原来的 RTL 功能是正确的，问题在于结构不清晰：发射路径是一整条组合链，级与级之间直接组合读取对方的内部状态，挡住发射的条件散落在六千多行的顶层里，还有同一 warp 只能隔拍发射这样的隐式约定。右边是重构的目标结构：七个大级，每级持有自己的状态，级间只走寄存过的事件，固定延迟路径不反压，变长指令按配额发射。在此之前，我还探索过加速器模拟器和 workload trace 压缩，这条线需要定制 NPU 的系统经验做支撑，我目前还缺这方面的积累，所以先暂缓，计划在后续接触到机柜级 NPU 之后再继续。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重构的方法是先定结构、再动代码：先写结构规范、画出目标图，对照目标图列出六十三项修改，然后在行为不变的前提下按级搬迁，每次提交都跑完整的 VCS 验收并记录周期变化。最终一共一百三十次提交，顶层代码减少了百分之四十三，每次提交都完整验收。过程中还顺带修掉了一些真实缺陷，比如 shared memory 的读后写漏洞，在七千多次重试里有九十六次读到了新值。但重构过程中我也发现，有些问题功能验证全部通过也抓不到，这就是我研究问题的来源。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进入第二部分，先看 AI 生成 RTL 这个领域现在走到了哪一步。现有工作大致分四条路线，左边列出来了，它们的区别主要在于给模型什么输入：从自然语言，到中间表示，再到参考模型。看右边的结果：单个模块，模型已经能做到九成以上正确；一到 SoC 级、子系统级，通过率就掉到六成、三成；到了流水线和层次化设计，所有模型都失败了。文献里有一个很重要的规律：换一种中间表示，成功率能从百分之三提到百分之八十八，而换更强的模型，提升不到一点二五倍。也就是说，瓶颈在表示，不在模型。但即便是做中间表示的工作，检查正确性时也只看端口输入输出，不看逻辑在哪一级、状态归谁、时序对不对。这个空白，我在自己的项目里正好亲身碰到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 subcore 有十万多行 Verilog，大部分由 AI agent 编写和重构。我们每次提交都跑完整的功能验证，但发现，功能全部通过，问题照样漏过去。举一个例子：有一次提交把一段逻辑从一个模块搬到另一个模块，说明写的是行为不变，验证结果也确实是十个用例周期数完全一样，SoC 上每个 kernel 的拍数也没变；但搬完之后，有一段本该属于上一级的逻辑落进了 S4，和设计图对不上，这个偏差一路带过了好几次提交，所有现有检查都没有发现。第二类是时序，有两次提交让程序慢了百分之六到八，恰好落在性能模型的误差范围内。第三类更隐蔽，是验证手段自己失效了，比如验收脚本只看有没有打印 PASS，漏掉了实际发生的硬件故障。所以我需要一层能被检查的规格，同时管住结构、功能和时序，还能发现哪条需求其实没人在查。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针对这个问题，我的思路是把设计图变成一份能自动检查的规格，用它来验收 AI 写出的 RTL。第一，规格里每一条需求都写清依据从哪来、现在是什么状态、由哪一个检查负责，写不出检查的需求单独列出来。第二，采用没登记就报错的原则，网表里出现的每个寄存器、每条级间连线，都必须在规格里有归属；上一页那个案例正是这样被抓到的，检查器看到那段逻辑连在 S4 上，报出了一组未登记连线。第三，对应三类问题用三类检查：功能用逐条指令比对，结构用网表检查，时序用流水级边界上的逐周期比对。最终我想回答每一类检查各自抓住了什么、只做功能测试会漏掉多少，这是我准备作为主要贡献的部分。原型目前的结果是：人为注入的十六种缺陷全部被拦下，第一次在真实 RTL 上运行就发现了五处功能测试看不见的结构分歧，六个流水级都已接入提交门禁。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接下来是一个外部实证。左边是我使用的底座 FML，这套建模框架由合作者开发，它已经逐周期复现了 GPGPU-Sim，在 rodinia 的十一个基准上和原版完全一致。我在它上面做了路线 B 实验：从 GPGPU-Sim 中切出一个流水级，写成边界规格，先和参照模型对齐，偏差逐条登记；然后只把规格和接口交给 AI，让它独立写 RTL；最后在边界上逐周期比对。结果是，规格在一百三十六万个周期上和参照一致；按 subcore 拆分边界之后，综合出的最长逻辑路径从四百三十五级降到四十二级，周期代价只有万分之二点六；四个模块集成成完整的 subcore，在五百五十一万个周期上通过验收。还有一个重要发现：单个模块各自验收都通过，集成时才暴露出一个接口缺口，说明边界规格本身也需要被检查。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第三部分是公司学习。在公司期间，我参与了三个芯片项目，另外系统学习了一个 SoC 项目的设计，出于保密，这里用 A 到 D 代称。我把这些经验归纳成芯片设计验证的五层流程，就是左边这五层。大家看右边的点：A 和 B 集中在设计层，让我理解了 SoC 怎么集成、一个模块怎么写；C 和 D 集中在下面几层，让我看到了验证、多模式仿真和可测性是怎么组织的。四个项目各补一块，合起来覆盖了完整的链条。这五层里我感受最深的是最上面这一层：在成熟的流程里，规格是唯一的来源，设计和验证都从它派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先看设计侧。项目 A 是我学习的一个 RISC-V SoC，从它身上我看懂了一颗 SoC 是怎么搭起来的：处理器核、总线、存储器大多是第三方 IP，公司的工作主要是集成；每个 IP 单独一个目录，带自己的文件清单；和工艺相关的单元单独放一层。项目 B 是一个图像处理 DSP，我负责的是它验证环境里的 scoreboard，也就是自动比对输出对不对的那部分。要写比对就得先把设计读透，所以我从中学到了一个模块应该怎么写：每个任务都是工作态加等待态成对出现，状态编码直接拿来做时钟门控，数据通路统一用握手流水，接口按从哪个模块到哪个模块来命名。这种写法后来直接用在了我的 GPU 重构里，subcore 完成信号的设计就是参考这个 DSP 做的。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再看验证侧。项目 C 是一颗混合信号光感芯片，我在这个项目里参与了比较多的验证，主要负责三块：光谱通道也就是 AL 部分的验证，检查光信号经过模数转换和滤波后读出来的数据对不对；时序检查，确认数字和模拟之间的控制信号按时序图规定的先后和间隔出现；以及部分看门狗的验证。这个项目的验证是规格驱动的，寄存器表同时生成设计侧的寄存器实现和验证侧的检查宏，用例继承同一个基类、按功能分组，由回归脚本批量投到集群上跑。项目 D 是一颗光学防抖驱动芯片，我主要协助做数模混合仿真，用的是 Synopsys 和 Cadence 的工具。混仿的难点不在跑仿真本身，而在配置：一边是 CPU 启动和固件相关的要求，另一边是模拟电路的配置，两边细节都要对上，所以我花了很多时间和数字、模拟两边的同事沟通。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公司学习的收获，我归纳为五点，每一点都来自具体的项目：规格是唯一来源；验证要分层；同一套环境支持多种仿真模式；可测性要前置；以及接口细节必须跨团队对齐，这一点是我在混仿中体会最深的。回过头看，这些经验和我的研究是一一对应的。工业流程靠人写的规格加上分层验证来保证质量，而 AI 写 RTL 时，恰恰缺少这一层。我在第二部分做的，就是把这一层补上：用结构规格作为验收依据，用分层的检查来验收，并且把流水级之间传递什么写清楚。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最后是总结和计划。这一年我完成了 GPU 体系结构与模拟器的学习、subcore 流水线重构、AI 生成 RTL 的调研和结构规格原型、GPGPU-Sim 上的路线 B 实验，以及公司芯片项目的流程学习。后续计划主要有四点：第一，以 FML 为底座，建立 AI 生成 RTL 的结构规范，同时研究设计知识怎么组织和积累；第二，在此基础上建立可以量化的验收标准，回答每一类检查能抓住什么、会漏掉什么，Hazard3 会是第一个外部验证对象；第三，更长远地，我希望从 RTL 往上走，深入编译器，探索软硬件协同的 AI 架构设计；最后是学位论文的撰写。具体节奏会根据实验进展和导师的意见调整。我的汇报就到这里，恳请各位老师批评指正。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1fa13a937006080.jp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c3fdf723a507af2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1143000" y="2190750"/>
            <a:ext cx="6675120" cy="1276350"/>
            <a:chOff x="1143000" y="2190750"/>
            <a:chExt cx="6675120" cy="1276350"/>
          </a:xfrm>
        </p:grpSpPr>
        <p:sp>
          <p:nvSpPr>
            <p:cNvPr id="3" name="Rectangle 3"/>
            <p:cNvSpPr/>
            <p:nvPr/>
          </p:nvSpPr>
          <p:spPr>
            <a:xfrm>
              <a:off x="1143000" y="2190750"/>
              <a:ext cx="57150" cy="12192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436370" y="2341245"/>
              <a:ext cx="488365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硕士中期考核汇报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463040" y="3101340"/>
              <a:ext cx="63550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GPU 体系结构 · AI for EDA · 工业级芯片设计验证流程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6850" y="4000500"/>
            <a:ext cx="5772150" cy="942975"/>
            <a:chOff x="1466850" y="4000500"/>
            <a:chExt cx="5772150" cy="942975"/>
          </a:xfrm>
        </p:grpSpPr>
        <p:sp>
          <p:nvSpPr>
            <p:cNvPr id="7" name="Line 7"/>
            <p:cNvSpPr/>
            <p:nvPr/>
          </p:nvSpPr>
          <p:spPr>
            <a:xfrm>
              <a:off x="1485900" y="4000500"/>
              <a:ext cx="5753100" cy="9525"/>
            </a:xfrm>
            <a:custGeom>
              <a:avLst/>
              <a:gdLst/>
              <a:ahLst/>
              <a:cxnLst/>
              <a:rect l="l" t="t" r="r" b="b"/>
              <a:pathLst>
                <a:path w="5753100" h="9525">
                  <a:moveTo>
                    <a:pt x="0" y="0"/>
                  </a:moveTo>
                  <a:lnTo>
                    <a:pt x="57531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66850" y="4276725"/>
              <a:ext cx="356520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汇报人：________ 导师：________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66850" y="4638675"/>
              <a:ext cx="13415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2026 年 10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1020" y="483870"/>
            <a:ext cx="11079480" cy="487680"/>
            <a:chOff x="541020" y="483870"/>
            <a:chExt cx="11079480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631774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一年工作总览：三条线，一个研究问题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55308" y="1295400"/>
            <a:ext cx="2667310" cy="959644"/>
            <a:chOff x="555308" y="1295400"/>
            <a:chExt cx="2667310" cy="959644"/>
          </a:xfrm>
        </p:grpSpPr>
        <p:grpSp>
          <p:nvGrpSpPr>
            <p:cNvPr id="16" name="Group 16"/>
            <p:cNvGrpSpPr/>
            <p:nvPr/>
          </p:nvGrpSpPr>
          <p:grpSpPr>
            <a:xfrm>
              <a:off x="609600" y="1295400"/>
              <a:ext cx="228600" cy="228600"/>
              <a:chOff x="609600" y="1295400"/>
              <a:chExt cx="228600" cy="2286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35000" y="132080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165100" y="0"/>
                    </a:lnTo>
                    <a:cubicBezTo>
                      <a:pt x="172114" y="0"/>
                      <a:pt x="177800" y="5686"/>
                      <a:pt x="177800" y="12700"/>
                    </a:cubicBezTo>
                    <a:lnTo>
                      <a:pt x="177800" y="165100"/>
                    </a:lnTo>
                    <a:cubicBezTo>
                      <a:pt x="177800" y="172114"/>
                      <a:pt x="172114" y="177800"/>
                      <a:pt x="165100" y="177800"/>
                    </a:cubicBezTo>
                    <a:lnTo>
                      <a:pt x="12700" y="177800"/>
                    </a:lnTo>
                    <a:cubicBezTo>
                      <a:pt x="5686" y="177800"/>
                      <a:pt x="0" y="172114"/>
                      <a:pt x="0" y="1651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5800" y="13716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76200"/>
                    </a:lnTo>
                    <a:lnTo>
                      <a:pt x="0" y="76200"/>
                    </a:ln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09600" y="13843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09600" y="14351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98500" y="12954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49300" y="12954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12800" y="13843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12800" y="14351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49300" y="14986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98500" y="14986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967740" y="1310640"/>
              <a:ext cx="11360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GPU 学习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5308" y="1748314"/>
              <a:ext cx="26673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研究对象：体系结构 → 模拟器与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5308" y="1995964"/>
              <a:ext cx="17269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性能模型 → RTL 实现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65308" y="1295395"/>
            <a:ext cx="2648688" cy="959649"/>
            <a:chOff x="4365308" y="1295395"/>
            <a:chExt cx="2648688" cy="959649"/>
          </a:xfrm>
        </p:grpSpPr>
        <p:grpSp>
          <p:nvGrpSpPr>
            <p:cNvPr id="26" name="Group 26"/>
            <p:cNvGrpSpPr/>
            <p:nvPr/>
          </p:nvGrpSpPr>
          <p:grpSpPr>
            <a:xfrm>
              <a:off x="4419600" y="1295395"/>
              <a:ext cx="228600" cy="238130"/>
              <a:chOff x="4419600" y="1295395"/>
              <a:chExt cx="228600" cy="23813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419600" y="15240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4288">
                <a:solidFill>
                  <a:srgbClr val="5B7BA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445000" y="1371600"/>
                <a:ext cx="1778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52400">
                    <a:moveTo>
                      <a:pt x="0" y="152400"/>
                    </a:moveTo>
                    <a:lnTo>
                      <a:pt x="0" y="0"/>
                    </a:lnTo>
                    <a:lnTo>
                      <a:pt x="63500" y="50800"/>
                    </a:lnTo>
                    <a:lnTo>
                      <a:pt x="63500" y="0"/>
                    </a:lnTo>
                    <a:lnTo>
                      <a:pt x="127000" y="50800"/>
                    </a:lnTo>
                    <a:lnTo>
                      <a:pt x="177800" y="50800"/>
                    </a:lnTo>
                  </a:path>
                </a:pathLst>
              </a:custGeom>
              <a:noFill/>
              <a:ln w="14288">
                <a:solidFill>
                  <a:srgbClr val="5B7BA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559300" y="1295395"/>
                <a:ext cx="63500" cy="22860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28605">
                    <a:moveTo>
                      <a:pt x="63500" y="228605"/>
                    </a:moveTo>
                    <a:lnTo>
                      <a:pt x="63500" y="127005"/>
                    </a:lnTo>
                    <a:lnTo>
                      <a:pt x="45263" y="5415"/>
                    </a:lnTo>
                    <a:cubicBezTo>
                      <a:pt x="44797" y="2303"/>
                      <a:pt x="42123" y="2"/>
                      <a:pt x="38976" y="5"/>
                    </a:cubicBezTo>
                    <a:lnTo>
                      <a:pt x="24435" y="5"/>
                    </a:lnTo>
                    <a:cubicBezTo>
                      <a:pt x="21326" y="0"/>
                      <a:pt x="18671" y="2247"/>
                      <a:pt x="18161" y="5313"/>
                    </a:cubicBezTo>
                    <a:lnTo>
                      <a:pt x="0" y="114305"/>
                    </a:lnTo>
                  </a:path>
                </a:pathLst>
              </a:custGeom>
              <a:noFill/>
              <a:ln w="14288">
                <a:solidFill>
                  <a:srgbClr val="5B7BA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495800" y="147320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14288">
                <a:solidFill>
                  <a:srgbClr val="5B7BA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559300" y="147320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14288">
                <a:solidFill>
                  <a:srgbClr val="5B7BA6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777740" y="13106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公司学习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65308" y="1748314"/>
              <a:ext cx="264868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工程参照：参与 3 个、学习 1 个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65308" y="1995964"/>
              <a:ext cx="21831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芯片项目的设计—验证流程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175308" y="1295400"/>
            <a:ext cx="2713863" cy="959644"/>
            <a:chOff x="8175308" y="1295400"/>
            <a:chExt cx="2713863" cy="959644"/>
          </a:xfrm>
        </p:grpSpPr>
        <p:grpSp>
          <p:nvGrpSpPr>
            <p:cNvPr id="34" name="Group 34"/>
            <p:cNvGrpSpPr/>
            <p:nvPr/>
          </p:nvGrpSpPr>
          <p:grpSpPr>
            <a:xfrm>
              <a:off x="8229600" y="1295400"/>
              <a:ext cx="228600" cy="228600"/>
              <a:chOff x="8229600" y="1295400"/>
              <a:chExt cx="228600" cy="228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229600" y="129540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900" y="114300"/>
                    </a:moveTo>
                    <a:lnTo>
                      <a:pt x="228600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14288">
                <a:solidFill>
                  <a:srgbClr val="C8102E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5015" y="1346200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1"/>
                      <a:pt x="0" y="69349"/>
                      <a:pt x="8643" y="43420"/>
                    </a:cubicBezTo>
                    <a:cubicBezTo>
                      <a:pt x="17286" y="17490"/>
                      <a:pt x="41552" y="0"/>
                      <a:pt x="68885" y="0"/>
                    </a:cubicBezTo>
                    <a:cubicBezTo>
                      <a:pt x="96217" y="0"/>
                      <a:pt x="120483" y="17490"/>
                      <a:pt x="129126" y="43420"/>
                    </a:cubicBezTo>
                    <a:cubicBezTo>
                      <a:pt x="137769" y="69349"/>
                      <a:pt x="128850" y="97901"/>
                      <a:pt x="106985" y="114300"/>
                    </a:cubicBezTo>
                    <a:cubicBezTo>
                      <a:pt x="96928" y="124255"/>
                      <a:pt x="92212" y="138402"/>
                      <a:pt x="94285" y="152400"/>
                    </a:cubicBezTo>
                    <a:cubicBezTo>
                      <a:pt x="94285" y="166428"/>
                      <a:pt x="82913" y="177800"/>
                      <a:pt x="68885" y="177800"/>
                    </a:cubicBezTo>
                    <a:cubicBezTo>
                      <a:pt x="54857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5"/>
                      <a:pt x="30785" y="114300"/>
                    </a:cubicBezTo>
                  </a:path>
                </a:pathLst>
              </a:custGeom>
              <a:noFill/>
              <a:ln w="14288">
                <a:solidFill>
                  <a:srgbClr val="C8102E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14690" y="1473200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14288">
                <a:solidFill>
                  <a:srgbClr val="C8102E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587740" y="1310640"/>
              <a:ext cx="13568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AI for EDA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75308" y="1748314"/>
              <a:ext cx="271386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研究问题：AI 写大规模 RTL 时，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75308" y="199596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缺少一层可检查的规格与验收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7212" y="2640806"/>
            <a:ext cx="11063288" cy="1750219"/>
            <a:chOff x="557212" y="2640806"/>
            <a:chExt cx="11063288" cy="1750219"/>
          </a:xfrm>
        </p:grpSpPr>
        <p:sp>
          <p:nvSpPr>
            <p:cNvPr id="39" name="TextBox 39"/>
            <p:cNvSpPr txBox="1"/>
            <p:nvPr/>
          </p:nvSpPr>
          <p:spPr>
            <a:xfrm>
              <a:off x="557212" y="2640806"/>
              <a:ext cx="51220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时间线（轴上方：研究线；轴下方：公司项目；空心点：学习或暂缓）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71500" y="4381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527495" y="4314825"/>
            <a:ext cx="1231011" cy="942975"/>
            <a:chOff x="527495" y="4314825"/>
            <a:chExt cx="1231011" cy="942975"/>
          </a:xfrm>
        </p:grpSpPr>
        <p:sp>
          <p:nvSpPr>
            <p:cNvPr id="42" name="Line 42"/>
            <p:cNvSpPr/>
            <p:nvPr/>
          </p:nvSpPr>
          <p:spPr>
            <a:xfrm>
              <a:off x="1143000" y="4381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76325" y="43148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A3A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8939" y="4774406"/>
              <a:ext cx="4081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2025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7495" y="5013960"/>
              <a:ext cx="12310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项目 A（学习）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840802" y="3593306"/>
            <a:ext cx="1423797" cy="864394"/>
            <a:chOff x="1840802" y="3593306"/>
            <a:chExt cx="1423797" cy="864394"/>
          </a:xfrm>
        </p:grpSpPr>
        <p:sp>
          <p:nvSpPr>
            <p:cNvPr id="47" name="Line 47"/>
            <p:cNvSpPr/>
            <p:nvPr/>
          </p:nvSpPr>
          <p:spPr>
            <a:xfrm>
              <a:off x="2552700" y="4095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2476500" y="4305300"/>
              <a:ext cx="152400" cy="1524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063978" y="3593306"/>
              <a:ext cx="9774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2025 下半年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840802" y="3832860"/>
              <a:ext cx="14237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GPU 体系结构入门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285554" y="4305300"/>
            <a:ext cx="1353693" cy="952500"/>
            <a:chOff x="3285554" y="4305300"/>
            <a:chExt cx="1353693" cy="952500"/>
          </a:xfrm>
        </p:grpSpPr>
        <p:sp>
          <p:nvSpPr>
            <p:cNvPr id="52" name="Line 52"/>
            <p:cNvSpPr/>
            <p:nvPr/>
          </p:nvSpPr>
          <p:spPr>
            <a:xfrm>
              <a:off x="3962400" y="4381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3886200" y="4305300"/>
              <a:ext cx="152400" cy="152400"/>
            </a:xfrm>
            <a:prstGeom prst="ellipse">
              <a:avLst/>
            </a:prstGeom>
            <a:solidFill>
              <a:srgbClr val="5B7BA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637574" y="4774406"/>
              <a:ext cx="649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2026.01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285554" y="5013960"/>
              <a:ext cx="1353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项目 D · OIS SoC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660202" y="4305300"/>
            <a:ext cx="1423797" cy="952500"/>
            <a:chOff x="4660202" y="4305300"/>
            <a:chExt cx="1423797" cy="952500"/>
          </a:xfrm>
        </p:grpSpPr>
        <p:sp>
          <p:nvSpPr>
            <p:cNvPr id="57" name="Line 57"/>
            <p:cNvSpPr/>
            <p:nvPr/>
          </p:nvSpPr>
          <p:spPr>
            <a:xfrm>
              <a:off x="5372100" y="4381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5295900" y="4305300"/>
              <a:ext cx="152400" cy="152400"/>
            </a:xfrm>
            <a:prstGeom prst="ellipse">
              <a:avLst/>
            </a:prstGeom>
            <a:solidFill>
              <a:srgbClr val="5B7BA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025708" y="4774406"/>
              <a:ext cx="6927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2026.03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660202" y="5013960"/>
              <a:ext cx="14237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项目 B · 图像 DSP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750052" y="3593306"/>
            <a:ext cx="2063496" cy="854869"/>
            <a:chOff x="5750052" y="3593306"/>
            <a:chExt cx="2063496" cy="854869"/>
          </a:xfrm>
        </p:grpSpPr>
        <p:sp>
          <p:nvSpPr>
            <p:cNvPr id="62" name="Line 62"/>
            <p:cNvSpPr/>
            <p:nvPr/>
          </p:nvSpPr>
          <p:spPr>
            <a:xfrm>
              <a:off x="6781800" y="4095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6715125" y="43148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A3AF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35408" y="3593306"/>
              <a:ext cx="6927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2026.06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750052" y="3832860"/>
              <a:ext cx="20634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trace 压缩（探索·暂缓）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475220" y="4305300"/>
            <a:ext cx="1432560" cy="952500"/>
            <a:chOff x="7475220" y="4305300"/>
            <a:chExt cx="1432560" cy="952500"/>
          </a:xfrm>
        </p:grpSpPr>
        <p:sp>
          <p:nvSpPr>
            <p:cNvPr id="67" name="Line 67"/>
            <p:cNvSpPr/>
            <p:nvPr/>
          </p:nvSpPr>
          <p:spPr>
            <a:xfrm>
              <a:off x="8191500" y="4381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8115300" y="4305300"/>
              <a:ext cx="152400" cy="152400"/>
            </a:xfrm>
            <a:prstGeom prst="ellipse">
              <a:avLst/>
            </a:prstGeom>
            <a:solidFill>
              <a:srgbClr val="5B7BA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702778" y="4774406"/>
              <a:ext cx="9774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2026.06–09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75220" y="5013960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项目 C · 光感芯片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876157" y="3593306"/>
            <a:ext cx="1450086" cy="864394"/>
            <a:chOff x="8876157" y="3593306"/>
            <a:chExt cx="1450086" cy="864394"/>
          </a:xfrm>
        </p:grpSpPr>
        <p:sp>
          <p:nvSpPr>
            <p:cNvPr id="72" name="Line 72"/>
            <p:cNvSpPr/>
            <p:nvPr/>
          </p:nvSpPr>
          <p:spPr>
            <a:xfrm>
              <a:off x="9601200" y="4095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9525000" y="4305300"/>
              <a:ext cx="152400" cy="1524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276374" y="3593306"/>
              <a:ext cx="649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2026.10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876157" y="3832860"/>
              <a:ext cx="14500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subcore RTL 重构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975342" y="3174206"/>
            <a:ext cx="1660398" cy="1302544"/>
            <a:chOff x="9975342" y="3174206"/>
            <a:chExt cx="1660398" cy="1302544"/>
          </a:xfrm>
        </p:grpSpPr>
        <p:sp>
          <p:nvSpPr>
            <p:cNvPr id="77" name="Line 77"/>
            <p:cNvSpPr/>
            <p:nvPr/>
          </p:nvSpPr>
          <p:spPr>
            <a:xfrm>
              <a:off x="11010900" y="36766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10915650" y="4286250"/>
              <a:ext cx="190500" cy="19050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985135" y="3174206"/>
              <a:ext cx="649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2026.10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975342" y="3413760"/>
              <a:ext cx="16603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结构规范 · FML 实验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71500" y="5715000"/>
            <a:ext cx="11049000" cy="533400"/>
            <a:chOff x="571500" y="5715000"/>
            <a:chExt cx="11049000" cy="533400"/>
          </a:xfrm>
        </p:grpSpPr>
        <p:sp>
          <p:nvSpPr>
            <p:cNvPr id="82" name="Rectangle 82"/>
            <p:cNvSpPr/>
            <p:nvPr/>
          </p:nvSpPr>
          <p:spPr>
            <a:xfrm>
              <a:off x="571500" y="5715000"/>
              <a:ext cx="11049000" cy="5334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81050" y="5895975"/>
              <a:ext cx="82862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以 GPU 为对象、以工业流程为参照，收敛到研究问题：</a:t>
              </a:r>
              <a:r>
                <a:rPr lang="zh-CN" sz="15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如何验收 AI 生成的大规模 RTL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85" name="TextBox 85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7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55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0" grpId="0"/>
      <p:bldP spid="38" grpId="0"/>
      <p:bldP spid="41" grpId="0"/>
      <p:bldP spid="46" grpId="0"/>
      <p:bldP spid="51" grpId="0"/>
      <p:bldP spid="56" grpId="0"/>
      <p:bldP spid="61" grpId="0"/>
      <p:bldP spid="66" grpId="0"/>
      <p:bldP spid="71" grpId="0"/>
      <p:bldP spid="76" grpId="0"/>
      <p:bldP spid="81" grpId="0"/>
      <p:bldP spid="8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609691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GPU 学习：从整机到 subcore 流水线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03944" y="621506"/>
              <a:ext cx="1030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一 · GPU 学习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162050"/>
            <a:ext cx="11061382" cy="4055269"/>
            <a:chOff x="571500" y="1162050"/>
            <a:chExt cx="11061382" cy="4055269"/>
          </a:xfrm>
        </p:grpSpPr>
        <p:sp>
          <p:nvSpPr>
            <p:cNvPr id="7" name="Rectangle 7"/>
            <p:cNvSpPr/>
            <p:nvPr/>
          </p:nvSpPr>
          <p:spPr>
            <a:xfrm>
              <a:off x="571500" y="1162050"/>
              <a:ext cx="11049000" cy="3771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7873" y="1171575"/>
              <a:ext cx="10996254" cy="375285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8532304" y="5019199"/>
              <a:ext cx="31005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curryGPU 三层架构：GPU / SoC → SM → subcore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2450" y="5305425"/>
            <a:ext cx="2987421" cy="828675"/>
            <a:chOff x="552450" y="5305425"/>
            <a:chExt cx="2987421" cy="828675"/>
          </a:xfrm>
        </p:grpSpPr>
        <p:sp>
          <p:nvSpPr>
            <p:cNvPr id="11" name="TextBox 11"/>
            <p:cNvSpPr txBox="1"/>
            <p:nvPr/>
          </p:nvSpPr>
          <p:spPr>
            <a:xfrm>
              <a:off x="552450" y="53054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层次结构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6260" y="5642610"/>
              <a:ext cx="2983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GPU → GPC → TPC → SM → 4 个 subcore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6260" y="5890260"/>
              <a:ext cx="24052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每个 subcore </a:t>
              </a:r>
              <a:r>
                <a:rPr lang="zh-CN" sz="12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16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个 warp slot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191000" y="5295900"/>
            <a:ext cx="3363468" cy="990600"/>
            <a:chOff x="4191000" y="5295900"/>
            <a:chExt cx="3363468" cy="990600"/>
          </a:xfrm>
        </p:grpSpPr>
        <p:sp>
          <p:nvSpPr>
            <p:cNvPr id="15" name="Line 15"/>
            <p:cNvSpPr/>
            <p:nvPr/>
          </p:nvSpPr>
          <p:spPr>
            <a:xfrm>
              <a:off x="4191000" y="52959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00550" y="5305425"/>
              <a:ext cx="16828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subcore 流水线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04360" y="5642610"/>
              <a:ext cx="24052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取指 → 译码 → warp 调度 → ITS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04360" y="5890260"/>
              <a:ext cx="31501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→ scoreboard → 读寄存器 → 执行 → 写回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01000" y="5295900"/>
            <a:ext cx="3135630" cy="990600"/>
            <a:chOff x="8001000" y="5295900"/>
            <a:chExt cx="3135630" cy="990600"/>
          </a:xfrm>
        </p:grpSpPr>
        <p:sp>
          <p:nvSpPr>
            <p:cNvPr id="20" name="Line 20"/>
            <p:cNvSpPr/>
            <p:nvPr/>
          </p:nvSpPr>
          <p:spPr>
            <a:xfrm>
              <a:off x="8001000" y="52959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10550" y="53054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学习产出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14360" y="5642610"/>
              <a:ext cx="29222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整机 / ITS / LSU / 寄存器堆子系统图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14360" y="589026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subcore 7 级目标流水线图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25" name="TextBox 25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9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712744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RTL 实践：旧 RTL 功能正确，但结构不清晰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03944" y="621506"/>
              <a:ext cx="1030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一 · GPU 学习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50545" y="1231582"/>
            <a:ext cx="3685565" cy="335280"/>
            <a:chOff x="550545" y="1231582"/>
            <a:chExt cx="3685565" cy="335280"/>
          </a:xfrm>
        </p:grpSpPr>
        <p:sp>
          <p:nvSpPr>
            <p:cNvPr id="7" name="TextBox 7"/>
            <p:cNvSpPr txBox="1"/>
            <p:nvPr/>
          </p:nvSpPr>
          <p:spPr>
            <a:xfrm>
              <a:off x="550545" y="1231582"/>
              <a:ext cx="36855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读 subcore RTL 发现的四个问题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4355" y="1702118"/>
            <a:ext cx="3729513" cy="729138"/>
            <a:chOff x="554355" y="1702118"/>
            <a:chExt cx="3729513" cy="729138"/>
          </a:xfrm>
        </p:grpSpPr>
        <p:sp>
          <p:nvSpPr>
            <p:cNvPr id="9" name="TextBox 9"/>
            <p:cNvSpPr txBox="1"/>
            <p:nvPr/>
          </p:nvSpPr>
          <p:spPr>
            <a:xfrm>
              <a:off x="554355" y="170211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2005" y="17021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发射路径是一整条组合链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4862" y="1993106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选 warp → 读寄存器 → 进执行单元同一拍完成，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4862" y="2202656"/>
              <a:ext cx="30435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估计 35–45 级逻辑，难以插入级间寄存器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54355" y="2616518"/>
            <a:ext cx="2907982" cy="519588"/>
            <a:chOff x="554355" y="2616518"/>
            <a:chExt cx="2907982" cy="519588"/>
          </a:xfrm>
        </p:grpSpPr>
        <p:sp>
          <p:nvSpPr>
            <p:cNvPr id="14" name="TextBox 14"/>
            <p:cNvSpPr txBox="1"/>
            <p:nvPr/>
          </p:nvSpPr>
          <p:spPr>
            <a:xfrm>
              <a:off x="554355" y="26165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005" y="26165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跨级组合读取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4862" y="290750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调度器直接读执行单元内部的忙状态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54355" y="3321368"/>
            <a:ext cx="3368039" cy="729138"/>
            <a:chOff x="554355" y="3321368"/>
            <a:chExt cx="3368039" cy="729138"/>
          </a:xfrm>
        </p:grpSpPr>
        <p:sp>
          <p:nvSpPr>
            <p:cNvPr id="18" name="TextBox 18"/>
            <p:cNvSpPr txBox="1"/>
            <p:nvPr/>
          </p:nvSpPr>
          <p:spPr>
            <a:xfrm>
              <a:off x="554355" y="33213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2005" y="332136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状态散落在顶层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4862" y="3612356"/>
              <a:ext cx="31175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挡住发射的条件散在 6000 多行的顶层里，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4862" y="382190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波形上看不出是谁挡的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54355" y="4235768"/>
            <a:ext cx="4000619" cy="729138"/>
            <a:chOff x="554355" y="4235768"/>
            <a:chExt cx="4000619" cy="729138"/>
          </a:xfrm>
        </p:grpSpPr>
        <p:sp>
          <p:nvSpPr>
            <p:cNvPr id="23" name="TextBox 23"/>
            <p:cNvSpPr txBox="1"/>
            <p:nvPr/>
          </p:nvSpPr>
          <p:spPr>
            <a:xfrm>
              <a:off x="554355" y="42357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2005" y="42357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隐式约定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4862" y="4526756"/>
              <a:ext cx="37501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同一 warp 只能隔拍发射，单 warp 峰值 IPC 0.5，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4862" y="47363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与性能模型不一致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43500" y="1200150"/>
            <a:ext cx="5619750" cy="4191000"/>
            <a:chOff x="5143500" y="1200150"/>
            <a:chExt cx="5619750" cy="4191000"/>
          </a:xfrm>
        </p:grpSpPr>
        <p:sp>
          <p:nvSpPr>
            <p:cNvPr id="28" name="Line 28"/>
            <p:cNvSpPr/>
            <p:nvPr/>
          </p:nvSpPr>
          <p:spPr>
            <a:xfrm>
              <a:off x="5143500" y="1200150"/>
              <a:ext cx="9525" cy="4133850"/>
            </a:xfrm>
            <a:custGeom>
              <a:avLst/>
              <a:gdLst/>
              <a:ahLst/>
              <a:cxnLst/>
              <a:rect l="l" t="t" r="r" b="b"/>
              <a:pathLst>
                <a:path w="9525" h="4133850">
                  <a:moveTo>
                    <a:pt x="0" y="0"/>
                  </a:moveTo>
                  <a:lnTo>
                    <a:pt x="0" y="41338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08295" y="1231582"/>
              <a:ext cx="2281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目标结构：7 个大级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429250" y="1562100"/>
              <a:ext cx="5334000" cy="2905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47534" y="1571625"/>
              <a:ext cx="5297431" cy="2886075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5414010" y="4652010"/>
              <a:ext cx="19320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每一级持有自己的状态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14010" y="4899660"/>
              <a:ext cx="38599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级与级之间只走寄存过的事件，不再跨级组合读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14010" y="5147310"/>
              <a:ext cx="43944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固定延迟路径不反压，变长指令按配额（credit）发射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1500" y="5676900"/>
            <a:ext cx="11049000" cy="609600"/>
            <a:chOff x="571500" y="5676900"/>
            <a:chExt cx="11049000" cy="609600"/>
          </a:xfrm>
        </p:grpSpPr>
        <p:sp>
          <p:nvSpPr>
            <p:cNvPr id="36" name="Rectangle 36"/>
            <p:cNvSpPr/>
            <p:nvPr/>
          </p:nvSpPr>
          <p:spPr>
            <a:xfrm>
              <a:off x="571500" y="5676900"/>
              <a:ext cx="11049000" cy="6096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5812" y="5803106"/>
              <a:ext cx="71758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前期探索（暂缓）</a:t>
              </a:r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：PyTorchSim 编译与模拟流程；workload trace 压缩（PKA 基线 → GCL 方案）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5812" y="6031706"/>
              <a:ext cx="65186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该方向需要定制 NPU 的系统经验支撑，目前暂缓，计划在后续接触机柜级 NPU 后继续推进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7" grpId="0"/>
      <p:bldP spid="22" grpId="0"/>
      <p:bldP spid="27" grpId="0"/>
      <p:bldP spid="35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668578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重构方法与结果：先定结构，再按级搬迁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03944" y="621506"/>
              <a:ext cx="1030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一 · GPU 学习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71500" y="1219200"/>
            <a:ext cx="11114961" cy="742950"/>
            <a:chOff x="571500" y="1219200"/>
            <a:chExt cx="11114961" cy="742950"/>
          </a:xfrm>
        </p:grpSpPr>
        <p:sp>
          <p:nvSpPr>
            <p:cNvPr id="7" name="Rectangle 7"/>
            <p:cNvSpPr/>
            <p:nvPr/>
          </p:nvSpPr>
          <p:spPr>
            <a:xfrm>
              <a:off x="571500" y="1219200"/>
              <a:ext cx="2476500" cy="742950"/>
            </a:xfrm>
            <a:prstGeom prst="roundRect">
              <a:avLst>
                <a:gd name="adj" fmla="val 5128"/>
              </a:avLst>
            </a:prstGeom>
            <a:solidFill>
              <a:srgbClr val="F5F7FA"/>
            </a:solidFill>
            <a:ln w="14288">
              <a:solidFill>
                <a:srgbClr val="1F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5808" y="1386364"/>
              <a:ext cx="11762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① 写结构规范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8665" y="1677352"/>
              <a:ext cx="23192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架构 → 流水线 → RTL，画出目标图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048000" y="1590675"/>
              <a:ext cx="3238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429000" y="1219200"/>
              <a:ext cx="2476500" cy="742950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03308" y="1386364"/>
              <a:ext cx="11762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② 列修改清单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06165" y="1677352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对照目标图，逐条列出 63 项改动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905500" y="1590675"/>
              <a:ext cx="3238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1219200"/>
              <a:ext cx="2476500" cy="742950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60808" y="1386364"/>
              <a:ext cx="1958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③ 行为不变地按级搬迁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3665" y="16773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逻辑归到所属的级，顶层只做连线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763000" y="1590675"/>
              <a:ext cx="3238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144000" y="1219200"/>
              <a:ext cx="2476500" cy="742950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18308" y="1386364"/>
              <a:ext cx="15672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④ 每次提交都验收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21165" y="1677352"/>
              <a:ext cx="23652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完整 VCS 验收，逐条记录周期变化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59118" y="2470785"/>
            <a:ext cx="10808791" cy="993934"/>
            <a:chOff x="559118" y="2470785"/>
            <a:chExt cx="10808791" cy="993934"/>
          </a:xfrm>
        </p:grpSpPr>
        <p:sp>
          <p:nvSpPr>
            <p:cNvPr id="23" name="TextBox 23"/>
            <p:cNvSpPr txBox="1"/>
            <p:nvPr/>
          </p:nvSpPr>
          <p:spPr>
            <a:xfrm>
              <a:off x="1161774" y="2470785"/>
              <a:ext cx="6482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130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25153" y="2926556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次提交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44003" y="2470785"/>
              <a:ext cx="97949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−43%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8300" y="2926556"/>
              <a:ext cx="14909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顶层 6169 → 3486 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71338" y="2470785"/>
              <a:ext cx="4205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16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56547" y="29265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个新建模块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53567" y="2470785"/>
              <a:ext cx="75176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≈80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04397" y="29265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次完整验收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5445" y="2470785"/>
              <a:ext cx="110370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17→50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87941" y="29265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启用的断言文件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21539" y="2470785"/>
              <a:ext cx="12072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−7.9%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82391" y="2926556"/>
              <a:ext cx="12855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carry2_mw 周期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9118" y="3266599"/>
              <a:ext cx="5001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统计区间 2026-10-10 至 10-22，curryGPU subcore-pipeline-structure 分支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52450" y="3600450"/>
            <a:ext cx="11068050" cy="504825"/>
            <a:chOff x="552450" y="3600450"/>
            <a:chExt cx="11068050" cy="504825"/>
          </a:xfrm>
        </p:grpSpPr>
        <p:sp>
          <p:nvSpPr>
            <p:cNvPr id="37" name="Line 37"/>
            <p:cNvSpPr/>
            <p:nvPr/>
          </p:nvSpPr>
          <p:spPr>
            <a:xfrm>
              <a:off x="571500" y="3600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2450" y="3800475"/>
              <a:ext cx="4638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重构中顺带发现并修掉的真实缺陷（举两例）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5308" y="4205764"/>
            <a:ext cx="3645216" cy="987742"/>
            <a:chOff x="555308" y="4205764"/>
            <a:chExt cx="3645216" cy="987742"/>
          </a:xfrm>
        </p:grpSpPr>
        <p:sp>
          <p:nvSpPr>
            <p:cNvPr id="40" name="TextBox 40"/>
            <p:cNvSpPr txBox="1"/>
            <p:nvPr/>
          </p:nvSpPr>
          <p:spPr>
            <a:xfrm>
              <a:off x="555308" y="4205764"/>
              <a:ext cx="24959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shared memory 读后写漏洞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7212" y="4507706"/>
              <a:ext cx="3643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读请求被拒绝重试时，后面同地址的写抢先执行：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7212" y="4736306"/>
              <a:ext cx="23206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 xml:space="preserve">7691 次重试中 </a:t>
              </a:r>
              <a:r>
                <a:rPr lang="zh-CN" sz="1125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96 次</a:t>
              </a:r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读到了新值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7212" y="4964906"/>
              <a:ext cx="3388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→ 新增 smem_war 用例，修改编译器插入等待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96000" y="4191000"/>
            <a:ext cx="4021574" cy="1143000"/>
            <a:chOff x="6096000" y="4191000"/>
            <a:chExt cx="4021574" cy="1143000"/>
          </a:xfrm>
        </p:grpSpPr>
        <p:sp>
          <p:nvSpPr>
            <p:cNvPr id="45" name="Line 45"/>
            <p:cNvSpPr/>
            <p:nvPr/>
          </p:nvSpPr>
          <p:spPr>
            <a:xfrm>
              <a:off x="6096000" y="41910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65558" y="4205764"/>
              <a:ext cx="24959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多 warp 时 ELECT 选错 lane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67462" y="4507706"/>
              <a:ext cx="37501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数据搬运被发起两次，mbarrier 永远等不到完成，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67462" y="4736306"/>
              <a:ext cx="2895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只在每个 subcore 有多个 warp 时出现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67462" y="4964906"/>
              <a:ext cx="2304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→ 修复并新增多 warp 混合用例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5676900"/>
            <a:ext cx="11049000" cy="533400"/>
            <a:chOff x="571500" y="5676900"/>
            <a:chExt cx="11049000" cy="533400"/>
          </a:xfrm>
        </p:grpSpPr>
        <p:sp>
          <p:nvSpPr>
            <p:cNvPr id="51" name="Rectangle 51"/>
            <p:cNvSpPr/>
            <p:nvPr/>
          </p:nvSpPr>
          <p:spPr>
            <a:xfrm>
              <a:off x="571500" y="5676900"/>
              <a:ext cx="11049000" cy="5334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2002" y="5856446"/>
              <a:ext cx="817373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但重构中也发现：</a:t>
              </a:r>
              <a:r>
                <a:rPr lang="zh-CN" sz="14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有些问题，功能验证全部通过也抓不到</a:t>
              </a:r>
              <a:r>
                <a:rPr lang="zh-CN" sz="14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——这是第二部分研究问题的来源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54" name="TextBox 54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6" grpId="0"/>
      <p:bldP spid="39" grpId="0"/>
      <p:bldP spid="44" grpId="0"/>
      <p:bldP spid="50" grpId="0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74586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AI 生成 RTL：模块级已饱和，到流水线就断崖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72499" y="621506"/>
              <a:ext cx="11622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二 · AI for EDA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50545" y="1250632"/>
            <a:ext cx="5937547" cy="335280"/>
            <a:chOff x="550545" y="1250632"/>
            <a:chExt cx="5937547" cy="335280"/>
          </a:xfrm>
        </p:grpSpPr>
        <p:sp>
          <p:nvSpPr>
            <p:cNvPr id="7" name="TextBox 7"/>
            <p:cNvSpPr txBox="1"/>
            <p:nvPr/>
          </p:nvSpPr>
          <p:spPr>
            <a:xfrm>
              <a:off x="550545" y="1250632"/>
              <a:ext cx="59375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现有工作的四条路线</a:t>
              </a:r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 xml:space="preserve"> 按给模型的输入，从低到高排列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2450" y="1724025"/>
            <a:ext cx="5383911" cy="542925"/>
            <a:chOff x="552450" y="1724025"/>
            <a:chExt cx="5383911" cy="542925"/>
          </a:xfrm>
        </p:grpSpPr>
        <p:sp>
          <p:nvSpPr>
            <p:cNvPr id="9" name="TextBox 9"/>
            <p:cNvSpPr txBox="1"/>
            <p:nvPr/>
          </p:nvSpPr>
          <p:spPr>
            <a:xfrm>
              <a:off x="552450" y="1724025"/>
              <a:ext cx="2336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4402" y="1732121"/>
              <a:ext cx="15658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数据与微调模型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7260" y="2023110"/>
              <a:ext cx="49991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RTLCoder、CodeV-R1、VeriReason：用模块级 testbench 训练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52450" y="2524125"/>
            <a:ext cx="4770501" cy="542925"/>
            <a:chOff x="552450" y="2524125"/>
            <a:chExt cx="4770501" cy="542925"/>
          </a:xfrm>
        </p:grpSpPr>
        <p:sp>
          <p:nvSpPr>
            <p:cNvPr id="13" name="TextBox 13"/>
            <p:cNvSpPr txBox="1"/>
            <p:nvPr/>
          </p:nvSpPr>
          <p:spPr>
            <a:xfrm>
              <a:off x="552450" y="25241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4402" y="2532221"/>
              <a:ext cx="113975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Agent 流程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7260" y="2823210"/>
              <a:ext cx="43856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VerilogCoder、MAGE：多 agent 生成，靠仿真反馈修正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2450" y="3324225"/>
            <a:ext cx="4200906" cy="542925"/>
            <a:chOff x="552450" y="3324225"/>
            <a:chExt cx="4200906" cy="542925"/>
          </a:xfrm>
        </p:grpSpPr>
        <p:sp>
          <p:nvSpPr>
            <p:cNvPr id="17" name="TextBox 17"/>
            <p:cNvSpPr txBox="1"/>
            <p:nvPr/>
          </p:nvSpPr>
          <p:spPr>
            <a:xfrm>
              <a:off x="552450" y="33242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4402" y="3332321"/>
              <a:ext cx="272408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结构化中间层</a:t>
              </a:r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 xml:space="preserve"> 最接近本研究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7260" y="3623310"/>
              <a:ext cx="38160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ROME、SysVCoder、HINT：先写 IR，再生成 RTL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52450" y="4124325"/>
            <a:ext cx="4481322" cy="542925"/>
            <a:chOff x="552450" y="4124325"/>
            <a:chExt cx="4481322" cy="542925"/>
          </a:xfrm>
        </p:grpSpPr>
        <p:sp>
          <p:nvSpPr>
            <p:cNvPr id="21" name="TextBox 21"/>
            <p:cNvSpPr txBox="1"/>
            <p:nvPr/>
          </p:nvSpPr>
          <p:spPr>
            <a:xfrm>
              <a:off x="552450" y="41243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4402" y="4132421"/>
              <a:ext cx="20357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参考模型 + 形式等价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7260" y="4423410"/>
              <a:ext cx="40965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FormalRTL 等：只覆盖数据通路，不涉及流水线控制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0" y="1162050"/>
            <a:ext cx="5194516" cy="3655219"/>
            <a:chOff x="6096000" y="1162050"/>
            <a:chExt cx="5194516" cy="3655219"/>
          </a:xfrm>
        </p:grpSpPr>
        <p:sp>
          <p:nvSpPr>
            <p:cNvPr id="25" name="Line 25"/>
            <p:cNvSpPr/>
            <p:nvPr/>
          </p:nvSpPr>
          <p:spPr>
            <a:xfrm>
              <a:off x="6096000" y="1162050"/>
              <a:ext cx="9525" cy="3600450"/>
            </a:xfrm>
            <a:custGeom>
              <a:avLst/>
              <a:gdLst/>
              <a:ahLst/>
              <a:cxnLst/>
              <a:rect l="l" t="t" r="r" b="b"/>
              <a:pathLst>
                <a:path w="9525" h="3600450">
                  <a:moveTo>
                    <a:pt x="0" y="0"/>
                  </a:moveTo>
                  <a:lnTo>
                    <a:pt x="0" y="36004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60795" y="1250632"/>
              <a:ext cx="21800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Benchmark 通过率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66510" y="1756410"/>
              <a:ext cx="19320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VerilogEval v2 · 单模块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381750" y="1981200"/>
              <a:ext cx="4191000" cy="1714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652760" y="1994535"/>
              <a:ext cx="637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89–98%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66510" y="2499360"/>
              <a:ext cx="23964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HWE-Bench · SoC 级 bug 修复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381750" y="2724150"/>
              <a:ext cx="2781300" cy="171450"/>
            </a:xfrm>
            <a:prstGeom prst="rect">
              <a:avLst/>
            </a:prstGeom>
            <a:solidFill>
              <a:srgbClr val="5B7BA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43060" y="2737485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&lt; 65%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66510" y="3242310"/>
              <a:ext cx="25542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CVDP · 模块到小子系统，pass@1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381750" y="3467100"/>
              <a:ext cx="1457325" cy="171450"/>
            </a:xfrm>
            <a:prstGeom prst="rect">
              <a:avLst/>
            </a:prstGeom>
            <a:solidFill>
              <a:srgbClr val="5B7BA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19085" y="3480435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≤ 34%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66510" y="3985260"/>
              <a:ext cx="29222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ArchXBench L4 起 · 流水线 / 层次化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381750" y="42100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28575">
              <a:solidFill>
                <a:srgbClr val="C8102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99860" y="422338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所有模型全部失败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381750" y="45339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69368" y="4619149"/>
              <a:ext cx="36060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数据来源：各 benchmark 论文（arXiv，2026-10 检索）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5143500"/>
            <a:ext cx="11049000" cy="1066800"/>
            <a:chOff x="571500" y="5143500"/>
            <a:chExt cx="11049000" cy="1066800"/>
          </a:xfrm>
        </p:grpSpPr>
        <p:sp>
          <p:nvSpPr>
            <p:cNvPr id="42" name="Rectangle 42"/>
            <p:cNvSpPr/>
            <p:nvPr/>
          </p:nvSpPr>
          <p:spPr>
            <a:xfrm>
              <a:off x="571500" y="5143500"/>
              <a:ext cx="11049000" cy="10668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1050" y="5381625"/>
              <a:ext cx="89873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规律：</a:t>
              </a:r>
              <a:r>
                <a:rPr lang="zh-CN" sz="15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表示比模型更重要</a:t>
              </a:r>
              <a:r>
                <a:rPr lang="zh-CN" sz="15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——换中间表示，成功率 3% → 88%；换更强的模型，提升不到 1.25 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1050" y="5781675"/>
              <a:ext cx="70923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空白：正确性只看端口 I/O 等价，</a:t>
              </a:r>
              <a:r>
                <a:rPr lang="zh-CN" sz="15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不检查级边界、状态归属、握手与时序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46" name="TextBox 46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0" grpId="0"/>
      <p:bldP spid="24" grpId="0"/>
      <p:bldP spid="41" grpId="0"/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190119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问题的提出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72499" y="621506"/>
              <a:ext cx="11622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二 · AI for EDA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33400" y="1416368"/>
            <a:ext cx="7437120" cy="1155382"/>
            <a:chOff x="533400" y="1416368"/>
            <a:chExt cx="7437120" cy="1155382"/>
          </a:xfrm>
        </p:grpSpPr>
        <p:sp>
          <p:nvSpPr>
            <p:cNvPr id="7" name="TextBox 7"/>
            <p:cNvSpPr txBox="1"/>
            <p:nvPr/>
          </p:nvSpPr>
          <p:spPr>
            <a:xfrm>
              <a:off x="554355" y="1416368"/>
              <a:ext cx="7122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观察对象：由 agent 编写、约 10.8 万行 Verilog 的 GPU subcore，正在逐步重构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33400" y="1962150"/>
              <a:ext cx="743712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功能验证全部通过，问题</a:t>
              </a:r>
              <a:r>
                <a:rPr lang="zh-CN" sz="30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照样漏过去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4355" y="2925246"/>
            <a:ext cx="3612880" cy="1622942"/>
            <a:chOff x="554355" y="2925246"/>
            <a:chExt cx="3612880" cy="1622942"/>
          </a:xfrm>
        </p:grpSpPr>
        <p:grpSp>
          <p:nvGrpSpPr>
            <p:cNvPr id="13" name="Group 13"/>
            <p:cNvGrpSpPr/>
            <p:nvPr/>
          </p:nvGrpSpPr>
          <p:grpSpPr>
            <a:xfrm>
              <a:off x="592779" y="2925246"/>
              <a:ext cx="224133" cy="192560"/>
              <a:chOff x="592779" y="2925246"/>
              <a:chExt cx="224133" cy="19256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04850" y="299561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2779" y="292524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04850" y="3073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929640" y="29298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结构偏离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4355" y="3416618"/>
              <a:ext cx="26171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一次“行为不变”的模块搬迁：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3702368"/>
              <a:ext cx="36128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周期数完全不变，功能比对 0 处不一致，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398811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但一段逻辑落进了错误的流水级，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4355" y="42738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与设计图不一致，跨越多次提交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191000" y="2857500"/>
            <a:ext cx="3270266" cy="2095500"/>
            <a:chOff x="4191000" y="2857500"/>
            <a:chExt cx="3270266" cy="2095500"/>
          </a:xfrm>
        </p:grpSpPr>
        <p:sp>
          <p:nvSpPr>
            <p:cNvPr id="20" name="Line 20"/>
            <p:cNvSpPr/>
            <p:nvPr/>
          </p:nvSpPr>
          <p:spPr>
            <a:xfrm>
              <a:off x="4191000" y="285750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498029" y="2925246"/>
              <a:ext cx="224133" cy="192560"/>
              <a:chOff x="4498029" y="2925246"/>
              <a:chExt cx="224133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610100" y="299561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498029" y="292524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610100" y="3073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4834890" y="2929890"/>
              <a:ext cx="18399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时序回归 6–8%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59605" y="3416618"/>
              <a:ext cx="30016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WARPSYNC 分叉每次 6 拍 → 9 拍；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59605" y="37023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访存响应那一拍挡住全部发射。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59605" y="398811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两次变慢都落在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59605" y="427386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性能模型的误差范围之内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96250" y="2857500"/>
            <a:ext cx="2345817" cy="2095500"/>
            <a:chOff x="8096250" y="2857500"/>
            <a:chExt cx="2345817" cy="2095500"/>
          </a:xfrm>
        </p:grpSpPr>
        <p:sp>
          <p:nvSpPr>
            <p:cNvPr id="31" name="Line 31"/>
            <p:cNvSpPr/>
            <p:nvPr/>
          </p:nvSpPr>
          <p:spPr>
            <a:xfrm>
              <a:off x="8096250" y="285750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403279" y="2925246"/>
              <a:ext cx="224133" cy="192560"/>
              <a:chOff x="8403279" y="2925246"/>
              <a:chExt cx="224133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515350" y="299561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403279" y="292524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515350" y="3073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740140" y="292989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验证手段失效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64855" y="3416618"/>
              <a:ext cx="19073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旧验收脚本判 PASS，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64855" y="3702368"/>
              <a:ext cx="18876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实际存在 SM fault；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64855" y="398811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删掉一个信号，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64855" y="4273868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整份断言静默失效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0545" y="5448300"/>
            <a:ext cx="11069955" cy="652462"/>
            <a:chOff x="550545" y="5448300"/>
            <a:chExt cx="11069955" cy="652462"/>
          </a:xfrm>
        </p:grpSpPr>
        <p:sp>
          <p:nvSpPr>
            <p:cNvPr id="42" name="Line 42"/>
            <p:cNvSpPr/>
            <p:nvPr/>
          </p:nvSpPr>
          <p:spPr>
            <a:xfrm>
              <a:off x="571500" y="5448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50545" y="5765482"/>
              <a:ext cx="97053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需要一层</a:t>
              </a:r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可被检查的规格</a:t>
              </a:r>
              <a:r>
                <a:rPr lang="zh-CN" sz="1650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，同时管住结构、功能、时序三类需求，并能发现“检查本身失效”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45" name="TextBox 45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30" grpId="0"/>
      <p:bldP spid="41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1020" y="483870"/>
            <a:ext cx="11079480" cy="487680"/>
            <a:chOff x="541020" y="483870"/>
            <a:chExt cx="11079480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8673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核心思路：以结构规格作为需求，验收 AI 生成的 RTL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1200150"/>
            <a:ext cx="5905500" cy="952500"/>
            <a:chOff x="571500" y="1200150"/>
            <a:chExt cx="5905500" cy="952500"/>
          </a:xfrm>
        </p:grpSpPr>
        <p:sp>
          <p:nvSpPr>
            <p:cNvPr id="6" name="Rectangle 6"/>
            <p:cNvSpPr/>
            <p:nvPr/>
          </p:nvSpPr>
          <p:spPr>
            <a:xfrm>
              <a:off x="571500" y="1200150"/>
              <a:ext cx="5905500" cy="952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1050" y="1381125"/>
              <a:ext cx="38910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① 结构规格 = 需求规格</a:t>
              </a:r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 xml:space="preserve"> 以 FML 为底座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4860" y="1737360"/>
              <a:ext cx="55161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来源分级（实测 &gt; 厂商资料 &gt; 人确认的设计决策）· 状态 · 绑定的检查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2152650"/>
            <a:ext cx="5905500" cy="1181100"/>
            <a:chOff x="571500" y="2152650"/>
            <a:chExt cx="5905500" cy="1181100"/>
          </a:xfrm>
        </p:grpSpPr>
        <p:sp>
          <p:nvSpPr>
            <p:cNvPr id="10" name="Line 10"/>
            <p:cNvSpPr/>
            <p:nvPr/>
          </p:nvSpPr>
          <p:spPr>
            <a:xfrm>
              <a:off x="3524250" y="2152650"/>
              <a:ext cx="1" cy="171450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2381250"/>
              <a:ext cx="5905500" cy="952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1050" y="2562225"/>
              <a:ext cx="26029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② 封闭世界</a:t>
              </a:r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 xml:space="preserve"> 没登记就报错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4860" y="2918460"/>
              <a:ext cx="5481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网表里有、规格没认领的触发器和连线一律报“未登记”；基线只缩不增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3333750"/>
            <a:ext cx="5905500" cy="1181100"/>
            <a:chOff x="571500" y="3333750"/>
            <a:chExt cx="5905500" cy="1181100"/>
          </a:xfrm>
        </p:grpSpPr>
        <p:sp>
          <p:nvSpPr>
            <p:cNvPr id="15" name="Line 15"/>
            <p:cNvSpPr/>
            <p:nvPr/>
          </p:nvSpPr>
          <p:spPr>
            <a:xfrm>
              <a:off x="3524250" y="3333750"/>
              <a:ext cx="1" cy="171450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" y="3562350"/>
              <a:ext cx="5905500" cy="952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1050" y="3743325"/>
              <a:ext cx="11537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③ 三类检查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4860" y="4099560"/>
              <a:ext cx="49289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功能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逐指令比对 </a:t>
              </a:r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结构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网表结构检查 </a:t>
              </a:r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时序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边界逐周期 lockstep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4514850"/>
            <a:ext cx="5905500" cy="1181100"/>
            <a:chOff x="571500" y="4514850"/>
            <a:chExt cx="5905500" cy="1181100"/>
          </a:xfrm>
        </p:grpSpPr>
        <p:sp>
          <p:nvSpPr>
            <p:cNvPr id="20" name="Line 20"/>
            <p:cNvSpPr/>
            <p:nvPr/>
          </p:nvSpPr>
          <p:spPr>
            <a:xfrm>
              <a:off x="3524250" y="4514850"/>
              <a:ext cx="1" cy="171450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71500" y="4743450"/>
              <a:ext cx="5905500" cy="952500"/>
            </a:xfrm>
            <a:prstGeom prst="roundRect">
              <a:avLst>
                <a:gd name="adj" fmla="val 4000"/>
              </a:avLst>
            </a:prstGeom>
            <a:solidFill>
              <a:srgbClr val="F5F7FA"/>
            </a:solidFill>
            <a:ln w="14288">
              <a:solidFill>
                <a:srgbClr val="1F3A5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1050" y="4924425"/>
              <a:ext cx="32239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④ 验收与逃逸分析（主要贡献）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" y="5280660"/>
              <a:ext cx="40614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每层检查各抓住了什么？只用功能测试会漏掉多少？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953250" y="1200150"/>
            <a:ext cx="3587115" cy="4495800"/>
            <a:chOff x="6953250" y="1200150"/>
            <a:chExt cx="3587115" cy="4495800"/>
          </a:xfrm>
        </p:grpSpPr>
        <p:sp>
          <p:nvSpPr>
            <p:cNvPr id="25" name="Line 25"/>
            <p:cNvSpPr/>
            <p:nvPr/>
          </p:nvSpPr>
          <p:spPr>
            <a:xfrm>
              <a:off x="6953250" y="1200150"/>
              <a:ext cx="9525" cy="4495800"/>
            </a:xfrm>
            <a:custGeom>
              <a:avLst/>
              <a:gdLst/>
              <a:ahLst/>
              <a:cxnLst/>
              <a:rect l="l" t="t" r="r" b="b"/>
              <a:pathLst>
                <a:path w="9525" h="4495800">
                  <a:moveTo>
                    <a:pt x="0" y="0"/>
                  </a:moveTo>
                  <a:lnTo>
                    <a:pt x="0" y="44958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18045" y="1307782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原型与初步结果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23760" y="1699260"/>
              <a:ext cx="31325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curryGPU 上：一份结构数据，同时派生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23760" y="1927860"/>
              <a:ext cx="33166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流水线图 · 给 AI 的约束清单 · 网表检查器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200900" y="2381250"/>
            <a:ext cx="4154424" cy="723900"/>
            <a:chOff x="7200900" y="2381250"/>
            <a:chExt cx="4154424" cy="723900"/>
          </a:xfrm>
        </p:grpSpPr>
        <p:sp>
          <p:nvSpPr>
            <p:cNvPr id="30" name="TextBox 30"/>
            <p:cNvSpPr txBox="1"/>
            <p:nvPr/>
          </p:nvSpPr>
          <p:spPr>
            <a:xfrm>
              <a:off x="7200900" y="2381250"/>
              <a:ext cx="1387364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16 / 16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23760" y="2861310"/>
              <a:ext cx="4131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注入缺陷全部拦下（6 类 RTL 变异 + 10 类规格篡改）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200900" y="3467100"/>
            <a:ext cx="3952875" cy="990600"/>
            <a:chOff x="7200900" y="3467100"/>
            <a:chExt cx="3952875" cy="990600"/>
          </a:xfrm>
        </p:grpSpPr>
        <p:sp>
          <p:nvSpPr>
            <p:cNvPr id="33" name="TextBox 33"/>
            <p:cNvSpPr txBox="1"/>
            <p:nvPr/>
          </p:nvSpPr>
          <p:spPr>
            <a:xfrm>
              <a:off x="7200900" y="3467100"/>
              <a:ext cx="92730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5 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23760" y="3966210"/>
              <a:ext cx="39300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真实 RTL 上发现的结构分歧，功能测试都看不见；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23760" y="4213860"/>
              <a:ext cx="25016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其中一处正是上页的“结构偏离”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200900" y="4629150"/>
            <a:ext cx="3208020" cy="742950"/>
            <a:chOff x="7200900" y="4629150"/>
            <a:chExt cx="3208020" cy="742950"/>
          </a:xfrm>
        </p:grpSpPr>
        <p:sp>
          <p:nvSpPr>
            <p:cNvPr id="37" name="TextBox 37"/>
            <p:cNvSpPr txBox="1"/>
            <p:nvPr/>
          </p:nvSpPr>
          <p:spPr>
            <a:xfrm>
              <a:off x="7200900" y="4629150"/>
              <a:ext cx="92730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6 级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23760" y="5128260"/>
              <a:ext cx="31851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S1–SW 全部接入提交门禁，只拦新增问题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7212" y="5936456"/>
            <a:ext cx="9903381" cy="228600"/>
            <a:chOff x="557212" y="5936456"/>
            <a:chExt cx="9903381" cy="228600"/>
          </a:xfrm>
        </p:grpSpPr>
        <p:sp>
          <p:nvSpPr>
            <p:cNvPr id="40" name="TextBox 40"/>
            <p:cNvSpPr txBox="1"/>
            <p:nvPr/>
          </p:nvSpPr>
          <p:spPr>
            <a:xfrm>
              <a:off x="557212" y="5936456"/>
              <a:ext cx="99033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与最接近工作的区别：Spec-Driven 只约束单事务 IO 等价；AmpereOne 看聚合 IPC（±10%），抓不到 6–8% 回归；HINT 做生成而非验收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59118" y="6200299"/>
            <a:ext cx="4602885" cy="198120"/>
            <a:chOff x="559118" y="6200299"/>
            <a:chExt cx="4602885" cy="198120"/>
          </a:xfrm>
        </p:grpSpPr>
        <p:sp>
          <p:nvSpPr>
            <p:cNvPr id="42" name="TextBox 42"/>
            <p:cNvSpPr txBox="1"/>
            <p:nvPr/>
          </p:nvSpPr>
          <p:spPr>
            <a:xfrm>
              <a:off x="559118" y="6200299"/>
              <a:ext cx="46028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注：FML 建模框架由合作者开发；本研究在其上定义结构规格与验收流程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44" name="TextBox 44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9" grpId="0"/>
      <p:bldP spid="24" grpId="0"/>
      <p:bldP spid="29" grpId="0"/>
      <p:bldP spid="32" grpId="0"/>
      <p:bldP spid="36" grpId="0"/>
      <p:bldP spid="39" grpId="0"/>
      <p:bldP spid="41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1020" y="483870"/>
            <a:ext cx="11079480" cy="487680"/>
            <a:chOff x="541020" y="483870"/>
            <a:chExt cx="11079480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889406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实证：在 GPGPU-Sim 上走通“规格 → AI 写 RTL → 验收”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500" y="1200150"/>
            <a:ext cx="3429000" cy="2857500"/>
            <a:chOff x="571500" y="1200150"/>
            <a:chExt cx="3429000" cy="2857500"/>
          </a:xfrm>
        </p:grpSpPr>
        <p:sp>
          <p:nvSpPr>
            <p:cNvPr id="6" name="Rectangle 6"/>
            <p:cNvSpPr/>
            <p:nvPr/>
          </p:nvSpPr>
          <p:spPr>
            <a:xfrm>
              <a:off x="571500" y="1200150"/>
              <a:ext cx="3429000" cy="28575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1050" y="1381125"/>
              <a:ext cx="21428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底座：FML 建模框架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6765" y="16773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由合作者开发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4860" y="2023110"/>
              <a:ext cx="23702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Rust 写的周期级建模语言，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4860" y="227076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并行运行、结果确定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4860" y="2594610"/>
              <a:ext cx="21423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已逐周期复现 GPGPU-Sim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4860" y="2842260"/>
              <a:ext cx="17480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（Volta QV100 配置）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4860" y="3166110"/>
              <a:ext cx="23789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rodinia 11 个基准：统计数据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4860" y="341376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与逐周期事件日志均与原版一致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62450" y="1266825"/>
            <a:ext cx="2372892" cy="304800"/>
            <a:chOff x="4362450" y="1266825"/>
            <a:chExt cx="2372892" cy="304800"/>
          </a:xfrm>
        </p:grpSpPr>
        <p:sp>
          <p:nvSpPr>
            <p:cNvPr id="16" name="TextBox 16"/>
            <p:cNvSpPr txBox="1"/>
            <p:nvPr/>
          </p:nvSpPr>
          <p:spPr>
            <a:xfrm>
              <a:off x="4362450" y="1266825"/>
              <a:ext cx="23728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我的工作：路线 B 实验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381500" y="1619250"/>
            <a:ext cx="7239000" cy="704850"/>
            <a:chOff x="4381500" y="1619250"/>
            <a:chExt cx="7239000" cy="704850"/>
          </a:xfrm>
        </p:grpSpPr>
        <p:sp>
          <p:nvSpPr>
            <p:cNvPr id="18" name="Rectangle 18"/>
            <p:cNvSpPr/>
            <p:nvPr/>
          </p:nvSpPr>
          <p:spPr>
            <a:xfrm>
              <a:off x="4381500" y="1619250"/>
              <a:ext cx="1619250" cy="7048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73012" y="17835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切出一个流水级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22746" y="20283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写边界规格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00750" y="1971675"/>
              <a:ext cx="2095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67450" y="1619250"/>
              <a:ext cx="1619250" cy="7048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45223" y="17835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规格先对参照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37496" y="20283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偏差逐条登记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886700" y="1971675"/>
              <a:ext cx="2095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153400" y="1619250"/>
              <a:ext cx="1619250" cy="7048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22547" y="1783556"/>
              <a:ext cx="10809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AI 独立写 RTL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52247" y="20283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只给规格与接口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772650" y="1971675"/>
              <a:ext cx="2095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0039350" y="1619250"/>
              <a:ext cx="1581150" cy="704850"/>
            </a:xfrm>
            <a:prstGeom prst="roundRect">
              <a:avLst>
                <a:gd name="adj" fmla="val 5405"/>
              </a:avLst>
            </a:prstGeom>
            <a:solidFill>
              <a:srgbClr val="F5F7FA"/>
            </a:solidFill>
            <a:ln w="14288">
              <a:solidFill>
                <a:srgbClr val="1F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11812" y="17835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边界逐周期验收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58307" y="2028349"/>
              <a:ext cx="9432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lockstep 比对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47210" y="2737485"/>
            <a:ext cx="2184558" cy="893921"/>
            <a:chOff x="4347210" y="2737485"/>
            <a:chExt cx="2184558" cy="893921"/>
          </a:xfrm>
        </p:grpSpPr>
        <p:sp>
          <p:nvSpPr>
            <p:cNvPr id="34" name="TextBox 34"/>
            <p:cNvSpPr txBox="1"/>
            <p:nvPr/>
          </p:nvSpPr>
          <p:spPr>
            <a:xfrm>
              <a:off x="4347210" y="2737485"/>
              <a:ext cx="11865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136 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67212" y="3193256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周期上规格与参照逐周期一致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67212" y="3402806"/>
              <a:ext cx="13676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（取指 / 译码级）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23710" y="2737485"/>
            <a:ext cx="2537817" cy="893921"/>
            <a:chOff x="6823710" y="2737485"/>
            <a:chExt cx="2537817" cy="893921"/>
          </a:xfrm>
        </p:grpSpPr>
        <p:sp>
          <p:nvSpPr>
            <p:cNvPr id="38" name="TextBox 38"/>
            <p:cNvSpPr txBox="1"/>
            <p:nvPr/>
          </p:nvSpPr>
          <p:spPr>
            <a:xfrm>
              <a:off x="6823710" y="2737485"/>
              <a:ext cx="16833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435 → 42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43712" y="31932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级：综合后最长逻辑路径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43712" y="3402806"/>
              <a:ext cx="25178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（拆分边界后，周期仅 +0.026%）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585960" y="2737485"/>
            <a:ext cx="1765577" cy="893921"/>
            <a:chOff x="9585960" y="2737485"/>
            <a:chExt cx="1765577" cy="893921"/>
          </a:xfrm>
        </p:grpSpPr>
        <p:sp>
          <p:nvSpPr>
            <p:cNvPr id="42" name="TextBox 42"/>
            <p:cNvSpPr txBox="1"/>
            <p:nvPr/>
          </p:nvSpPr>
          <p:spPr>
            <a:xfrm>
              <a:off x="9585960" y="2737485"/>
              <a:ext cx="11865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551 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05962" y="3193256"/>
              <a:ext cx="17455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周期集成 subcore 通过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05962" y="34028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（四个模块集成）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364355" y="3810000"/>
            <a:ext cx="7256145" cy="1371600"/>
            <a:chOff x="4364355" y="3810000"/>
            <a:chExt cx="7256145" cy="1371600"/>
          </a:xfrm>
        </p:grpSpPr>
        <p:sp>
          <p:nvSpPr>
            <p:cNvPr id="46" name="Line 46"/>
            <p:cNvSpPr/>
            <p:nvPr/>
          </p:nvSpPr>
          <p:spPr>
            <a:xfrm>
              <a:off x="4381500" y="38100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364355" y="4007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两个发现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66260" y="4366260"/>
              <a:ext cx="50867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切边界时暴露出顺序模型里看不见的同拍组合环，需登记为偏差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366260" y="4671060"/>
              <a:ext cx="42104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单个模块各自验收都通过，</a:t>
              </a:r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集成时才暴露接口缺口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：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366260" y="493776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边界规格本身也需要被检查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58165" y="4325302"/>
            <a:ext cx="2510980" cy="422910"/>
            <a:chOff x="558165" y="4325302"/>
            <a:chExt cx="2510980" cy="422910"/>
          </a:xfrm>
        </p:grpSpPr>
        <p:sp>
          <p:nvSpPr>
            <p:cNvPr id="52" name="TextBox 52"/>
            <p:cNvSpPr txBox="1"/>
            <p:nvPr/>
          </p:nvSpPr>
          <p:spPr>
            <a:xfrm>
              <a:off x="558165" y="4325302"/>
              <a:ext cx="25109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参照模型是领域公认的 GPGPU-Sim，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58165" y="4534852"/>
              <a:ext cx="2380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回答“只在自家 GPU 上验证”的局限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71500" y="5676900"/>
            <a:ext cx="11049000" cy="533400"/>
            <a:chOff x="571500" y="5676900"/>
            <a:chExt cx="110490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71500" y="5676900"/>
              <a:ext cx="11049000" cy="5334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2002" y="5856446"/>
              <a:ext cx="823617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结论：</a:t>
              </a:r>
              <a:r>
                <a:rPr lang="zh-CN" sz="14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有了边界规格，AI 写的 RTL 可以被逐周期验收</a:t>
              </a:r>
              <a:r>
                <a:rPr lang="zh-CN" sz="14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；规格还管住了结构，而不只是功能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33" grpId="0"/>
      <p:bldP spid="37" grpId="0"/>
      <p:bldP spid="41" grpId="0"/>
      <p:bldP spid="45" grpId="0"/>
      <p:bldP spid="51" grpId="0"/>
      <p:bldP spid="54" grpId="0"/>
      <p:bldP spid="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615212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公司学习：芯片设计—验证的五层流程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5729" y="621506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三 · 公司学习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155906" y="1111568"/>
            <a:ext cx="2395796" cy="357663"/>
            <a:chOff x="9155906" y="1111568"/>
            <a:chExt cx="2395796" cy="357663"/>
          </a:xfrm>
        </p:grpSpPr>
        <p:sp>
          <p:nvSpPr>
            <p:cNvPr id="7" name="TextBox 7"/>
            <p:cNvSpPr txBox="1"/>
            <p:nvPr/>
          </p:nvSpPr>
          <p:spPr>
            <a:xfrm>
              <a:off x="9212798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155906" y="1301591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学习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974798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B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736798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03548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D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466850"/>
            <a:ext cx="10982325" cy="781050"/>
            <a:chOff x="571500" y="1466850"/>
            <a:chExt cx="10982325" cy="781050"/>
          </a:xfrm>
        </p:grpSpPr>
        <p:sp>
          <p:nvSpPr>
            <p:cNvPr id="13" name="Rectangle 13"/>
            <p:cNvSpPr/>
            <p:nvPr/>
          </p:nvSpPr>
          <p:spPr>
            <a:xfrm>
              <a:off x="571500" y="1466850"/>
              <a:ext cx="419100" cy="781050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7496" y="1762125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90600" y="1466850"/>
              <a:ext cx="7772400" cy="781050"/>
            </a:xfrm>
            <a:prstGeom prst="rect">
              <a:avLst/>
            </a:prstGeom>
            <a:solidFill>
              <a:srgbClr val="F5F7FA"/>
            </a:solidFill>
            <a:ln w="14288">
              <a:solidFill>
                <a:srgbClr val="C8102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62050" y="1762125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规格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56510" y="1794510"/>
              <a:ext cx="63661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系统说明 · 寄存器表（复位值 / 读写 mask）· 指令集表 · 数模接口表 → </a:t>
              </a:r>
              <a:r>
                <a:rPr lang="zh-CN" sz="12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唯一来源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10725150" y="1771650"/>
              <a:ext cx="171450" cy="1714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401425" y="178117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71500" y="2362200"/>
            <a:ext cx="10982325" cy="781050"/>
            <a:chOff x="571500" y="2362200"/>
            <a:chExt cx="10982325" cy="781050"/>
          </a:xfrm>
        </p:grpSpPr>
        <p:sp>
          <p:nvSpPr>
            <p:cNvPr id="21" name="Rectangle 21"/>
            <p:cNvSpPr/>
            <p:nvPr/>
          </p:nvSpPr>
          <p:spPr>
            <a:xfrm>
              <a:off x="571500" y="2362200"/>
              <a:ext cx="419100" cy="7810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8742" y="265747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90600" y="2362200"/>
              <a:ext cx="7772400" cy="7810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62050" y="2657475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设计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56510" y="2689860"/>
              <a:ext cx="59630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RTL 按 IP 分目录 + filelist · 第三方 IP 集成 · 工艺单元分层 · 模拟行为模型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9201150" y="2667000"/>
              <a:ext cx="171450" cy="171450"/>
            </a:xfrm>
            <a:prstGeom prst="ellipse">
              <a:avLst/>
            </a:prstGeom>
            <a:solidFill>
              <a:srgbClr val="9CA3A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963150" y="2667000"/>
              <a:ext cx="171450" cy="1714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734675" y="267652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1401425" y="267652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571500" y="3257550"/>
            <a:ext cx="10982325" cy="781050"/>
            <a:chOff x="571500" y="3257550"/>
            <a:chExt cx="10982325" cy="781050"/>
          </a:xfrm>
        </p:grpSpPr>
        <p:sp>
          <p:nvSpPr>
            <p:cNvPr id="31" name="Rectangle 31"/>
            <p:cNvSpPr/>
            <p:nvPr/>
          </p:nvSpPr>
          <p:spPr>
            <a:xfrm>
              <a:off x="571500" y="3257550"/>
              <a:ext cx="419100" cy="7810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8742" y="35528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90600" y="3257550"/>
              <a:ext cx="7772400" cy="7810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62050" y="3552825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验证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56510" y="3585210"/>
              <a:ext cx="64274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验证环境（VIP / 寄存器访问层）→ tc_base 基类 → 每目录一个 case → 回归 → 集群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9972675" y="357187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725150" y="3562350"/>
              <a:ext cx="171450" cy="1714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401425" y="357187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71500" y="4152900"/>
            <a:ext cx="10991850" cy="781050"/>
            <a:chOff x="571500" y="4152900"/>
            <a:chExt cx="10991850" cy="781050"/>
          </a:xfrm>
        </p:grpSpPr>
        <p:sp>
          <p:nvSpPr>
            <p:cNvPr id="40" name="Rectangle 40"/>
            <p:cNvSpPr/>
            <p:nvPr/>
          </p:nvSpPr>
          <p:spPr>
            <a:xfrm>
              <a:off x="571500" y="4152900"/>
              <a:ext cx="419100" cy="7810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8742" y="444817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90600" y="4152900"/>
              <a:ext cx="7772400" cy="7810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62050" y="44481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多模式仿真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56510" y="4480560"/>
              <a:ext cx="57702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同一 testbench：RTL 前仿 / 门级后仿（带 SDF，多 corner）/ 数模混仿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10734675" y="446722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1391900" y="4457700"/>
              <a:ext cx="171450" cy="1714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571500" y="5048250"/>
            <a:ext cx="10982325" cy="781050"/>
            <a:chOff x="571500" y="5048250"/>
            <a:chExt cx="10982325" cy="781050"/>
          </a:xfrm>
        </p:grpSpPr>
        <p:sp>
          <p:nvSpPr>
            <p:cNvPr id="48" name="Rectangle 48"/>
            <p:cNvSpPr/>
            <p:nvPr/>
          </p:nvSpPr>
          <p:spPr>
            <a:xfrm>
              <a:off x="571500" y="5048250"/>
              <a:ext cx="419100" cy="7810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8742" y="53435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90600" y="5048250"/>
              <a:ext cx="7772400" cy="7810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62050" y="534352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可测性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56510" y="5375910"/>
              <a:ext cx="54985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MBIST · Flash BIST · bypass 通路 · ATPG（stuck-at / Iddq）· trim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210675" y="536257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A3AF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10734675" y="536257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11401425" y="536257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581025" y="6060281"/>
            <a:ext cx="4472463" cy="457200"/>
            <a:chOff x="581025" y="6060281"/>
            <a:chExt cx="4472463" cy="457200"/>
          </a:xfrm>
        </p:grpSpPr>
        <p:sp>
          <p:nvSpPr>
            <p:cNvPr id="57" name="Ellipse 57"/>
            <p:cNvSpPr/>
            <p:nvPr/>
          </p:nvSpPr>
          <p:spPr>
            <a:xfrm>
              <a:off x="581025" y="6067425"/>
              <a:ext cx="133350" cy="1333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590550" y="630555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85812" y="6060281"/>
              <a:ext cx="42676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重点 A：RISC-V MCU SoC（学习，灰色） B：图像处理 DSP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5812" y="6288881"/>
              <a:ext cx="37829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涉及 C：混合信号光感芯片 D：潜望式 OIS 驱动 SoC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497342" y="658939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30" grpId="0"/>
      <p:bldP spid="39" grpId="0"/>
      <p:bldP spid="47" grpId="0"/>
      <p:bldP spid="56" grpId="0"/>
      <p:bldP spid="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593129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设计侧：SoC 怎么集成，模块怎么写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5729" y="621506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三 · 公司学习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0545" y="1231582"/>
            <a:ext cx="3875339" cy="551974"/>
            <a:chOff x="550545" y="1231582"/>
            <a:chExt cx="3875339" cy="551974"/>
          </a:xfrm>
        </p:grpSpPr>
        <p:sp>
          <p:nvSpPr>
            <p:cNvPr id="7" name="TextBox 7"/>
            <p:cNvSpPr txBox="1"/>
            <p:nvPr/>
          </p:nvSpPr>
          <p:spPr>
            <a:xfrm>
              <a:off x="550545" y="1231582"/>
              <a:ext cx="38753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项目 A · RISC-V MCU SoC</a:t>
              </a:r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（学习）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7212" y="1554956"/>
              <a:ext cx="25095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学到：SoC 怎么集成、IP 怎么组织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1866900"/>
            <a:ext cx="5238750" cy="2438400"/>
            <a:chOff x="571500" y="1866900"/>
            <a:chExt cx="5238750" cy="2438400"/>
          </a:xfrm>
        </p:grpSpPr>
        <p:sp>
          <p:nvSpPr>
            <p:cNvPr id="10" name="Rectangle 10"/>
            <p:cNvSpPr/>
            <p:nvPr/>
          </p:nvSpPr>
          <p:spPr>
            <a:xfrm>
              <a:off x="571500" y="1866900"/>
              <a:ext cx="238125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9140" y="2004060"/>
              <a:ext cx="20459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RISC-V 核 + 协处理器接口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29000" y="1866900"/>
              <a:ext cx="238125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90975" y="2004060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脉动阵列加速器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762125" y="22860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4288">
              <a:solidFill>
                <a:srgbClr val="5B7BA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619625" y="22860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4288">
              <a:solidFill>
                <a:srgbClr val="5B7BA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" y="2495550"/>
              <a:ext cx="5238750" cy="2857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63336" y="2574131"/>
              <a:ext cx="1055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AHB 总线矩阵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333500" y="27813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5B7BA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190875" y="27813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5B7BA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048250" y="27813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5B7BA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71500" y="2971800"/>
              <a:ext cx="152400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5B7BA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3942" y="3098006"/>
              <a:ext cx="14991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Flash（ECC / CRC）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28875" y="2971800"/>
              <a:ext cx="152400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5B7BA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61714" y="3098006"/>
              <a:ext cx="8583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ROM / RAM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286250" y="2971800"/>
              <a:ext cx="152400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5B7BA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81979" y="3098006"/>
              <a:ext cx="3325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DMA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190875" y="33528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5B7BA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71500" y="3543300"/>
              <a:ext cx="5238750" cy="285750"/>
            </a:xfrm>
            <a:prstGeom prst="rect">
              <a:avLst/>
            </a:prstGeom>
            <a:solidFill>
              <a:srgbClr val="5B7BA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663336" y="3621881"/>
              <a:ext cx="1055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APB 外设总线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3924300"/>
              <a:ext cx="523875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5B7BA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894999" y="4050506"/>
              <a:ext cx="25917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SPI · I2C · GPIO · PWM · 模拟控制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55308" y="4701064"/>
            <a:ext cx="5004292" cy="1287780"/>
            <a:chOff x="555308" y="4701064"/>
            <a:chExt cx="5004292" cy="1287780"/>
          </a:xfrm>
        </p:grpSpPr>
        <p:sp>
          <p:nvSpPr>
            <p:cNvPr id="33" name="TextBox 33"/>
            <p:cNvSpPr txBox="1"/>
            <p:nvPr/>
          </p:nvSpPr>
          <p:spPr>
            <a:xfrm>
              <a:off x="555308" y="4701064"/>
              <a:ext cx="50042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按 IP 分目录，每个 IP 一份 filelist（约 160 个 RTL 文件）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5308" y="5082064"/>
              <a:ext cx="49670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第三方 IP（RISC-V 核、ARM 总线）直接集成，不重复开发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5308" y="5463064"/>
              <a:ext cx="48646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工艺单元、公司基础 IP（时钟门控、同步器）与业务 RTL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5308" y="5729764"/>
              <a:ext cx="37845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分层存放；RTL 中预留 MBIST 与 bypass 通路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0" y="1200150"/>
            <a:ext cx="4089528" cy="5086350"/>
            <a:chOff x="6096000" y="1200150"/>
            <a:chExt cx="4089528" cy="5086350"/>
          </a:xfrm>
        </p:grpSpPr>
        <p:sp>
          <p:nvSpPr>
            <p:cNvPr id="38" name="Line 38"/>
            <p:cNvSpPr/>
            <p:nvPr/>
          </p:nvSpPr>
          <p:spPr>
            <a:xfrm>
              <a:off x="6096000" y="1200150"/>
              <a:ext cx="9525" cy="5086350"/>
            </a:xfrm>
            <a:custGeom>
              <a:avLst/>
              <a:gdLst/>
              <a:ahLst/>
              <a:cxnLst/>
              <a:rect l="l" t="t" r="r" b="b"/>
              <a:pathLst>
                <a:path w="9525" h="5086350">
                  <a:moveTo>
                    <a:pt x="0" y="0"/>
                  </a:moveTo>
                  <a:lnTo>
                    <a:pt x="0" y="50863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60795" y="1231582"/>
              <a:ext cx="38247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项目 B · 光学位移传感器图像 DSP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67462" y="1554956"/>
              <a:ext cx="38158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负责：DSP 验证 scoreboard 学到：单个模块怎么写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381750" y="1866900"/>
            <a:ext cx="5238750" cy="2438400"/>
            <a:chOff x="6381750" y="1866900"/>
            <a:chExt cx="5238750" cy="2438400"/>
          </a:xfrm>
        </p:grpSpPr>
        <p:sp>
          <p:nvSpPr>
            <p:cNvPr id="42" name="Rectangle 42"/>
            <p:cNvSpPr/>
            <p:nvPr/>
          </p:nvSpPr>
          <p:spPr>
            <a:xfrm>
              <a:off x="6381750" y="1866900"/>
              <a:ext cx="1047750" cy="419100"/>
            </a:xfrm>
            <a:prstGeom prst="roundRect">
              <a:avLst>
                <a:gd name="adj" fmla="val 9091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10963" y="2004060"/>
              <a:ext cx="3893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IDLE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7429500" y="2076450"/>
              <a:ext cx="5143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58361" y="190309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opcode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001000" y="1866900"/>
              <a:ext cx="361950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39661" y="2012156"/>
              <a:ext cx="31421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9 类任务：NCC 匹配 · 亚像素 · 自动曝光 …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381750" y="2495550"/>
              <a:ext cx="5238750" cy="628650"/>
            </a:xfrm>
            <a:prstGeom prst="roundRect">
              <a:avLst>
                <a:gd name="adj" fmla="val 6061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7010" y="2632710"/>
              <a:ext cx="38686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每个任务成对：X（工作态）⇄ WFNS_X（等待态）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57010" y="2880360"/>
              <a:ext cx="36057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工作态编码为奇数 → bit0 直接作时钟门控使能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381750" y="3295650"/>
              <a:ext cx="5238750" cy="1009650"/>
            </a:xfrm>
            <a:prstGeom prst="roundRect">
              <a:avLst>
                <a:gd name="adj" fmla="val 3774"/>
              </a:avLst>
            </a:prstGeom>
            <a:solidFill>
              <a:srgbClr val="FFFFFF"/>
            </a:solidFill>
            <a:ln w="9525">
              <a:solidFill>
                <a:srgbClr val="5B7BA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57010" y="3432810"/>
              <a:ext cx="32640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数据通路：valid / ready 握手的多级流水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58915" y="381095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Σx, Σx² → E(x), D(x) → Σxy → NCC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58915" y="4058602"/>
              <a:ext cx="24419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16×16 像素阵列，位宽 int16 → int40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365558" y="4701064"/>
            <a:ext cx="4613243" cy="1402080"/>
            <a:chOff x="6365558" y="4701064"/>
            <a:chExt cx="4613243" cy="1402080"/>
          </a:xfrm>
        </p:grpSpPr>
        <p:sp>
          <p:nvSpPr>
            <p:cNvPr id="56" name="TextBox 56"/>
            <p:cNvSpPr txBox="1"/>
            <p:nvPr/>
          </p:nvSpPr>
          <p:spPr>
            <a:xfrm>
              <a:off x="6365558" y="4701064"/>
              <a:ext cx="455737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41 个状态的 FSM，工作 / 等待成对，按状态门控时钟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65558" y="5082064"/>
              <a:ext cx="46132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数据通路统一 valid / ready 流水，复用参数化计数器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65558" y="5463064"/>
              <a:ext cx="45108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接口按“源模块+目标模块_信号”命名，看名字知边界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65558" y="5844064"/>
              <a:ext cx="43828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→ 完成信号的写法，后来借鉴到 GPU subcore 重构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30203" y="6589395"/>
              <a:ext cx="1017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2" grpId="0"/>
      <p:bldP spid="37" grpId="0"/>
      <p:bldP spid="41" grpId="0"/>
      <p:bldP spid="55" grpId="0"/>
      <p:bldP spid="6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594969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验证侧：规格驱动的回归与数模混仿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5729" y="621506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三 · 公司学习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50545" y="1212532"/>
            <a:ext cx="7632859" cy="335280"/>
            <a:chOff x="550545" y="1212532"/>
            <a:chExt cx="7632859" cy="335280"/>
          </a:xfrm>
        </p:grpSpPr>
        <p:sp>
          <p:nvSpPr>
            <p:cNvPr id="7" name="TextBox 7"/>
            <p:cNvSpPr txBox="1"/>
            <p:nvPr/>
          </p:nvSpPr>
          <p:spPr>
            <a:xfrm>
              <a:off x="550545" y="1212532"/>
              <a:ext cx="763285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项目 C · 混合信号光感芯片</a:t>
              </a:r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 xml:space="preserve"> 负责：AL 通道 · 时序检查 · 看门狗验证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1581150"/>
            <a:ext cx="11049000" cy="838200"/>
            <a:chOff x="571500" y="1581150"/>
            <a:chExt cx="11049000" cy="838200"/>
          </a:xfrm>
        </p:grpSpPr>
        <p:sp>
          <p:nvSpPr>
            <p:cNvPr id="9" name="Rectangle 9"/>
            <p:cNvSpPr/>
            <p:nvPr/>
          </p:nvSpPr>
          <p:spPr>
            <a:xfrm>
              <a:off x="571500" y="1581150"/>
              <a:ext cx="1905000" cy="838200"/>
            </a:xfrm>
            <a:prstGeom prst="roundRect">
              <a:avLst>
                <a:gd name="adj" fmla="val 4545"/>
              </a:avLst>
            </a:prstGeom>
            <a:solidFill>
              <a:srgbClr val="F5F7FA"/>
            </a:solidFill>
            <a:ln w="14288">
              <a:solidFill>
                <a:srgbClr val="1F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27710" y="17373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规格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615" y="20012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寄存器表（复位值、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615" y="2191702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读写 mask）· 时序图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476500" y="2000250"/>
              <a:ext cx="3238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857500" y="1581150"/>
              <a:ext cx="1905000" cy="8382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13710" y="17373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两侧同源派生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15615" y="2001202"/>
              <a:ext cx="1107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设计：reg_map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15615" y="2191702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验证：reg_define 宏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762500" y="2000250"/>
              <a:ext cx="3238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143500" y="1581150"/>
              <a:ext cx="1905000" cy="8382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99710" y="1737360"/>
              <a:ext cx="1162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tc_base 基类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01615" y="20012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统一驱动、检查、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01615" y="2191702"/>
              <a:ext cx="11921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PASS / FAIL 报告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048500" y="2000250"/>
              <a:ext cx="3238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429500" y="1581150"/>
              <a:ext cx="1905000" cy="8382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9050">
              <a:solidFill>
                <a:srgbClr val="C8102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85710" y="1737360"/>
              <a:ext cx="15946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按功能分组的 case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87615" y="200120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AL · 时序 · 看门狗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87615" y="219170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寄存器 · OTP · FIFO …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334500" y="2000250"/>
              <a:ext cx="3238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715500" y="1581150"/>
              <a:ext cx="1905000" cy="8382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71710" y="17373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回归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73615" y="20012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脚本批量生成命令，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73615" y="21917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投集群运行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56260" y="2651760"/>
            <a:ext cx="7487793" cy="510540"/>
            <a:chOff x="556260" y="2651760"/>
            <a:chExt cx="7487793" cy="510540"/>
          </a:xfrm>
        </p:grpSpPr>
        <p:sp>
          <p:nvSpPr>
            <p:cNvPr id="34" name="TextBox 34"/>
            <p:cNvSpPr txBox="1"/>
            <p:nvPr/>
          </p:nvSpPr>
          <p:spPr>
            <a:xfrm>
              <a:off x="556260" y="2651760"/>
              <a:ext cx="74877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我负责的三类验证：数据通路（AL 光谱通道）、时序（timing_check）、异常恢复（看门狗）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6260" y="2918460"/>
              <a:ext cx="58315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寄存器检查把规格机械地变成检查，规格与 RTL 的偏差在回归中自动暴露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50545" y="3314700"/>
            <a:ext cx="11069955" cy="557212"/>
            <a:chOff x="550545" y="3314700"/>
            <a:chExt cx="11069955" cy="557212"/>
          </a:xfrm>
        </p:grpSpPr>
        <p:sp>
          <p:nvSpPr>
            <p:cNvPr id="37" name="Line 37"/>
            <p:cNvSpPr/>
            <p:nvPr/>
          </p:nvSpPr>
          <p:spPr>
            <a:xfrm>
              <a:off x="571500" y="3314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0545" y="3536632"/>
              <a:ext cx="57224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项目 D · 潜望式 OIS 驱动 SoC</a:t>
              </a:r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 xml:space="preserve"> 参与：数模混合仿真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3905250"/>
            <a:ext cx="11049000" cy="838200"/>
            <a:chOff x="571500" y="3905250"/>
            <a:chExt cx="11049000" cy="838200"/>
          </a:xfrm>
        </p:grpSpPr>
        <p:sp>
          <p:nvSpPr>
            <p:cNvPr id="40" name="Rectangle 40"/>
            <p:cNvSpPr/>
            <p:nvPr/>
          </p:nvSpPr>
          <p:spPr>
            <a:xfrm>
              <a:off x="571500" y="3905250"/>
              <a:ext cx="2476500" cy="838200"/>
            </a:xfrm>
            <a:prstGeom prst="roundRect">
              <a:avLst>
                <a:gd name="adj" fmla="val 4545"/>
              </a:avLst>
            </a:prstGeom>
            <a:solidFill>
              <a:srgbClr val="F5F7FA"/>
            </a:solidFill>
            <a:ln w="14288">
              <a:solidFill>
                <a:srgbClr val="1F3A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6760" y="40614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规格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8665" y="4325302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系统说明 · 寄存器表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8665" y="4515802"/>
              <a:ext cx="1728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DSP 指令集 · 数模接口表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3048000" y="4324350"/>
              <a:ext cx="3238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429000" y="3905250"/>
              <a:ext cx="2476500" cy="8382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04260" y="4061460"/>
              <a:ext cx="14106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软硬件协同 case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606165" y="4325302"/>
              <a:ext cx="1008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SV 激励与检查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606165" y="4515802"/>
              <a:ext cx="15525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+ CPU 上运行的 C 固件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5905500" y="4324350"/>
              <a:ext cx="3238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86500" y="3905250"/>
              <a:ext cx="2476500" cy="8382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9050">
              <a:solidFill>
                <a:srgbClr val="C8102E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61760" y="4061460"/>
              <a:ext cx="13738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数模混仿</a:t>
              </a:r>
              <a:r>
                <a:rPr lang="zh-CN" sz="975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 xml:space="preserve"> 我参与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63665" y="4325302"/>
              <a:ext cx="1728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数字 RTL + 模拟电路网表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63665" y="4515802"/>
              <a:ext cx="1820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Synopsys / Cadence 工具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8763000" y="4324350"/>
              <a:ext cx="3238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144000" y="3905250"/>
              <a:ext cx="2476500" cy="8382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319260" y="406146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可测性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21165" y="4325302"/>
              <a:ext cx="10157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DFT 相关 case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321165" y="4515802"/>
              <a:ext cx="1498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BIST · ATPG 向量仿真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56260" y="4975860"/>
            <a:ext cx="7286244" cy="510540"/>
            <a:chOff x="556260" y="4975860"/>
            <a:chExt cx="7286244" cy="510540"/>
          </a:xfrm>
        </p:grpSpPr>
        <p:sp>
          <p:nvSpPr>
            <p:cNvPr id="60" name="TextBox 60"/>
            <p:cNvSpPr txBox="1"/>
            <p:nvPr/>
          </p:nvSpPr>
          <p:spPr>
            <a:xfrm>
              <a:off x="556260" y="4975860"/>
              <a:ext cx="72862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平时用模拟模块的行为模型做数字仿真；混仿时换成模拟电路网表，同一套 testbench 不改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6260" y="5242560"/>
              <a:ext cx="6830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难点在配置：CPU 侧的启动与固件要求、模拟侧的电路配置，需要和两边同事反复对齐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71500" y="5753100"/>
            <a:ext cx="11049000" cy="495300"/>
            <a:chOff x="571500" y="5753100"/>
            <a:chExt cx="11049000" cy="495300"/>
          </a:xfrm>
        </p:grpSpPr>
        <p:sp>
          <p:nvSpPr>
            <p:cNvPr id="63" name="Rectangle 63"/>
            <p:cNvSpPr/>
            <p:nvPr/>
          </p:nvSpPr>
          <p:spPr>
            <a:xfrm>
              <a:off x="571500" y="5753100"/>
              <a:ext cx="11049000" cy="4953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82002" y="5913596"/>
              <a:ext cx="669607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共同点：</a:t>
              </a:r>
              <a:r>
                <a:rPr lang="zh-CN" sz="14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规格是唯一来源</a:t>
              </a:r>
              <a:r>
                <a:rPr lang="zh-CN" sz="14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；同一套验证环境，覆盖前仿、后仿与数模混仿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66" name="TextBox 66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497342" y="6589395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3" grpId="0"/>
      <p:bldP spid="36" grpId="0"/>
      <p:bldP spid="39" grpId="0"/>
      <p:bldP spid="59" grpId="0"/>
      <p:bldP spid="62" grpId="0"/>
      <p:bldP spid="6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484555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收获：从工业流程到研究问题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5729" y="621506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三 · 公司学习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46735" y="1389698"/>
            <a:ext cx="3321962" cy="527208"/>
            <a:chOff x="546735" y="1389698"/>
            <a:chExt cx="3321962" cy="527208"/>
          </a:xfrm>
        </p:grpSpPr>
        <p:sp>
          <p:nvSpPr>
            <p:cNvPr id="7" name="TextBox 7"/>
            <p:cNvSpPr txBox="1"/>
            <p:nvPr/>
          </p:nvSpPr>
          <p:spPr>
            <a:xfrm>
              <a:off x="546735" y="1389698"/>
              <a:ext cx="30371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6800" y="1400175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规格是唯一来源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1562" y="1688306"/>
              <a:ext cx="27971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设计与验证从同一张表派生（项目 C）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46735" y="2227898"/>
            <a:ext cx="3264455" cy="527208"/>
            <a:chOff x="546735" y="2227898"/>
            <a:chExt cx="3264455" cy="527208"/>
          </a:xfrm>
        </p:grpSpPr>
        <p:sp>
          <p:nvSpPr>
            <p:cNvPr id="11" name="TextBox 11"/>
            <p:cNvSpPr txBox="1"/>
            <p:nvPr/>
          </p:nvSpPr>
          <p:spPr>
            <a:xfrm>
              <a:off x="546735" y="2227898"/>
              <a:ext cx="3784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6800" y="22383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验证分层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71562" y="2526506"/>
              <a:ext cx="27396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环境 → 基类 → case → 回归（项目 C）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6735" y="3066098"/>
            <a:ext cx="3486269" cy="527208"/>
            <a:chOff x="546735" y="3066098"/>
            <a:chExt cx="3486269" cy="527208"/>
          </a:xfrm>
        </p:grpSpPr>
        <p:sp>
          <p:nvSpPr>
            <p:cNvPr id="15" name="TextBox 15"/>
            <p:cNvSpPr txBox="1"/>
            <p:nvPr/>
          </p:nvSpPr>
          <p:spPr>
            <a:xfrm>
              <a:off x="546735" y="3066098"/>
              <a:ext cx="3784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6800" y="3076575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一套环境，多种模式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71562" y="3364706"/>
              <a:ext cx="2961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前仿、后仿、混仿靠配置切换（项目 D）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46735" y="3904298"/>
            <a:ext cx="3354824" cy="527208"/>
            <a:chOff x="546735" y="3904298"/>
            <a:chExt cx="3354824" cy="527208"/>
          </a:xfrm>
        </p:grpSpPr>
        <p:sp>
          <p:nvSpPr>
            <p:cNvPr id="19" name="TextBox 19"/>
            <p:cNvSpPr txBox="1"/>
            <p:nvPr/>
          </p:nvSpPr>
          <p:spPr>
            <a:xfrm>
              <a:off x="546735" y="3904298"/>
              <a:ext cx="3784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6800" y="39147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可测性前置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71562" y="4202906"/>
              <a:ext cx="28299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DFT、BIST、trim 在仿真阶段就先验证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46735" y="4742498"/>
            <a:ext cx="4143494" cy="527208"/>
            <a:chOff x="546735" y="4742498"/>
            <a:chExt cx="4143494" cy="527208"/>
          </a:xfrm>
        </p:grpSpPr>
        <p:sp>
          <p:nvSpPr>
            <p:cNvPr id="23" name="TextBox 23"/>
            <p:cNvSpPr txBox="1"/>
            <p:nvPr/>
          </p:nvSpPr>
          <p:spPr>
            <a:xfrm>
              <a:off x="546735" y="4742498"/>
              <a:ext cx="3784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6800" y="47529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接口要对齐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1562" y="5041106"/>
              <a:ext cx="36186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数模、软硬件之间的细节需跨团队确认（项目 D）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0" y="1238250"/>
            <a:ext cx="6286500" cy="4095750"/>
            <a:chOff x="5334000" y="1238250"/>
            <a:chExt cx="6286500" cy="4095750"/>
          </a:xfrm>
        </p:grpSpPr>
        <p:sp>
          <p:nvSpPr>
            <p:cNvPr id="27" name="Line 27"/>
            <p:cNvSpPr/>
            <p:nvPr/>
          </p:nvSpPr>
          <p:spPr>
            <a:xfrm>
              <a:off x="5334000" y="123825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98808" y="142446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公司流程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42058" y="142446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我的研究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715000" y="173355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14288">
              <a:solidFill>
                <a:srgbClr val="1F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96902" y="2094071"/>
              <a:ext cx="149304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规格是唯一来源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63902" y="2094071"/>
              <a:ext cx="15066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40152" y="2094071"/>
              <a:ext cx="222146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结构规格作为验收依据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715000" y="257175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96902" y="2932271"/>
              <a:ext cx="86868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验证分层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63902" y="2932271"/>
              <a:ext cx="15066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0152" y="2932271"/>
              <a:ext cx="272408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功能 / 结构 / 时序三类检查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715000" y="340995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96902" y="3770471"/>
              <a:ext cx="107680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接口要对齐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63902" y="3770471"/>
              <a:ext cx="15066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40152" y="3770471"/>
              <a:ext cx="222146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规格写清级间传递什么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5715000" y="424815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571500" y="5619750"/>
            <a:ext cx="11049000" cy="609600"/>
            <a:chOff x="571500" y="5619750"/>
            <a:chExt cx="11049000" cy="609600"/>
          </a:xfrm>
        </p:grpSpPr>
        <p:sp>
          <p:nvSpPr>
            <p:cNvPr id="44" name="Rectangle 44"/>
            <p:cNvSpPr/>
            <p:nvPr/>
          </p:nvSpPr>
          <p:spPr>
            <a:xfrm>
              <a:off x="571500" y="5619750"/>
              <a:ext cx="11049000" cy="6096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80098" y="5830729"/>
              <a:ext cx="77574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工业流程靠</a:t>
              </a:r>
              <a:r>
                <a:rPr lang="zh-CN" sz="15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人写的规格 + 分层验证</a:t>
              </a:r>
              <a:r>
                <a:rPr lang="zh-CN" sz="15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保证质量；AI 写 RTL 时，</a:t>
              </a:r>
              <a:r>
                <a:rPr lang="zh-CN" sz="1575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缺的正是这一层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47" name="TextBox 47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97342" y="6589395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  <p:bldP spid="22" grpId="0"/>
      <p:bldP spid="26" grpId="0"/>
      <p:bldP spid="43" grpId="0"/>
      <p:bldP spid="4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1020" y="483870"/>
            <a:ext cx="11079480" cy="487680"/>
            <a:chOff x="541020" y="483870"/>
            <a:chExt cx="11079480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26372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总结与后续计划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50545" y="1250632"/>
            <a:ext cx="801005" cy="335280"/>
            <a:chOff x="550545" y="1250632"/>
            <a:chExt cx="801005" cy="335280"/>
          </a:xfrm>
        </p:grpSpPr>
        <p:sp>
          <p:nvSpPr>
            <p:cNvPr id="6" name="TextBox 6"/>
            <p:cNvSpPr txBox="1"/>
            <p:nvPr/>
          </p:nvSpPr>
          <p:spPr>
            <a:xfrm>
              <a:off x="550545" y="1250632"/>
              <a:ext cx="801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5156" y="1729264"/>
            <a:ext cx="5082509" cy="3116580"/>
            <a:chOff x="615156" y="1729264"/>
            <a:chExt cx="5082509" cy="3116580"/>
          </a:xfrm>
        </p:grpSpPr>
        <p:sp>
          <p:nvSpPr>
            <p:cNvPr id="8" name="Freeform 8"/>
            <p:cNvSpPr/>
            <p:nvPr/>
          </p:nvSpPr>
          <p:spPr>
            <a:xfrm>
              <a:off x="615156" y="175656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4288">
              <a:solidFill>
                <a:srgbClr val="2E7D32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615156" y="232806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4288">
              <a:solidFill>
                <a:srgbClr val="2E7D32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15156" y="2899569"/>
              <a:ext cx="130969" cy="87312"/>
            </a:xfrm>
            <a:custGeom>
              <a:avLst/>
              <a:gdLst/>
              <a:ahLst/>
              <a:cxnLst/>
              <a:rect l="l" t="t" r="r" b="b"/>
              <a:pathLst>
                <a:path w="130969" h="87312">
                  <a:moveTo>
                    <a:pt x="0" y="43656"/>
                  </a:moveTo>
                  <a:lnTo>
                    <a:pt x="43656" y="87312"/>
                  </a:lnTo>
                  <a:lnTo>
                    <a:pt x="130969" y="0"/>
                  </a:lnTo>
                </a:path>
              </a:pathLst>
            </a:custGeom>
            <a:noFill/>
            <a:ln w="14288">
              <a:solidFill>
                <a:srgbClr val="2E7D32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15156" y="3471069"/>
              <a:ext cx="130969" cy="87312"/>
            </a:xfrm>
            <a:custGeom>
              <a:avLst/>
              <a:gdLst/>
              <a:ahLst/>
              <a:cxnLst/>
              <a:rect l="l" t="t" r="r" b="b"/>
              <a:pathLst>
                <a:path w="130969" h="87312">
                  <a:moveTo>
                    <a:pt x="0" y="43656"/>
                  </a:moveTo>
                  <a:lnTo>
                    <a:pt x="43656" y="87312"/>
                  </a:lnTo>
                  <a:lnTo>
                    <a:pt x="130969" y="0"/>
                  </a:lnTo>
                </a:path>
              </a:pathLst>
            </a:custGeom>
            <a:noFill/>
            <a:ln w="14288">
              <a:solidFill>
                <a:srgbClr val="2E7D32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15156" y="4042569"/>
              <a:ext cx="130969" cy="87312"/>
            </a:xfrm>
            <a:custGeom>
              <a:avLst/>
              <a:gdLst/>
              <a:ahLst/>
              <a:cxnLst/>
              <a:rect l="l" t="t" r="r" b="b"/>
              <a:pathLst>
                <a:path w="130969" h="87312">
                  <a:moveTo>
                    <a:pt x="0" y="43656"/>
                  </a:moveTo>
                  <a:lnTo>
                    <a:pt x="43656" y="87312"/>
                  </a:lnTo>
                  <a:lnTo>
                    <a:pt x="130969" y="0"/>
                  </a:lnTo>
                </a:path>
              </a:pathLst>
            </a:custGeom>
            <a:noFill/>
            <a:ln w="14288">
              <a:solidFill>
                <a:srgbClr val="2E7D32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15156" y="4614069"/>
              <a:ext cx="130969" cy="87312"/>
            </a:xfrm>
            <a:custGeom>
              <a:avLst/>
              <a:gdLst/>
              <a:ahLst/>
              <a:cxnLst/>
              <a:rect l="l" t="t" r="r" b="b"/>
              <a:pathLst>
                <a:path w="130969" h="87312">
                  <a:moveTo>
                    <a:pt x="0" y="43656"/>
                  </a:moveTo>
                  <a:lnTo>
                    <a:pt x="43656" y="87312"/>
                  </a:lnTo>
                  <a:lnTo>
                    <a:pt x="130969" y="0"/>
                  </a:lnTo>
                </a:path>
              </a:pathLst>
            </a:custGeom>
            <a:noFill/>
            <a:ln w="14288">
              <a:solidFill>
                <a:srgbClr val="2E7D3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8208" y="1729264"/>
              <a:ext cx="46784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GPU 体系结构与模拟器学习，形成整机到流水线的架构图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8208" y="2300764"/>
              <a:ext cx="455737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subcore RTL 流水线重构：130 次提交，顶层代码 −43%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8208" y="2872264"/>
              <a:ext cx="30862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AI 生成 RTL 领域调研，研究问题收敛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8208" y="3443764"/>
              <a:ext cx="46877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结构规格原型：注入缺陷 16/16 拦下，发现 5 处结构分歧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8208" y="4015264"/>
              <a:ext cx="44549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GPGPU-Sim 路线 B 实验：AI 写的 RTL 通过逐周期验收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8208" y="4586764"/>
              <a:ext cx="479945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公司：参与 3 个、学习 1 个芯片项目，掌握设计—验证流程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67500" y="1200150"/>
            <a:ext cx="1756981" cy="4133850"/>
            <a:chOff x="6667500" y="1200150"/>
            <a:chExt cx="1756981" cy="4133850"/>
          </a:xfrm>
        </p:grpSpPr>
        <p:sp>
          <p:nvSpPr>
            <p:cNvPr id="21" name="Line 21"/>
            <p:cNvSpPr/>
            <p:nvPr/>
          </p:nvSpPr>
          <p:spPr>
            <a:xfrm>
              <a:off x="6667500" y="1200150"/>
              <a:ext cx="9525" cy="4133850"/>
            </a:xfrm>
            <a:custGeom>
              <a:avLst/>
              <a:gdLst/>
              <a:ahLst/>
              <a:cxnLst/>
              <a:rect l="l" t="t" r="r" b="b"/>
              <a:pathLst>
                <a:path w="9525" h="4133850">
                  <a:moveTo>
                    <a:pt x="0" y="0"/>
                  </a:moveTo>
                  <a:lnTo>
                    <a:pt x="0" y="41338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079456" y="1250156"/>
              <a:ext cx="185738" cy="185738"/>
              <a:chOff x="7079456" y="1250156"/>
              <a:chExt cx="185738" cy="18573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162006" y="1332706"/>
                <a:ext cx="206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20638">
                    <a:moveTo>
                      <a:pt x="0" y="10319"/>
                    </a:moveTo>
                    <a:cubicBezTo>
                      <a:pt x="0" y="16018"/>
                      <a:pt x="4620" y="20638"/>
                      <a:pt x="10319" y="20638"/>
                    </a:cubicBezTo>
                    <a:cubicBezTo>
                      <a:pt x="16018" y="20638"/>
                      <a:pt x="20638" y="16018"/>
                      <a:pt x="20638" y="10319"/>
                    </a:cubicBezTo>
                    <a:cubicBezTo>
                      <a:pt x="20638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120731" y="1291431"/>
                <a:ext cx="103187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03187">
                    <a:moveTo>
                      <a:pt x="0" y="51594"/>
                    </a:moveTo>
                    <a:cubicBezTo>
                      <a:pt x="0" y="80088"/>
                      <a:pt x="23099" y="103187"/>
                      <a:pt x="51594" y="103187"/>
                    </a:cubicBezTo>
                    <a:cubicBezTo>
                      <a:pt x="80088" y="103187"/>
                      <a:pt x="103187" y="80088"/>
                      <a:pt x="103187" y="51594"/>
                    </a:cubicBezTo>
                    <a:cubicBezTo>
                      <a:pt x="103187" y="23099"/>
                      <a:pt x="80088" y="0"/>
                      <a:pt x="51594" y="0"/>
                    </a:cubicBezTo>
                    <a:cubicBezTo>
                      <a:pt x="23099" y="0"/>
                      <a:pt x="0" y="23099"/>
                      <a:pt x="0" y="51594"/>
                    </a:cubicBez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079456" y="12501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370445" y="12506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后续计划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162800" y="1866900"/>
            <a:ext cx="9525" cy="3181350"/>
            <a:chOff x="7162800" y="1866900"/>
            <a:chExt cx="9525" cy="3181350"/>
          </a:xfrm>
        </p:grpSpPr>
        <p:sp>
          <p:nvSpPr>
            <p:cNvPr id="28" name="Line 28"/>
            <p:cNvSpPr/>
            <p:nvPr/>
          </p:nvSpPr>
          <p:spPr>
            <a:xfrm>
              <a:off x="7162800" y="1866900"/>
              <a:ext cx="9525" cy="3181350"/>
            </a:xfrm>
            <a:custGeom>
              <a:avLst/>
              <a:gdLst/>
              <a:ahLst/>
              <a:cxnLst/>
              <a:rect l="l" t="t" r="r" b="b"/>
              <a:pathLst>
                <a:path w="9525" h="3181350">
                  <a:moveTo>
                    <a:pt x="0" y="0"/>
                  </a:moveTo>
                  <a:lnTo>
                    <a:pt x="0" y="3181350"/>
                  </a:lnTo>
                </a:path>
              </a:pathLst>
            </a:custGeom>
            <a:noFill/>
            <a:ln w="19050">
              <a:solidFill>
                <a:srgbClr val="5B7BA6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096125" y="1786414"/>
            <a:ext cx="4696539" cy="492442"/>
            <a:chOff x="7096125" y="1786414"/>
            <a:chExt cx="4696539" cy="492442"/>
          </a:xfrm>
        </p:grpSpPr>
        <p:sp>
          <p:nvSpPr>
            <p:cNvPr id="30" name="Ellipse 30"/>
            <p:cNvSpPr/>
            <p:nvPr/>
          </p:nvSpPr>
          <p:spPr>
            <a:xfrm>
              <a:off x="7096125" y="1800225"/>
              <a:ext cx="133350" cy="1333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75208" y="1786414"/>
              <a:ext cx="26621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以 FML 为底座，建立结构规范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77112" y="2050256"/>
              <a:ext cx="44155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研究 AI 生成 RTL 的实现规范，以及设计知识如何组织与积累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096125" y="2815114"/>
            <a:ext cx="4984075" cy="492442"/>
            <a:chOff x="7096125" y="2815114"/>
            <a:chExt cx="4984075" cy="492442"/>
          </a:xfrm>
        </p:grpSpPr>
        <p:sp>
          <p:nvSpPr>
            <p:cNvPr id="34" name="Ellipse 34"/>
            <p:cNvSpPr/>
            <p:nvPr/>
          </p:nvSpPr>
          <p:spPr>
            <a:xfrm>
              <a:off x="7096125" y="2828925"/>
              <a:ext cx="133350" cy="1333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75208" y="2815114"/>
              <a:ext cx="19876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建立可量化的验收标准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77112" y="3078956"/>
              <a:ext cx="4703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各类检查分别能抓住什么、会漏掉什么；在 Hazard3 上外部验证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096125" y="3843814"/>
            <a:ext cx="3653194" cy="492442"/>
            <a:chOff x="7096125" y="3843814"/>
            <a:chExt cx="3653194" cy="492442"/>
          </a:xfrm>
        </p:grpSpPr>
        <p:sp>
          <p:nvSpPr>
            <p:cNvPr id="38" name="Ellipse 38"/>
            <p:cNvSpPr/>
            <p:nvPr/>
          </p:nvSpPr>
          <p:spPr>
            <a:xfrm>
              <a:off x="7096125" y="38576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5B7BA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75208" y="3843814"/>
              <a:ext cx="33074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向上延伸：软硬件协同的 AI 架构</a:t>
              </a:r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 xml:space="preserve"> 长期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77112" y="4107656"/>
              <a:ext cx="33722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深入编译器，从 AI for RTL 往上探索架构设计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077075" y="4867275"/>
            <a:ext cx="1503665" cy="264319"/>
            <a:chOff x="7077075" y="4867275"/>
            <a:chExt cx="1503665" cy="264319"/>
          </a:xfrm>
        </p:grpSpPr>
        <p:sp>
          <p:nvSpPr>
            <p:cNvPr id="42" name="Ellipse 42"/>
            <p:cNvSpPr/>
            <p:nvPr/>
          </p:nvSpPr>
          <p:spPr>
            <a:xfrm>
              <a:off x="7077075" y="4867275"/>
              <a:ext cx="171450" cy="17145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75208" y="48725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学位论文撰写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715000"/>
            <a:ext cx="11049000" cy="600075"/>
            <a:chOff x="571500" y="5715000"/>
            <a:chExt cx="11049000" cy="600075"/>
          </a:xfrm>
        </p:grpSpPr>
        <p:sp>
          <p:nvSpPr>
            <p:cNvPr id="45" name="Line 45"/>
            <p:cNvSpPr/>
            <p:nvPr/>
          </p:nvSpPr>
          <p:spPr>
            <a:xfrm>
              <a:off x="571500" y="5715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981575" y="6010275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恳请各位老师批评指正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97342" y="658939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  <p:bldP spid="27" grpId="0"/>
      <p:bldP spid="29" grpId="0"/>
      <p:bldP spid="33" grpId="0"/>
      <p:bldP spid="37" grpId="0"/>
      <p:bldP spid="41" grpId="0"/>
      <p:bldP spid="44" grpId="0"/>
      <p:bldP spid="4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