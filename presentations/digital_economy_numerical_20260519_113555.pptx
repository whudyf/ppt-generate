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汇报的主题是全国博物馆数量增长与文旅产业复苏。我的目标不是只描述数据上升或下降，而是用数值技术把年度数据中的变化率、阶段性和相关性提取出来。选取的三个指标分别是博物馆数量、国内游客和国内旅游总花费，时间范围是二零一四到二零二三年。</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题目放在数字经济与科技创新方向下，是因为文旅融合已经不只是线下旅游问题。博物馆数量反映公共文化服务供给，数字化展示和智慧文旅又会影响游客体验和消费转化。因此它同时连接国家文化数字化战略、民生改善和文旅消费复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数据处理的第一步是明确口径。这里把数据统一为全国年度数据，博物馆数量用个数表示，国内游客用百万人次表示，旅游总花费用亿元表示。这样处理后，三个指标可以按照同一年份对齐，形成适合数值计算的离散点集。</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表是后续计算的基础。可以看到，博物馆数量从二零一四年的三千六百五十八个增加到二零二三年的六千八百三十三个。旅游需求侧则明显不同，二零一九年处在高位，二零二零年受到冲击，二零二三年出现明显恢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预处理时我没有删除二零二零年的数据，因为它不是普通噪声，而是社会经济序列中需要解释的真实冲击。这里主要做三件事：统一年度、统一单位、标注冲击年份。这样后面做差分和拟合时，可以把长期趋势和短期冲击分开解释。</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数值方法是三点差分。对内部年份，我使用中心差分，用后一年的值减前一年的值再除以二。由于年度间隔是一年，所以结果可以直接理解为该年份附近每年的边际变化。首尾年份没有两侧数据，因此使用前向或后向差分。</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方法是最小二乘拟合。全周期只有十个点，而且包含疫情冲击，如果直接用一个线性模型，会把正常增长和冲击混在一起。因此我采用分段思路：平稳期用于解释同向增长，二零二零到二零二三年的恢复段用于短期趋势外推。</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规模趋势看，供给侧和需求侧呈现不同形态。博物馆数量持续单调上升，十年增长约百分之八十六点八。旅游总花费则在二零一九年达到高点，二零二零年明显下降，二零二三年恢复到四万九千多亿元，但还没有完全超过二零一九年。</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差分结果把拐点表现得更清楚。博物馆年度增量总体较稳定，说明公共文化设施供给没有因为短期冲击而停滞。游客变化率在二零二零年附近急剧转负，而二零二三年转为显著正值，这说明需求侧恢复速度在后期明显加快。</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相关性分析说明，不能只看全周期结果。二零一四到二零一九年，博物馆数量与国内游客的相关系数约为零点九八八，呈高度同向。把二零二零年之后的冲击年份放入全周期，相关系数反而被拉低，这提示我们社会数据分析必须结合阶段背景。</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恢复段的线性拟合，可以得到二零二四到二零二六年的短期情景预测。例如二零二六年博物馆数预测约为八千三百八十三个，国内游客约为五十七点八亿人次。但这个结果只适合看方向，因为年度采样间隔、政策变化和滞后效应都会带来误差。</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总结三点。第一，博物馆数量长期增长，说明公共文化供给持续扩张。第二，三点差分和分段拟合能有效识别冲击与恢复阶段。第三，文化设施供给是文旅复苏的重要基础，而数字化展示和智慧服务会进一步提升供给向消费转化的效率。</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Rectangle 3"/>
          <p:cNvSpPr/>
          <p:nvPr/>
        </p:nvSpPr>
        <p:spPr>
          <a:xfrm>
            <a:off x="0" y="0"/>
            <a:ext cx="12192000" cy="6858000"/>
          </a:xfrm>
          <a:prstGeom prst="rect">
            <a:avLst/>
          </a:prstGeom>
          <a:solidFill>
            <a:srgbClr val="1565C0">
              <a:alpha val="4000"/>
            </a:srgbClr>
          </a:solidFill>
          <a:ln>
            <a:noFill/>
          </a:ln>
        </p:spPr>
      </p:sp>
      <p:sp>
        <p:nvSpPr>
          <p:cNvPr id="4" name="Freeform 4"/>
          <p:cNvSpPr/>
          <p:nvPr/>
        </p:nvSpPr>
        <p:spPr>
          <a:xfrm>
            <a:off x="0" y="3867150"/>
            <a:ext cx="12192000" cy="2990850"/>
          </a:xfrm>
          <a:custGeom>
            <a:avLst/>
            <a:gdLst/>
            <a:ahLst/>
            <a:cxnLst/>
            <a:rect l="l" t="t" r="r" b="b"/>
            <a:pathLst>
              <a:path w="12192000" h="2990850">
                <a:moveTo>
                  <a:pt x="0" y="1466850"/>
                </a:moveTo>
                <a:cubicBezTo>
                  <a:pt x="2476500" y="895350"/>
                  <a:pt x="4095750" y="2038350"/>
                  <a:pt x="6858000" y="1352550"/>
                </a:cubicBezTo>
                <a:cubicBezTo>
                  <a:pt x="8858250" y="857250"/>
                  <a:pt x="9982200" y="0"/>
                  <a:pt x="12192000" y="438150"/>
                </a:cubicBezTo>
                <a:lnTo>
                  <a:pt x="12192000" y="2990850"/>
                </a:lnTo>
                <a:lnTo>
                  <a:pt x="0" y="2990850"/>
                </a:lnTo>
                <a:close/>
              </a:path>
            </a:pathLst>
          </a:custGeom>
          <a:solidFill>
            <a:srgbClr val="1565C0">
              <a:alpha val="8000"/>
            </a:srgbClr>
          </a:solidFill>
          <a:ln>
            <a:noFill/>
          </a:ln>
        </p:spPr>
      </p:sp>
      <p:sp>
        <p:nvSpPr>
          <p:cNvPr id="5" name="Freeform 5"/>
          <p:cNvSpPr/>
          <p:nvPr/>
        </p:nvSpPr>
        <p:spPr>
          <a:xfrm>
            <a:off x="8096250" y="0"/>
            <a:ext cx="4095750" cy="2571750"/>
          </a:xfrm>
          <a:custGeom>
            <a:avLst/>
            <a:gdLst/>
            <a:ahLst/>
            <a:cxnLst/>
            <a:rect l="l" t="t" r="r" b="b"/>
            <a:pathLst>
              <a:path w="4095750" h="2571750">
                <a:moveTo>
                  <a:pt x="0" y="0"/>
                </a:moveTo>
                <a:lnTo>
                  <a:pt x="4095750" y="0"/>
                </a:lnTo>
                <a:lnTo>
                  <a:pt x="4095750" y="2571750"/>
                </a:lnTo>
                <a:cubicBezTo>
                  <a:pt x="2667000" y="2238375"/>
                  <a:pt x="1809750" y="1428750"/>
                  <a:pt x="0" y="0"/>
                </a:cubicBezTo>
                <a:close/>
              </a:path>
            </a:pathLst>
          </a:custGeom>
          <a:solidFill>
            <a:srgbClr val="26A69A">
              <a:alpha val="14000"/>
            </a:srgbClr>
          </a:solidFill>
          <a:ln>
            <a:noFill/>
          </a:ln>
        </p:spPr>
      </p:sp>
      <p:grpSp>
        <p:nvGrpSpPr>
          <p:cNvPr id="9" name="Group 9"/>
          <p:cNvGrpSpPr/>
          <p:nvPr/>
        </p:nvGrpSpPr>
        <p:grpSpPr>
          <a:xfrm>
            <a:off x="750094" y="845344"/>
            <a:ext cx="385762" cy="395287"/>
            <a:chOff x="750094" y="845344"/>
            <a:chExt cx="385762" cy="395287"/>
          </a:xfrm>
        </p:grpSpPr>
        <p:sp>
          <p:nvSpPr>
            <p:cNvPr id="6" name="Freeform 6"/>
            <p:cNvSpPr/>
            <p:nvPr/>
          </p:nvSpPr>
          <p:spPr>
            <a:xfrm>
              <a:off x="857250" y="845344"/>
              <a:ext cx="171450" cy="321469"/>
            </a:xfrm>
            <a:custGeom>
              <a:avLst/>
              <a:gdLst/>
              <a:ahLst/>
              <a:cxnLst/>
              <a:rect l="l" t="t" r="r" b="b"/>
              <a:pathLst>
                <a:path w="171450" h="321469">
                  <a:moveTo>
                    <a:pt x="0" y="321469"/>
                  </a:moveTo>
                  <a:lnTo>
                    <a:pt x="42862" y="42862"/>
                  </a:lnTo>
                  <a:lnTo>
                    <a:pt x="85725" y="0"/>
                  </a:lnTo>
                  <a:lnTo>
                    <a:pt x="128588" y="42862"/>
                  </a:lnTo>
                  <a:lnTo>
                    <a:pt x="171450" y="321469"/>
                  </a:lnTo>
                </a:path>
              </a:pathLst>
            </a:custGeom>
            <a:noFill/>
            <a:ln w="19050">
              <a:solidFill>
                <a:srgbClr val="1565C0"/>
              </a:solidFill>
            </a:ln>
          </p:spPr>
        </p:sp>
        <p:sp>
          <p:nvSpPr>
            <p:cNvPr id="7" name="Freeform 7"/>
            <p:cNvSpPr/>
            <p:nvPr/>
          </p:nvSpPr>
          <p:spPr>
            <a:xfrm>
              <a:off x="792956" y="1166812"/>
              <a:ext cx="300038" cy="64294"/>
            </a:xfrm>
            <a:custGeom>
              <a:avLst/>
              <a:gdLst/>
              <a:ahLst/>
              <a:cxnLst/>
              <a:rect l="l" t="t" r="r" b="b"/>
              <a:pathLst>
                <a:path w="300038" h="64294">
                  <a:moveTo>
                    <a:pt x="0" y="64294"/>
                  </a:moveTo>
                  <a:lnTo>
                    <a:pt x="0" y="0"/>
                  </a:lnTo>
                  <a:lnTo>
                    <a:pt x="300038" y="0"/>
                  </a:lnTo>
                  <a:lnTo>
                    <a:pt x="300038" y="64294"/>
                  </a:lnTo>
                </a:path>
              </a:pathLst>
            </a:custGeom>
            <a:noFill/>
            <a:ln w="19050">
              <a:solidFill>
                <a:srgbClr val="1565C0"/>
              </a:solidFill>
            </a:ln>
          </p:spPr>
        </p:sp>
        <p:sp>
          <p:nvSpPr>
            <p:cNvPr id="8" name="Freeform 8"/>
            <p:cNvSpPr/>
            <p:nvPr/>
          </p:nvSpPr>
          <p:spPr>
            <a:xfrm>
              <a:off x="750094" y="1231106"/>
              <a:ext cx="385762" cy="9525"/>
            </a:xfrm>
            <a:custGeom>
              <a:avLst/>
              <a:gdLst/>
              <a:ahLst/>
              <a:cxnLst/>
              <a:rect l="l" t="t" r="r" b="b"/>
              <a:pathLst>
                <a:path w="385762" h="9525">
                  <a:moveTo>
                    <a:pt x="0" y="0"/>
                  </a:moveTo>
                  <a:lnTo>
                    <a:pt x="385762" y="0"/>
                  </a:lnTo>
                </a:path>
              </a:pathLst>
            </a:custGeom>
            <a:noFill/>
            <a:ln w="19050">
              <a:solidFill>
                <a:srgbClr val="1565C0"/>
              </a:solidFill>
            </a:ln>
          </p:spPr>
        </p:sp>
      </p:grpSp>
      <p:sp>
        <p:nvSpPr>
          <p:cNvPr id="10" name="TextBox 10"/>
          <p:cNvSpPr txBox="1"/>
          <p:nvPr/>
        </p:nvSpPr>
        <p:spPr>
          <a:xfrm>
            <a:off x="510540" y="1463040"/>
            <a:ext cx="2806065" cy="365760"/>
          </a:xfrm>
          <a:prstGeom prst="rect">
            <a:avLst/>
          </a:prstGeom>
          <a:noFill/>
          <a:ln>
            <a:noFill/>
          </a:ln>
        </p:spPr>
        <p:txBody>
          <a:bodyPr wrap="none" lIns="0" tIns="0" rIns="0" bIns="0" anchor="t" anchorCtr="0">
            <a:spAutoFit/>
          </a:bodyPr>
          <a:lstStyle/>
          <a:p>
            <a:pPr algn="l"/>
            <a:r>
              <a:rPr lang="zh-CN" sz="1800" b="1" dirty="0">
                <a:solidFill>
                  <a:srgbClr val="607D8B"/>
                </a:solidFill>
                <a:latin typeface="Arial"/>
                <a:ea typeface="Microsoft YaHei"/>
                <a:cs typeface="Arial"/>
              </a:rPr>
              <a:t>数值技术课程结课汇报</a:t>
            </a:r>
          </a:p>
        </p:txBody>
      </p:sp>
      <p:sp>
        <p:nvSpPr>
          <p:cNvPr id="11" name="TextBox 11"/>
          <p:cNvSpPr txBox="1"/>
          <p:nvPr/>
        </p:nvSpPr>
        <p:spPr>
          <a:xfrm>
            <a:off x="464820" y="1988820"/>
            <a:ext cx="7590091" cy="1097280"/>
          </a:xfrm>
          <a:prstGeom prst="rect">
            <a:avLst/>
          </a:prstGeom>
          <a:noFill/>
          <a:ln>
            <a:noFill/>
          </a:ln>
        </p:spPr>
        <p:txBody>
          <a:bodyPr wrap="none" lIns="0" tIns="0" rIns="0" bIns="0" anchor="t" anchorCtr="0">
            <a:spAutoFit/>
          </a:bodyPr>
          <a:lstStyle/>
          <a:p>
            <a:pPr algn="l"/>
            <a:r>
              <a:rPr lang="zh-CN" sz="5400" b="1" dirty="0">
                <a:solidFill>
                  <a:srgbClr val="263238"/>
                </a:solidFill>
                <a:latin typeface="Arial"/>
                <a:ea typeface="Microsoft YaHei"/>
                <a:cs typeface="Arial"/>
              </a:rPr>
              <a:t>全国博物馆数量增长</a:t>
            </a:r>
          </a:p>
        </p:txBody>
      </p:sp>
      <p:sp>
        <p:nvSpPr>
          <p:cNvPr id="12" name="TextBox 12"/>
          <p:cNvSpPr txBox="1"/>
          <p:nvPr/>
        </p:nvSpPr>
        <p:spPr>
          <a:xfrm>
            <a:off x="464820" y="2788920"/>
            <a:ext cx="5933884" cy="1097280"/>
          </a:xfrm>
          <a:prstGeom prst="rect">
            <a:avLst/>
          </a:prstGeom>
          <a:noFill/>
          <a:ln>
            <a:noFill/>
          </a:ln>
        </p:spPr>
        <p:txBody>
          <a:bodyPr wrap="none" lIns="0" tIns="0" rIns="0" bIns="0" anchor="t" anchorCtr="0">
            <a:spAutoFit/>
          </a:bodyPr>
          <a:lstStyle/>
          <a:p>
            <a:pPr algn="l"/>
            <a:r>
              <a:rPr lang="zh-CN" sz="5400" b="1" dirty="0">
                <a:solidFill>
                  <a:srgbClr val="263238"/>
                </a:solidFill>
                <a:latin typeface="Arial"/>
                <a:ea typeface="Microsoft YaHei"/>
                <a:cs typeface="Arial"/>
              </a:rPr>
              <a:t>与文旅产业复苏</a:t>
            </a:r>
          </a:p>
        </p:txBody>
      </p:sp>
      <p:sp>
        <p:nvSpPr>
          <p:cNvPr id="13" name="TextBox 13"/>
          <p:cNvSpPr txBox="1"/>
          <p:nvPr/>
        </p:nvSpPr>
        <p:spPr>
          <a:xfrm>
            <a:off x="548640" y="3691890"/>
            <a:ext cx="5290376" cy="365760"/>
          </a:xfrm>
          <a:prstGeom prst="rect">
            <a:avLst/>
          </a:prstGeom>
          <a:noFill/>
          <a:ln>
            <a:noFill/>
          </a:ln>
        </p:spPr>
        <p:txBody>
          <a:bodyPr wrap="none" lIns="0" tIns="0" rIns="0" bIns="0" anchor="t" anchorCtr="0">
            <a:spAutoFit/>
          </a:bodyPr>
          <a:lstStyle/>
          <a:p>
            <a:pPr algn="l"/>
            <a:r>
              <a:rPr lang="zh-CN" sz="1800" b="1" dirty="0">
                <a:solidFill>
                  <a:srgbClr val="1565C0"/>
                </a:solidFill>
                <a:latin typeface="Arial"/>
                <a:ea typeface="Microsoft YaHei"/>
                <a:cs typeface="Arial"/>
              </a:rPr>
              <a:t>基于三点差分、最小二乘拟合与相关性分析</a:t>
            </a:r>
          </a:p>
        </p:txBody>
      </p:sp>
      <p:sp>
        <p:nvSpPr>
          <p:cNvPr id="14" name="Rectangle 14"/>
          <p:cNvSpPr/>
          <p:nvPr/>
        </p:nvSpPr>
        <p:spPr>
          <a:xfrm>
            <a:off x="571500" y="4457700"/>
            <a:ext cx="3181350" cy="990600"/>
          </a:xfrm>
          <a:prstGeom prst="roundRect">
            <a:avLst>
              <a:gd name="adj" fmla="val 7692"/>
            </a:avLst>
          </a:prstGeom>
          <a:solidFill>
            <a:srgbClr val="FFFFFF"/>
          </a:solidFill>
          <a:ln w="9525">
            <a:solidFill>
              <a:srgbClr val="DDE6EF"/>
            </a:solidFill>
          </a:ln>
        </p:spPr>
      </p:sp>
      <p:sp>
        <p:nvSpPr>
          <p:cNvPr id="15" name="Rectangle 15"/>
          <p:cNvSpPr/>
          <p:nvPr/>
        </p:nvSpPr>
        <p:spPr>
          <a:xfrm>
            <a:off x="4038600" y="4457700"/>
            <a:ext cx="3181350" cy="990600"/>
          </a:xfrm>
          <a:prstGeom prst="roundRect">
            <a:avLst>
              <a:gd name="adj" fmla="val 7692"/>
            </a:avLst>
          </a:prstGeom>
          <a:solidFill>
            <a:srgbClr val="FFFFFF"/>
          </a:solidFill>
          <a:ln w="9525">
            <a:solidFill>
              <a:srgbClr val="DDE6EF"/>
            </a:solidFill>
          </a:ln>
        </p:spPr>
      </p:sp>
      <p:sp>
        <p:nvSpPr>
          <p:cNvPr id="16" name="Rectangle 16"/>
          <p:cNvSpPr/>
          <p:nvPr/>
        </p:nvSpPr>
        <p:spPr>
          <a:xfrm>
            <a:off x="7505700" y="4457700"/>
            <a:ext cx="3181350" cy="990600"/>
          </a:xfrm>
          <a:prstGeom prst="roundRect">
            <a:avLst>
              <a:gd name="adj" fmla="val 7692"/>
            </a:avLst>
          </a:prstGeom>
          <a:solidFill>
            <a:srgbClr val="FFFFFF"/>
          </a:solidFill>
          <a:ln w="9525">
            <a:solidFill>
              <a:srgbClr val="DDE6EF"/>
            </a:solidFill>
          </a:ln>
        </p:spPr>
      </p:sp>
      <p:sp>
        <p:nvSpPr>
          <p:cNvPr id="17" name="TextBox 17"/>
          <p:cNvSpPr txBox="1"/>
          <p:nvPr/>
        </p:nvSpPr>
        <p:spPr>
          <a:xfrm>
            <a:off x="804862" y="4698206"/>
            <a:ext cx="685800" cy="228600"/>
          </a:xfrm>
          <a:prstGeom prst="rect">
            <a:avLst/>
          </a:prstGeom>
          <a:noFill/>
          <a:ln>
            <a:noFill/>
          </a:ln>
        </p:spPr>
        <p:txBody>
          <a:bodyPr wrap="none" lIns="0" tIns="0" rIns="0" bIns="0" anchor="t" anchorCtr="0">
            <a:spAutoFit/>
          </a:bodyPr>
          <a:lstStyle/>
          <a:p>
            <a:pPr algn="l"/>
            <a:r>
              <a:rPr lang="zh-CN" sz="1125" dirty="0">
                <a:solidFill>
                  <a:srgbClr val="607D8B"/>
                </a:solidFill>
                <a:latin typeface="Arial"/>
                <a:ea typeface="Microsoft YaHei"/>
                <a:cs typeface="Arial"/>
              </a:rPr>
              <a:t>研究对象</a:t>
            </a:r>
          </a:p>
        </p:txBody>
      </p:sp>
      <p:sp>
        <p:nvSpPr>
          <p:cNvPr id="18" name="TextBox 18"/>
          <p:cNvSpPr txBox="1"/>
          <p:nvPr/>
        </p:nvSpPr>
        <p:spPr>
          <a:xfrm>
            <a:off x="792480" y="4973955"/>
            <a:ext cx="2951702"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Arial"/>
                <a:ea typeface="Microsoft YaHei"/>
                <a:cs typeface="Arial"/>
              </a:rPr>
              <a:t>2014-2023 年度序列</a:t>
            </a:r>
          </a:p>
        </p:txBody>
      </p:sp>
      <p:sp>
        <p:nvSpPr>
          <p:cNvPr id="19" name="TextBox 19"/>
          <p:cNvSpPr txBox="1"/>
          <p:nvPr/>
        </p:nvSpPr>
        <p:spPr>
          <a:xfrm>
            <a:off x="4271962" y="4698206"/>
            <a:ext cx="685800" cy="228600"/>
          </a:xfrm>
          <a:prstGeom prst="rect">
            <a:avLst/>
          </a:prstGeom>
          <a:noFill/>
          <a:ln>
            <a:noFill/>
          </a:ln>
        </p:spPr>
        <p:txBody>
          <a:bodyPr wrap="none" lIns="0" tIns="0" rIns="0" bIns="0" anchor="t" anchorCtr="0">
            <a:spAutoFit/>
          </a:bodyPr>
          <a:lstStyle/>
          <a:p>
            <a:pPr algn="l"/>
            <a:r>
              <a:rPr lang="zh-CN" sz="1125" dirty="0">
                <a:solidFill>
                  <a:srgbClr val="607D8B"/>
                </a:solidFill>
                <a:latin typeface="Arial"/>
                <a:ea typeface="Microsoft YaHei"/>
                <a:cs typeface="Arial"/>
              </a:rPr>
              <a:t>核心指标</a:t>
            </a:r>
          </a:p>
        </p:txBody>
      </p:sp>
      <p:sp>
        <p:nvSpPr>
          <p:cNvPr id="20" name="TextBox 20"/>
          <p:cNvSpPr txBox="1"/>
          <p:nvPr/>
        </p:nvSpPr>
        <p:spPr>
          <a:xfrm>
            <a:off x="4259580" y="4973955"/>
            <a:ext cx="2581356"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Arial"/>
                <a:ea typeface="Microsoft YaHei"/>
                <a:cs typeface="Arial"/>
              </a:rPr>
              <a:t>3 个国家统计指标</a:t>
            </a:r>
          </a:p>
        </p:txBody>
      </p:sp>
      <p:sp>
        <p:nvSpPr>
          <p:cNvPr id="21" name="TextBox 21"/>
          <p:cNvSpPr txBox="1"/>
          <p:nvPr/>
        </p:nvSpPr>
        <p:spPr>
          <a:xfrm>
            <a:off x="7739062" y="4698206"/>
            <a:ext cx="685800" cy="228600"/>
          </a:xfrm>
          <a:prstGeom prst="rect">
            <a:avLst/>
          </a:prstGeom>
          <a:noFill/>
          <a:ln>
            <a:noFill/>
          </a:ln>
        </p:spPr>
        <p:txBody>
          <a:bodyPr wrap="none" lIns="0" tIns="0" rIns="0" bIns="0" anchor="t" anchorCtr="0">
            <a:spAutoFit/>
          </a:bodyPr>
          <a:lstStyle/>
          <a:p>
            <a:pPr algn="l"/>
            <a:r>
              <a:rPr lang="zh-CN" sz="1125" dirty="0">
                <a:solidFill>
                  <a:srgbClr val="607D8B"/>
                </a:solidFill>
                <a:latin typeface="Arial"/>
                <a:ea typeface="Microsoft YaHei"/>
                <a:cs typeface="Arial"/>
              </a:rPr>
              <a:t>汇报时间</a:t>
            </a:r>
          </a:p>
        </p:txBody>
      </p:sp>
      <p:sp>
        <p:nvSpPr>
          <p:cNvPr id="22" name="TextBox 22"/>
          <p:cNvSpPr txBox="1"/>
          <p:nvPr/>
        </p:nvSpPr>
        <p:spPr>
          <a:xfrm>
            <a:off x="7726680" y="4973955"/>
            <a:ext cx="1615235"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Arial"/>
                <a:ea typeface="Microsoft YaHei"/>
                <a:cs typeface="Arial"/>
              </a:rPr>
              <a:t>5 分钟以内</a:t>
            </a:r>
          </a:p>
        </p:txBody>
      </p:sp>
      <p:sp>
        <p:nvSpPr>
          <p:cNvPr id="23" name="Line 23"/>
          <p:cNvSpPr/>
          <p:nvPr/>
        </p:nvSpPr>
        <p:spPr>
          <a:xfrm>
            <a:off x="533400" y="6115050"/>
            <a:ext cx="11125200" cy="9525"/>
          </a:xfrm>
          <a:custGeom>
            <a:avLst/>
            <a:gdLst/>
            <a:ahLst/>
            <a:cxnLst/>
            <a:rect l="l" t="t" r="r" b="b"/>
            <a:pathLst>
              <a:path w="11125200" h="9525">
                <a:moveTo>
                  <a:pt x="0" y="0"/>
                </a:moveTo>
                <a:lnTo>
                  <a:pt x="11125200" y="0"/>
                </a:lnTo>
              </a:path>
            </a:pathLst>
          </a:custGeom>
          <a:noFill/>
          <a:ln w="9525">
            <a:solidFill>
              <a:srgbClr val="DDE6EF"/>
            </a:solidFill>
          </a:ln>
        </p:spPr>
      </p:sp>
      <p:sp>
        <p:nvSpPr>
          <p:cNvPr id="24" name="TextBox 24"/>
          <p:cNvSpPr txBox="1"/>
          <p:nvPr/>
        </p:nvSpPr>
        <p:spPr>
          <a:xfrm>
            <a:off x="520065" y="6306502"/>
            <a:ext cx="6927532"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数据来源：国家统计局国家数据与《中国统计年鉴》公开指标；文化机构数按全国备案博物馆口径整理</a:t>
            </a:r>
          </a:p>
        </p:txBody>
      </p:sp>
      <p:sp>
        <p:nvSpPr>
          <p:cNvPr id="25" name="TextBox 25"/>
          <p:cNvSpPr txBox="1"/>
          <p:nvPr/>
        </p:nvSpPr>
        <p:spPr>
          <a:xfrm>
            <a:off x="11208210" y="6306502"/>
            <a:ext cx="463725" cy="213360"/>
          </a:xfrm>
          <a:prstGeom prst="rect">
            <a:avLst/>
          </a:prstGeom>
          <a:noFill/>
          <a:ln>
            <a:noFill/>
          </a:ln>
        </p:spPr>
        <p:txBody>
          <a:bodyPr wrap="none" lIns="0" tIns="0" rIns="0" bIns="0" anchor="t" anchorCtr="0">
            <a:spAutoFit/>
          </a:bodyPr>
          <a:lstStyle/>
          <a:p>
            <a:pPr algn="r"/>
            <a:r>
              <a:rPr lang="zh-CN" sz="1050" dirty="0">
                <a:solidFill>
                  <a:srgbClr val="90A4AE"/>
                </a:solidFill>
                <a:latin typeface="Arial"/>
                <a:ea typeface="Microsoft YaHei"/>
                <a:cs typeface="Arial"/>
              </a:rPr>
              <a:t>01 / 12</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01015" y="372428"/>
            <a:ext cx="7885747"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选题价值：文旅融合是数字经济的民生侧入口</a:t>
            </a:r>
          </a:p>
        </p:txBody>
      </p:sp>
      <p:sp>
        <p:nvSpPr>
          <p:cNvPr id="4" name="Rectangle 4"/>
          <p:cNvSpPr/>
          <p:nvPr/>
        </p:nvSpPr>
        <p:spPr>
          <a:xfrm>
            <a:off x="533400" y="876300"/>
            <a:ext cx="11125200" cy="476250"/>
          </a:xfrm>
          <a:prstGeom prst="roundRect">
            <a:avLst>
              <a:gd name="adj" fmla="val 16000"/>
            </a:avLst>
          </a:prstGeom>
          <a:solidFill>
            <a:srgbClr val="1565C0">
              <a:alpha val="8000"/>
            </a:srgbClr>
          </a:solidFill>
          <a:ln>
            <a:noFill/>
          </a:ln>
        </p:spPr>
      </p:sp>
      <p:sp>
        <p:nvSpPr>
          <p:cNvPr id="5" name="TextBox 5"/>
          <p:cNvSpPr txBox="1"/>
          <p:nvPr/>
        </p:nvSpPr>
        <p:spPr>
          <a:xfrm>
            <a:off x="725805" y="1035368"/>
            <a:ext cx="9103995"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博物馆不只是文化机构数量指标，也反映公共服务供给、城市文旅吸引力和数字化展示能力的共同提升。</a:t>
            </a:r>
          </a:p>
        </p:txBody>
      </p:sp>
      <p:sp>
        <p:nvSpPr>
          <p:cNvPr id="6" name="Rectangle 6"/>
          <p:cNvSpPr/>
          <p:nvPr/>
        </p:nvSpPr>
        <p:spPr>
          <a:xfrm>
            <a:off x="533400" y="1695450"/>
            <a:ext cx="3390900" cy="3143250"/>
          </a:xfrm>
          <a:prstGeom prst="roundRect">
            <a:avLst>
              <a:gd name="adj" fmla="val 2424"/>
            </a:avLst>
          </a:prstGeom>
          <a:solidFill>
            <a:srgbClr val="FFFFFF"/>
          </a:solidFill>
          <a:ln w="9525">
            <a:solidFill>
              <a:srgbClr val="DDE6EF"/>
            </a:solidFill>
          </a:ln>
        </p:spPr>
      </p:sp>
      <p:sp>
        <p:nvSpPr>
          <p:cNvPr id="7" name="Rectangle 7"/>
          <p:cNvSpPr/>
          <p:nvPr/>
        </p:nvSpPr>
        <p:spPr>
          <a:xfrm>
            <a:off x="4400550" y="1695450"/>
            <a:ext cx="3390900" cy="3143250"/>
          </a:xfrm>
          <a:prstGeom prst="roundRect">
            <a:avLst>
              <a:gd name="adj" fmla="val 2424"/>
            </a:avLst>
          </a:prstGeom>
          <a:solidFill>
            <a:srgbClr val="FFFFFF"/>
          </a:solidFill>
          <a:ln w="9525">
            <a:solidFill>
              <a:srgbClr val="DDE6EF"/>
            </a:solidFill>
          </a:ln>
        </p:spPr>
      </p:sp>
      <p:sp>
        <p:nvSpPr>
          <p:cNvPr id="8" name="Rectangle 8"/>
          <p:cNvSpPr/>
          <p:nvPr/>
        </p:nvSpPr>
        <p:spPr>
          <a:xfrm>
            <a:off x="8267700" y="1695450"/>
            <a:ext cx="3390900" cy="3143250"/>
          </a:xfrm>
          <a:prstGeom prst="roundRect">
            <a:avLst>
              <a:gd name="adj" fmla="val 2424"/>
            </a:avLst>
          </a:prstGeom>
          <a:solidFill>
            <a:srgbClr val="FFFFFF"/>
          </a:solidFill>
          <a:ln w="9525">
            <a:solidFill>
              <a:srgbClr val="DDE6EF"/>
            </a:solidFill>
          </a:ln>
        </p:spPr>
      </p:sp>
      <p:grpSp>
        <p:nvGrpSpPr>
          <p:cNvPr id="12" name="Group 12"/>
          <p:cNvGrpSpPr/>
          <p:nvPr/>
        </p:nvGrpSpPr>
        <p:grpSpPr>
          <a:xfrm>
            <a:off x="906462" y="2111434"/>
            <a:ext cx="279401" cy="312679"/>
            <a:chOff x="906462" y="2111434"/>
            <a:chExt cx="279401" cy="312679"/>
          </a:xfrm>
        </p:grpSpPr>
        <p:sp>
          <p:nvSpPr>
            <p:cNvPr id="9" name="Freeform 9"/>
            <p:cNvSpPr/>
            <p:nvPr/>
          </p:nvSpPr>
          <p:spPr>
            <a:xfrm>
              <a:off x="906462" y="2111434"/>
              <a:ext cx="244475" cy="209999"/>
            </a:xfrm>
            <a:custGeom>
              <a:avLst/>
              <a:gdLst/>
              <a:ahLst/>
              <a:cxnLst/>
              <a:rect l="l" t="t" r="r" b="b"/>
              <a:pathLst>
                <a:path w="244475" h="209999">
                  <a:moveTo>
                    <a:pt x="153094" y="209999"/>
                  </a:moveTo>
                  <a:cubicBezTo>
                    <a:pt x="141540" y="205737"/>
                    <a:pt x="131023" y="199070"/>
                    <a:pt x="122238" y="190441"/>
                  </a:cubicBezTo>
                  <a:cubicBezTo>
                    <a:pt x="88287" y="157162"/>
                    <a:pt x="33951" y="157162"/>
                    <a:pt x="0" y="190441"/>
                  </a:cubicBezTo>
                  <a:lnTo>
                    <a:pt x="0" y="33279"/>
                  </a:lnTo>
                  <a:cubicBezTo>
                    <a:pt x="33951" y="0"/>
                    <a:pt x="88287" y="0"/>
                    <a:pt x="122238" y="33279"/>
                  </a:cubicBezTo>
                  <a:cubicBezTo>
                    <a:pt x="156188" y="66557"/>
                    <a:pt x="210524" y="66557"/>
                    <a:pt x="244475" y="33279"/>
                  </a:cubicBezTo>
                  <a:lnTo>
                    <a:pt x="244475" y="181710"/>
                  </a:lnTo>
                </a:path>
              </a:pathLst>
            </a:custGeom>
            <a:noFill/>
            <a:ln w="19050">
              <a:solidFill>
                <a:srgbClr val="1565C0"/>
              </a:solidFill>
            </a:ln>
          </p:spPr>
        </p:sp>
        <p:sp>
          <p:nvSpPr>
            <p:cNvPr id="10" name="Freeform 10"/>
            <p:cNvSpPr/>
            <p:nvPr/>
          </p:nvSpPr>
          <p:spPr>
            <a:xfrm>
              <a:off x="906462" y="2301875"/>
              <a:ext cx="9525" cy="122238"/>
            </a:xfrm>
            <a:custGeom>
              <a:avLst/>
              <a:gdLst/>
              <a:ahLst/>
              <a:cxnLst/>
              <a:rect l="l" t="t" r="r" b="b"/>
              <a:pathLst>
                <a:path w="9525" h="122238">
                  <a:moveTo>
                    <a:pt x="0" y="122238"/>
                  </a:moveTo>
                  <a:lnTo>
                    <a:pt x="0" y="0"/>
                  </a:lnTo>
                </a:path>
              </a:pathLst>
            </a:custGeom>
            <a:noFill/>
            <a:ln w="19050">
              <a:solidFill>
                <a:srgbClr val="1565C0"/>
              </a:solidFill>
            </a:ln>
          </p:spPr>
        </p:sp>
        <p:sp>
          <p:nvSpPr>
            <p:cNvPr id="11" name="Freeform 11"/>
            <p:cNvSpPr/>
            <p:nvPr/>
          </p:nvSpPr>
          <p:spPr>
            <a:xfrm>
              <a:off x="1081088" y="2354262"/>
              <a:ext cx="104775" cy="69850"/>
            </a:xfrm>
            <a:custGeom>
              <a:avLst/>
              <a:gdLst/>
              <a:ahLst/>
              <a:cxnLst/>
              <a:rect l="l" t="t" r="r" b="b"/>
              <a:pathLst>
                <a:path w="104775" h="69850">
                  <a:moveTo>
                    <a:pt x="0" y="34925"/>
                  </a:moveTo>
                  <a:lnTo>
                    <a:pt x="34925" y="69850"/>
                  </a:lnTo>
                  <a:lnTo>
                    <a:pt x="104775" y="0"/>
                  </a:lnTo>
                </a:path>
              </a:pathLst>
            </a:custGeom>
            <a:noFill/>
            <a:ln w="19050">
              <a:solidFill>
                <a:srgbClr val="1565C0"/>
              </a:solidFill>
            </a:ln>
          </p:spPr>
        </p:sp>
      </p:grpSp>
      <p:sp>
        <p:nvSpPr>
          <p:cNvPr id="13" name="TextBox 13"/>
          <p:cNvSpPr txBox="1"/>
          <p:nvPr/>
        </p:nvSpPr>
        <p:spPr>
          <a:xfrm>
            <a:off x="794385" y="2589848"/>
            <a:ext cx="1245680" cy="396240"/>
          </a:xfrm>
          <a:prstGeom prst="rect">
            <a:avLst/>
          </a:prstGeom>
          <a:noFill/>
          <a:ln>
            <a:noFill/>
          </a:ln>
        </p:spPr>
        <p:txBody>
          <a:bodyPr wrap="none" lIns="0" tIns="0" rIns="0" bIns="0" anchor="t" anchorCtr="0">
            <a:spAutoFit/>
          </a:bodyPr>
          <a:lstStyle/>
          <a:p>
            <a:pPr algn="l"/>
            <a:r>
              <a:rPr lang="zh-CN" sz="1950" b="1" dirty="0">
                <a:solidFill>
                  <a:srgbClr val="263238"/>
                </a:solidFill>
                <a:latin typeface="Arial"/>
                <a:ea typeface="Microsoft YaHei"/>
                <a:cs typeface="Arial"/>
              </a:rPr>
              <a:t>国家战略</a:t>
            </a:r>
          </a:p>
        </p:txBody>
      </p:sp>
      <p:sp>
        <p:nvSpPr>
          <p:cNvPr id="14" name="TextBox 14"/>
          <p:cNvSpPr txBox="1"/>
          <p:nvPr/>
        </p:nvSpPr>
        <p:spPr>
          <a:xfrm>
            <a:off x="802005" y="3073718"/>
            <a:ext cx="2597468"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文化数字化战略推动馆藏资源</a:t>
            </a:r>
          </a:p>
        </p:txBody>
      </p:sp>
      <p:sp>
        <p:nvSpPr>
          <p:cNvPr id="15" name="TextBox 15"/>
          <p:cNvSpPr txBox="1"/>
          <p:nvPr/>
        </p:nvSpPr>
        <p:spPr>
          <a:xfrm>
            <a:off x="802005" y="3359468"/>
            <a:ext cx="2400300"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线上化、沉浸式展示和智慧</a:t>
            </a:r>
          </a:p>
        </p:txBody>
      </p:sp>
      <p:sp>
        <p:nvSpPr>
          <p:cNvPr id="16" name="TextBox 16"/>
          <p:cNvSpPr txBox="1"/>
          <p:nvPr/>
        </p:nvSpPr>
        <p:spPr>
          <a:xfrm>
            <a:off x="802005" y="3645218"/>
            <a:ext cx="1020127"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文旅服务。</a:t>
            </a:r>
          </a:p>
        </p:txBody>
      </p:sp>
      <p:grpSp>
        <p:nvGrpSpPr>
          <p:cNvPr id="20" name="Group 20"/>
          <p:cNvGrpSpPr/>
          <p:nvPr/>
        </p:nvGrpSpPr>
        <p:grpSpPr>
          <a:xfrm>
            <a:off x="4738688" y="2109788"/>
            <a:ext cx="314325" cy="323849"/>
            <a:chOff x="4738688" y="2109788"/>
            <a:chExt cx="314325" cy="323849"/>
          </a:xfrm>
        </p:grpSpPr>
        <p:sp>
          <p:nvSpPr>
            <p:cNvPr id="17" name="Freeform 17"/>
            <p:cNvSpPr/>
            <p:nvPr/>
          </p:nvSpPr>
          <p:spPr>
            <a:xfrm>
              <a:off x="4826000" y="2109788"/>
              <a:ext cx="139700" cy="261938"/>
            </a:xfrm>
            <a:custGeom>
              <a:avLst/>
              <a:gdLst/>
              <a:ahLst/>
              <a:cxnLst/>
              <a:rect l="l" t="t" r="r" b="b"/>
              <a:pathLst>
                <a:path w="139700" h="261938">
                  <a:moveTo>
                    <a:pt x="0" y="261938"/>
                  </a:moveTo>
                  <a:lnTo>
                    <a:pt x="34925" y="34925"/>
                  </a:lnTo>
                  <a:lnTo>
                    <a:pt x="69850" y="0"/>
                  </a:lnTo>
                  <a:lnTo>
                    <a:pt x="104775" y="34925"/>
                  </a:lnTo>
                  <a:lnTo>
                    <a:pt x="139700" y="261938"/>
                  </a:lnTo>
                </a:path>
              </a:pathLst>
            </a:custGeom>
            <a:noFill/>
            <a:ln w="19050">
              <a:solidFill>
                <a:srgbClr val="26A69A"/>
              </a:solidFill>
            </a:ln>
          </p:spPr>
        </p:sp>
        <p:sp>
          <p:nvSpPr>
            <p:cNvPr id="18" name="Freeform 18"/>
            <p:cNvSpPr/>
            <p:nvPr/>
          </p:nvSpPr>
          <p:spPr>
            <a:xfrm>
              <a:off x="4773612" y="2371725"/>
              <a:ext cx="244475" cy="52388"/>
            </a:xfrm>
            <a:custGeom>
              <a:avLst/>
              <a:gdLst/>
              <a:ahLst/>
              <a:cxnLst/>
              <a:rect l="l" t="t" r="r" b="b"/>
              <a:pathLst>
                <a:path w="244475" h="52388">
                  <a:moveTo>
                    <a:pt x="0" y="52388"/>
                  </a:moveTo>
                  <a:lnTo>
                    <a:pt x="0" y="0"/>
                  </a:lnTo>
                  <a:lnTo>
                    <a:pt x="244475" y="0"/>
                  </a:lnTo>
                  <a:lnTo>
                    <a:pt x="244475" y="52388"/>
                  </a:lnTo>
                </a:path>
              </a:pathLst>
            </a:custGeom>
            <a:noFill/>
            <a:ln w="19050">
              <a:solidFill>
                <a:srgbClr val="26A69A"/>
              </a:solidFill>
            </a:ln>
          </p:spPr>
        </p:sp>
        <p:sp>
          <p:nvSpPr>
            <p:cNvPr id="19" name="Freeform 19"/>
            <p:cNvSpPr/>
            <p:nvPr/>
          </p:nvSpPr>
          <p:spPr>
            <a:xfrm>
              <a:off x="4738688" y="2424112"/>
              <a:ext cx="314325" cy="9525"/>
            </a:xfrm>
            <a:custGeom>
              <a:avLst/>
              <a:gdLst/>
              <a:ahLst/>
              <a:cxnLst/>
              <a:rect l="l" t="t" r="r" b="b"/>
              <a:pathLst>
                <a:path w="314325" h="9525">
                  <a:moveTo>
                    <a:pt x="0" y="0"/>
                  </a:moveTo>
                  <a:lnTo>
                    <a:pt x="314325" y="0"/>
                  </a:lnTo>
                </a:path>
              </a:pathLst>
            </a:custGeom>
            <a:noFill/>
            <a:ln w="19050">
              <a:solidFill>
                <a:srgbClr val="26A69A"/>
              </a:solidFill>
            </a:ln>
          </p:spPr>
        </p:sp>
      </p:grpSp>
      <p:sp>
        <p:nvSpPr>
          <p:cNvPr id="21" name="TextBox 21"/>
          <p:cNvSpPr txBox="1"/>
          <p:nvPr/>
        </p:nvSpPr>
        <p:spPr>
          <a:xfrm>
            <a:off x="4661535" y="2589848"/>
            <a:ext cx="1245680" cy="396240"/>
          </a:xfrm>
          <a:prstGeom prst="rect">
            <a:avLst/>
          </a:prstGeom>
          <a:noFill/>
          <a:ln>
            <a:noFill/>
          </a:ln>
        </p:spPr>
        <p:txBody>
          <a:bodyPr wrap="none" lIns="0" tIns="0" rIns="0" bIns="0" anchor="t" anchorCtr="0">
            <a:spAutoFit/>
          </a:bodyPr>
          <a:lstStyle/>
          <a:p>
            <a:pPr algn="l"/>
            <a:r>
              <a:rPr lang="zh-CN" sz="1950" b="1" dirty="0">
                <a:solidFill>
                  <a:srgbClr val="263238"/>
                </a:solidFill>
                <a:latin typeface="Arial"/>
                <a:ea typeface="Microsoft YaHei"/>
                <a:cs typeface="Arial"/>
              </a:rPr>
              <a:t>民生改善</a:t>
            </a:r>
          </a:p>
        </p:txBody>
      </p:sp>
      <p:sp>
        <p:nvSpPr>
          <p:cNvPr id="22" name="TextBox 22"/>
          <p:cNvSpPr txBox="1"/>
          <p:nvPr/>
        </p:nvSpPr>
        <p:spPr>
          <a:xfrm>
            <a:off x="4669155" y="3073718"/>
            <a:ext cx="2400300"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博物馆数量增长意味着公共</a:t>
            </a:r>
          </a:p>
        </p:txBody>
      </p:sp>
      <p:sp>
        <p:nvSpPr>
          <p:cNvPr id="23" name="TextBox 23"/>
          <p:cNvSpPr txBox="1"/>
          <p:nvPr/>
        </p:nvSpPr>
        <p:spPr>
          <a:xfrm>
            <a:off x="4669155" y="3359468"/>
            <a:ext cx="2597468"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文化服务覆盖面扩大，也形成</a:t>
            </a:r>
          </a:p>
        </p:txBody>
      </p:sp>
      <p:sp>
        <p:nvSpPr>
          <p:cNvPr id="24" name="TextBox 24"/>
          <p:cNvSpPr txBox="1"/>
          <p:nvPr/>
        </p:nvSpPr>
        <p:spPr>
          <a:xfrm>
            <a:off x="4669155" y="3645218"/>
            <a:ext cx="1414462"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周边消费场景。</a:t>
            </a:r>
          </a:p>
        </p:txBody>
      </p:sp>
      <p:grpSp>
        <p:nvGrpSpPr>
          <p:cNvPr id="29" name="Group 29"/>
          <p:cNvGrpSpPr/>
          <p:nvPr/>
        </p:nvGrpSpPr>
        <p:grpSpPr>
          <a:xfrm>
            <a:off x="8605838" y="2109788"/>
            <a:ext cx="314325" cy="314325"/>
            <a:chOff x="8605838" y="2109788"/>
            <a:chExt cx="314325" cy="314325"/>
          </a:xfrm>
        </p:grpSpPr>
        <p:sp>
          <p:nvSpPr>
            <p:cNvPr id="25" name="Freeform 25"/>
            <p:cNvSpPr/>
            <p:nvPr/>
          </p:nvSpPr>
          <p:spPr>
            <a:xfrm>
              <a:off x="8605838" y="2109788"/>
              <a:ext cx="174625" cy="314325"/>
            </a:xfrm>
            <a:custGeom>
              <a:avLst/>
              <a:gdLst/>
              <a:ahLst/>
              <a:cxnLst/>
              <a:rect l="l" t="t" r="r" b="b"/>
              <a:pathLst>
                <a:path w="174625" h="314325">
                  <a:moveTo>
                    <a:pt x="0" y="279400"/>
                  </a:moveTo>
                  <a:cubicBezTo>
                    <a:pt x="0" y="298689"/>
                    <a:pt x="15636" y="314325"/>
                    <a:pt x="34925" y="314325"/>
                  </a:cubicBezTo>
                  <a:cubicBezTo>
                    <a:pt x="69850" y="314325"/>
                    <a:pt x="69850" y="244475"/>
                    <a:pt x="87312" y="157162"/>
                  </a:cubicBezTo>
                  <a:cubicBezTo>
                    <a:pt x="104775" y="69850"/>
                    <a:pt x="104775" y="0"/>
                    <a:pt x="139700" y="0"/>
                  </a:cubicBezTo>
                  <a:cubicBezTo>
                    <a:pt x="158989" y="0"/>
                    <a:pt x="174625" y="15636"/>
                    <a:pt x="174625" y="34925"/>
                  </a:cubicBezTo>
                </a:path>
              </a:pathLst>
            </a:custGeom>
            <a:noFill/>
            <a:ln w="19050">
              <a:solidFill>
                <a:srgbClr val="C41E3A"/>
              </a:solidFill>
            </a:ln>
          </p:spPr>
        </p:sp>
        <p:sp>
          <p:nvSpPr>
            <p:cNvPr id="26" name="Freeform 26"/>
            <p:cNvSpPr/>
            <p:nvPr/>
          </p:nvSpPr>
          <p:spPr>
            <a:xfrm>
              <a:off x="8640762" y="2266950"/>
              <a:ext cx="104775" cy="9525"/>
            </a:xfrm>
            <a:custGeom>
              <a:avLst/>
              <a:gdLst/>
              <a:ahLst/>
              <a:cxnLst/>
              <a:rect l="l" t="t" r="r" b="b"/>
              <a:pathLst>
                <a:path w="104775" h="9525">
                  <a:moveTo>
                    <a:pt x="0" y="0"/>
                  </a:moveTo>
                  <a:lnTo>
                    <a:pt x="104775" y="0"/>
                  </a:lnTo>
                </a:path>
              </a:pathLst>
            </a:custGeom>
            <a:noFill/>
            <a:ln w="19050">
              <a:solidFill>
                <a:srgbClr val="C41E3A"/>
              </a:solidFill>
            </a:ln>
          </p:spPr>
        </p:sp>
        <p:sp>
          <p:nvSpPr>
            <p:cNvPr id="27" name="Freeform 27"/>
            <p:cNvSpPr/>
            <p:nvPr/>
          </p:nvSpPr>
          <p:spPr>
            <a:xfrm>
              <a:off x="8815388" y="2266950"/>
              <a:ext cx="104775" cy="104775"/>
            </a:xfrm>
            <a:custGeom>
              <a:avLst/>
              <a:gdLst/>
              <a:ahLst/>
              <a:cxnLst/>
              <a:rect l="l" t="t" r="r" b="b"/>
              <a:pathLst>
                <a:path w="104775" h="104775">
                  <a:moveTo>
                    <a:pt x="0" y="0"/>
                  </a:moveTo>
                  <a:lnTo>
                    <a:pt x="104775" y="104775"/>
                  </a:lnTo>
                </a:path>
              </a:pathLst>
            </a:custGeom>
            <a:noFill/>
            <a:ln w="19050">
              <a:solidFill>
                <a:srgbClr val="C41E3A"/>
              </a:solidFill>
            </a:ln>
          </p:spPr>
        </p:sp>
        <p:sp>
          <p:nvSpPr>
            <p:cNvPr id="28" name="Freeform 28"/>
            <p:cNvSpPr/>
            <p:nvPr/>
          </p:nvSpPr>
          <p:spPr>
            <a:xfrm>
              <a:off x="8815388" y="2266950"/>
              <a:ext cx="104775" cy="104775"/>
            </a:xfrm>
            <a:custGeom>
              <a:avLst/>
              <a:gdLst/>
              <a:ahLst/>
              <a:cxnLst/>
              <a:rect l="l" t="t" r="r" b="b"/>
              <a:pathLst>
                <a:path w="104775" h="104775">
                  <a:moveTo>
                    <a:pt x="0" y="104775"/>
                  </a:moveTo>
                  <a:lnTo>
                    <a:pt x="104775" y="0"/>
                  </a:lnTo>
                </a:path>
              </a:pathLst>
            </a:custGeom>
            <a:noFill/>
            <a:ln w="19050">
              <a:solidFill>
                <a:srgbClr val="C41E3A"/>
              </a:solidFill>
            </a:ln>
          </p:spPr>
        </p:sp>
      </p:grpSp>
      <p:sp>
        <p:nvSpPr>
          <p:cNvPr id="30" name="TextBox 30"/>
          <p:cNvSpPr txBox="1"/>
          <p:nvPr/>
        </p:nvSpPr>
        <p:spPr>
          <a:xfrm>
            <a:off x="8528685" y="2589848"/>
            <a:ext cx="1843754" cy="396240"/>
          </a:xfrm>
          <a:prstGeom prst="rect">
            <a:avLst/>
          </a:prstGeom>
          <a:noFill/>
          <a:ln>
            <a:noFill/>
          </a:ln>
        </p:spPr>
        <p:txBody>
          <a:bodyPr wrap="none" lIns="0" tIns="0" rIns="0" bIns="0" anchor="t" anchorCtr="0">
            <a:spAutoFit/>
          </a:bodyPr>
          <a:lstStyle/>
          <a:p>
            <a:pPr algn="l"/>
            <a:r>
              <a:rPr lang="zh-CN" sz="1950" b="1" dirty="0">
                <a:solidFill>
                  <a:srgbClr val="263238"/>
                </a:solidFill>
                <a:latin typeface="Arial"/>
                <a:ea typeface="Microsoft YaHei"/>
                <a:cs typeface="Arial"/>
              </a:rPr>
              <a:t>数值方法适配</a:t>
            </a:r>
          </a:p>
        </p:txBody>
      </p:sp>
      <p:sp>
        <p:nvSpPr>
          <p:cNvPr id="31" name="TextBox 31"/>
          <p:cNvSpPr txBox="1"/>
          <p:nvPr/>
        </p:nvSpPr>
        <p:spPr>
          <a:xfrm>
            <a:off x="8536305" y="3073718"/>
            <a:ext cx="2400300"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年度序列具有趋势、冲击和</a:t>
            </a:r>
          </a:p>
        </p:txBody>
      </p:sp>
      <p:sp>
        <p:nvSpPr>
          <p:cNvPr id="32" name="TextBox 32"/>
          <p:cNvSpPr txBox="1"/>
          <p:nvPr/>
        </p:nvSpPr>
        <p:spPr>
          <a:xfrm>
            <a:off x="8536305" y="3359468"/>
            <a:ext cx="2400300"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恢复三类特征，适合微分、</a:t>
            </a:r>
          </a:p>
        </p:txBody>
      </p:sp>
      <p:sp>
        <p:nvSpPr>
          <p:cNvPr id="33" name="TextBox 33"/>
          <p:cNvSpPr txBox="1"/>
          <p:nvPr/>
        </p:nvSpPr>
        <p:spPr>
          <a:xfrm>
            <a:off x="8536305" y="3645218"/>
            <a:ext cx="1808797"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拟合与相关性分析。</a:t>
            </a:r>
          </a:p>
        </p:txBody>
      </p:sp>
      <p:sp>
        <p:nvSpPr>
          <p:cNvPr id="34" name="Rectangle 34"/>
          <p:cNvSpPr/>
          <p:nvPr/>
        </p:nvSpPr>
        <p:spPr>
          <a:xfrm>
            <a:off x="1371600" y="5286375"/>
            <a:ext cx="9448800" cy="533400"/>
          </a:xfrm>
          <a:prstGeom prst="roundRect">
            <a:avLst>
              <a:gd name="adj" fmla="val 14286"/>
            </a:avLst>
          </a:prstGeom>
          <a:solidFill>
            <a:srgbClr val="263238"/>
          </a:solidFill>
          <a:ln>
            <a:noFill/>
          </a:ln>
        </p:spPr>
      </p:sp>
      <p:sp>
        <p:nvSpPr>
          <p:cNvPr id="35" name="TextBox 35"/>
          <p:cNvSpPr txBox="1"/>
          <p:nvPr/>
        </p:nvSpPr>
        <p:spPr>
          <a:xfrm>
            <a:off x="1849219" y="5459254"/>
            <a:ext cx="8493562"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本报告的问题：博物馆供给扩张与文旅需求恢复，是否呈现可量化的同向关系？</a:t>
            </a:r>
          </a:p>
        </p:txBody>
      </p:sp>
      <p:sp>
        <p:nvSpPr>
          <p:cNvPr id="36" name="TextBox 36"/>
          <p:cNvSpPr txBox="1"/>
          <p:nvPr/>
        </p:nvSpPr>
        <p:spPr>
          <a:xfrm>
            <a:off x="521970" y="6417945"/>
            <a:ext cx="332870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国家统计局国家数据、中国统计年鉴；团队计算</a:t>
            </a:r>
          </a:p>
        </p:txBody>
      </p:sp>
      <p:sp>
        <p:nvSpPr>
          <p:cNvPr id="37" name="TextBox 37"/>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02 / 12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01015" y="372428"/>
            <a:ext cx="8785160"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数据来源与指标口径：构造 2014-2023 年离散点集</a:t>
            </a:r>
          </a:p>
        </p:txBody>
      </p:sp>
      <p:sp>
        <p:nvSpPr>
          <p:cNvPr id="4" name="Rectangle 4"/>
          <p:cNvSpPr/>
          <p:nvPr/>
        </p:nvSpPr>
        <p:spPr>
          <a:xfrm>
            <a:off x="533400" y="914400"/>
            <a:ext cx="11125200" cy="476250"/>
          </a:xfrm>
          <a:prstGeom prst="roundRect">
            <a:avLst>
              <a:gd name="adj" fmla="val 16000"/>
            </a:avLst>
          </a:prstGeom>
          <a:solidFill>
            <a:srgbClr val="FFFFFF"/>
          </a:solidFill>
          <a:ln w="9525">
            <a:solidFill>
              <a:srgbClr val="DDE6EF"/>
            </a:solidFill>
          </a:ln>
        </p:spPr>
      </p:sp>
      <p:grpSp>
        <p:nvGrpSpPr>
          <p:cNvPr id="10" name="Group 10"/>
          <p:cNvGrpSpPr/>
          <p:nvPr/>
        </p:nvGrpSpPr>
        <p:grpSpPr>
          <a:xfrm>
            <a:off x="768350" y="1052512"/>
            <a:ext cx="200025" cy="211138"/>
            <a:chOff x="768350" y="1052512"/>
            <a:chExt cx="200025" cy="211138"/>
          </a:xfrm>
        </p:grpSpPr>
        <p:sp>
          <p:nvSpPr>
            <p:cNvPr id="5" name="Freeform 5"/>
            <p:cNvSpPr/>
            <p:nvPr/>
          </p:nvSpPr>
          <p:spPr>
            <a:xfrm>
              <a:off x="768350" y="1052512"/>
              <a:ext cx="177800" cy="66675"/>
            </a:xfrm>
            <a:custGeom>
              <a:avLst/>
              <a:gdLst/>
              <a:ahLst/>
              <a:cxnLst/>
              <a:rect l="l" t="t" r="r" b="b"/>
              <a:pathLst>
                <a:path w="177800" h="66675">
                  <a:moveTo>
                    <a:pt x="0" y="33338"/>
                  </a:moveTo>
                  <a:cubicBezTo>
                    <a:pt x="0" y="51751"/>
                    <a:pt x="39805" y="66675"/>
                    <a:pt x="88900" y="66675"/>
                  </a:cubicBezTo>
                  <a:cubicBezTo>
                    <a:pt x="137995" y="66675"/>
                    <a:pt x="177800" y="51751"/>
                    <a:pt x="177800" y="33338"/>
                  </a:cubicBezTo>
                  <a:cubicBezTo>
                    <a:pt x="177800" y="14924"/>
                    <a:pt x="137995" y="0"/>
                    <a:pt x="88900" y="0"/>
                  </a:cubicBezTo>
                  <a:cubicBezTo>
                    <a:pt x="39805" y="0"/>
                    <a:pt x="0" y="14924"/>
                    <a:pt x="0" y="33338"/>
                  </a:cubicBezTo>
                </a:path>
              </a:pathLst>
            </a:custGeom>
            <a:noFill/>
            <a:ln w="19050">
              <a:solidFill>
                <a:srgbClr val="1565C0"/>
              </a:solidFill>
            </a:ln>
          </p:spPr>
        </p:sp>
        <p:sp>
          <p:nvSpPr>
            <p:cNvPr id="6" name="Freeform 6"/>
            <p:cNvSpPr/>
            <p:nvPr/>
          </p:nvSpPr>
          <p:spPr>
            <a:xfrm>
              <a:off x="768350" y="1085850"/>
              <a:ext cx="177800" cy="100012"/>
            </a:xfrm>
            <a:custGeom>
              <a:avLst/>
              <a:gdLst/>
              <a:ahLst/>
              <a:cxnLst/>
              <a:rect l="l" t="t" r="r" b="b"/>
              <a:pathLst>
                <a:path w="177800" h="100012">
                  <a:moveTo>
                    <a:pt x="0" y="0"/>
                  </a:moveTo>
                  <a:lnTo>
                    <a:pt x="0" y="66675"/>
                  </a:lnTo>
                  <a:cubicBezTo>
                    <a:pt x="0" y="85088"/>
                    <a:pt x="39805" y="100012"/>
                    <a:pt x="88900" y="100012"/>
                  </a:cubicBezTo>
                  <a:moveTo>
                    <a:pt x="177800" y="61119"/>
                  </a:moveTo>
                  <a:lnTo>
                    <a:pt x="177800" y="0"/>
                  </a:lnTo>
                </a:path>
              </a:pathLst>
            </a:custGeom>
            <a:noFill/>
            <a:ln w="19050">
              <a:solidFill>
                <a:srgbClr val="1565C0"/>
              </a:solidFill>
            </a:ln>
          </p:spPr>
        </p:sp>
        <p:sp>
          <p:nvSpPr>
            <p:cNvPr id="7" name="Freeform 7"/>
            <p:cNvSpPr/>
            <p:nvPr/>
          </p:nvSpPr>
          <p:spPr>
            <a:xfrm>
              <a:off x="768350" y="1152525"/>
              <a:ext cx="88900" cy="100012"/>
            </a:xfrm>
            <a:custGeom>
              <a:avLst/>
              <a:gdLst/>
              <a:ahLst/>
              <a:cxnLst/>
              <a:rect l="l" t="t" r="r" b="b"/>
              <a:pathLst>
                <a:path w="88900" h="100012">
                  <a:moveTo>
                    <a:pt x="0" y="0"/>
                  </a:moveTo>
                  <a:lnTo>
                    <a:pt x="0" y="66675"/>
                  </a:lnTo>
                  <a:cubicBezTo>
                    <a:pt x="0" y="85088"/>
                    <a:pt x="39805" y="100012"/>
                    <a:pt x="88900" y="100012"/>
                  </a:cubicBezTo>
                </a:path>
              </a:pathLst>
            </a:custGeom>
            <a:noFill/>
            <a:ln w="19050">
              <a:solidFill>
                <a:srgbClr val="1565C0"/>
              </a:solidFill>
            </a:ln>
          </p:spPr>
        </p:sp>
        <p:sp>
          <p:nvSpPr>
            <p:cNvPr id="8" name="Freeform 8"/>
            <p:cNvSpPr/>
            <p:nvPr/>
          </p:nvSpPr>
          <p:spPr>
            <a:xfrm>
              <a:off x="890588" y="1185862"/>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19050">
              <a:solidFill>
                <a:srgbClr val="1565C0"/>
              </a:solidFill>
            </a:ln>
          </p:spPr>
        </p:sp>
        <p:sp>
          <p:nvSpPr>
            <p:cNvPr id="9" name="Freeform 9"/>
            <p:cNvSpPr/>
            <p:nvPr/>
          </p:nvSpPr>
          <p:spPr>
            <a:xfrm>
              <a:off x="948372" y="1243648"/>
              <a:ext cx="20003" cy="20002"/>
            </a:xfrm>
            <a:custGeom>
              <a:avLst/>
              <a:gdLst/>
              <a:ahLst/>
              <a:cxnLst/>
              <a:rect l="l" t="t" r="r" b="b"/>
              <a:pathLst>
                <a:path w="20003" h="20002">
                  <a:moveTo>
                    <a:pt x="0" y="0"/>
                  </a:moveTo>
                  <a:lnTo>
                    <a:pt x="20003" y="20002"/>
                  </a:lnTo>
                </a:path>
              </a:pathLst>
            </a:custGeom>
            <a:noFill/>
            <a:ln w="19050">
              <a:solidFill>
                <a:srgbClr val="1565C0"/>
              </a:solidFill>
            </a:ln>
          </p:spPr>
        </p:sp>
      </p:grpSp>
      <p:sp>
        <p:nvSpPr>
          <p:cNvPr id="11" name="TextBox 11"/>
          <p:cNvSpPr txBox="1"/>
          <p:nvPr/>
        </p:nvSpPr>
        <p:spPr>
          <a:xfrm>
            <a:off x="1106805" y="1073468"/>
            <a:ext cx="10198275"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所有指标统一为年度全国数据；旅游指标来自国家统计局公开年鉴/数据平台，博物馆数按全国备案博物馆口径整理。</a:t>
            </a:r>
          </a:p>
        </p:txBody>
      </p:sp>
      <p:sp>
        <p:nvSpPr>
          <p:cNvPr id="12" name="Rectangle 12"/>
          <p:cNvSpPr/>
          <p:nvPr/>
        </p:nvSpPr>
        <p:spPr>
          <a:xfrm>
            <a:off x="533400" y="1676400"/>
            <a:ext cx="6972300" cy="3333750"/>
          </a:xfrm>
          <a:prstGeom prst="roundRect">
            <a:avLst>
              <a:gd name="adj" fmla="val 2286"/>
            </a:avLst>
          </a:prstGeom>
          <a:solidFill>
            <a:srgbClr val="FFFFFF"/>
          </a:solidFill>
          <a:ln w="9525">
            <a:solidFill>
              <a:srgbClr val="DDE6EF"/>
            </a:solidFill>
          </a:ln>
        </p:spPr>
      </p:sp>
      <p:sp>
        <p:nvSpPr>
          <p:cNvPr id="13" name="Rectangle 13"/>
          <p:cNvSpPr/>
          <p:nvPr/>
        </p:nvSpPr>
        <p:spPr>
          <a:xfrm>
            <a:off x="533400" y="1676400"/>
            <a:ext cx="6972300" cy="457200"/>
          </a:xfrm>
          <a:prstGeom prst="roundRect">
            <a:avLst>
              <a:gd name="adj" fmla="val 16667"/>
            </a:avLst>
          </a:prstGeom>
          <a:solidFill>
            <a:srgbClr val="1565C0"/>
          </a:solidFill>
          <a:ln>
            <a:noFill/>
          </a:ln>
        </p:spPr>
      </p:sp>
      <p:sp>
        <p:nvSpPr>
          <p:cNvPr id="14" name="TextBox 14"/>
          <p:cNvSpPr txBox="1"/>
          <p:nvPr/>
        </p:nvSpPr>
        <p:spPr>
          <a:xfrm>
            <a:off x="764858" y="1834039"/>
            <a:ext cx="42343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指标</a:t>
            </a:r>
          </a:p>
        </p:txBody>
      </p:sp>
      <p:sp>
        <p:nvSpPr>
          <p:cNvPr id="15" name="TextBox 15"/>
          <p:cNvSpPr txBox="1"/>
          <p:nvPr/>
        </p:nvSpPr>
        <p:spPr>
          <a:xfrm>
            <a:off x="2746058" y="1834039"/>
            <a:ext cx="42343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单位</a:t>
            </a:r>
          </a:p>
        </p:txBody>
      </p:sp>
      <p:sp>
        <p:nvSpPr>
          <p:cNvPr id="16" name="TextBox 16"/>
          <p:cNvSpPr txBox="1"/>
          <p:nvPr/>
        </p:nvSpPr>
        <p:spPr>
          <a:xfrm>
            <a:off x="3984308" y="1834039"/>
            <a:ext cx="814483"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社会含义</a:t>
            </a:r>
          </a:p>
        </p:txBody>
      </p:sp>
      <p:sp>
        <p:nvSpPr>
          <p:cNvPr id="17" name="Line 17"/>
          <p:cNvSpPr/>
          <p:nvPr/>
        </p:nvSpPr>
        <p:spPr>
          <a:xfrm>
            <a:off x="533400" y="2647950"/>
            <a:ext cx="6972300" cy="9525"/>
          </a:xfrm>
          <a:custGeom>
            <a:avLst/>
            <a:gdLst/>
            <a:ahLst/>
            <a:cxnLst/>
            <a:rect l="l" t="t" r="r" b="b"/>
            <a:pathLst>
              <a:path w="6972300" h="9525">
                <a:moveTo>
                  <a:pt x="0" y="0"/>
                </a:moveTo>
                <a:lnTo>
                  <a:pt x="6972300" y="0"/>
                </a:lnTo>
              </a:path>
            </a:pathLst>
          </a:custGeom>
          <a:noFill/>
          <a:ln w="9525">
            <a:solidFill>
              <a:srgbClr val="DDE6EF"/>
            </a:solidFill>
          </a:ln>
        </p:spPr>
      </p:sp>
      <p:sp>
        <p:nvSpPr>
          <p:cNvPr id="18" name="Line 18"/>
          <p:cNvSpPr/>
          <p:nvPr/>
        </p:nvSpPr>
        <p:spPr>
          <a:xfrm>
            <a:off x="533400" y="3371850"/>
            <a:ext cx="6972300" cy="9525"/>
          </a:xfrm>
          <a:custGeom>
            <a:avLst/>
            <a:gdLst/>
            <a:ahLst/>
            <a:cxnLst/>
            <a:rect l="l" t="t" r="r" b="b"/>
            <a:pathLst>
              <a:path w="6972300" h="9525">
                <a:moveTo>
                  <a:pt x="0" y="0"/>
                </a:moveTo>
                <a:lnTo>
                  <a:pt x="6972300" y="0"/>
                </a:lnTo>
              </a:path>
            </a:pathLst>
          </a:custGeom>
          <a:noFill/>
          <a:ln w="9525">
            <a:solidFill>
              <a:srgbClr val="DDE6EF"/>
            </a:solidFill>
          </a:ln>
        </p:spPr>
      </p:sp>
      <p:sp>
        <p:nvSpPr>
          <p:cNvPr id="19" name="Line 19"/>
          <p:cNvSpPr/>
          <p:nvPr/>
        </p:nvSpPr>
        <p:spPr>
          <a:xfrm>
            <a:off x="533400" y="4095750"/>
            <a:ext cx="6972300" cy="9525"/>
          </a:xfrm>
          <a:custGeom>
            <a:avLst/>
            <a:gdLst/>
            <a:ahLst/>
            <a:cxnLst/>
            <a:rect l="l" t="t" r="r" b="b"/>
            <a:pathLst>
              <a:path w="6972300" h="9525">
                <a:moveTo>
                  <a:pt x="0" y="0"/>
                </a:moveTo>
                <a:lnTo>
                  <a:pt x="6972300" y="0"/>
                </a:lnTo>
              </a:path>
            </a:pathLst>
          </a:custGeom>
          <a:noFill/>
          <a:ln w="9525">
            <a:solidFill>
              <a:srgbClr val="DDE6EF"/>
            </a:solidFill>
          </a:ln>
        </p:spPr>
      </p:sp>
      <p:sp>
        <p:nvSpPr>
          <p:cNvPr id="20" name="Line 20"/>
          <p:cNvSpPr/>
          <p:nvPr/>
        </p:nvSpPr>
        <p:spPr>
          <a:xfrm>
            <a:off x="2476500" y="1676400"/>
            <a:ext cx="9525" cy="3333750"/>
          </a:xfrm>
          <a:custGeom>
            <a:avLst/>
            <a:gdLst/>
            <a:ahLst/>
            <a:cxnLst/>
            <a:rect l="l" t="t" r="r" b="b"/>
            <a:pathLst>
              <a:path w="9525" h="3333750">
                <a:moveTo>
                  <a:pt x="0" y="0"/>
                </a:moveTo>
                <a:lnTo>
                  <a:pt x="0" y="3333750"/>
                </a:lnTo>
              </a:path>
            </a:pathLst>
          </a:custGeom>
          <a:noFill/>
          <a:ln w="9525">
            <a:solidFill>
              <a:srgbClr val="DDE6EF"/>
            </a:solidFill>
          </a:ln>
        </p:spPr>
      </p:sp>
      <p:sp>
        <p:nvSpPr>
          <p:cNvPr id="21" name="Line 21"/>
          <p:cNvSpPr/>
          <p:nvPr/>
        </p:nvSpPr>
        <p:spPr>
          <a:xfrm>
            <a:off x="3714750" y="1676400"/>
            <a:ext cx="9525" cy="3333750"/>
          </a:xfrm>
          <a:custGeom>
            <a:avLst/>
            <a:gdLst/>
            <a:ahLst/>
            <a:cxnLst/>
            <a:rect l="l" t="t" r="r" b="b"/>
            <a:pathLst>
              <a:path w="9525" h="3333750">
                <a:moveTo>
                  <a:pt x="0" y="0"/>
                </a:moveTo>
                <a:lnTo>
                  <a:pt x="0" y="3333750"/>
                </a:lnTo>
              </a:path>
            </a:pathLst>
          </a:custGeom>
          <a:noFill/>
          <a:ln w="9525">
            <a:solidFill>
              <a:srgbClr val="DDE6EF"/>
            </a:solidFill>
          </a:ln>
        </p:spPr>
      </p:sp>
      <p:sp>
        <p:nvSpPr>
          <p:cNvPr id="22" name="TextBox 22"/>
          <p:cNvSpPr txBox="1"/>
          <p:nvPr/>
        </p:nvSpPr>
        <p:spPr>
          <a:xfrm>
            <a:off x="763905" y="2349818"/>
            <a:ext cx="1069419"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博物馆数量</a:t>
            </a:r>
          </a:p>
        </p:txBody>
      </p:sp>
      <p:sp>
        <p:nvSpPr>
          <p:cNvPr id="23" name="TextBox 23"/>
          <p:cNvSpPr txBox="1"/>
          <p:nvPr/>
        </p:nvSpPr>
        <p:spPr>
          <a:xfrm>
            <a:off x="2707005" y="2349818"/>
            <a:ext cx="231458"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个</a:t>
            </a:r>
          </a:p>
        </p:txBody>
      </p:sp>
      <p:sp>
        <p:nvSpPr>
          <p:cNvPr id="24" name="TextBox 24"/>
          <p:cNvSpPr txBox="1"/>
          <p:nvPr/>
        </p:nvSpPr>
        <p:spPr>
          <a:xfrm>
            <a:off x="3984308" y="2262664"/>
            <a:ext cx="319801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公共文化设施供给规模，反映文化服务</a:t>
            </a:r>
          </a:p>
        </p:txBody>
      </p:sp>
      <p:sp>
        <p:nvSpPr>
          <p:cNvPr id="25" name="TextBox 25"/>
          <p:cNvSpPr txBox="1"/>
          <p:nvPr/>
        </p:nvSpPr>
        <p:spPr>
          <a:xfrm>
            <a:off x="3984308" y="2510314"/>
            <a:ext cx="1894522"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基础和文旅场景扩张。</a:t>
            </a:r>
          </a:p>
        </p:txBody>
      </p:sp>
      <p:sp>
        <p:nvSpPr>
          <p:cNvPr id="26" name="TextBox 26"/>
          <p:cNvSpPr txBox="1"/>
          <p:nvPr/>
        </p:nvSpPr>
        <p:spPr>
          <a:xfrm>
            <a:off x="763905" y="3073718"/>
            <a:ext cx="862393"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国内游客</a:t>
            </a:r>
          </a:p>
        </p:txBody>
      </p:sp>
      <p:sp>
        <p:nvSpPr>
          <p:cNvPr id="27" name="TextBox 27"/>
          <p:cNvSpPr txBox="1"/>
          <p:nvPr/>
        </p:nvSpPr>
        <p:spPr>
          <a:xfrm>
            <a:off x="2707005" y="3073718"/>
            <a:ext cx="822960"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百万人次</a:t>
            </a:r>
          </a:p>
        </p:txBody>
      </p:sp>
      <p:sp>
        <p:nvSpPr>
          <p:cNvPr id="28" name="TextBox 28"/>
          <p:cNvSpPr txBox="1"/>
          <p:nvPr/>
        </p:nvSpPr>
        <p:spPr>
          <a:xfrm>
            <a:off x="3984308" y="2986564"/>
            <a:ext cx="301180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文旅需求侧规模，受居民出行意愿、</a:t>
            </a:r>
          </a:p>
        </p:txBody>
      </p:sp>
      <p:sp>
        <p:nvSpPr>
          <p:cNvPr id="29" name="TextBox 29"/>
          <p:cNvSpPr txBox="1"/>
          <p:nvPr/>
        </p:nvSpPr>
        <p:spPr>
          <a:xfrm>
            <a:off x="3984308" y="3234214"/>
            <a:ext cx="2639377"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交通条件和公共卫生冲击影响。</a:t>
            </a:r>
          </a:p>
        </p:txBody>
      </p:sp>
      <p:sp>
        <p:nvSpPr>
          <p:cNvPr id="30" name="TextBox 30"/>
          <p:cNvSpPr txBox="1"/>
          <p:nvPr/>
        </p:nvSpPr>
        <p:spPr>
          <a:xfrm>
            <a:off x="763905" y="3797618"/>
            <a:ext cx="1483471"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国内旅游总花费</a:t>
            </a:r>
          </a:p>
        </p:txBody>
      </p:sp>
      <p:sp>
        <p:nvSpPr>
          <p:cNvPr id="31" name="TextBox 31"/>
          <p:cNvSpPr txBox="1"/>
          <p:nvPr/>
        </p:nvSpPr>
        <p:spPr>
          <a:xfrm>
            <a:off x="2707005" y="3797618"/>
            <a:ext cx="428625"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亿元</a:t>
            </a:r>
          </a:p>
        </p:txBody>
      </p:sp>
      <p:sp>
        <p:nvSpPr>
          <p:cNvPr id="32" name="TextBox 32"/>
          <p:cNvSpPr txBox="1"/>
          <p:nvPr/>
        </p:nvSpPr>
        <p:spPr>
          <a:xfrm>
            <a:off x="3984308" y="3710464"/>
            <a:ext cx="319801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文旅消费强度，体现需求恢复是否能够</a:t>
            </a:r>
          </a:p>
        </p:txBody>
      </p:sp>
      <p:sp>
        <p:nvSpPr>
          <p:cNvPr id="33" name="TextBox 33"/>
          <p:cNvSpPr txBox="1"/>
          <p:nvPr/>
        </p:nvSpPr>
        <p:spPr>
          <a:xfrm>
            <a:off x="3984308" y="395811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转化为经济活动。</a:t>
            </a:r>
          </a:p>
        </p:txBody>
      </p:sp>
      <p:sp>
        <p:nvSpPr>
          <p:cNvPr id="34" name="Rectangle 34"/>
          <p:cNvSpPr/>
          <p:nvPr/>
        </p:nvSpPr>
        <p:spPr>
          <a:xfrm>
            <a:off x="8001000" y="1676400"/>
            <a:ext cx="3657600" cy="3333750"/>
          </a:xfrm>
          <a:prstGeom prst="roundRect">
            <a:avLst>
              <a:gd name="adj" fmla="val 2286"/>
            </a:avLst>
          </a:prstGeom>
          <a:solidFill>
            <a:srgbClr val="FFFFFF"/>
          </a:solidFill>
          <a:ln w="9525">
            <a:solidFill>
              <a:srgbClr val="DDE6EF"/>
            </a:solidFill>
          </a:ln>
        </p:spPr>
      </p:sp>
      <p:sp>
        <p:nvSpPr>
          <p:cNvPr id="35" name="TextBox 35"/>
          <p:cNvSpPr txBox="1"/>
          <p:nvPr/>
        </p:nvSpPr>
        <p:spPr>
          <a:xfrm>
            <a:off x="8321040" y="193929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处理链路</a:t>
            </a:r>
          </a:p>
        </p:txBody>
      </p:sp>
      <p:sp>
        <p:nvSpPr>
          <p:cNvPr id="36" name="Ellipse 36"/>
          <p:cNvSpPr/>
          <p:nvPr/>
        </p:nvSpPr>
        <p:spPr>
          <a:xfrm>
            <a:off x="8439150" y="2514600"/>
            <a:ext cx="342900" cy="342900"/>
          </a:xfrm>
          <a:prstGeom prst="ellipse">
            <a:avLst/>
          </a:prstGeom>
          <a:solidFill>
            <a:srgbClr val="1565C0"/>
          </a:solidFill>
          <a:ln>
            <a:noFill/>
          </a:ln>
        </p:spPr>
      </p:sp>
      <p:sp>
        <p:nvSpPr>
          <p:cNvPr id="37" name="TextBox 37"/>
          <p:cNvSpPr txBox="1"/>
          <p:nvPr/>
        </p:nvSpPr>
        <p:spPr>
          <a:xfrm>
            <a:off x="8567757" y="2623185"/>
            <a:ext cx="8568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a:t>
            </a:r>
          </a:p>
        </p:txBody>
      </p:sp>
      <p:sp>
        <p:nvSpPr>
          <p:cNvPr id="38" name="TextBox 38"/>
          <p:cNvSpPr txBox="1"/>
          <p:nvPr/>
        </p:nvSpPr>
        <p:spPr>
          <a:xfrm>
            <a:off x="8974455" y="2606992"/>
            <a:ext cx="1414462"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统一年度与单位</a:t>
            </a:r>
          </a:p>
        </p:txBody>
      </p:sp>
      <p:sp>
        <p:nvSpPr>
          <p:cNvPr id="39" name="Line 39"/>
          <p:cNvSpPr/>
          <p:nvPr/>
        </p:nvSpPr>
        <p:spPr>
          <a:xfrm>
            <a:off x="8610600" y="2895600"/>
            <a:ext cx="9525" cy="400050"/>
          </a:xfrm>
          <a:custGeom>
            <a:avLst/>
            <a:gdLst/>
            <a:ahLst/>
            <a:cxnLst/>
            <a:rect l="l" t="t" r="r" b="b"/>
            <a:pathLst>
              <a:path w="9525" h="400050">
                <a:moveTo>
                  <a:pt x="0" y="0"/>
                </a:moveTo>
                <a:lnTo>
                  <a:pt x="0" y="400050"/>
                </a:lnTo>
              </a:path>
            </a:pathLst>
          </a:custGeom>
          <a:noFill/>
          <a:ln w="19050">
            <a:solidFill>
              <a:srgbClr val="DDE6EF"/>
            </a:solidFill>
          </a:ln>
        </p:spPr>
      </p:sp>
      <p:sp>
        <p:nvSpPr>
          <p:cNvPr id="40" name="Ellipse 40"/>
          <p:cNvSpPr/>
          <p:nvPr/>
        </p:nvSpPr>
        <p:spPr>
          <a:xfrm>
            <a:off x="8439150" y="3390900"/>
            <a:ext cx="342900" cy="342900"/>
          </a:xfrm>
          <a:prstGeom prst="ellipse">
            <a:avLst/>
          </a:prstGeom>
          <a:solidFill>
            <a:srgbClr val="1565C0"/>
          </a:solidFill>
          <a:ln>
            <a:noFill/>
          </a:ln>
        </p:spPr>
      </p:sp>
      <p:sp>
        <p:nvSpPr>
          <p:cNvPr id="41" name="TextBox 41"/>
          <p:cNvSpPr txBox="1"/>
          <p:nvPr/>
        </p:nvSpPr>
        <p:spPr>
          <a:xfrm>
            <a:off x="8544754" y="34994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a:t>
            </a:r>
          </a:p>
        </p:txBody>
      </p:sp>
      <p:sp>
        <p:nvSpPr>
          <p:cNvPr id="42" name="TextBox 42"/>
          <p:cNvSpPr txBox="1"/>
          <p:nvPr/>
        </p:nvSpPr>
        <p:spPr>
          <a:xfrm>
            <a:off x="8974455" y="3483292"/>
            <a:ext cx="1572196"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标注 2020 年冲击</a:t>
            </a:r>
          </a:p>
        </p:txBody>
      </p:sp>
      <p:sp>
        <p:nvSpPr>
          <p:cNvPr id="43" name="Line 43"/>
          <p:cNvSpPr/>
          <p:nvPr/>
        </p:nvSpPr>
        <p:spPr>
          <a:xfrm>
            <a:off x="8610600" y="3771900"/>
            <a:ext cx="9525" cy="400050"/>
          </a:xfrm>
          <a:custGeom>
            <a:avLst/>
            <a:gdLst/>
            <a:ahLst/>
            <a:cxnLst/>
            <a:rect l="l" t="t" r="r" b="b"/>
            <a:pathLst>
              <a:path w="9525" h="400050">
                <a:moveTo>
                  <a:pt x="0" y="0"/>
                </a:moveTo>
                <a:lnTo>
                  <a:pt x="0" y="400050"/>
                </a:lnTo>
              </a:path>
            </a:pathLst>
          </a:custGeom>
          <a:noFill/>
          <a:ln w="19050">
            <a:solidFill>
              <a:srgbClr val="DDE6EF"/>
            </a:solidFill>
          </a:ln>
        </p:spPr>
      </p:sp>
      <p:sp>
        <p:nvSpPr>
          <p:cNvPr id="44" name="Ellipse 44"/>
          <p:cNvSpPr/>
          <p:nvPr/>
        </p:nvSpPr>
        <p:spPr>
          <a:xfrm>
            <a:off x="8439150" y="4267200"/>
            <a:ext cx="342900" cy="342900"/>
          </a:xfrm>
          <a:prstGeom prst="ellipse">
            <a:avLst/>
          </a:prstGeom>
          <a:solidFill>
            <a:srgbClr val="26A69A"/>
          </a:solidFill>
          <a:ln>
            <a:noFill/>
          </a:ln>
        </p:spPr>
      </p:sp>
      <p:sp>
        <p:nvSpPr>
          <p:cNvPr id="45" name="TextBox 45"/>
          <p:cNvSpPr txBox="1"/>
          <p:nvPr/>
        </p:nvSpPr>
        <p:spPr>
          <a:xfrm>
            <a:off x="8544754" y="43757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46" name="TextBox 46"/>
          <p:cNvSpPr txBox="1"/>
          <p:nvPr/>
        </p:nvSpPr>
        <p:spPr>
          <a:xfrm>
            <a:off x="8974455" y="4359592"/>
            <a:ext cx="1414462"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形成可计算序列</a:t>
            </a:r>
          </a:p>
        </p:txBody>
      </p:sp>
      <p:sp>
        <p:nvSpPr>
          <p:cNvPr id="47" name="Rectangle 47"/>
          <p:cNvSpPr/>
          <p:nvPr/>
        </p:nvSpPr>
        <p:spPr>
          <a:xfrm>
            <a:off x="533400" y="5334000"/>
            <a:ext cx="11125200" cy="533400"/>
          </a:xfrm>
          <a:prstGeom prst="roundRect">
            <a:avLst>
              <a:gd name="adj" fmla="val 14286"/>
            </a:avLst>
          </a:prstGeom>
          <a:solidFill>
            <a:srgbClr val="1565C0">
              <a:alpha val="8000"/>
            </a:srgbClr>
          </a:solidFill>
          <a:ln>
            <a:noFill/>
          </a:ln>
        </p:spPr>
      </p:sp>
      <p:sp>
        <p:nvSpPr>
          <p:cNvPr id="48" name="TextBox 48"/>
          <p:cNvSpPr txBox="1"/>
          <p:nvPr/>
        </p:nvSpPr>
        <p:spPr>
          <a:xfrm>
            <a:off x="724852" y="5513546"/>
            <a:ext cx="8995815" cy="289560"/>
          </a:xfrm>
          <a:prstGeom prst="rect">
            <a:avLst/>
          </a:prstGeom>
          <a:noFill/>
          <a:ln>
            <a:noFill/>
          </a:ln>
        </p:spPr>
        <p:txBody>
          <a:bodyPr wrap="none" lIns="0" tIns="0" rIns="0" bIns="0" anchor="t" anchorCtr="0">
            <a:spAutoFit/>
          </a:bodyPr>
          <a:lstStyle/>
          <a:p>
            <a:pPr algn="l"/>
            <a:r>
              <a:rPr lang="zh-CN" sz="1425" b="1" dirty="0">
                <a:solidFill>
                  <a:srgbClr val="263238"/>
                </a:solidFill>
                <a:latin typeface="Arial"/>
                <a:ea typeface="Microsoft YaHei"/>
                <a:cs typeface="Arial"/>
              </a:rPr>
              <a:t>建模选择：对年度离散点直接做数值微分和拟合，不人为插入月度数据，避免制造虚假精度。</a:t>
            </a:r>
          </a:p>
        </p:txBody>
      </p:sp>
      <p:sp>
        <p:nvSpPr>
          <p:cNvPr id="49" name="TextBox 49"/>
          <p:cNvSpPr txBox="1"/>
          <p:nvPr/>
        </p:nvSpPr>
        <p:spPr>
          <a:xfrm>
            <a:off x="521970" y="6417945"/>
            <a:ext cx="332870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国家统计局国家数据、中国统计年鉴；团队整理</a:t>
            </a:r>
          </a:p>
        </p:txBody>
      </p:sp>
      <p:sp>
        <p:nvSpPr>
          <p:cNvPr id="50" name="TextBox 50"/>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03 / 12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01015" y="372428"/>
            <a:ext cx="7494699"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原始数据表：三个指标形成可计算时间序列</a:t>
            </a:r>
          </a:p>
        </p:txBody>
      </p:sp>
      <p:sp>
        <p:nvSpPr>
          <p:cNvPr id="4" name="Rectangle 4"/>
          <p:cNvSpPr/>
          <p:nvPr/>
        </p:nvSpPr>
        <p:spPr>
          <a:xfrm>
            <a:off x="533400" y="895350"/>
            <a:ext cx="11125200" cy="438150"/>
          </a:xfrm>
          <a:prstGeom prst="roundRect">
            <a:avLst>
              <a:gd name="adj" fmla="val 17391"/>
            </a:avLst>
          </a:prstGeom>
          <a:solidFill>
            <a:srgbClr val="1565C0">
              <a:alpha val="8000"/>
            </a:srgbClr>
          </a:solidFill>
          <a:ln>
            <a:noFill/>
          </a:ln>
        </p:spPr>
      </p:sp>
      <p:sp>
        <p:nvSpPr>
          <p:cNvPr id="5" name="TextBox 5"/>
          <p:cNvSpPr txBox="1"/>
          <p:nvPr/>
        </p:nvSpPr>
        <p:spPr>
          <a:xfrm>
            <a:off x="726758" y="1033939"/>
            <a:ext cx="7899916" cy="259080"/>
          </a:xfrm>
          <a:prstGeom prst="rect">
            <a:avLst/>
          </a:prstGeom>
          <a:noFill/>
          <a:ln>
            <a:noFill/>
          </a:ln>
        </p:spPr>
        <p:txBody>
          <a:bodyPr wrap="none" lIns="0" tIns="0" rIns="0" bIns="0" anchor="t" anchorCtr="0">
            <a:spAutoFit/>
          </a:bodyPr>
          <a:lstStyle/>
          <a:p>
            <a:pPr algn="l"/>
            <a:r>
              <a:rPr lang="zh-CN" sz="1275" dirty="0">
                <a:solidFill>
                  <a:srgbClr val="263238"/>
                </a:solidFill>
                <a:latin typeface="Arial"/>
                <a:ea typeface="Microsoft YaHei"/>
                <a:cs typeface="Arial"/>
              </a:rPr>
              <a:t>2014-2023 年共 10 个年度点，既包含平稳增长阶段，也包含 2020 年后的外生冲击和恢复阶段。</a:t>
            </a:r>
          </a:p>
        </p:txBody>
      </p:sp>
      <p:sp>
        <p:nvSpPr>
          <p:cNvPr id="6" name="Rectangle 6"/>
          <p:cNvSpPr/>
          <p:nvPr/>
        </p:nvSpPr>
        <p:spPr>
          <a:xfrm>
            <a:off x="819150" y="1581150"/>
            <a:ext cx="10553700" cy="4000500"/>
          </a:xfrm>
          <a:prstGeom prst="roundRect">
            <a:avLst>
              <a:gd name="adj" fmla="val 1905"/>
            </a:avLst>
          </a:prstGeom>
          <a:solidFill>
            <a:srgbClr val="FFFFFF"/>
          </a:solidFill>
          <a:ln w="9525">
            <a:solidFill>
              <a:srgbClr val="DDE6EF"/>
            </a:solidFill>
          </a:ln>
        </p:spPr>
      </p:sp>
      <p:sp>
        <p:nvSpPr>
          <p:cNvPr id="7" name="Rectangle 7"/>
          <p:cNvSpPr/>
          <p:nvPr/>
        </p:nvSpPr>
        <p:spPr>
          <a:xfrm>
            <a:off x="819150" y="1581150"/>
            <a:ext cx="10553700" cy="419100"/>
          </a:xfrm>
          <a:prstGeom prst="roundRect">
            <a:avLst>
              <a:gd name="adj" fmla="val 18182"/>
            </a:avLst>
          </a:prstGeom>
          <a:solidFill>
            <a:srgbClr val="1565C0"/>
          </a:solidFill>
          <a:ln>
            <a:noFill/>
          </a:ln>
        </p:spPr>
      </p:sp>
      <p:sp>
        <p:nvSpPr>
          <p:cNvPr id="8" name="TextBox 8"/>
          <p:cNvSpPr txBox="1"/>
          <p:nvPr/>
        </p:nvSpPr>
        <p:spPr>
          <a:xfrm>
            <a:off x="1166812" y="1726406"/>
            <a:ext cx="37361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年份</a:t>
            </a:r>
          </a:p>
        </p:txBody>
      </p:sp>
      <p:sp>
        <p:nvSpPr>
          <p:cNvPr id="9" name="TextBox 9"/>
          <p:cNvSpPr txBox="1"/>
          <p:nvPr/>
        </p:nvSpPr>
        <p:spPr>
          <a:xfrm>
            <a:off x="1558290" y="1726406"/>
            <a:ext cx="1408747"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博物馆数量（个）</a:t>
            </a:r>
          </a:p>
        </p:txBody>
      </p:sp>
      <p:sp>
        <p:nvSpPr>
          <p:cNvPr id="10" name="TextBox 10"/>
          <p:cNvSpPr txBox="1"/>
          <p:nvPr/>
        </p:nvSpPr>
        <p:spPr>
          <a:xfrm>
            <a:off x="3880247" y="1726406"/>
            <a:ext cx="1753791"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国内游客（百万人次）</a:t>
            </a:r>
          </a:p>
        </p:txBody>
      </p:sp>
      <p:sp>
        <p:nvSpPr>
          <p:cNvPr id="11" name="TextBox 11"/>
          <p:cNvSpPr txBox="1"/>
          <p:nvPr/>
        </p:nvSpPr>
        <p:spPr>
          <a:xfrm>
            <a:off x="6986468" y="1726406"/>
            <a:ext cx="1581269"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旅游总花费（亿元）</a:t>
            </a:r>
          </a:p>
        </p:txBody>
      </p:sp>
      <p:sp>
        <p:nvSpPr>
          <p:cNvPr id="12" name="TextBox 12"/>
          <p:cNvSpPr txBox="1"/>
          <p:nvPr/>
        </p:nvSpPr>
        <p:spPr>
          <a:xfrm>
            <a:off x="10384869" y="1726406"/>
            <a:ext cx="373618"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阶段</a:t>
            </a:r>
          </a:p>
        </p:txBody>
      </p:sp>
      <p:sp>
        <p:nvSpPr>
          <p:cNvPr id="13" name="Line 13"/>
          <p:cNvSpPr/>
          <p:nvPr/>
        </p:nvSpPr>
        <p:spPr>
          <a:xfrm>
            <a:off x="1866900" y="1581150"/>
            <a:ext cx="9525" cy="4000500"/>
          </a:xfrm>
          <a:custGeom>
            <a:avLst/>
            <a:gdLst/>
            <a:ahLst/>
            <a:cxnLst/>
            <a:rect l="l" t="t" r="r" b="b"/>
            <a:pathLst>
              <a:path w="9525" h="4000500">
                <a:moveTo>
                  <a:pt x="0" y="0"/>
                </a:moveTo>
                <a:lnTo>
                  <a:pt x="0" y="4000500"/>
                </a:lnTo>
              </a:path>
            </a:pathLst>
          </a:custGeom>
          <a:noFill/>
          <a:ln w="9525">
            <a:solidFill>
              <a:srgbClr val="DDE6EF"/>
            </a:solidFill>
          </a:ln>
        </p:spPr>
      </p:sp>
      <p:sp>
        <p:nvSpPr>
          <p:cNvPr id="14" name="Line 14"/>
          <p:cNvSpPr/>
          <p:nvPr/>
        </p:nvSpPr>
        <p:spPr>
          <a:xfrm>
            <a:off x="3333750" y="1581150"/>
            <a:ext cx="9525" cy="4000500"/>
          </a:xfrm>
          <a:custGeom>
            <a:avLst/>
            <a:gdLst/>
            <a:ahLst/>
            <a:cxnLst/>
            <a:rect l="l" t="t" r="r" b="b"/>
            <a:pathLst>
              <a:path w="9525" h="4000500">
                <a:moveTo>
                  <a:pt x="0" y="0"/>
                </a:moveTo>
                <a:lnTo>
                  <a:pt x="0" y="4000500"/>
                </a:lnTo>
              </a:path>
            </a:pathLst>
          </a:custGeom>
          <a:noFill/>
          <a:ln w="9525">
            <a:solidFill>
              <a:srgbClr val="DDE6EF"/>
            </a:solidFill>
          </a:ln>
        </p:spPr>
      </p:sp>
      <p:sp>
        <p:nvSpPr>
          <p:cNvPr id="15" name="Line 15"/>
          <p:cNvSpPr/>
          <p:nvPr/>
        </p:nvSpPr>
        <p:spPr>
          <a:xfrm>
            <a:off x="6057900" y="1581150"/>
            <a:ext cx="9525" cy="4000500"/>
          </a:xfrm>
          <a:custGeom>
            <a:avLst/>
            <a:gdLst/>
            <a:ahLst/>
            <a:cxnLst/>
            <a:rect l="l" t="t" r="r" b="b"/>
            <a:pathLst>
              <a:path w="9525" h="4000500">
                <a:moveTo>
                  <a:pt x="0" y="0"/>
                </a:moveTo>
                <a:lnTo>
                  <a:pt x="0" y="4000500"/>
                </a:lnTo>
              </a:path>
            </a:pathLst>
          </a:custGeom>
          <a:noFill/>
          <a:ln w="9525">
            <a:solidFill>
              <a:srgbClr val="DDE6EF"/>
            </a:solidFill>
          </a:ln>
        </p:spPr>
      </p:sp>
      <p:sp>
        <p:nvSpPr>
          <p:cNvPr id="16" name="Line 16"/>
          <p:cNvSpPr/>
          <p:nvPr/>
        </p:nvSpPr>
        <p:spPr>
          <a:xfrm>
            <a:off x="8915400" y="1581150"/>
            <a:ext cx="9525" cy="4000500"/>
          </a:xfrm>
          <a:custGeom>
            <a:avLst/>
            <a:gdLst/>
            <a:ahLst/>
            <a:cxnLst/>
            <a:rect l="l" t="t" r="r" b="b"/>
            <a:pathLst>
              <a:path w="9525" h="4000500">
                <a:moveTo>
                  <a:pt x="0" y="0"/>
                </a:moveTo>
                <a:lnTo>
                  <a:pt x="0" y="4000500"/>
                </a:lnTo>
              </a:path>
            </a:pathLst>
          </a:custGeom>
          <a:noFill/>
          <a:ln w="9525">
            <a:solidFill>
              <a:srgbClr val="DDE6EF"/>
            </a:solidFill>
          </a:ln>
        </p:spPr>
      </p:sp>
      <p:grpSp>
        <p:nvGrpSpPr>
          <p:cNvPr id="80" name="Group 80"/>
          <p:cNvGrpSpPr/>
          <p:nvPr/>
        </p:nvGrpSpPr>
        <p:grpSpPr>
          <a:xfrm>
            <a:off x="819150" y="2107406"/>
            <a:ext cx="10553700" cy="3486150"/>
            <a:chOff x="819150" y="2107406"/>
            <a:chExt cx="10553700" cy="3486150"/>
          </a:xfrm>
        </p:grpSpPr>
        <p:sp>
          <p:nvSpPr>
            <p:cNvPr id="17" name="Rectangle 17"/>
            <p:cNvSpPr/>
            <p:nvPr/>
          </p:nvSpPr>
          <p:spPr>
            <a:xfrm>
              <a:off x="819150" y="2343150"/>
              <a:ext cx="10553700" cy="361950"/>
            </a:xfrm>
            <a:prstGeom prst="rect">
              <a:avLst/>
            </a:prstGeom>
            <a:solidFill>
              <a:srgbClr val="1565C0">
                <a:alpha val="3500"/>
              </a:srgbClr>
            </a:solidFill>
            <a:ln>
              <a:noFill/>
            </a:ln>
          </p:spPr>
        </p:sp>
        <p:sp>
          <p:nvSpPr>
            <p:cNvPr id="18" name="Rectangle 18"/>
            <p:cNvSpPr/>
            <p:nvPr/>
          </p:nvSpPr>
          <p:spPr>
            <a:xfrm>
              <a:off x="819150" y="3067050"/>
              <a:ext cx="10553700" cy="361950"/>
            </a:xfrm>
            <a:prstGeom prst="rect">
              <a:avLst/>
            </a:prstGeom>
            <a:solidFill>
              <a:srgbClr val="1565C0">
                <a:alpha val="3500"/>
              </a:srgbClr>
            </a:solidFill>
            <a:ln>
              <a:noFill/>
            </a:ln>
          </p:spPr>
        </p:sp>
        <p:sp>
          <p:nvSpPr>
            <p:cNvPr id="19" name="Rectangle 19"/>
            <p:cNvSpPr/>
            <p:nvPr/>
          </p:nvSpPr>
          <p:spPr>
            <a:xfrm>
              <a:off x="819150" y="3790950"/>
              <a:ext cx="10553700" cy="361950"/>
            </a:xfrm>
            <a:prstGeom prst="rect">
              <a:avLst/>
            </a:prstGeom>
            <a:solidFill>
              <a:srgbClr val="C41E3A">
                <a:alpha val="5500"/>
              </a:srgbClr>
            </a:solidFill>
            <a:ln>
              <a:noFill/>
            </a:ln>
          </p:spPr>
        </p:sp>
        <p:sp>
          <p:nvSpPr>
            <p:cNvPr id="20" name="Rectangle 20"/>
            <p:cNvSpPr/>
            <p:nvPr/>
          </p:nvSpPr>
          <p:spPr>
            <a:xfrm>
              <a:off x="819150" y="4514850"/>
              <a:ext cx="10553700" cy="361950"/>
            </a:xfrm>
            <a:prstGeom prst="rect">
              <a:avLst/>
            </a:prstGeom>
            <a:solidFill>
              <a:srgbClr val="26A69A">
                <a:alpha val="5500"/>
              </a:srgbClr>
            </a:solidFill>
            <a:ln>
              <a:noFill/>
            </a:ln>
          </p:spPr>
        </p:sp>
        <p:sp>
          <p:nvSpPr>
            <p:cNvPr id="21" name="Line 21"/>
            <p:cNvSpPr/>
            <p:nvPr/>
          </p:nvSpPr>
          <p:spPr>
            <a:xfrm>
              <a:off x="819150" y="234315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2" name="Line 22"/>
            <p:cNvSpPr/>
            <p:nvPr/>
          </p:nvSpPr>
          <p:spPr>
            <a:xfrm>
              <a:off x="819150" y="270510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3" name="Line 23"/>
            <p:cNvSpPr/>
            <p:nvPr/>
          </p:nvSpPr>
          <p:spPr>
            <a:xfrm>
              <a:off x="819150" y="306705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4" name="Line 24"/>
            <p:cNvSpPr/>
            <p:nvPr/>
          </p:nvSpPr>
          <p:spPr>
            <a:xfrm>
              <a:off x="819150" y="342900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5" name="Line 25"/>
            <p:cNvSpPr/>
            <p:nvPr/>
          </p:nvSpPr>
          <p:spPr>
            <a:xfrm>
              <a:off x="819150" y="379095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6" name="Line 26"/>
            <p:cNvSpPr/>
            <p:nvPr/>
          </p:nvSpPr>
          <p:spPr>
            <a:xfrm>
              <a:off x="819150" y="415290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7" name="Line 27"/>
            <p:cNvSpPr/>
            <p:nvPr/>
          </p:nvSpPr>
          <p:spPr>
            <a:xfrm>
              <a:off x="819150" y="451485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8" name="Line 28"/>
            <p:cNvSpPr/>
            <p:nvPr/>
          </p:nvSpPr>
          <p:spPr>
            <a:xfrm>
              <a:off x="819150" y="487680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9" name="Line 29"/>
            <p:cNvSpPr/>
            <p:nvPr/>
          </p:nvSpPr>
          <p:spPr>
            <a:xfrm>
              <a:off x="819150" y="523875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30" name="TextBox 30"/>
            <p:cNvSpPr txBox="1"/>
            <p:nvPr/>
          </p:nvSpPr>
          <p:spPr>
            <a:xfrm>
              <a:off x="1166812" y="210740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2014</a:t>
              </a:r>
            </a:p>
          </p:txBody>
        </p:sp>
        <p:sp>
          <p:nvSpPr>
            <p:cNvPr id="31" name="TextBox 31"/>
            <p:cNvSpPr txBox="1"/>
            <p:nvPr/>
          </p:nvSpPr>
          <p:spPr>
            <a:xfrm>
              <a:off x="2576989" y="21074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3658</a:t>
              </a:r>
            </a:p>
          </p:txBody>
        </p:sp>
        <p:sp>
          <p:nvSpPr>
            <p:cNvPr id="32" name="TextBox 32"/>
            <p:cNvSpPr txBox="1"/>
            <p:nvPr/>
          </p:nvSpPr>
          <p:spPr>
            <a:xfrm>
              <a:off x="5326142" y="2107406"/>
              <a:ext cx="307896"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3611</a:t>
              </a:r>
            </a:p>
          </p:txBody>
        </p:sp>
        <p:sp>
          <p:nvSpPr>
            <p:cNvPr id="33" name="TextBox 33"/>
            <p:cNvSpPr txBox="1"/>
            <p:nvPr/>
          </p:nvSpPr>
          <p:spPr>
            <a:xfrm>
              <a:off x="7988737" y="2107406"/>
              <a:ext cx="579001"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30311.9</a:t>
              </a:r>
            </a:p>
          </p:txBody>
        </p:sp>
        <p:sp>
          <p:nvSpPr>
            <p:cNvPr id="34" name="TextBox 34"/>
            <p:cNvSpPr txBox="1"/>
            <p:nvPr/>
          </p:nvSpPr>
          <p:spPr>
            <a:xfrm>
              <a:off x="10236994" y="2107406"/>
              <a:ext cx="52149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增长期</a:t>
              </a:r>
            </a:p>
          </p:txBody>
        </p:sp>
        <p:sp>
          <p:nvSpPr>
            <p:cNvPr id="35" name="TextBox 35"/>
            <p:cNvSpPr txBox="1"/>
            <p:nvPr/>
          </p:nvSpPr>
          <p:spPr>
            <a:xfrm>
              <a:off x="1166812" y="246935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2015</a:t>
              </a:r>
            </a:p>
          </p:txBody>
        </p:sp>
        <p:sp>
          <p:nvSpPr>
            <p:cNvPr id="36" name="TextBox 36"/>
            <p:cNvSpPr txBox="1"/>
            <p:nvPr/>
          </p:nvSpPr>
          <p:spPr>
            <a:xfrm>
              <a:off x="2576989" y="24693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3852</a:t>
              </a:r>
            </a:p>
          </p:txBody>
        </p:sp>
        <p:sp>
          <p:nvSpPr>
            <p:cNvPr id="37" name="TextBox 37"/>
            <p:cNvSpPr txBox="1"/>
            <p:nvPr/>
          </p:nvSpPr>
          <p:spPr>
            <a:xfrm>
              <a:off x="5243989" y="24693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4000</a:t>
              </a:r>
            </a:p>
          </p:txBody>
        </p:sp>
        <p:sp>
          <p:nvSpPr>
            <p:cNvPr id="38" name="TextBox 38"/>
            <p:cNvSpPr txBox="1"/>
            <p:nvPr/>
          </p:nvSpPr>
          <p:spPr>
            <a:xfrm>
              <a:off x="7988737" y="2469356"/>
              <a:ext cx="579001"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34195.1</a:t>
              </a:r>
            </a:p>
          </p:txBody>
        </p:sp>
        <p:sp>
          <p:nvSpPr>
            <p:cNvPr id="39" name="TextBox 39"/>
            <p:cNvSpPr txBox="1"/>
            <p:nvPr/>
          </p:nvSpPr>
          <p:spPr>
            <a:xfrm>
              <a:off x="10236994" y="2469356"/>
              <a:ext cx="52149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增长期</a:t>
              </a:r>
            </a:p>
          </p:txBody>
        </p:sp>
        <p:sp>
          <p:nvSpPr>
            <p:cNvPr id="40" name="TextBox 40"/>
            <p:cNvSpPr txBox="1"/>
            <p:nvPr/>
          </p:nvSpPr>
          <p:spPr>
            <a:xfrm>
              <a:off x="1166812" y="283130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2016</a:t>
              </a:r>
            </a:p>
          </p:txBody>
        </p:sp>
        <p:sp>
          <p:nvSpPr>
            <p:cNvPr id="41" name="TextBox 41"/>
            <p:cNvSpPr txBox="1"/>
            <p:nvPr/>
          </p:nvSpPr>
          <p:spPr>
            <a:xfrm>
              <a:off x="2618065" y="283130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4109</a:t>
              </a:r>
            </a:p>
          </p:txBody>
        </p:sp>
        <p:sp>
          <p:nvSpPr>
            <p:cNvPr id="42" name="TextBox 42"/>
            <p:cNvSpPr txBox="1"/>
            <p:nvPr/>
          </p:nvSpPr>
          <p:spPr>
            <a:xfrm>
              <a:off x="5243989" y="28313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4440</a:t>
              </a:r>
            </a:p>
          </p:txBody>
        </p:sp>
        <p:sp>
          <p:nvSpPr>
            <p:cNvPr id="43" name="TextBox 43"/>
            <p:cNvSpPr txBox="1"/>
            <p:nvPr/>
          </p:nvSpPr>
          <p:spPr>
            <a:xfrm>
              <a:off x="7906583" y="2831306"/>
              <a:ext cx="66115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39390.0</a:t>
              </a:r>
            </a:p>
          </p:txBody>
        </p:sp>
        <p:sp>
          <p:nvSpPr>
            <p:cNvPr id="44" name="TextBox 44"/>
            <p:cNvSpPr txBox="1"/>
            <p:nvPr/>
          </p:nvSpPr>
          <p:spPr>
            <a:xfrm>
              <a:off x="10236994" y="2831306"/>
              <a:ext cx="52149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增长期</a:t>
              </a:r>
            </a:p>
          </p:txBody>
        </p:sp>
        <p:sp>
          <p:nvSpPr>
            <p:cNvPr id="45" name="TextBox 45"/>
            <p:cNvSpPr txBox="1"/>
            <p:nvPr/>
          </p:nvSpPr>
          <p:spPr>
            <a:xfrm>
              <a:off x="1166812" y="319325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2017</a:t>
              </a:r>
            </a:p>
          </p:txBody>
        </p:sp>
        <p:sp>
          <p:nvSpPr>
            <p:cNvPr id="46" name="TextBox 46"/>
            <p:cNvSpPr txBox="1"/>
            <p:nvPr/>
          </p:nvSpPr>
          <p:spPr>
            <a:xfrm>
              <a:off x="2618065" y="319325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4721</a:t>
              </a:r>
            </a:p>
          </p:txBody>
        </p:sp>
        <p:sp>
          <p:nvSpPr>
            <p:cNvPr id="47" name="TextBox 47"/>
            <p:cNvSpPr txBox="1"/>
            <p:nvPr/>
          </p:nvSpPr>
          <p:spPr>
            <a:xfrm>
              <a:off x="5285065" y="319325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5001</a:t>
              </a:r>
            </a:p>
          </p:txBody>
        </p:sp>
        <p:sp>
          <p:nvSpPr>
            <p:cNvPr id="48" name="TextBox 48"/>
            <p:cNvSpPr txBox="1"/>
            <p:nvPr/>
          </p:nvSpPr>
          <p:spPr>
            <a:xfrm>
              <a:off x="7906583" y="3193256"/>
              <a:ext cx="66115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45660.9</a:t>
              </a:r>
            </a:p>
          </p:txBody>
        </p:sp>
        <p:sp>
          <p:nvSpPr>
            <p:cNvPr id="49" name="TextBox 49"/>
            <p:cNvSpPr txBox="1"/>
            <p:nvPr/>
          </p:nvSpPr>
          <p:spPr>
            <a:xfrm>
              <a:off x="10236994" y="3193256"/>
              <a:ext cx="52149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增长期</a:t>
              </a:r>
            </a:p>
          </p:txBody>
        </p:sp>
        <p:sp>
          <p:nvSpPr>
            <p:cNvPr id="50" name="TextBox 50"/>
            <p:cNvSpPr txBox="1"/>
            <p:nvPr/>
          </p:nvSpPr>
          <p:spPr>
            <a:xfrm>
              <a:off x="1166812" y="355520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2018</a:t>
              </a:r>
            </a:p>
          </p:txBody>
        </p:sp>
        <p:sp>
          <p:nvSpPr>
            <p:cNvPr id="51" name="TextBox 51"/>
            <p:cNvSpPr txBox="1"/>
            <p:nvPr/>
          </p:nvSpPr>
          <p:spPr>
            <a:xfrm>
              <a:off x="2618065" y="355520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4918</a:t>
              </a:r>
            </a:p>
          </p:txBody>
        </p:sp>
        <p:sp>
          <p:nvSpPr>
            <p:cNvPr id="52" name="TextBox 52"/>
            <p:cNvSpPr txBox="1"/>
            <p:nvPr/>
          </p:nvSpPr>
          <p:spPr>
            <a:xfrm>
              <a:off x="5243989" y="35552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5539</a:t>
              </a:r>
            </a:p>
          </p:txBody>
        </p:sp>
        <p:sp>
          <p:nvSpPr>
            <p:cNvPr id="53" name="TextBox 53"/>
            <p:cNvSpPr txBox="1"/>
            <p:nvPr/>
          </p:nvSpPr>
          <p:spPr>
            <a:xfrm>
              <a:off x="7947660" y="3555206"/>
              <a:ext cx="620078"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51278.3</a:t>
              </a:r>
            </a:p>
          </p:txBody>
        </p:sp>
        <p:sp>
          <p:nvSpPr>
            <p:cNvPr id="54" name="TextBox 54"/>
            <p:cNvSpPr txBox="1"/>
            <p:nvPr/>
          </p:nvSpPr>
          <p:spPr>
            <a:xfrm>
              <a:off x="10236994" y="3555206"/>
              <a:ext cx="52149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增长期</a:t>
              </a:r>
            </a:p>
          </p:txBody>
        </p:sp>
        <p:sp>
          <p:nvSpPr>
            <p:cNvPr id="55" name="TextBox 55"/>
            <p:cNvSpPr txBox="1"/>
            <p:nvPr/>
          </p:nvSpPr>
          <p:spPr>
            <a:xfrm>
              <a:off x="1166812" y="391715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2019</a:t>
              </a:r>
            </a:p>
          </p:txBody>
        </p:sp>
        <p:sp>
          <p:nvSpPr>
            <p:cNvPr id="56" name="TextBox 56"/>
            <p:cNvSpPr txBox="1"/>
            <p:nvPr/>
          </p:nvSpPr>
          <p:spPr>
            <a:xfrm>
              <a:off x="2618065" y="391715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5132</a:t>
              </a:r>
            </a:p>
          </p:txBody>
        </p:sp>
        <p:sp>
          <p:nvSpPr>
            <p:cNvPr id="57" name="TextBox 57"/>
            <p:cNvSpPr txBox="1"/>
            <p:nvPr/>
          </p:nvSpPr>
          <p:spPr>
            <a:xfrm>
              <a:off x="5243989" y="39171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6006</a:t>
              </a:r>
            </a:p>
          </p:txBody>
        </p:sp>
        <p:sp>
          <p:nvSpPr>
            <p:cNvPr id="58" name="TextBox 58"/>
            <p:cNvSpPr txBox="1"/>
            <p:nvPr/>
          </p:nvSpPr>
          <p:spPr>
            <a:xfrm>
              <a:off x="7947660" y="3917156"/>
              <a:ext cx="620078"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57251.0</a:t>
              </a:r>
            </a:p>
          </p:txBody>
        </p:sp>
        <p:sp>
          <p:nvSpPr>
            <p:cNvPr id="59" name="TextBox 59"/>
            <p:cNvSpPr txBox="1"/>
            <p:nvPr/>
          </p:nvSpPr>
          <p:spPr>
            <a:xfrm>
              <a:off x="10401300" y="3917156"/>
              <a:ext cx="357188"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高点</a:t>
              </a:r>
            </a:p>
          </p:txBody>
        </p:sp>
        <p:sp>
          <p:nvSpPr>
            <p:cNvPr id="60" name="TextBox 60"/>
            <p:cNvSpPr txBox="1"/>
            <p:nvPr/>
          </p:nvSpPr>
          <p:spPr>
            <a:xfrm>
              <a:off x="1166812" y="4279106"/>
              <a:ext cx="39004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2020</a:t>
              </a:r>
            </a:p>
          </p:txBody>
        </p:sp>
        <p:sp>
          <p:nvSpPr>
            <p:cNvPr id="61" name="TextBox 61"/>
            <p:cNvSpPr txBox="1"/>
            <p:nvPr/>
          </p:nvSpPr>
          <p:spPr>
            <a:xfrm>
              <a:off x="2576989" y="42791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5446</a:t>
              </a:r>
            </a:p>
          </p:txBody>
        </p:sp>
        <p:sp>
          <p:nvSpPr>
            <p:cNvPr id="62" name="TextBox 62"/>
            <p:cNvSpPr txBox="1"/>
            <p:nvPr/>
          </p:nvSpPr>
          <p:spPr>
            <a:xfrm>
              <a:off x="5243989" y="42791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2879</a:t>
              </a:r>
            </a:p>
          </p:txBody>
        </p:sp>
        <p:sp>
          <p:nvSpPr>
            <p:cNvPr id="63" name="TextBox 63"/>
            <p:cNvSpPr txBox="1"/>
            <p:nvPr/>
          </p:nvSpPr>
          <p:spPr>
            <a:xfrm>
              <a:off x="7906583" y="4279106"/>
              <a:ext cx="66115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22286.3</a:t>
              </a:r>
            </a:p>
          </p:txBody>
        </p:sp>
        <p:sp>
          <p:nvSpPr>
            <p:cNvPr id="64" name="TextBox 64"/>
            <p:cNvSpPr txBox="1"/>
            <p:nvPr/>
          </p:nvSpPr>
          <p:spPr>
            <a:xfrm>
              <a:off x="10384869" y="4279106"/>
              <a:ext cx="373618" cy="228600"/>
            </a:xfrm>
            <a:prstGeom prst="rect">
              <a:avLst/>
            </a:prstGeom>
            <a:noFill/>
            <a:ln>
              <a:noFill/>
            </a:ln>
          </p:spPr>
          <p:txBody>
            <a:bodyPr wrap="none" lIns="0" tIns="0" rIns="0" bIns="0" anchor="t" anchorCtr="0">
              <a:spAutoFit/>
            </a:bodyPr>
            <a:lstStyle/>
            <a:p>
              <a:pPr algn="r"/>
              <a:r>
                <a:rPr lang="zh-CN" sz="1125" b="1" dirty="0">
                  <a:solidFill>
                    <a:srgbClr val="C41E3A"/>
                  </a:solidFill>
                  <a:latin typeface="Arial"/>
                  <a:ea typeface="Microsoft YaHei"/>
                  <a:cs typeface="Arial"/>
                </a:rPr>
                <a:t>冲击</a:t>
              </a:r>
            </a:p>
          </p:txBody>
        </p:sp>
        <p:sp>
          <p:nvSpPr>
            <p:cNvPr id="65" name="TextBox 65"/>
            <p:cNvSpPr txBox="1"/>
            <p:nvPr/>
          </p:nvSpPr>
          <p:spPr>
            <a:xfrm>
              <a:off x="1166812" y="464105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2021</a:t>
              </a:r>
            </a:p>
          </p:txBody>
        </p:sp>
        <p:sp>
          <p:nvSpPr>
            <p:cNvPr id="66" name="TextBox 66"/>
            <p:cNvSpPr txBox="1"/>
            <p:nvPr/>
          </p:nvSpPr>
          <p:spPr>
            <a:xfrm>
              <a:off x="2576989" y="46410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5772</a:t>
              </a:r>
            </a:p>
          </p:txBody>
        </p:sp>
        <p:sp>
          <p:nvSpPr>
            <p:cNvPr id="67" name="TextBox 67"/>
            <p:cNvSpPr txBox="1"/>
            <p:nvPr/>
          </p:nvSpPr>
          <p:spPr>
            <a:xfrm>
              <a:off x="5243989" y="46410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3246</a:t>
              </a:r>
            </a:p>
          </p:txBody>
        </p:sp>
        <p:sp>
          <p:nvSpPr>
            <p:cNvPr id="68" name="TextBox 68"/>
            <p:cNvSpPr txBox="1"/>
            <p:nvPr/>
          </p:nvSpPr>
          <p:spPr>
            <a:xfrm>
              <a:off x="7988737" y="4641056"/>
              <a:ext cx="579001"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29191.0</a:t>
              </a:r>
            </a:p>
          </p:txBody>
        </p:sp>
        <p:sp>
          <p:nvSpPr>
            <p:cNvPr id="69" name="TextBox 69"/>
            <p:cNvSpPr txBox="1"/>
            <p:nvPr/>
          </p:nvSpPr>
          <p:spPr>
            <a:xfrm>
              <a:off x="10401300" y="4641056"/>
              <a:ext cx="357188"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修复</a:t>
              </a:r>
            </a:p>
          </p:txBody>
        </p:sp>
        <p:sp>
          <p:nvSpPr>
            <p:cNvPr id="70" name="TextBox 70"/>
            <p:cNvSpPr txBox="1"/>
            <p:nvPr/>
          </p:nvSpPr>
          <p:spPr>
            <a:xfrm>
              <a:off x="1166812" y="5003006"/>
              <a:ext cx="39004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2022</a:t>
              </a:r>
            </a:p>
          </p:txBody>
        </p:sp>
        <p:sp>
          <p:nvSpPr>
            <p:cNvPr id="71" name="TextBox 71"/>
            <p:cNvSpPr txBox="1"/>
            <p:nvPr/>
          </p:nvSpPr>
          <p:spPr>
            <a:xfrm>
              <a:off x="2576989" y="50030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6565</a:t>
              </a:r>
            </a:p>
          </p:txBody>
        </p:sp>
        <p:sp>
          <p:nvSpPr>
            <p:cNvPr id="72" name="TextBox 72"/>
            <p:cNvSpPr txBox="1"/>
            <p:nvPr/>
          </p:nvSpPr>
          <p:spPr>
            <a:xfrm>
              <a:off x="5243989" y="50030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2530</a:t>
              </a:r>
            </a:p>
          </p:txBody>
        </p:sp>
        <p:sp>
          <p:nvSpPr>
            <p:cNvPr id="73" name="TextBox 73"/>
            <p:cNvSpPr txBox="1"/>
            <p:nvPr/>
          </p:nvSpPr>
          <p:spPr>
            <a:xfrm>
              <a:off x="7906583" y="5003006"/>
              <a:ext cx="66115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20444.0</a:t>
              </a:r>
            </a:p>
          </p:txBody>
        </p:sp>
        <p:sp>
          <p:nvSpPr>
            <p:cNvPr id="74" name="TextBox 74"/>
            <p:cNvSpPr txBox="1"/>
            <p:nvPr/>
          </p:nvSpPr>
          <p:spPr>
            <a:xfrm>
              <a:off x="10401300" y="5003006"/>
              <a:ext cx="357188"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波动</a:t>
              </a:r>
            </a:p>
          </p:txBody>
        </p:sp>
        <p:sp>
          <p:nvSpPr>
            <p:cNvPr id="75" name="TextBox 75"/>
            <p:cNvSpPr txBox="1"/>
            <p:nvPr/>
          </p:nvSpPr>
          <p:spPr>
            <a:xfrm>
              <a:off x="1166812" y="5364956"/>
              <a:ext cx="39004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2023</a:t>
              </a:r>
            </a:p>
          </p:txBody>
        </p:sp>
        <p:sp>
          <p:nvSpPr>
            <p:cNvPr id="76" name="TextBox 76"/>
            <p:cNvSpPr txBox="1"/>
            <p:nvPr/>
          </p:nvSpPr>
          <p:spPr>
            <a:xfrm>
              <a:off x="2576989" y="53649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6833</a:t>
              </a:r>
            </a:p>
          </p:txBody>
        </p:sp>
        <p:sp>
          <p:nvSpPr>
            <p:cNvPr id="77" name="TextBox 77"/>
            <p:cNvSpPr txBox="1"/>
            <p:nvPr/>
          </p:nvSpPr>
          <p:spPr>
            <a:xfrm>
              <a:off x="5285065" y="536495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4891</a:t>
              </a:r>
            </a:p>
          </p:txBody>
        </p:sp>
        <p:sp>
          <p:nvSpPr>
            <p:cNvPr id="78" name="TextBox 78"/>
            <p:cNvSpPr txBox="1"/>
            <p:nvPr/>
          </p:nvSpPr>
          <p:spPr>
            <a:xfrm>
              <a:off x="7988737" y="5364956"/>
              <a:ext cx="579001"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49133.1</a:t>
              </a:r>
            </a:p>
          </p:txBody>
        </p:sp>
        <p:sp>
          <p:nvSpPr>
            <p:cNvPr id="79" name="TextBox 79"/>
            <p:cNvSpPr txBox="1"/>
            <p:nvPr/>
          </p:nvSpPr>
          <p:spPr>
            <a:xfrm>
              <a:off x="10384869" y="5364956"/>
              <a:ext cx="373618" cy="228600"/>
            </a:xfrm>
            <a:prstGeom prst="rect">
              <a:avLst/>
            </a:prstGeom>
            <a:noFill/>
            <a:ln>
              <a:noFill/>
            </a:ln>
          </p:spPr>
          <p:txBody>
            <a:bodyPr wrap="none" lIns="0" tIns="0" rIns="0" bIns="0" anchor="t" anchorCtr="0">
              <a:spAutoFit/>
            </a:bodyPr>
            <a:lstStyle/>
            <a:p>
              <a:pPr algn="r"/>
              <a:r>
                <a:rPr lang="zh-CN" sz="1125" b="1" dirty="0">
                  <a:solidFill>
                    <a:srgbClr val="2E7D32"/>
                  </a:solidFill>
                  <a:latin typeface="Arial"/>
                  <a:ea typeface="Microsoft YaHei"/>
                  <a:cs typeface="Arial"/>
                </a:rPr>
                <a:t>恢复</a:t>
              </a:r>
            </a:p>
          </p:txBody>
        </p:sp>
      </p:grpSp>
      <p:sp>
        <p:nvSpPr>
          <p:cNvPr id="81" name="TextBox 81"/>
          <p:cNvSpPr txBox="1"/>
          <p:nvPr/>
        </p:nvSpPr>
        <p:spPr>
          <a:xfrm>
            <a:off x="519112" y="5879306"/>
            <a:ext cx="6272212" cy="228600"/>
          </a:xfrm>
          <a:prstGeom prst="rect">
            <a:avLst/>
          </a:prstGeom>
          <a:noFill/>
          <a:ln>
            <a:noFill/>
          </a:ln>
        </p:spPr>
        <p:txBody>
          <a:bodyPr wrap="none" lIns="0" tIns="0" rIns="0" bIns="0" anchor="t" anchorCtr="0">
            <a:spAutoFit/>
          </a:bodyPr>
          <a:lstStyle/>
          <a:p>
            <a:pPr algn="l"/>
            <a:r>
              <a:rPr lang="zh-CN" sz="1125" dirty="0">
                <a:solidFill>
                  <a:srgbClr val="607D8B"/>
                </a:solidFill>
                <a:latin typeface="Arial"/>
                <a:ea typeface="Microsoft YaHei"/>
                <a:cs typeface="Arial"/>
              </a:rPr>
              <a:t>注：旅游总花费单位为亿元，国内游客单位为百万人次；小数来自统计年鉴原始数值。</a:t>
            </a:r>
          </a:p>
        </p:txBody>
      </p:sp>
      <p:sp>
        <p:nvSpPr>
          <p:cNvPr id="82" name="TextBox 82"/>
          <p:cNvSpPr txBox="1"/>
          <p:nvPr/>
        </p:nvSpPr>
        <p:spPr>
          <a:xfrm>
            <a:off x="521970" y="6417945"/>
            <a:ext cx="332870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国家统计局国家数据、中国统计年鉴；团队整理</a:t>
            </a:r>
          </a:p>
        </p:txBody>
      </p:sp>
      <p:sp>
        <p:nvSpPr>
          <p:cNvPr id="83" name="TextBox 83"/>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04 / 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4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01015" y="372428"/>
            <a:ext cx="7103650"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数据预处理：统一尺度，并保留冲击信息</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sp>
      <p:sp>
        <p:nvSpPr>
          <p:cNvPr id="5" name="TextBox 5"/>
          <p:cNvSpPr txBox="1"/>
          <p:nvPr/>
        </p:nvSpPr>
        <p:spPr>
          <a:xfrm>
            <a:off x="725805" y="1054418"/>
            <a:ext cx="7723822"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社会经济数据不是光滑物理曲线，预处理的重点是减少口径误差，同时不抹平真实冲击。</a:t>
            </a:r>
          </a:p>
        </p:txBody>
      </p:sp>
      <p:sp>
        <p:nvSpPr>
          <p:cNvPr id="6" name="Rectangle 6"/>
          <p:cNvSpPr/>
          <p:nvPr/>
        </p:nvSpPr>
        <p:spPr>
          <a:xfrm>
            <a:off x="723900" y="1752600"/>
            <a:ext cx="2381250" cy="2876550"/>
          </a:xfrm>
          <a:prstGeom prst="roundRect">
            <a:avLst>
              <a:gd name="adj" fmla="val 3200"/>
            </a:avLst>
          </a:prstGeom>
          <a:solidFill>
            <a:srgbClr val="FFFFFF"/>
          </a:solidFill>
          <a:ln w="9525">
            <a:solidFill>
              <a:srgbClr val="DDE6EF"/>
            </a:solidFill>
          </a:ln>
        </p:spPr>
      </p:sp>
      <p:sp>
        <p:nvSpPr>
          <p:cNvPr id="7" name="Rectangle 7"/>
          <p:cNvSpPr/>
          <p:nvPr/>
        </p:nvSpPr>
        <p:spPr>
          <a:xfrm>
            <a:off x="3581400" y="1752600"/>
            <a:ext cx="2381250" cy="2876550"/>
          </a:xfrm>
          <a:prstGeom prst="roundRect">
            <a:avLst>
              <a:gd name="adj" fmla="val 3200"/>
            </a:avLst>
          </a:prstGeom>
          <a:solidFill>
            <a:srgbClr val="FFFFFF"/>
          </a:solidFill>
          <a:ln w="9525">
            <a:solidFill>
              <a:srgbClr val="DDE6EF"/>
            </a:solidFill>
          </a:ln>
        </p:spPr>
      </p:sp>
      <p:sp>
        <p:nvSpPr>
          <p:cNvPr id="8" name="Rectangle 8"/>
          <p:cNvSpPr/>
          <p:nvPr/>
        </p:nvSpPr>
        <p:spPr>
          <a:xfrm>
            <a:off x="6438900" y="1752600"/>
            <a:ext cx="2381250" cy="2876550"/>
          </a:xfrm>
          <a:prstGeom prst="roundRect">
            <a:avLst>
              <a:gd name="adj" fmla="val 3200"/>
            </a:avLst>
          </a:prstGeom>
          <a:solidFill>
            <a:srgbClr val="FFFFFF"/>
          </a:solidFill>
          <a:ln w="9525">
            <a:solidFill>
              <a:srgbClr val="DDE6EF"/>
            </a:solidFill>
          </a:ln>
        </p:spPr>
      </p:sp>
      <p:sp>
        <p:nvSpPr>
          <p:cNvPr id="9" name="Rectangle 9"/>
          <p:cNvSpPr/>
          <p:nvPr/>
        </p:nvSpPr>
        <p:spPr>
          <a:xfrm>
            <a:off x="9296400" y="1752600"/>
            <a:ext cx="2381250" cy="2876550"/>
          </a:xfrm>
          <a:prstGeom prst="roundRect">
            <a:avLst>
              <a:gd name="adj" fmla="val 3200"/>
            </a:avLst>
          </a:prstGeom>
          <a:solidFill>
            <a:srgbClr val="FFFFFF"/>
          </a:solidFill>
          <a:ln w="9525">
            <a:solidFill>
              <a:srgbClr val="DDE6EF"/>
            </a:solidFill>
          </a:ln>
        </p:spPr>
      </p:sp>
      <p:sp>
        <p:nvSpPr>
          <p:cNvPr id="10" name="Ellipse 10"/>
          <p:cNvSpPr/>
          <p:nvPr/>
        </p:nvSpPr>
        <p:spPr>
          <a:xfrm>
            <a:off x="952500" y="2019300"/>
            <a:ext cx="457200" cy="457200"/>
          </a:xfrm>
          <a:prstGeom prst="ellipse">
            <a:avLst/>
          </a:prstGeom>
          <a:solidFill>
            <a:srgbClr val="1565C0"/>
          </a:solidFill>
          <a:ln>
            <a:noFill/>
          </a:ln>
        </p:spPr>
      </p:sp>
      <p:sp>
        <p:nvSpPr>
          <p:cNvPr id="11" name="TextBox 11"/>
          <p:cNvSpPr txBox="1"/>
          <p:nvPr/>
        </p:nvSpPr>
        <p:spPr>
          <a:xfrm>
            <a:off x="1127546" y="2162175"/>
            <a:ext cx="107109"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1</a:t>
            </a:r>
          </a:p>
        </p:txBody>
      </p:sp>
      <p:sp>
        <p:nvSpPr>
          <p:cNvPr id="12" name="TextBox 12"/>
          <p:cNvSpPr txBox="1"/>
          <p:nvPr/>
        </p:nvSpPr>
        <p:spPr>
          <a:xfrm>
            <a:off x="854392" y="2633186"/>
            <a:ext cx="1101947"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Arial"/>
                <a:ea typeface="Microsoft YaHei"/>
                <a:cs typeface="Arial"/>
              </a:rPr>
              <a:t>年度对齐</a:t>
            </a:r>
          </a:p>
        </p:txBody>
      </p:sp>
      <p:sp>
        <p:nvSpPr>
          <p:cNvPr id="13" name="TextBox 13"/>
          <p:cNvSpPr txBox="1"/>
          <p:nvPr/>
        </p:nvSpPr>
        <p:spPr>
          <a:xfrm>
            <a:off x="860108" y="313896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只保留三项指标都</a:t>
            </a:r>
          </a:p>
        </p:txBody>
      </p:sp>
      <p:sp>
        <p:nvSpPr>
          <p:cNvPr id="14" name="TextBox 14"/>
          <p:cNvSpPr txBox="1"/>
          <p:nvPr/>
        </p:nvSpPr>
        <p:spPr>
          <a:xfrm>
            <a:off x="860108" y="3405664"/>
            <a:ext cx="170830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可获得的年份，构成</a:t>
            </a:r>
          </a:p>
        </p:txBody>
      </p:sp>
      <p:sp>
        <p:nvSpPr>
          <p:cNvPr id="15" name="TextBox 15"/>
          <p:cNvSpPr txBox="1"/>
          <p:nvPr/>
        </p:nvSpPr>
        <p:spPr>
          <a:xfrm>
            <a:off x="860108" y="3672364"/>
            <a:ext cx="1335881"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共同样本区间。</a:t>
            </a:r>
          </a:p>
        </p:txBody>
      </p:sp>
      <p:sp>
        <p:nvSpPr>
          <p:cNvPr id="16" name="Ellipse 16"/>
          <p:cNvSpPr/>
          <p:nvPr/>
        </p:nvSpPr>
        <p:spPr>
          <a:xfrm>
            <a:off x="3810000" y="2019300"/>
            <a:ext cx="457200" cy="457200"/>
          </a:xfrm>
          <a:prstGeom prst="ellipse">
            <a:avLst/>
          </a:prstGeom>
          <a:solidFill>
            <a:srgbClr val="1565C0"/>
          </a:solidFill>
          <a:ln>
            <a:noFill/>
          </a:ln>
        </p:spPr>
      </p:sp>
      <p:sp>
        <p:nvSpPr>
          <p:cNvPr id="17" name="TextBox 17"/>
          <p:cNvSpPr txBox="1"/>
          <p:nvPr/>
        </p:nvSpPr>
        <p:spPr>
          <a:xfrm>
            <a:off x="3956292" y="21621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2</a:t>
            </a:r>
          </a:p>
        </p:txBody>
      </p:sp>
      <p:sp>
        <p:nvSpPr>
          <p:cNvPr id="18" name="TextBox 18"/>
          <p:cNvSpPr txBox="1"/>
          <p:nvPr/>
        </p:nvSpPr>
        <p:spPr>
          <a:xfrm>
            <a:off x="3711892" y="2633186"/>
            <a:ext cx="1101947"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Arial"/>
                <a:ea typeface="Microsoft YaHei"/>
                <a:cs typeface="Arial"/>
              </a:rPr>
              <a:t>单位统一</a:t>
            </a:r>
          </a:p>
        </p:txBody>
      </p:sp>
      <p:sp>
        <p:nvSpPr>
          <p:cNvPr id="19" name="TextBox 19"/>
          <p:cNvSpPr txBox="1"/>
          <p:nvPr/>
        </p:nvSpPr>
        <p:spPr>
          <a:xfrm>
            <a:off x="3717608" y="313896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游客用百万人次，</a:t>
            </a:r>
          </a:p>
        </p:txBody>
      </p:sp>
      <p:sp>
        <p:nvSpPr>
          <p:cNvPr id="20" name="TextBox 20"/>
          <p:cNvSpPr txBox="1"/>
          <p:nvPr/>
        </p:nvSpPr>
        <p:spPr>
          <a:xfrm>
            <a:off x="3717608" y="340566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消费用亿元，避免</a:t>
            </a:r>
          </a:p>
        </p:txBody>
      </p:sp>
      <p:sp>
        <p:nvSpPr>
          <p:cNvPr id="21" name="TextBox 21"/>
          <p:cNvSpPr txBox="1"/>
          <p:nvPr/>
        </p:nvSpPr>
        <p:spPr>
          <a:xfrm>
            <a:off x="3717608" y="3672364"/>
            <a:ext cx="1335881"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图表尺度失真。</a:t>
            </a:r>
          </a:p>
        </p:txBody>
      </p:sp>
      <p:sp>
        <p:nvSpPr>
          <p:cNvPr id="22" name="Ellipse 22"/>
          <p:cNvSpPr/>
          <p:nvPr/>
        </p:nvSpPr>
        <p:spPr>
          <a:xfrm>
            <a:off x="6667500" y="2019300"/>
            <a:ext cx="457200" cy="457200"/>
          </a:xfrm>
          <a:prstGeom prst="ellipse">
            <a:avLst/>
          </a:prstGeom>
          <a:solidFill>
            <a:srgbClr val="C41E3A"/>
          </a:solidFill>
          <a:ln>
            <a:noFill/>
          </a:ln>
        </p:spPr>
      </p:sp>
      <p:sp>
        <p:nvSpPr>
          <p:cNvPr id="23" name="TextBox 23"/>
          <p:cNvSpPr txBox="1"/>
          <p:nvPr/>
        </p:nvSpPr>
        <p:spPr>
          <a:xfrm>
            <a:off x="6813792" y="21621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3</a:t>
            </a:r>
          </a:p>
        </p:txBody>
      </p:sp>
      <p:sp>
        <p:nvSpPr>
          <p:cNvPr id="24" name="TextBox 24"/>
          <p:cNvSpPr txBox="1"/>
          <p:nvPr/>
        </p:nvSpPr>
        <p:spPr>
          <a:xfrm>
            <a:off x="6569392" y="2633186"/>
            <a:ext cx="1101947"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Arial"/>
                <a:ea typeface="Microsoft YaHei"/>
                <a:cs typeface="Arial"/>
              </a:rPr>
              <a:t>冲击标注</a:t>
            </a:r>
          </a:p>
        </p:txBody>
      </p:sp>
      <p:sp>
        <p:nvSpPr>
          <p:cNvPr id="25" name="TextBox 25"/>
          <p:cNvSpPr txBox="1"/>
          <p:nvPr/>
        </p:nvSpPr>
        <p:spPr>
          <a:xfrm>
            <a:off x="6575108" y="3138964"/>
            <a:ext cx="1615202"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2020 年不是异常值</a:t>
            </a:r>
          </a:p>
        </p:txBody>
      </p:sp>
      <p:sp>
        <p:nvSpPr>
          <p:cNvPr id="26" name="TextBox 26"/>
          <p:cNvSpPr txBox="1"/>
          <p:nvPr/>
        </p:nvSpPr>
        <p:spPr>
          <a:xfrm>
            <a:off x="6575108" y="3405664"/>
            <a:ext cx="170830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删除对象，而是需要</a:t>
            </a:r>
          </a:p>
        </p:txBody>
      </p:sp>
      <p:sp>
        <p:nvSpPr>
          <p:cNvPr id="27" name="TextBox 27"/>
          <p:cNvSpPr txBox="1"/>
          <p:nvPr/>
        </p:nvSpPr>
        <p:spPr>
          <a:xfrm>
            <a:off x="6575108" y="3672364"/>
            <a:ext cx="1149668"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解释的拐点。</a:t>
            </a:r>
          </a:p>
        </p:txBody>
      </p:sp>
      <p:sp>
        <p:nvSpPr>
          <p:cNvPr id="28" name="Ellipse 28"/>
          <p:cNvSpPr/>
          <p:nvPr/>
        </p:nvSpPr>
        <p:spPr>
          <a:xfrm>
            <a:off x="9525000" y="2019300"/>
            <a:ext cx="457200" cy="457200"/>
          </a:xfrm>
          <a:prstGeom prst="ellipse">
            <a:avLst/>
          </a:prstGeom>
          <a:solidFill>
            <a:srgbClr val="26A69A"/>
          </a:solidFill>
          <a:ln>
            <a:noFill/>
          </a:ln>
        </p:spPr>
      </p:sp>
      <p:sp>
        <p:nvSpPr>
          <p:cNvPr id="29" name="TextBox 29"/>
          <p:cNvSpPr txBox="1"/>
          <p:nvPr/>
        </p:nvSpPr>
        <p:spPr>
          <a:xfrm>
            <a:off x="9671292" y="21621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4</a:t>
            </a:r>
          </a:p>
        </p:txBody>
      </p:sp>
      <p:sp>
        <p:nvSpPr>
          <p:cNvPr id="30" name="TextBox 30"/>
          <p:cNvSpPr txBox="1"/>
          <p:nvPr/>
        </p:nvSpPr>
        <p:spPr>
          <a:xfrm>
            <a:off x="9426892" y="2633186"/>
            <a:ext cx="1101947"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Arial"/>
                <a:ea typeface="Microsoft YaHei"/>
                <a:cs typeface="Arial"/>
              </a:rPr>
              <a:t>分段建模</a:t>
            </a:r>
          </a:p>
        </p:txBody>
      </p:sp>
      <p:sp>
        <p:nvSpPr>
          <p:cNvPr id="31" name="TextBox 31"/>
          <p:cNvSpPr txBox="1"/>
          <p:nvPr/>
        </p:nvSpPr>
        <p:spPr>
          <a:xfrm>
            <a:off x="9432608" y="313896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长期增长与恢复期</a:t>
            </a:r>
          </a:p>
        </p:txBody>
      </p:sp>
      <p:sp>
        <p:nvSpPr>
          <p:cNvPr id="32" name="TextBox 32"/>
          <p:cNvSpPr txBox="1"/>
          <p:nvPr/>
        </p:nvSpPr>
        <p:spPr>
          <a:xfrm>
            <a:off x="9432608" y="3405664"/>
            <a:ext cx="170830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分别估计，避免一个</a:t>
            </a:r>
          </a:p>
        </p:txBody>
      </p:sp>
      <p:sp>
        <p:nvSpPr>
          <p:cNvPr id="33" name="TextBox 33"/>
          <p:cNvSpPr txBox="1"/>
          <p:nvPr/>
        </p:nvSpPr>
        <p:spPr>
          <a:xfrm>
            <a:off x="9432608" y="3672364"/>
            <a:ext cx="170830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模型解释所有机制。</a:t>
            </a:r>
          </a:p>
        </p:txBody>
      </p:sp>
      <p:sp>
        <p:nvSpPr>
          <p:cNvPr id="34" name="Line 34"/>
          <p:cNvSpPr/>
          <p:nvPr/>
        </p:nvSpPr>
        <p:spPr>
          <a:xfrm>
            <a:off x="3105150" y="3162300"/>
            <a:ext cx="476250" cy="9525"/>
          </a:xfrm>
          <a:custGeom>
            <a:avLst/>
            <a:gdLst/>
            <a:ahLst/>
            <a:cxnLst/>
            <a:rect l="l" t="t" r="r" b="b"/>
            <a:pathLst>
              <a:path w="476250" h="9525">
                <a:moveTo>
                  <a:pt x="0" y="0"/>
                </a:moveTo>
                <a:lnTo>
                  <a:pt x="476250" y="0"/>
                </a:lnTo>
              </a:path>
            </a:pathLst>
          </a:custGeom>
          <a:noFill/>
          <a:ln w="28575">
            <a:solidFill>
              <a:srgbClr val="DDE6EF"/>
            </a:solidFill>
          </a:ln>
        </p:spPr>
      </p:sp>
      <p:sp>
        <p:nvSpPr>
          <p:cNvPr id="35" name="Line 35"/>
          <p:cNvSpPr/>
          <p:nvPr/>
        </p:nvSpPr>
        <p:spPr>
          <a:xfrm>
            <a:off x="5962650" y="3162300"/>
            <a:ext cx="476250" cy="9525"/>
          </a:xfrm>
          <a:custGeom>
            <a:avLst/>
            <a:gdLst/>
            <a:ahLst/>
            <a:cxnLst/>
            <a:rect l="l" t="t" r="r" b="b"/>
            <a:pathLst>
              <a:path w="476250" h="9525">
                <a:moveTo>
                  <a:pt x="0" y="0"/>
                </a:moveTo>
                <a:lnTo>
                  <a:pt x="476250" y="0"/>
                </a:lnTo>
              </a:path>
            </a:pathLst>
          </a:custGeom>
          <a:noFill/>
          <a:ln w="28575">
            <a:solidFill>
              <a:srgbClr val="DDE6EF"/>
            </a:solidFill>
          </a:ln>
        </p:spPr>
      </p:sp>
      <p:sp>
        <p:nvSpPr>
          <p:cNvPr id="36" name="Line 36"/>
          <p:cNvSpPr/>
          <p:nvPr/>
        </p:nvSpPr>
        <p:spPr>
          <a:xfrm>
            <a:off x="8820150" y="3162300"/>
            <a:ext cx="476250" cy="9525"/>
          </a:xfrm>
          <a:custGeom>
            <a:avLst/>
            <a:gdLst/>
            <a:ahLst/>
            <a:cxnLst/>
            <a:rect l="l" t="t" r="r" b="b"/>
            <a:pathLst>
              <a:path w="476250" h="9525">
                <a:moveTo>
                  <a:pt x="0" y="0"/>
                </a:moveTo>
                <a:lnTo>
                  <a:pt x="476250" y="0"/>
                </a:lnTo>
              </a:path>
            </a:pathLst>
          </a:custGeom>
          <a:noFill/>
          <a:ln w="28575">
            <a:solidFill>
              <a:srgbClr val="DDE6EF"/>
            </a:solidFill>
          </a:ln>
        </p:spPr>
      </p:sp>
      <p:sp>
        <p:nvSpPr>
          <p:cNvPr id="37" name="Rectangle 37"/>
          <p:cNvSpPr/>
          <p:nvPr/>
        </p:nvSpPr>
        <p:spPr>
          <a:xfrm>
            <a:off x="1123950" y="5143500"/>
            <a:ext cx="9944100" cy="723900"/>
          </a:xfrm>
          <a:prstGeom prst="roundRect">
            <a:avLst>
              <a:gd name="adj" fmla="val 10526"/>
            </a:avLst>
          </a:prstGeom>
          <a:solidFill>
            <a:srgbClr val="263238"/>
          </a:solidFill>
          <a:ln>
            <a:noFill/>
          </a:ln>
        </p:spPr>
      </p:sp>
      <p:sp>
        <p:nvSpPr>
          <p:cNvPr id="38" name="TextBox 38"/>
          <p:cNvSpPr txBox="1"/>
          <p:nvPr/>
        </p:nvSpPr>
        <p:spPr>
          <a:xfrm>
            <a:off x="1410652" y="5284946"/>
            <a:ext cx="1128832"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rial"/>
                <a:ea typeface="Microsoft YaHei"/>
                <a:cs typeface="Arial"/>
              </a:rPr>
              <a:t>预处理原则</a:t>
            </a:r>
          </a:p>
        </p:txBody>
      </p:sp>
      <p:sp>
        <p:nvSpPr>
          <p:cNvPr id="39" name="TextBox 39"/>
          <p:cNvSpPr txBox="1"/>
          <p:nvPr/>
        </p:nvSpPr>
        <p:spPr>
          <a:xfrm>
            <a:off x="1412558" y="5596414"/>
            <a:ext cx="8486489"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年度采样间隔 h = 1，因此三点差分可直接解释为“每年边际变化”；但政策与疫情冲击会放大端点误差。</a:t>
            </a:r>
          </a:p>
        </p:txBody>
      </p:sp>
      <p:sp>
        <p:nvSpPr>
          <p:cNvPr id="40" name="TextBox 40"/>
          <p:cNvSpPr txBox="1"/>
          <p:nvPr/>
        </p:nvSpPr>
        <p:spPr>
          <a:xfrm>
            <a:off x="521970" y="6417945"/>
            <a:ext cx="239544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团队预处理规则与 Python 计算</a:t>
            </a:r>
          </a:p>
        </p:txBody>
      </p:sp>
      <p:sp>
        <p:nvSpPr>
          <p:cNvPr id="41" name="TextBox 41"/>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05 / 12</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01015" y="372428"/>
            <a:ext cx="8315901"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算法一：三点公式把“趋势”转化为年度边际变化</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sp>
      <p:sp>
        <p:nvSpPr>
          <p:cNvPr id="5" name="TextBox 5"/>
          <p:cNvSpPr txBox="1"/>
          <p:nvPr/>
        </p:nvSpPr>
        <p:spPr>
          <a:xfrm>
            <a:off x="725805" y="1054418"/>
            <a:ext cx="6481667"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年度间隔 h=1，中心差分近似导数；端点用单侧差分，避免丢失首尾年份。</a:t>
            </a:r>
          </a:p>
        </p:txBody>
      </p:sp>
      <p:sp>
        <p:nvSpPr>
          <p:cNvPr id="6" name="Rectangle 6"/>
          <p:cNvSpPr/>
          <p:nvPr/>
        </p:nvSpPr>
        <p:spPr>
          <a:xfrm>
            <a:off x="666750" y="1752600"/>
            <a:ext cx="4953000" cy="3143250"/>
          </a:xfrm>
          <a:prstGeom prst="roundRect">
            <a:avLst>
              <a:gd name="adj" fmla="val 2424"/>
            </a:avLst>
          </a:prstGeom>
          <a:solidFill>
            <a:srgbClr val="FFFFFF"/>
          </a:solidFill>
          <a:ln w="9525">
            <a:solidFill>
              <a:srgbClr val="DDE6EF"/>
            </a:solidFill>
          </a:ln>
        </p:spPr>
      </p:sp>
      <p:grpSp>
        <p:nvGrpSpPr>
          <p:cNvPr id="11" name="Group 11"/>
          <p:cNvGrpSpPr/>
          <p:nvPr/>
        </p:nvGrpSpPr>
        <p:grpSpPr>
          <a:xfrm>
            <a:off x="1040606" y="2145506"/>
            <a:ext cx="300037" cy="300038"/>
            <a:chOff x="1040606" y="2145506"/>
            <a:chExt cx="300037" cy="300038"/>
          </a:xfrm>
        </p:grpSpPr>
        <p:sp>
          <p:nvSpPr>
            <p:cNvPr id="7" name="Freeform 7"/>
            <p:cNvSpPr/>
            <p:nvPr/>
          </p:nvSpPr>
          <p:spPr>
            <a:xfrm>
              <a:off x="1040606" y="2145506"/>
              <a:ext cx="166688" cy="300038"/>
            </a:xfrm>
            <a:custGeom>
              <a:avLst/>
              <a:gdLst/>
              <a:ahLst/>
              <a:cxnLst/>
              <a:rect l="l" t="t" r="r" b="b"/>
              <a:pathLst>
                <a:path w="166688" h="300038">
                  <a:moveTo>
                    <a:pt x="0" y="266700"/>
                  </a:moveTo>
                  <a:cubicBezTo>
                    <a:pt x="0" y="285112"/>
                    <a:pt x="14926" y="300038"/>
                    <a:pt x="33338" y="300038"/>
                  </a:cubicBezTo>
                  <a:cubicBezTo>
                    <a:pt x="66675" y="300038"/>
                    <a:pt x="66675" y="233362"/>
                    <a:pt x="83344" y="150019"/>
                  </a:cubicBezTo>
                  <a:cubicBezTo>
                    <a:pt x="100012" y="66675"/>
                    <a:pt x="100012" y="0"/>
                    <a:pt x="133350" y="0"/>
                  </a:cubicBezTo>
                  <a:cubicBezTo>
                    <a:pt x="151762" y="0"/>
                    <a:pt x="166688" y="14926"/>
                    <a:pt x="166688" y="33338"/>
                  </a:cubicBezTo>
                </a:path>
              </a:pathLst>
            </a:custGeom>
            <a:noFill/>
            <a:ln w="19050">
              <a:solidFill>
                <a:srgbClr val="1565C0"/>
              </a:solidFill>
            </a:ln>
          </p:spPr>
        </p:sp>
        <p:sp>
          <p:nvSpPr>
            <p:cNvPr id="8" name="Freeform 8"/>
            <p:cNvSpPr/>
            <p:nvPr/>
          </p:nvSpPr>
          <p:spPr>
            <a:xfrm>
              <a:off x="1073944" y="2295525"/>
              <a:ext cx="100012" cy="9525"/>
            </a:xfrm>
            <a:custGeom>
              <a:avLst/>
              <a:gdLst/>
              <a:ahLst/>
              <a:cxnLst/>
              <a:rect l="l" t="t" r="r" b="b"/>
              <a:pathLst>
                <a:path w="100012" h="9525">
                  <a:moveTo>
                    <a:pt x="0" y="0"/>
                  </a:moveTo>
                  <a:lnTo>
                    <a:pt x="100012" y="0"/>
                  </a:lnTo>
                </a:path>
              </a:pathLst>
            </a:custGeom>
            <a:noFill/>
            <a:ln w="19050">
              <a:solidFill>
                <a:srgbClr val="1565C0"/>
              </a:solidFill>
            </a:ln>
          </p:spPr>
        </p:sp>
        <p:sp>
          <p:nvSpPr>
            <p:cNvPr id="9" name="Freeform 9"/>
            <p:cNvSpPr/>
            <p:nvPr/>
          </p:nvSpPr>
          <p:spPr>
            <a:xfrm>
              <a:off x="1240631" y="2295525"/>
              <a:ext cx="100012" cy="100012"/>
            </a:xfrm>
            <a:custGeom>
              <a:avLst/>
              <a:gdLst/>
              <a:ahLst/>
              <a:cxnLst/>
              <a:rect l="l" t="t" r="r" b="b"/>
              <a:pathLst>
                <a:path w="100012" h="100012">
                  <a:moveTo>
                    <a:pt x="0" y="0"/>
                  </a:moveTo>
                  <a:lnTo>
                    <a:pt x="100012" y="100012"/>
                  </a:lnTo>
                </a:path>
              </a:pathLst>
            </a:custGeom>
            <a:noFill/>
            <a:ln w="19050">
              <a:solidFill>
                <a:srgbClr val="1565C0"/>
              </a:solidFill>
            </a:ln>
          </p:spPr>
        </p:sp>
        <p:sp>
          <p:nvSpPr>
            <p:cNvPr id="10" name="Freeform 10"/>
            <p:cNvSpPr/>
            <p:nvPr/>
          </p:nvSpPr>
          <p:spPr>
            <a:xfrm>
              <a:off x="1240631" y="2295525"/>
              <a:ext cx="100012" cy="100012"/>
            </a:xfrm>
            <a:custGeom>
              <a:avLst/>
              <a:gdLst/>
              <a:ahLst/>
              <a:cxnLst/>
              <a:rect l="l" t="t" r="r" b="b"/>
              <a:pathLst>
                <a:path w="100012" h="100012">
                  <a:moveTo>
                    <a:pt x="0" y="100012"/>
                  </a:moveTo>
                  <a:lnTo>
                    <a:pt x="100012" y="0"/>
                  </a:lnTo>
                </a:path>
              </a:pathLst>
            </a:custGeom>
            <a:noFill/>
            <a:ln w="19050">
              <a:solidFill>
                <a:srgbClr val="1565C0"/>
              </a:solidFill>
            </a:ln>
          </p:spPr>
        </p:sp>
      </p:grpSp>
      <p:sp>
        <p:nvSpPr>
          <p:cNvPr id="12" name="TextBox 12"/>
          <p:cNvSpPr txBox="1"/>
          <p:nvPr/>
        </p:nvSpPr>
        <p:spPr>
          <a:xfrm>
            <a:off x="1539240" y="21869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核心公式</a:t>
            </a:r>
          </a:p>
        </p:txBody>
      </p:sp>
      <p:sp>
        <p:nvSpPr>
          <p:cNvPr id="13" name="Rectangle 13"/>
          <p:cNvSpPr/>
          <p:nvPr/>
        </p:nvSpPr>
        <p:spPr>
          <a:xfrm>
            <a:off x="990600" y="2781300"/>
            <a:ext cx="4171950" cy="781050"/>
          </a:xfrm>
          <a:prstGeom prst="roundRect">
            <a:avLst>
              <a:gd name="adj" fmla="val 9756"/>
            </a:avLst>
          </a:prstGeom>
          <a:solidFill>
            <a:srgbClr val="1565C0">
              <a:alpha val="8000"/>
            </a:srgbClr>
          </a:solidFill>
          <a:ln>
            <a:noFill/>
          </a:ln>
        </p:spPr>
      </p:sp>
      <p:sp>
        <p:nvSpPr>
          <p:cNvPr id="14" name="TextBox 14"/>
          <p:cNvSpPr txBox="1"/>
          <p:nvPr/>
        </p:nvSpPr>
        <p:spPr>
          <a:xfrm>
            <a:off x="417016" y="3074194"/>
            <a:ext cx="5319117" cy="381000"/>
          </a:xfrm>
          <a:prstGeom prst="rect">
            <a:avLst/>
          </a:prstGeom>
          <a:noFill/>
          <a:ln>
            <a:noFill/>
          </a:ln>
        </p:spPr>
        <p:txBody>
          <a:bodyPr wrap="none" lIns="0" tIns="0" rIns="0" bIns="0" anchor="t" anchorCtr="0">
            <a:spAutoFit/>
          </a:bodyPr>
          <a:lstStyle/>
          <a:p>
            <a:pPr algn="ctr"/>
            <a:r>
              <a:rPr lang="zh-CN" sz="1875" dirty="0">
                <a:solidFill>
                  <a:srgbClr val="263238"/>
                </a:solidFill>
                <a:latin typeface="Consolas"/>
                <a:ea typeface="Microsoft YaHei"/>
                <a:cs typeface="Consolas"/>
              </a:rPr>
              <a:t>f'(x_i) ≈ [f(x_{i+1}) - f(x_{i-1})] / 2h</a:t>
            </a:r>
          </a:p>
        </p:txBody>
      </p:sp>
      <p:sp>
        <p:nvSpPr>
          <p:cNvPr id="15" name="TextBox 15"/>
          <p:cNvSpPr txBox="1"/>
          <p:nvPr/>
        </p:nvSpPr>
        <p:spPr>
          <a:xfrm>
            <a:off x="974408" y="3862864"/>
            <a:ext cx="963454"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端点处理：</a:t>
            </a:r>
          </a:p>
        </p:txBody>
      </p:sp>
      <p:sp>
        <p:nvSpPr>
          <p:cNvPr id="16" name="TextBox 16"/>
          <p:cNvSpPr txBox="1"/>
          <p:nvPr/>
        </p:nvSpPr>
        <p:spPr>
          <a:xfrm>
            <a:off x="974408" y="4148614"/>
            <a:ext cx="224832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Consolas"/>
                <a:ea typeface="Microsoft YaHei"/>
                <a:cs typeface="Consolas"/>
              </a:rPr>
              <a:t>f'(x_0) ≈ f(x_1)-f(x_0)</a:t>
            </a:r>
          </a:p>
        </p:txBody>
      </p:sp>
      <p:sp>
        <p:nvSpPr>
          <p:cNvPr id="17" name="TextBox 17"/>
          <p:cNvSpPr txBox="1"/>
          <p:nvPr/>
        </p:nvSpPr>
        <p:spPr>
          <a:xfrm>
            <a:off x="974408" y="4434364"/>
            <a:ext cx="265799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Consolas"/>
                <a:ea typeface="Microsoft YaHei"/>
                <a:cs typeface="Consolas"/>
              </a:rPr>
              <a:t>f'(x_n) ≈ f(x_n)-f(x_{n-1})</a:t>
            </a:r>
          </a:p>
        </p:txBody>
      </p:sp>
      <p:sp>
        <p:nvSpPr>
          <p:cNvPr id="18" name="Rectangle 18"/>
          <p:cNvSpPr/>
          <p:nvPr/>
        </p:nvSpPr>
        <p:spPr>
          <a:xfrm>
            <a:off x="6115050" y="1752600"/>
            <a:ext cx="5410200" cy="3143250"/>
          </a:xfrm>
          <a:prstGeom prst="roundRect">
            <a:avLst>
              <a:gd name="adj" fmla="val 2424"/>
            </a:avLst>
          </a:prstGeom>
          <a:solidFill>
            <a:srgbClr val="FFFFFF"/>
          </a:solidFill>
          <a:ln w="9525">
            <a:solidFill>
              <a:srgbClr val="DDE6EF"/>
            </a:solidFill>
          </a:ln>
        </p:spPr>
      </p:sp>
      <p:sp>
        <p:nvSpPr>
          <p:cNvPr id="19" name="TextBox 19"/>
          <p:cNvSpPr txBox="1"/>
          <p:nvPr/>
        </p:nvSpPr>
        <p:spPr>
          <a:xfrm>
            <a:off x="6454140" y="197739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计算流程</a:t>
            </a:r>
          </a:p>
        </p:txBody>
      </p:sp>
      <p:sp>
        <p:nvSpPr>
          <p:cNvPr id="20" name="Ellipse 20"/>
          <p:cNvSpPr/>
          <p:nvPr/>
        </p:nvSpPr>
        <p:spPr>
          <a:xfrm>
            <a:off x="6572250" y="2571750"/>
            <a:ext cx="419100" cy="419100"/>
          </a:xfrm>
          <a:prstGeom prst="ellipse">
            <a:avLst/>
          </a:prstGeom>
          <a:solidFill>
            <a:srgbClr val="1565C0"/>
          </a:solidFill>
          <a:ln>
            <a:noFill/>
          </a:ln>
        </p:spPr>
      </p:sp>
      <p:sp>
        <p:nvSpPr>
          <p:cNvPr id="21" name="TextBox 21"/>
          <p:cNvSpPr txBox="1"/>
          <p:nvPr/>
        </p:nvSpPr>
        <p:spPr>
          <a:xfrm>
            <a:off x="6733601" y="2711768"/>
            <a:ext cx="9639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22" name="TextBox 22"/>
          <p:cNvSpPr txBox="1"/>
          <p:nvPr/>
        </p:nvSpPr>
        <p:spPr>
          <a:xfrm>
            <a:off x="7145655" y="2711768"/>
            <a:ext cx="1710214"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读取年度序列 f(x)</a:t>
            </a:r>
          </a:p>
        </p:txBody>
      </p:sp>
      <p:sp>
        <p:nvSpPr>
          <p:cNvPr id="23" name="Ellipse 23"/>
          <p:cNvSpPr/>
          <p:nvPr/>
        </p:nvSpPr>
        <p:spPr>
          <a:xfrm>
            <a:off x="6572250" y="3181350"/>
            <a:ext cx="419100" cy="419100"/>
          </a:xfrm>
          <a:prstGeom prst="ellipse">
            <a:avLst/>
          </a:prstGeom>
          <a:solidFill>
            <a:srgbClr val="1565C0"/>
          </a:solidFill>
          <a:ln>
            <a:noFill/>
          </a:ln>
        </p:spPr>
      </p:sp>
      <p:sp>
        <p:nvSpPr>
          <p:cNvPr id="24" name="TextBox 24"/>
          <p:cNvSpPr txBox="1"/>
          <p:nvPr/>
        </p:nvSpPr>
        <p:spPr>
          <a:xfrm>
            <a:off x="6707723" y="33213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5" name="TextBox 25"/>
          <p:cNvSpPr txBox="1"/>
          <p:nvPr/>
        </p:nvSpPr>
        <p:spPr>
          <a:xfrm>
            <a:off x="7145655" y="3321368"/>
            <a:ext cx="1611630"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内部点用中心差分</a:t>
            </a:r>
          </a:p>
        </p:txBody>
      </p:sp>
      <p:sp>
        <p:nvSpPr>
          <p:cNvPr id="26" name="Ellipse 26"/>
          <p:cNvSpPr/>
          <p:nvPr/>
        </p:nvSpPr>
        <p:spPr>
          <a:xfrm>
            <a:off x="6572250" y="3790950"/>
            <a:ext cx="419100" cy="419100"/>
          </a:xfrm>
          <a:prstGeom prst="ellipse">
            <a:avLst/>
          </a:prstGeom>
          <a:solidFill>
            <a:srgbClr val="1565C0"/>
          </a:solidFill>
          <a:ln>
            <a:noFill/>
          </a:ln>
        </p:spPr>
      </p:sp>
      <p:sp>
        <p:nvSpPr>
          <p:cNvPr id="27" name="TextBox 27"/>
          <p:cNvSpPr txBox="1"/>
          <p:nvPr/>
        </p:nvSpPr>
        <p:spPr>
          <a:xfrm>
            <a:off x="6707723" y="39309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28" name="TextBox 28"/>
          <p:cNvSpPr txBox="1"/>
          <p:nvPr/>
        </p:nvSpPr>
        <p:spPr>
          <a:xfrm>
            <a:off x="7145655" y="3930968"/>
            <a:ext cx="1611630"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首尾点用单侧差分</a:t>
            </a:r>
          </a:p>
        </p:txBody>
      </p:sp>
      <p:sp>
        <p:nvSpPr>
          <p:cNvPr id="29" name="Ellipse 29"/>
          <p:cNvSpPr/>
          <p:nvPr/>
        </p:nvSpPr>
        <p:spPr>
          <a:xfrm>
            <a:off x="6572250" y="4400550"/>
            <a:ext cx="419100" cy="419100"/>
          </a:xfrm>
          <a:prstGeom prst="ellipse">
            <a:avLst/>
          </a:prstGeom>
          <a:solidFill>
            <a:srgbClr val="26A69A"/>
          </a:solidFill>
          <a:ln>
            <a:noFill/>
          </a:ln>
        </p:spPr>
      </p:sp>
      <p:sp>
        <p:nvSpPr>
          <p:cNvPr id="30" name="TextBox 30"/>
          <p:cNvSpPr txBox="1"/>
          <p:nvPr/>
        </p:nvSpPr>
        <p:spPr>
          <a:xfrm>
            <a:off x="6707723" y="45405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31" name="TextBox 31"/>
          <p:cNvSpPr txBox="1"/>
          <p:nvPr/>
        </p:nvSpPr>
        <p:spPr>
          <a:xfrm>
            <a:off x="7145655" y="4540568"/>
            <a:ext cx="2005965"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比较变化率，定位拐点</a:t>
            </a:r>
          </a:p>
        </p:txBody>
      </p:sp>
      <p:sp>
        <p:nvSpPr>
          <p:cNvPr id="32" name="Rectangle 32"/>
          <p:cNvSpPr/>
          <p:nvPr/>
        </p:nvSpPr>
        <p:spPr>
          <a:xfrm>
            <a:off x="1123950" y="5257800"/>
            <a:ext cx="9944100" cy="533400"/>
          </a:xfrm>
          <a:prstGeom prst="roundRect">
            <a:avLst>
              <a:gd name="adj" fmla="val 14286"/>
            </a:avLst>
          </a:prstGeom>
          <a:solidFill>
            <a:srgbClr val="263238"/>
          </a:solidFill>
          <a:ln>
            <a:noFill/>
          </a:ln>
        </p:spPr>
      </p:sp>
      <p:sp>
        <p:nvSpPr>
          <p:cNvPr id="33" name="TextBox 33"/>
          <p:cNvSpPr txBox="1"/>
          <p:nvPr/>
        </p:nvSpPr>
        <p:spPr>
          <a:xfrm>
            <a:off x="2333232" y="5438775"/>
            <a:ext cx="752553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物理/社会意义：差分值越大，说明该指标在该年度附近扩张或恢复越快。</a:t>
            </a:r>
          </a:p>
        </p:txBody>
      </p:sp>
      <p:sp>
        <p:nvSpPr>
          <p:cNvPr id="34" name="TextBox 34"/>
          <p:cNvSpPr txBox="1"/>
          <p:nvPr/>
        </p:nvSpPr>
        <p:spPr>
          <a:xfrm>
            <a:off x="521970" y="6417945"/>
            <a:ext cx="2789777"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课程数值微分公式；团队 Python 实现</a:t>
            </a:r>
          </a:p>
        </p:txBody>
      </p:sp>
      <p:sp>
        <p:nvSpPr>
          <p:cNvPr id="35" name="TextBox 35"/>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06 / 12</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01015" y="372428"/>
            <a:ext cx="7103650"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算法二：最小二乘拟合用于短期趋势估计</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sp>
      <p:sp>
        <p:nvSpPr>
          <p:cNvPr id="5" name="TextBox 5"/>
          <p:cNvSpPr txBox="1"/>
          <p:nvPr/>
        </p:nvSpPr>
        <p:spPr>
          <a:xfrm>
            <a:off x="725805" y="1054418"/>
            <a:ext cx="7970282"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疫情冲击导致全周期拟合偏差较大，因此采用“平稳增长期解释 + 恢复期预测”的分段思路。</a:t>
            </a:r>
          </a:p>
        </p:txBody>
      </p:sp>
      <p:sp>
        <p:nvSpPr>
          <p:cNvPr id="6" name="Rectangle 6"/>
          <p:cNvSpPr/>
          <p:nvPr/>
        </p:nvSpPr>
        <p:spPr>
          <a:xfrm>
            <a:off x="685800" y="1695450"/>
            <a:ext cx="4895850" cy="3429000"/>
          </a:xfrm>
          <a:prstGeom prst="roundRect">
            <a:avLst>
              <a:gd name="adj" fmla="val 2222"/>
            </a:avLst>
          </a:prstGeom>
          <a:solidFill>
            <a:srgbClr val="FFFFFF"/>
          </a:solidFill>
          <a:ln w="9525">
            <a:solidFill>
              <a:srgbClr val="DDE6EF"/>
            </a:solidFill>
          </a:ln>
        </p:spPr>
      </p:sp>
      <p:grpSp>
        <p:nvGrpSpPr>
          <p:cNvPr id="9" name="Group 9"/>
          <p:cNvGrpSpPr/>
          <p:nvPr/>
        </p:nvGrpSpPr>
        <p:grpSpPr>
          <a:xfrm>
            <a:off x="1054100" y="2133600"/>
            <a:ext cx="254000" cy="215900"/>
            <a:chOff x="1054100" y="2133600"/>
            <a:chExt cx="254000" cy="215900"/>
          </a:xfrm>
        </p:grpSpPr>
        <p:sp>
          <p:nvSpPr>
            <p:cNvPr id="7" name="Freeform 7"/>
            <p:cNvSpPr/>
            <p:nvPr/>
          </p:nvSpPr>
          <p:spPr>
            <a:xfrm>
              <a:off x="1054100" y="2339975"/>
              <a:ext cx="254000" cy="9525"/>
            </a:xfrm>
            <a:custGeom>
              <a:avLst/>
              <a:gdLst/>
              <a:ahLst/>
              <a:cxnLst/>
              <a:rect l="l" t="t" r="r" b="b"/>
              <a:pathLst>
                <a:path w="254000" h="9525">
                  <a:moveTo>
                    <a:pt x="0" y="0"/>
                  </a:moveTo>
                  <a:lnTo>
                    <a:pt x="254000" y="0"/>
                  </a:lnTo>
                </a:path>
              </a:pathLst>
            </a:custGeom>
            <a:noFill/>
            <a:ln w="19050">
              <a:solidFill>
                <a:srgbClr val="1565C0"/>
              </a:solidFill>
            </a:ln>
          </p:spPr>
        </p:sp>
        <p:sp>
          <p:nvSpPr>
            <p:cNvPr id="8" name="Freeform 8"/>
            <p:cNvSpPr/>
            <p:nvPr/>
          </p:nvSpPr>
          <p:spPr>
            <a:xfrm>
              <a:off x="1054100" y="2133600"/>
              <a:ext cx="254000" cy="142875"/>
            </a:xfrm>
            <a:custGeom>
              <a:avLst/>
              <a:gdLst/>
              <a:ahLst/>
              <a:cxnLst/>
              <a:rect l="l" t="t" r="r" b="b"/>
              <a:pathLst>
                <a:path w="254000" h="142875">
                  <a:moveTo>
                    <a:pt x="0" y="142875"/>
                  </a:moveTo>
                  <a:lnTo>
                    <a:pt x="63500" y="47625"/>
                  </a:lnTo>
                  <a:lnTo>
                    <a:pt x="127000" y="79375"/>
                  </a:lnTo>
                  <a:lnTo>
                    <a:pt x="190500" y="0"/>
                  </a:lnTo>
                  <a:lnTo>
                    <a:pt x="254000" y="63500"/>
                  </a:lnTo>
                </a:path>
              </a:pathLst>
            </a:custGeom>
            <a:noFill/>
            <a:ln w="19050">
              <a:solidFill>
                <a:srgbClr val="1565C0"/>
              </a:solidFill>
            </a:ln>
          </p:spPr>
        </p:sp>
      </p:grpSp>
      <p:sp>
        <p:nvSpPr>
          <p:cNvPr id="10" name="TextBox 10"/>
          <p:cNvSpPr txBox="1"/>
          <p:nvPr/>
        </p:nvSpPr>
        <p:spPr>
          <a:xfrm>
            <a:off x="1520190" y="212979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模型形式</a:t>
            </a:r>
          </a:p>
        </p:txBody>
      </p:sp>
      <p:sp>
        <p:nvSpPr>
          <p:cNvPr id="11" name="Rectangle 11"/>
          <p:cNvSpPr/>
          <p:nvPr/>
        </p:nvSpPr>
        <p:spPr>
          <a:xfrm>
            <a:off x="990600" y="2724150"/>
            <a:ext cx="4191000" cy="685800"/>
          </a:xfrm>
          <a:prstGeom prst="roundRect">
            <a:avLst>
              <a:gd name="adj" fmla="val 11111"/>
            </a:avLst>
          </a:prstGeom>
          <a:solidFill>
            <a:srgbClr val="1565C0">
              <a:alpha val="8000"/>
            </a:srgbClr>
          </a:solidFill>
          <a:ln>
            <a:noFill/>
          </a:ln>
        </p:spPr>
      </p:sp>
      <p:sp>
        <p:nvSpPr>
          <p:cNvPr id="12" name="TextBox 12"/>
          <p:cNvSpPr txBox="1"/>
          <p:nvPr/>
        </p:nvSpPr>
        <p:spPr>
          <a:xfrm>
            <a:off x="2377821" y="2951798"/>
            <a:ext cx="1416558" cy="396240"/>
          </a:xfrm>
          <a:prstGeom prst="rect">
            <a:avLst/>
          </a:prstGeom>
          <a:noFill/>
          <a:ln>
            <a:noFill/>
          </a:ln>
        </p:spPr>
        <p:txBody>
          <a:bodyPr wrap="none" lIns="0" tIns="0" rIns="0" bIns="0" anchor="t" anchorCtr="0">
            <a:spAutoFit/>
          </a:bodyPr>
          <a:lstStyle/>
          <a:p>
            <a:pPr algn="ctr"/>
            <a:r>
              <a:rPr lang="zh-CN" sz="1950" dirty="0">
                <a:solidFill>
                  <a:srgbClr val="263238"/>
                </a:solidFill>
                <a:latin typeface="Consolas"/>
                <a:ea typeface="Microsoft YaHei"/>
                <a:cs typeface="Consolas"/>
              </a:rPr>
              <a:t>y = a x + b</a:t>
            </a:r>
          </a:p>
        </p:txBody>
      </p:sp>
      <p:sp>
        <p:nvSpPr>
          <p:cNvPr id="13" name="TextBox 13"/>
          <p:cNvSpPr txBox="1"/>
          <p:nvPr/>
        </p:nvSpPr>
        <p:spPr>
          <a:xfrm>
            <a:off x="973455" y="3626168"/>
            <a:ext cx="2203132"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目标：最小化残差平方和</a:t>
            </a:r>
          </a:p>
        </p:txBody>
      </p:sp>
      <p:sp>
        <p:nvSpPr>
          <p:cNvPr id="14" name="TextBox 14"/>
          <p:cNvSpPr txBox="1"/>
          <p:nvPr/>
        </p:nvSpPr>
        <p:spPr>
          <a:xfrm>
            <a:off x="973455" y="3950018"/>
            <a:ext cx="2301716"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Consolas"/>
                <a:ea typeface="Microsoft YaHei"/>
                <a:cs typeface="Consolas"/>
              </a:rPr>
              <a:t>S = Σ[y_i - (a x_i + b)]²</a:t>
            </a:r>
          </a:p>
        </p:txBody>
      </p:sp>
      <p:sp>
        <p:nvSpPr>
          <p:cNvPr id="15" name="TextBox 15"/>
          <p:cNvSpPr txBox="1"/>
          <p:nvPr/>
        </p:nvSpPr>
        <p:spPr>
          <a:xfrm>
            <a:off x="973455" y="4273868"/>
            <a:ext cx="3041094"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预测区间：2024-2026 年短期外推</a:t>
            </a:r>
          </a:p>
        </p:txBody>
      </p:sp>
      <p:sp>
        <p:nvSpPr>
          <p:cNvPr id="16" name="Rectangle 16"/>
          <p:cNvSpPr/>
          <p:nvPr/>
        </p:nvSpPr>
        <p:spPr>
          <a:xfrm>
            <a:off x="6115050" y="1695450"/>
            <a:ext cx="5391150" cy="3429000"/>
          </a:xfrm>
          <a:prstGeom prst="roundRect">
            <a:avLst>
              <a:gd name="adj" fmla="val 2222"/>
            </a:avLst>
          </a:prstGeom>
          <a:solidFill>
            <a:srgbClr val="FFFFFF"/>
          </a:solidFill>
          <a:ln w="9525">
            <a:solidFill>
              <a:srgbClr val="DDE6EF"/>
            </a:solidFill>
          </a:ln>
        </p:spPr>
      </p:sp>
      <p:sp>
        <p:nvSpPr>
          <p:cNvPr id="17" name="TextBox 17"/>
          <p:cNvSpPr txBox="1"/>
          <p:nvPr/>
        </p:nvSpPr>
        <p:spPr>
          <a:xfrm>
            <a:off x="6454140" y="1958340"/>
            <a:ext cx="1701927"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模型选择比较</a:t>
            </a:r>
          </a:p>
        </p:txBody>
      </p:sp>
      <p:sp>
        <p:nvSpPr>
          <p:cNvPr id="18" name="Rectangle 18"/>
          <p:cNvSpPr/>
          <p:nvPr/>
        </p:nvSpPr>
        <p:spPr>
          <a:xfrm>
            <a:off x="6477000" y="2571750"/>
            <a:ext cx="2095500" cy="1809750"/>
          </a:xfrm>
          <a:prstGeom prst="roundRect">
            <a:avLst>
              <a:gd name="adj" fmla="val 4211"/>
            </a:avLst>
          </a:prstGeom>
          <a:solidFill>
            <a:srgbClr val="C41E3A">
              <a:alpha val="8000"/>
            </a:srgbClr>
          </a:solidFill>
          <a:ln w="9525">
            <a:solidFill>
              <a:srgbClr val="DDE6EF"/>
            </a:solidFill>
          </a:ln>
        </p:spPr>
      </p:sp>
      <p:sp>
        <p:nvSpPr>
          <p:cNvPr id="19" name="TextBox 19"/>
          <p:cNvSpPr txBox="1"/>
          <p:nvPr/>
        </p:nvSpPr>
        <p:spPr>
          <a:xfrm>
            <a:off x="6704648" y="2744629"/>
            <a:ext cx="1247656"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Arial"/>
                <a:ea typeface="Microsoft YaHei"/>
                <a:cs typeface="Arial"/>
              </a:rPr>
              <a:t>全周期模型</a:t>
            </a:r>
          </a:p>
        </p:txBody>
      </p:sp>
      <p:sp>
        <p:nvSpPr>
          <p:cNvPr id="20" name="TextBox 20"/>
          <p:cNvSpPr txBox="1"/>
          <p:nvPr/>
        </p:nvSpPr>
        <p:spPr>
          <a:xfrm>
            <a:off x="6708458" y="3177064"/>
            <a:ext cx="963454"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优点：简单</a:t>
            </a:r>
          </a:p>
        </p:txBody>
      </p:sp>
      <p:sp>
        <p:nvSpPr>
          <p:cNvPr id="21" name="TextBox 21"/>
          <p:cNvSpPr txBox="1"/>
          <p:nvPr/>
        </p:nvSpPr>
        <p:spPr>
          <a:xfrm>
            <a:off x="6708458" y="3443764"/>
            <a:ext cx="170830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缺点：把冲击和趋势</a:t>
            </a:r>
          </a:p>
        </p:txBody>
      </p:sp>
      <p:sp>
        <p:nvSpPr>
          <p:cNvPr id="22" name="TextBox 22"/>
          <p:cNvSpPr txBox="1"/>
          <p:nvPr/>
        </p:nvSpPr>
        <p:spPr>
          <a:xfrm>
            <a:off x="6708458" y="3710464"/>
            <a:ext cx="1335881"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混在一个斜率里</a:t>
            </a:r>
          </a:p>
        </p:txBody>
      </p:sp>
      <p:sp>
        <p:nvSpPr>
          <p:cNvPr id="23" name="Rectangle 23"/>
          <p:cNvSpPr/>
          <p:nvPr/>
        </p:nvSpPr>
        <p:spPr>
          <a:xfrm>
            <a:off x="8915400" y="2571750"/>
            <a:ext cx="2095500" cy="1809750"/>
          </a:xfrm>
          <a:prstGeom prst="roundRect">
            <a:avLst>
              <a:gd name="adj" fmla="val 4211"/>
            </a:avLst>
          </a:prstGeom>
          <a:solidFill>
            <a:srgbClr val="26A69A">
              <a:alpha val="10000"/>
            </a:srgbClr>
          </a:solidFill>
          <a:ln w="9525">
            <a:solidFill>
              <a:srgbClr val="DDE6EF"/>
            </a:solidFill>
          </a:ln>
        </p:spPr>
      </p:sp>
      <p:sp>
        <p:nvSpPr>
          <p:cNvPr id="24" name="TextBox 24"/>
          <p:cNvSpPr txBox="1"/>
          <p:nvPr/>
        </p:nvSpPr>
        <p:spPr>
          <a:xfrm>
            <a:off x="9143048" y="2744629"/>
            <a:ext cx="1006126"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Arial"/>
                <a:ea typeface="Microsoft YaHei"/>
                <a:cs typeface="Arial"/>
              </a:rPr>
              <a:t>分段模型</a:t>
            </a:r>
          </a:p>
        </p:txBody>
      </p:sp>
      <p:sp>
        <p:nvSpPr>
          <p:cNvPr id="25" name="TextBox 25"/>
          <p:cNvSpPr txBox="1"/>
          <p:nvPr/>
        </p:nvSpPr>
        <p:spPr>
          <a:xfrm>
            <a:off x="9146858" y="3177064"/>
            <a:ext cx="1894522"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优点：解释机制更清楚</a:t>
            </a:r>
          </a:p>
        </p:txBody>
      </p:sp>
      <p:sp>
        <p:nvSpPr>
          <p:cNvPr id="26" name="TextBox 26"/>
          <p:cNvSpPr txBox="1"/>
          <p:nvPr/>
        </p:nvSpPr>
        <p:spPr>
          <a:xfrm>
            <a:off x="9146858" y="344376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恢复段斜率可用于</a:t>
            </a:r>
          </a:p>
        </p:txBody>
      </p:sp>
      <p:sp>
        <p:nvSpPr>
          <p:cNvPr id="27" name="TextBox 27"/>
          <p:cNvSpPr txBox="1"/>
          <p:nvPr/>
        </p:nvSpPr>
        <p:spPr>
          <a:xfrm>
            <a:off x="9146858" y="3710464"/>
            <a:ext cx="777240"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短期预测</a:t>
            </a:r>
          </a:p>
        </p:txBody>
      </p:sp>
      <p:sp>
        <p:nvSpPr>
          <p:cNvPr id="28" name="TextBox 28"/>
          <p:cNvSpPr txBox="1"/>
          <p:nvPr/>
        </p:nvSpPr>
        <p:spPr>
          <a:xfrm>
            <a:off x="6459855" y="4616768"/>
            <a:ext cx="6089797"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本报告采用：2020-2023 年恢复段线性拟合，作为短期外推基础。</a:t>
            </a:r>
          </a:p>
        </p:txBody>
      </p:sp>
      <p:sp>
        <p:nvSpPr>
          <p:cNvPr id="29" name="Rectangle 29"/>
          <p:cNvSpPr/>
          <p:nvPr/>
        </p:nvSpPr>
        <p:spPr>
          <a:xfrm>
            <a:off x="990600" y="5467350"/>
            <a:ext cx="10210800" cy="400050"/>
          </a:xfrm>
          <a:prstGeom prst="roundRect">
            <a:avLst>
              <a:gd name="adj" fmla="val 19048"/>
            </a:avLst>
          </a:prstGeom>
          <a:solidFill>
            <a:srgbClr val="263238"/>
          </a:solidFill>
          <a:ln>
            <a:noFill/>
          </a:ln>
        </p:spPr>
      </p:sp>
      <p:sp>
        <p:nvSpPr>
          <p:cNvPr id="30" name="TextBox 30"/>
          <p:cNvSpPr txBox="1"/>
          <p:nvPr/>
        </p:nvSpPr>
        <p:spPr>
          <a:xfrm>
            <a:off x="2766441" y="5578792"/>
            <a:ext cx="665911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误差意识：模型预测不是确定结论，而是基于历史恢复速度的情景估计。</a:t>
            </a:r>
          </a:p>
        </p:txBody>
      </p:sp>
      <p:sp>
        <p:nvSpPr>
          <p:cNvPr id="31" name="TextBox 31"/>
          <p:cNvSpPr txBox="1"/>
          <p:nvPr/>
        </p:nvSpPr>
        <p:spPr>
          <a:xfrm>
            <a:off x="521970" y="6417945"/>
            <a:ext cx="239544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最小二乘法；团队 Python 实现</a:t>
            </a:r>
          </a:p>
        </p:txBody>
      </p:sp>
      <p:sp>
        <p:nvSpPr>
          <p:cNvPr id="32" name="TextBox 32"/>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07 / 12</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01015" y="372428"/>
            <a:ext cx="9058894"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规模趋势：文化供给持续增长，旅游消费冲击后修复</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sp>
      <p:sp>
        <p:nvSpPr>
          <p:cNvPr id="5" name="TextBox 5"/>
          <p:cNvSpPr txBox="1"/>
          <p:nvPr/>
        </p:nvSpPr>
        <p:spPr>
          <a:xfrm>
            <a:off x="725805" y="1054418"/>
            <a:ext cx="7536513"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博物馆数量呈单调上升；旅游总花费在 2019 年高点后骤降，2023 年恢复至接近高位。</a:t>
            </a:r>
          </a:p>
        </p:txBody>
      </p:sp>
      <p:sp>
        <p:nvSpPr>
          <p:cNvPr id="6" name="Rectangle 6"/>
          <p:cNvSpPr/>
          <p:nvPr/>
        </p:nvSpPr>
        <p:spPr>
          <a:xfrm>
            <a:off x="533400" y="1619250"/>
            <a:ext cx="7524750" cy="4476750"/>
          </a:xfrm>
          <a:prstGeom prst="roundRect">
            <a:avLst>
              <a:gd name="adj" fmla="val 1702"/>
            </a:avLst>
          </a:prstGeom>
          <a:solidFill>
            <a:srgbClr val="FFFFFF"/>
          </a:solidFill>
          <a:ln w="9525">
            <a:solidFill>
              <a:srgbClr val="DDE6EF"/>
            </a:solidFill>
          </a:ln>
        </p:spPr>
      </p:sp>
      <p:grpSp>
        <p:nvGrpSpPr>
          <p:cNvPr id="51" name="Group 51"/>
          <p:cNvGrpSpPr/>
          <p:nvPr/>
        </p:nvGrpSpPr>
        <p:grpSpPr>
          <a:xfrm>
            <a:off x="575691" y="1647349"/>
            <a:ext cx="7649813" cy="4210526"/>
            <a:chOff x="575691" y="1647349"/>
            <a:chExt cx="7649813" cy="4210526"/>
          </a:xfrm>
        </p:grpSpPr>
        <p:sp>
          <p:nvSpPr>
            <p:cNvPr id="7" name="Line 7"/>
            <p:cNvSpPr/>
            <p:nvPr/>
          </p:nvSpPr>
          <p:spPr>
            <a:xfrm>
              <a:off x="1047750" y="5429250"/>
              <a:ext cx="6524625" cy="9525"/>
            </a:xfrm>
            <a:custGeom>
              <a:avLst/>
              <a:gdLst/>
              <a:ahLst/>
              <a:cxnLst/>
              <a:rect l="l" t="t" r="r" b="b"/>
              <a:pathLst>
                <a:path w="6524625" h="9525">
                  <a:moveTo>
                    <a:pt x="0" y="0"/>
                  </a:moveTo>
                  <a:lnTo>
                    <a:pt x="6524625" y="0"/>
                  </a:lnTo>
                </a:path>
              </a:pathLst>
            </a:custGeom>
            <a:noFill/>
            <a:ln w="19050">
              <a:solidFill>
                <a:srgbClr val="DDE6EF"/>
              </a:solidFill>
            </a:ln>
          </p:spPr>
        </p:sp>
        <p:sp>
          <p:nvSpPr>
            <p:cNvPr id="8" name="Line 8"/>
            <p:cNvSpPr/>
            <p:nvPr/>
          </p:nvSpPr>
          <p:spPr>
            <a:xfrm>
              <a:off x="1047750" y="4524375"/>
              <a:ext cx="6524625" cy="9525"/>
            </a:xfrm>
            <a:custGeom>
              <a:avLst/>
              <a:gdLst/>
              <a:ahLst/>
              <a:cxnLst/>
              <a:rect l="l" t="t" r="r" b="b"/>
              <a:pathLst>
                <a:path w="6524625" h="9525">
                  <a:moveTo>
                    <a:pt x="0" y="0"/>
                  </a:moveTo>
                  <a:lnTo>
                    <a:pt x="6524625" y="0"/>
                  </a:lnTo>
                </a:path>
              </a:pathLst>
            </a:custGeom>
            <a:noFill/>
            <a:ln w="9525">
              <a:solidFill>
                <a:srgbClr val="E9EEF4"/>
              </a:solidFill>
            </a:ln>
          </p:spPr>
        </p:sp>
        <p:sp>
          <p:nvSpPr>
            <p:cNvPr id="9" name="Line 9"/>
            <p:cNvSpPr/>
            <p:nvPr/>
          </p:nvSpPr>
          <p:spPr>
            <a:xfrm>
              <a:off x="1047750" y="3619500"/>
              <a:ext cx="6524625" cy="9525"/>
            </a:xfrm>
            <a:custGeom>
              <a:avLst/>
              <a:gdLst/>
              <a:ahLst/>
              <a:cxnLst/>
              <a:rect l="l" t="t" r="r" b="b"/>
              <a:pathLst>
                <a:path w="6524625" h="9525">
                  <a:moveTo>
                    <a:pt x="0" y="0"/>
                  </a:moveTo>
                  <a:lnTo>
                    <a:pt x="6524625" y="0"/>
                  </a:lnTo>
                </a:path>
              </a:pathLst>
            </a:custGeom>
            <a:noFill/>
            <a:ln w="9525">
              <a:solidFill>
                <a:srgbClr val="E9EEF4"/>
              </a:solidFill>
            </a:ln>
          </p:spPr>
        </p:sp>
        <p:sp>
          <p:nvSpPr>
            <p:cNvPr id="10" name="Line 10"/>
            <p:cNvSpPr/>
            <p:nvPr/>
          </p:nvSpPr>
          <p:spPr>
            <a:xfrm>
              <a:off x="1047750" y="2714625"/>
              <a:ext cx="6524625" cy="9525"/>
            </a:xfrm>
            <a:custGeom>
              <a:avLst/>
              <a:gdLst/>
              <a:ahLst/>
              <a:cxnLst/>
              <a:rect l="l" t="t" r="r" b="b"/>
              <a:pathLst>
                <a:path w="6524625" h="9525">
                  <a:moveTo>
                    <a:pt x="0" y="0"/>
                  </a:moveTo>
                  <a:lnTo>
                    <a:pt x="6524625" y="0"/>
                  </a:lnTo>
                </a:path>
              </a:pathLst>
            </a:custGeom>
            <a:noFill/>
            <a:ln w="9525">
              <a:solidFill>
                <a:srgbClr val="E9EEF4"/>
              </a:solidFill>
            </a:ln>
          </p:spPr>
        </p:sp>
        <p:sp>
          <p:nvSpPr>
            <p:cNvPr id="11" name="Line 11"/>
            <p:cNvSpPr/>
            <p:nvPr/>
          </p:nvSpPr>
          <p:spPr>
            <a:xfrm>
              <a:off x="1047750" y="1809750"/>
              <a:ext cx="6524625" cy="9525"/>
            </a:xfrm>
            <a:custGeom>
              <a:avLst/>
              <a:gdLst/>
              <a:ahLst/>
              <a:cxnLst/>
              <a:rect l="l" t="t" r="r" b="b"/>
              <a:pathLst>
                <a:path w="6524625" h="9525">
                  <a:moveTo>
                    <a:pt x="0" y="0"/>
                  </a:moveTo>
                  <a:lnTo>
                    <a:pt x="6524625" y="0"/>
                  </a:lnTo>
                </a:path>
              </a:pathLst>
            </a:custGeom>
            <a:noFill/>
            <a:ln w="9525">
              <a:solidFill>
                <a:srgbClr val="DDE6EF"/>
              </a:solidFill>
            </a:ln>
          </p:spPr>
        </p:sp>
        <p:sp>
          <p:nvSpPr>
            <p:cNvPr id="12" name="Line 12"/>
            <p:cNvSpPr/>
            <p:nvPr/>
          </p:nvSpPr>
          <p:spPr>
            <a:xfrm>
              <a:off x="1047750" y="1809750"/>
              <a:ext cx="9525" cy="3619500"/>
            </a:xfrm>
            <a:custGeom>
              <a:avLst/>
              <a:gdLst/>
              <a:ahLst/>
              <a:cxnLst/>
              <a:rect l="l" t="t" r="r" b="b"/>
              <a:pathLst>
                <a:path w="9525" h="3619500">
                  <a:moveTo>
                    <a:pt x="0" y="0"/>
                  </a:moveTo>
                  <a:lnTo>
                    <a:pt x="0" y="3619500"/>
                  </a:lnTo>
                </a:path>
              </a:pathLst>
            </a:custGeom>
            <a:noFill/>
            <a:ln w="19050">
              <a:solidFill>
                <a:srgbClr val="DDE6EF"/>
              </a:solidFill>
            </a:ln>
          </p:spPr>
        </p:sp>
        <p:sp>
          <p:nvSpPr>
            <p:cNvPr id="13" name="Line 13"/>
            <p:cNvSpPr/>
            <p:nvPr/>
          </p:nvSpPr>
          <p:spPr>
            <a:xfrm>
              <a:off x="7572375" y="1809750"/>
              <a:ext cx="9525" cy="3619500"/>
            </a:xfrm>
            <a:custGeom>
              <a:avLst/>
              <a:gdLst/>
              <a:ahLst/>
              <a:cxnLst/>
              <a:rect l="l" t="t" r="r" b="b"/>
              <a:pathLst>
                <a:path w="9525" h="3619500">
                  <a:moveTo>
                    <a:pt x="0" y="0"/>
                  </a:moveTo>
                  <a:lnTo>
                    <a:pt x="0" y="3619500"/>
                  </a:lnTo>
                </a:path>
              </a:pathLst>
            </a:custGeom>
            <a:noFill/>
            <a:ln w="19050">
              <a:solidFill>
                <a:srgbClr val="DDE6EF"/>
              </a:solidFill>
            </a:ln>
          </p:spPr>
        </p:sp>
        <p:sp>
          <p:nvSpPr>
            <p:cNvPr id="14" name="TextBox 14"/>
            <p:cNvSpPr txBox="1"/>
            <p:nvPr/>
          </p:nvSpPr>
          <p:spPr>
            <a:xfrm>
              <a:off x="575691" y="5370195"/>
              <a:ext cx="312039"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3500</a:t>
              </a:r>
            </a:p>
          </p:txBody>
        </p:sp>
        <p:sp>
          <p:nvSpPr>
            <p:cNvPr id="15" name="TextBox 15"/>
            <p:cNvSpPr txBox="1"/>
            <p:nvPr/>
          </p:nvSpPr>
          <p:spPr>
            <a:xfrm>
              <a:off x="575691" y="1750695"/>
              <a:ext cx="312039"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7000</a:t>
              </a:r>
            </a:p>
          </p:txBody>
        </p:sp>
        <p:sp>
          <p:nvSpPr>
            <p:cNvPr id="16" name="TextBox 16"/>
            <p:cNvSpPr txBox="1"/>
            <p:nvPr/>
          </p:nvSpPr>
          <p:spPr>
            <a:xfrm>
              <a:off x="7722870" y="5370195"/>
              <a:ext cx="502634" cy="182880"/>
            </a:xfrm>
            <a:prstGeom prst="rect">
              <a:avLst/>
            </a:prstGeom>
            <a:noFill/>
            <a:ln>
              <a:noFill/>
            </a:ln>
          </p:spPr>
          <p:txBody>
            <a:bodyPr wrap="none" lIns="0" tIns="0" rIns="0" bIns="0" anchor="t" anchorCtr="0">
              <a:spAutoFit/>
            </a:bodyPr>
            <a:lstStyle/>
            <a:p>
              <a:pPr algn="l"/>
              <a:r>
                <a:rPr lang="zh-CN" sz="900" dirty="0">
                  <a:solidFill>
                    <a:srgbClr val="607D8B"/>
                  </a:solidFill>
                  <a:latin typeface="Arial"/>
                  <a:ea typeface="Microsoft YaHei"/>
                  <a:cs typeface="Arial"/>
                </a:rPr>
                <a:t>2.0万亿</a:t>
              </a:r>
            </a:p>
          </p:txBody>
        </p:sp>
        <p:sp>
          <p:nvSpPr>
            <p:cNvPr id="17" name="TextBox 17"/>
            <p:cNvSpPr txBox="1"/>
            <p:nvPr/>
          </p:nvSpPr>
          <p:spPr>
            <a:xfrm>
              <a:off x="7722870" y="1750695"/>
              <a:ext cx="502634" cy="182880"/>
            </a:xfrm>
            <a:prstGeom prst="rect">
              <a:avLst/>
            </a:prstGeom>
            <a:noFill/>
            <a:ln>
              <a:noFill/>
            </a:ln>
          </p:spPr>
          <p:txBody>
            <a:bodyPr wrap="none" lIns="0" tIns="0" rIns="0" bIns="0" anchor="t" anchorCtr="0">
              <a:spAutoFit/>
            </a:bodyPr>
            <a:lstStyle/>
            <a:p>
              <a:pPr algn="l"/>
              <a:r>
                <a:rPr lang="zh-CN" sz="900" dirty="0">
                  <a:solidFill>
                    <a:srgbClr val="607D8B"/>
                  </a:solidFill>
                  <a:latin typeface="Arial"/>
                  <a:ea typeface="Microsoft YaHei"/>
                  <a:cs typeface="Arial"/>
                </a:rPr>
                <a:t>6.0万亿</a:t>
              </a:r>
            </a:p>
          </p:txBody>
        </p:sp>
        <p:sp>
          <p:nvSpPr>
            <p:cNvPr id="18" name="Polyline 18"/>
            <p:cNvSpPr/>
            <p:nvPr/>
          </p:nvSpPr>
          <p:spPr>
            <a:xfrm>
              <a:off x="1047750" y="1982152"/>
              <a:ext cx="6524625" cy="3283267"/>
            </a:xfrm>
            <a:custGeom>
              <a:avLst/>
              <a:gdLst/>
              <a:ahLst/>
              <a:cxnLst/>
              <a:rect l="l" t="t" r="r" b="b"/>
              <a:pathLst>
                <a:path w="6524625" h="3283267">
                  <a:moveTo>
                    <a:pt x="0" y="3283267"/>
                  </a:moveTo>
                  <a:lnTo>
                    <a:pt x="724852" y="3083242"/>
                  </a:lnTo>
                  <a:lnTo>
                    <a:pt x="1449705" y="2817495"/>
                  </a:lnTo>
                  <a:lnTo>
                    <a:pt x="2174558" y="2184082"/>
                  </a:lnTo>
                  <a:lnTo>
                    <a:pt x="2899410" y="1980248"/>
                  </a:lnTo>
                  <a:lnTo>
                    <a:pt x="3625215" y="1759268"/>
                  </a:lnTo>
                  <a:lnTo>
                    <a:pt x="4350068" y="1434465"/>
                  </a:lnTo>
                  <a:lnTo>
                    <a:pt x="5074920" y="1097280"/>
                  </a:lnTo>
                  <a:lnTo>
                    <a:pt x="5799772" y="277177"/>
                  </a:lnTo>
                  <a:lnTo>
                    <a:pt x="6524625" y="0"/>
                  </a:lnTo>
                </a:path>
              </a:pathLst>
            </a:custGeom>
            <a:noFill/>
            <a:ln w="38100" cap="rnd">
              <a:solidFill>
                <a:srgbClr val="1565C0"/>
              </a:solidFill>
              <a:round/>
            </a:ln>
          </p:spPr>
        </p:sp>
        <p:sp>
          <p:nvSpPr>
            <p:cNvPr id="19" name="Polyline 19"/>
            <p:cNvSpPr/>
            <p:nvPr/>
          </p:nvSpPr>
          <p:spPr>
            <a:xfrm>
              <a:off x="1047750" y="2058352"/>
              <a:ext cx="6524625" cy="3330892"/>
            </a:xfrm>
            <a:custGeom>
              <a:avLst/>
              <a:gdLst/>
              <a:ahLst/>
              <a:cxnLst/>
              <a:rect l="l" t="t" r="r" b="b"/>
              <a:pathLst>
                <a:path w="6524625" h="3330892">
                  <a:moveTo>
                    <a:pt x="0" y="2437448"/>
                  </a:moveTo>
                  <a:lnTo>
                    <a:pt x="724852" y="2085975"/>
                  </a:lnTo>
                  <a:lnTo>
                    <a:pt x="1449705" y="1616393"/>
                  </a:lnTo>
                  <a:lnTo>
                    <a:pt x="2174558" y="1048702"/>
                  </a:lnTo>
                  <a:lnTo>
                    <a:pt x="2899410" y="541020"/>
                  </a:lnTo>
                  <a:lnTo>
                    <a:pt x="3625215" y="0"/>
                  </a:lnTo>
                  <a:lnTo>
                    <a:pt x="4350068" y="3164205"/>
                  </a:lnTo>
                  <a:lnTo>
                    <a:pt x="5074920" y="2539365"/>
                  </a:lnTo>
                  <a:lnTo>
                    <a:pt x="5799772" y="3330892"/>
                  </a:lnTo>
                  <a:lnTo>
                    <a:pt x="6524625" y="734378"/>
                  </a:lnTo>
                </a:path>
              </a:pathLst>
            </a:custGeom>
            <a:noFill/>
            <a:ln w="38100" cap="rnd">
              <a:solidFill>
                <a:srgbClr val="26A69A"/>
              </a:solidFill>
              <a:round/>
            </a:ln>
          </p:spPr>
        </p:sp>
        <p:sp>
          <p:nvSpPr>
            <p:cNvPr id="20" name="Line 20"/>
            <p:cNvSpPr/>
            <p:nvPr/>
          </p:nvSpPr>
          <p:spPr>
            <a:xfrm>
              <a:off x="5397818" y="1809750"/>
              <a:ext cx="9525" cy="3619500"/>
            </a:xfrm>
            <a:custGeom>
              <a:avLst/>
              <a:gdLst/>
              <a:ahLst/>
              <a:cxnLst/>
              <a:rect l="l" t="t" r="r" b="b"/>
              <a:pathLst>
                <a:path w="9525" h="3619500">
                  <a:moveTo>
                    <a:pt x="0" y="0"/>
                  </a:moveTo>
                  <a:lnTo>
                    <a:pt x="0" y="3619500"/>
                  </a:lnTo>
                </a:path>
              </a:pathLst>
            </a:custGeom>
            <a:noFill/>
            <a:ln w="19050">
              <a:solidFill>
                <a:srgbClr val="C41E3A"/>
              </a:solidFill>
              <a:custDash>
                <a:ds d="300000" sp="300000"/>
              </a:custDash>
            </a:ln>
          </p:spPr>
        </p:sp>
        <p:sp>
          <p:nvSpPr>
            <p:cNvPr id="21" name="TextBox 21"/>
            <p:cNvSpPr txBox="1"/>
            <p:nvPr/>
          </p:nvSpPr>
          <p:spPr>
            <a:xfrm>
              <a:off x="5049018" y="1647349"/>
              <a:ext cx="697599" cy="198120"/>
            </a:xfrm>
            <a:prstGeom prst="rect">
              <a:avLst/>
            </a:prstGeom>
            <a:noFill/>
            <a:ln>
              <a:noFill/>
            </a:ln>
          </p:spPr>
          <p:txBody>
            <a:bodyPr wrap="none" lIns="0" tIns="0" rIns="0" bIns="0" anchor="t" anchorCtr="0">
              <a:spAutoFit/>
            </a:bodyPr>
            <a:lstStyle/>
            <a:p>
              <a:pPr algn="ctr"/>
              <a:r>
                <a:rPr lang="zh-CN" sz="975" b="1" dirty="0">
                  <a:solidFill>
                    <a:srgbClr val="C41E3A"/>
                  </a:solidFill>
                  <a:latin typeface="Arial"/>
                  <a:ea typeface="Microsoft YaHei"/>
                  <a:cs typeface="Arial"/>
                </a:rPr>
                <a:t>2020 冲击</a:t>
              </a:r>
            </a:p>
          </p:txBody>
        </p:sp>
        <p:grpSp>
          <p:nvGrpSpPr>
            <p:cNvPr id="32" name="Group 32"/>
            <p:cNvGrpSpPr/>
            <p:nvPr/>
          </p:nvGrpSpPr>
          <p:grpSpPr>
            <a:xfrm>
              <a:off x="1000125" y="1934528"/>
              <a:ext cx="6619875" cy="3378517"/>
              <a:chOff x="1000125" y="1934528"/>
              <a:chExt cx="6619875" cy="3378517"/>
            </a:xfrm>
          </p:grpSpPr>
          <p:sp>
            <p:nvSpPr>
              <p:cNvPr id="22" name="Ellipse 22"/>
              <p:cNvSpPr/>
              <p:nvPr/>
            </p:nvSpPr>
            <p:spPr>
              <a:xfrm>
                <a:off x="1000125" y="5217795"/>
                <a:ext cx="95250" cy="95250"/>
              </a:xfrm>
              <a:prstGeom prst="ellipse">
                <a:avLst/>
              </a:prstGeom>
              <a:solidFill>
                <a:srgbClr val="1565C0"/>
              </a:solidFill>
              <a:ln w="19050">
                <a:solidFill>
                  <a:srgbClr val="FFFFFF"/>
                </a:solidFill>
              </a:ln>
            </p:spPr>
          </p:sp>
          <p:sp>
            <p:nvSpPr>
              <p:cNvPr id="23" name="Ellipse 23"/>
              <p:cNvSpPr/>
              <p:nvPr/>
            </p:nvSpPr>
            <p:spPr>
              <a:xfrm>
                <a:off x="1724978" y="5017770"/>
                <a:ext cx="95250" cy="95250"/>
              </a:xfrm>
              <a:prstGeom prst="ellipse">
                <a:avLst/>
              </a:prstGeom>
              <a:solidFill>
                <a:srgbClr val="1565C0"/>
              </a:solidFill>
              <a:ln w="19050">
                <a:solidFill>
                  <a:srgbClr val="FFFFFF"/>
                </a:solidFill>
              </a:ln>
            </p:spPr>
          </p:sp>
          <p:sp>
            <p:nvSpPr>
              <p:cNvPr id="24" name="Ellipse 24"/>
              <p:cNvSpPr/>
              <p:nvPr/>
            </p:nvSpPr>
            <p:spPr>
              <a:xfrm>
                <a:off x="2449830" y="4752022"/>
                <a:ext cx="95250" cy="95250"/>
              </a:xfrm>
              <a:prstGeom prst="ellipse">
                <a:avLst/>
              </a:prstGeom>
              <a:solidFill>
                <a:srgbClr val="1565C0"/>
              </a:solidFill>
              <a:ln w="19050">
                <a:solidFill>
                  <a:srgbClr val="FFFFFF"/>
                </a:solidFill>
              </a:ln>
            </p:spPr>
          </p:sp>
          <p:sp>
            <p:nvSpPr>
              <p:cNvPr id="25" name="Ellipse 25"/>
              <p:cNvSpPr/>
              <p:nvPr/>
            </p:nvSpPr>
            <p:spPr>
              <a:xfrm>
                <a:off x="3174682" y="4118610"/>
                <a:ext cx="95250" cy="95250"/>
              </a:xfrm>
              <a:prstGeom prst="ellipse">
                <a:avLst/>
              </a:prstGeom>
              <a:solidFill>
                <a:srgbClr val="1565C0"/>
              </a:solidFill>
              <a:ln w="19050">
                <a:solidFill>
                  <a:srgbClr val="FFFFFF"/>
                </a:solidFill>
              </a:ln>
            </p:spPr>
          </p:sp>
          <p:sp>
            <p:nvSpPr>
              <p:cNvPr id="26" name="Ellipse 26"/>
              <p:cNvSpPr/>
              <p:nvPr/>
            </p:nvSpPr>
            <p:spPr>
              <a:xfrm>
                <a:off x="3899535" y="3914775"/>
                <a:ext cx="95250" cy="95250"/>
              </a:xfrm>
              <a:prstGeom prst="ellipse">
                <a:avLst/>
              </a:prstGeom>
              <a:solidFill>
                <a:srgbClr val="1565C0"/>
              </a:solidFill>
              <a:ln w="19050">
                <a:solidFill>
                  <a:srgbClr val="FFFFFF"/>
                </a:solidFill>
              </a:ln>
            </p:spPr>
          </p:sp>
          <p:sp>
            <p:nvSpPr>
              <p:cNvPr id="27" name="Ellipse 27"/>
              <p:cNvSpPr/>
              <p:nvPr/>
            </p:nvSpPr>
            <p:spPr>
              <a:xfrm>
                <a:off x="4625340" y="3693795"/>
                <a:ext cx="95250" cy="95250"/>
              </a:xfrm>
              <a:prstGeom prst="ellipse">
                <a:avLst/>
              </a:prstGeom>
              <a:solidFill>
                <a:srgbClr val="1565C0"/>
              </a:solidFill>
              <a:ln w="19050">
                <a:solidFill>
                  <a:srgbClr val="FFFFFF"/>
                </a:solidFill>
              </a:ln>
            </p:spPr>
          </p:sp>
          <p:sp>
            <p:nvSpPr>
              <p:cNvPr id="28" name="Ellipse 28"/>
              <p:cNvSpPr/>
              <p:nvPr/>
            </p:nvSpPr>
            <p:spPr>
              <a:xfrm>
                <a:off x="5350192" y="3368992"/>
                <a:ext cx="95250" cy="95250"/>
              </a:xfrm>
              <a:prstGeom prst="ellipse">
                <a:avLst/>
              </a:prstGeom>
              <a:solidFill>
                <a:srgbClr val="1565C0"/>
              </a:solidFill>
              <a:ln w="19050">
                <a:solidFill>
                  <a:srgbClr val="FFFFFF"/>
                </a:solidFill>
              </a:ln>
            </p:spPr>
          </p:sp>
          <p:sp>
            <p:nvSpPr>
              <p:cNvPr id="29" name="Ellipse 29"/>
              <p:cNvSpPr/>
              <p:nvPr/>
            </p:nvSpPr>
            <p:spPr>
              <a:xfrm>
                <a:off x="6075045" y="3031808"/>
                <a:ext cx="95250" cy="95250"/>
              </a:xfrm>
              <a:prstGeom prst="ellipse">
                <a:avLst/>
              </a:prstGeom>
              <a:solidFill>
                <a:srgbClr val="1565C0"/>
              </a:solidFill>
              <a:ln w="19050">
                <a:solidFill>
                  <a:srgbClr val="FFFFFF"/>
                </a:solidFill>
              </a:ln>
            </p:spPr>
          </p:sp>
          <p:sp>
            <p:nvSpPr>
              <p:cNvPr id="30" name="Ellipse 30"/>
              <p:cNvSpPr/>
              <p:nvPr/>
            </p:nvSpPr>
            <p:spPr>
              <a:xfrm>
                <a:off x="6799898" y="2211705"/>
                <a:ext cx="95250" cy="95250"/>
              </a:xfrm>
              <a:prstGeom prst="ellipse">
                <a:avLst/>
              </a:prstGeom>
              <a:solidFill>
                <a:srgbClr val="1565C0"/>
              </a:solidFill>
              <a:ln w="19050">
                <a:solidFill>
                  <a:srgbClr val="FFFFFF"/>
                </a:solidFill>
              </a:ln>
            </p:spPr>
          </p:sp>
          <p:sp>
            <p:nvSpPr>
              <p:cNvPr id="31" name="Ellipse 31"/>
              <p:cNvSpPr/>
              <p:nvPr/>
            </p:nvSpPr>
            <p:spPr>
              <a:xfrm>
                <a:off x="7524750" y="1934528"/>
                <a:ext cx="95250" cy="95250"/>
              </a:xfrm>
              <a:prstGeom prst="ellipse">
                <a:avLst/>
              </a:prstGeom>
              <a:solidFill>
                <a:srgbClr val="1565C0"/>
              </a:solidFill>
              <a:ln w="19050">
                <a:solidFill>
                  <a:srgbClr val="FFFFFF"/>
                </a:solidFill>
              </a:ln>
            </p:spPr>
          </p:sp>
        </p:grpSp>
        <p:grpSp>
          <p:nvGrpSpPr>
            <p:cNvPr id="43" name="Group 43"/>
            <p:cNvGrpSpPr/>
            <p:nvPr/>
          </p:nvGrpSpPr>
          <p:grpSpPr>
            <a:xfrm>
              <a:off x="1000125" y="2010728"/>
              <a:ext cx="6619875" cy="3426142"/>
              <a:chOff x="1000125" y="2010728"/>
              <a:chExt cx="6619875" cy="3426142"/>
            </a:xfrm>
          </p:grpSpPr>
          <p:sp>
            <p:nvSpPr>
              <p:cNvPr id="33" name="Ellipse 33"/>
              <p:cNvSpPr/>
              <p:nvPr/>
            </p:nvSpPr>
            <p:spPr>
              <a:xfrm>
                <a:off x="1000125" y="4448175"/>
                <a:ext cx="95250" cy="95250"/>
              </a:xfrm>
              <a:prstGeom prst="ellipse">
                <a:avLst/>
              </a:prstGeom>
              <a:solidFill>
                <a:srgbClr val="26A69A"/>
              </a:solidFill>
              <a:ln w="19050">
                <a:solidFill>
                  <a:srgbClr val="FFFFFF"/>
                </a:solidFill>
              </a:ln>
            </p:spPr>
          </p:sp>
          <p:sp>
            <p:nvSpPr>
              <p:cNvPr id="34" name="Ellipse 34"/>
              <p:cNvSpPr/>
              <p:nvPr/>
            </p:nvSpPr>
            <p:spPr>
              <a:xfrm>
                <a:off x="1724978" y="4096702"/>
                <a:ext cx="95250" cy="95250"/>
              </a:xfrm>
              <a:prstGeom prst="ellipse">
                <a:avLst/>
              </a:prstGeom>
              <a:solidFill>
                <a:srgbClr val="26A69A"/>
              </a:solidFill>
              <a:ln w="19050">
                <a:solidFill>
                  <a:srgbClr val="FFFFFF"/>
                </a:solidFill>
              </a:ln>
            </p:spPr>
          </p:sp>
          <p:sp>
            <p:nvSpPr>
              <p:cNvPr id="35" name="Ellipse 35"/>
              <p:cNvSpPr/>
              <p:nvPr/>
            </p:nvSpPr>
            <p:spPr>
              <a:xfrm>
                <a:off x="2449830" y="3627120"/>
                <a:ext cx="95250" cy="95250"/>
              </a:xfrm>
              <a:prstGeom prst="ellipse">
                <a:avLst/>
              </a:prstGeom>
              <a:solidFill>
                <a:srgbClr val="26A69A"/>
              </a:solidFill>
              <a:ln w="19050">
                <a:solidFill>
                  <a:srgbClr val="FFFFFF"/>
                </a:solidFill>
              </a:ln>
            </p:spPr>
          </p:sp>
          <p:sp>
            <p:nvSpPr>
              <p:cNvPr id="36" name="Ellipse 36"/>
              <p:cNvSpPr/>
              <p:nvPr/>
            </p:nvSpPr>
            <p:spPr>
              <a:xfrm>
                <a:off x="3174682" y="3059430"/>
                <a:ext cx="95250" cy="95250"/>
              </a:xfrm>
              <a:prstGeom prst="ellipse">
                <a:avLst/>
              </a:prstGeom>
              <a:solidFill>
                <a:srgbClr val="26A69A"/>
              </a:solidFill>
              <a:ln w="19050">
                <a:solidFill>
                  <a:srgbClr val="FFFFFF"/>
                </a:solidFill>
              </a:ln>
            </p:spPr>
          </p:sp>
          <p:sp>
            <p:nvSpPr>
              <p:cNvPr id="37" name="Ellipse 37"/>
              <p:cNvSpPr/>
              <p:nvPr/>
            </p:nvSpPr>
            <p:spPr>
              <a:xfrm>
                <a:off x="3899535" y="2551748"/>
                <a:ext cx="95250" cy="95250"/>
              </a:xfrm>
              <a:prstGeom prst="ellipse">
                <a:avLst/>
              </a:prstGeom>
              <a:solidFill>
                <a:srgbClr val="26A69A"/>
              </a:solidFill>
              <a:ln w="19050">
                <a:solidFill>
                  <a:srgbClr val="FFFFFF"/>
                </a:solidFill>
              </a:ln>
            </p:spPr>
          </p:sp>
          <p:sp>
            <p:nvSpPr>
              <p:cNvPr id="38" name="Ellipse 38"/>
              <p:cNvSpPr/>
              <p:nvPr/>
            </p:nvSpPr>
            <p:spPr>
              <a:xfrm>
                <a:off x="4625340" y="2010728"/>
                <a:ext cx="95250" cy="95250"/>
              </a:xfrm>
              <a:prstGeom prst="ellipse">
                <a:avLst/>
              </a:prstGeom>
              <a:solidFill>
                <a:srgbClr val="26A69A"/>
              </a:solidFill>
              <a:ln w="19050">
                <a:solidFill>
                  <a:srgbClr val="FFFFFF"/>
                </a:solidFill>
              </a:ln>
            </p:spPr>
          </p:sp>
          <p:sp>
            <p:nvSpPr>
              <p:cNvPr id="39" name="Ellipse 39"/>
              <p:cNvSpPr/>
              <p:nvPr/>
            </p:nvSpPr>
            <p:spPr>
              <a:xfrm>
                <a:off x="5350192" y="5174932"/>
                <a:ext cx="95250" cy="95250"/>
              </a:xfrm>
              <a:prstGeom prst="ellipse">
                <a:avLst/>
              </a:prstGeom>
              <a:solidFill>
                <a:srgbClr val="26A69A"/>
              </a:solidFill>
              <a:ln w="19050">
                <a:solidFill>
                  <a:srgbClr val="FFFFFF"/>
                </a:solidFill>
              </a:ln>
            </p:spPr>
          </p:sp>
          <p:sp>
            <p:nvSpPr>
              <p:cNvPr id="40" name="Ellipse 40"/>
              <p:cNvSpPr/>
              <p:nvPr/>
            </p:nvSpPr>
            <p:spPr>
              <a:xfrm>
                <a:off x="6075045" y="4550092"/>
                <a:ext cx="95250" cy="95250"/>
              </a:xfrm>
              <a:prstGeom prst="ellipse">
                <a:avLst/>
              </a:prstGeom>
              <a:solidFill>
                <a:srgbClr val="26A69A"/>
              </a:solidFill>
              <a:ln w="19050">
                <a:solidFill>
                  <a:srgbClr val="FFFFFF"/>
                </a:solidFill>
              </a:ln>
            </p:spPr>
          </p:sp>
          <p:sp>
            <p:nvSpPr>
              <p:cNvPr id="41" name="Ellipse 41"/>
              <p:cNvSpPr/>
              <p:nvPr/>
            </p:nvSpPr>
            <p:spPr>
              <a:xfrm>
                <a:off x="6799898" y="5341620"/>
                <a:ext cx="95250" cy="95250"/>
              </a:xfrm>
              <a:prstGeom prst="ellipse">
                <a:avLst/>
              </a:prstGeom>
              <a:solidFill>
                <a:srgbClr val="26A69A"/>
              </a:solidFill>
              <a:ln w="19050">
                <a:solidFill>
                  <a:srgbClr val="FFFFFF"/>
                </a:solidFill>
              </a:ln>
            </p:spPr>
          </p:sp>
          <p:sp>
            <p:nvSpPr>
              <p:cNvPr id="42" name="Ellipse 42"/>
              <p:cNvSpPr/>
              <p:nvPr/>
            </p:nvSpPr>
            <p:spPr>
              <a:xfrm>
                <a:off x="7524750" y="2745105"/>
                <a:ext cx="95250" cy="95250"/>
              </a:xfrm>
              <a:prstGeom prst="ellipse">
                <a:avLst/>
              </a:prstGeom>
              <a:solidFill>
                <a:srgbClr val="26A69A"/>
              </a:solidFill>
              <a:ln w="19050">
                <a:solidFill>
                  <a:srgbClr val="FFFFFF"/>
                </a:solidFill>
              </a:ln>
            </p:spPr>
          </p:sp>
        </p:grpSp>
        <p:grpSp>
          <p:nvGrpSpPr>
            <p:cNvPr id="50" name="Group 50"/>
            <p:cNvGrpSpPr/>
            <p:nvPr/>
          </p:nvGrpSpPr>
          <p:grpSpPr>
            <a:xfrm>
              <a:off x="908161" y="5674995"/>
              <a:ext cx="6820234" cy="182880"/>
              <a:chOff x="908161" y="5674995"/>
              <a:chExt cx="6820234" cy="182880"/>
            </a:xfrm>
          </p:grpSpPr>
          <p:sp>
            <p:nvSpPr>
              <p:cNvPr id="44" name="TextBox 44"/>
              <p:cNvSpPr txBox="1"/>
              <p:nvPr/>
            </p:nvSpPr>
            <p:spPr>
              <a:xfrm>
                <a:off x="908161"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2014</a:t>
                </a:r>
              </a:p>
            </p:txBody>
          </p:sp>
          <p:sp>
            <p:nvSpPr>
              <p:cNvPr id="45" name="TextBox 45"/>
              <p:cNvSpPr txBox="1"/>
              <p:nvPr/>
            </p:nvSpPr>
            <p:spPr>
              <a:xfrm>
                <a:off x="2355961"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2016</a:t>
                </a:r>
              </a:p>
            </p:txBody>
          </p:sp>
          <p:sp>
            <p:nvSpPr>
              <p:cNvPr id="46" name="TextBox 46"/>
              <p:cNvSpPr txBox="1"/>
              <p:nvPr/>
            </p:nvSpPr>
            <p:spPr>
              <a:xfrm>
                <a:off x="3803761"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2018</a:t>
                </a:r>
              </a:p>
            </p:txBody>
          </p:sp>
          <p:sp>
            <p:nvSpPr>
              <p:cNvPr id="47" name="TextBox 47"/>
              <p:cNvSpPr txBox="1"/>
              <p:nvPr/>
            </p:nvSpPr>
            <p:spPr>
              <a:xfrm>
                <a:off x="5244656"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2020</a:t>
                </a:r>
              </a:p>
            </p:txBody>
          </p:sp>
          <p:sp>
            <p:nvSpPr>
              <p:cNvPr id="48" name="TextBox 48"/>
              <p:cNvSpPr txBox="1"/>
              <p:nvPr/>
            </p:nvSpPr>
            <p:spPr>
              <a:xfrm>
                <a:off x="6692456"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2022</a:t>
                </a:r>
              </a:p>
            </p:txBody>
          </p:sp>
          <p:sp>
            <p:nvSpPr>
              <p:cNvPr id="49" name="TextBox 49"/>
              <p:cNvSpPr txBox="1"/>
              <p:nvPr/>
            </p:nvSpPr>
            <p:spPr>
              <a:xfrm>
                <a:off x="7416356"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2023</a:t>
                </a:r>
              </a:p>
            </p:txBody>
          </p:sp>
        </p:grpSp>
      </p:grpSp>
      <p:sp>
        <p:nvSpPr>
          <p:cNvPr id="52" name="Line 52"/>
          <p:cNvSpPr/>
          <p:nvPr/>
        </p:nvSpPr>
        <p:spPr>
          <a:xfrm>
            <a:off x="1962150" y="5981700"/>
            <a:ext cx="381000" cy="9525"/>
          </a:xfrm>
          <a:custGeom>
            <a:avLst/>
            <a:gdLst/>
            <a:ahLst/>
            <a:cxnLst/>
            <a:rect l="l" t="t" r="r" b="b"/>
            <a:pathLst>
              <a:path w="381000" h="9525">
                <a:moveTo>
                  <a:pt x="0" y="0"/>
                </a:moveTo>
                <a:lnTo>
                  <a:pt x="381000" y="0"/>
                </a:lnTo>
              </a:path>
            </a:pathLst>
          </a:custGeom>
          <a:noFill/>
          <a:ln w="38100">
            <a:solidFill>
              <a:srgbClr val="1565C0"/>
            </a:solidFill>
          </a:ln>
        </p:spPr>
      </p:sp>
      <p:sp>
        <p:nvSpPr>
          <p:cNvPr id="53" name="TextBox 53"/>
          <p:cNvSpPr txBox="1"/>
          <p:nvPr/>
        </p:nvSpPr>
        <p:spPr>
          <a:xfrm>
            <a:off x="2444115" y="5915978"/>
            <a:ext cx="793432"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博物馆数量</a:t>
            </a:r>
          </a:p>
        </p:txBody>
      </p:sp>
      <p:sp>
        <p:nvSpPr>
          <p:cNvPr id="54" name="Line 54"/>
          <p:cNvSpPr/>
          <p:nvPr/>
        </p:nvSpPr>
        <p:spPr>
          <a:xfrm>
            <a:off x="3733800" y="5981700"/>
            <a:ext cx="381000" cy="9525"/>
          </a:xfrm>
          <a:custGeom>
            <a:avLst/>
            <a:gdLst/>
            <a:ahLst/>
            <a:cxnLst/>
            <a:rect l="l" t="t" r="r" b="b"/>
            <a:pathLst>
              <a:path w="381000" h="9525">
                <a:moveTo>
                  <a:pt x="0" y="0"/>
                </a:moveTo>
                <a:lnTo>
                  <a:pt x="381000" y="0"/>
                </a:lnTo>
              </a:path>
            </a:pathLst>
          </a:custGeom>
          <a:noFill/>
          <a:ln w="38100">
            <a:solidFill>
              <a:srgbClr val="26A69A"/>
            </a:solidFill>
          </a:ln>
        </p:spPr>
      </p:sp>
      <p:sp>
        <p:nvSpPr>
          <p:cNvPr id="55" name="TextBox 55"/>
          <p:cNvSpPr txBox="1"/>
          <p:nvPr/>
        </p:nvSpPr>
        <p:spPr>
          <a:xfrm>
            <a:off x="4215765" y="5915978"/>
            <a:ext cx="1100137"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国内旅游总花费</a:t>
            </a:r>
          </a:p>
        </p:txBody>
      </p:sp>
      <p:sp>
        <p:nvSpPr>
          <p:cNvPr id="56" name="Rectangle 56"/>
          <p:cNvSpPr/>
          <p:nvPr/>
        </p:nvSpPr>
        <p:spPr>
          <a:xfrm>
            <a:off x="8362950" y="1619250"/>
            <a:ext cx="3295650" cy="4476750"/>
          </a:xfrm>
          <a:prstGeom prst="roundRect">
            <a:avLst>
              <a:gd name="adj" fmla="val 2312"/>
            </a:avLst>
          </a:prstGeom>
          <a:solidFill>
            <a:srgbClr val="FFFFFF"/>
          </a:solidFill>
          <a:ln w="9525">
            <a:solidFill>
              <a:srgbClr val="DDE6EF"/>
            </a:solidFill>
          </a:ln>
        </p:spPr>
      </p:sp>
      <p:sp>
        <p:nvSpPr>
          <p:cNvPr id="57" name="TextBox 57"/>
          <p:cNvSpPr txBox="1"/>
          <p:nvPr/>
        </p:nvSpPr>
        <p:spPr>
          <a:xfrm>
            <a:off x="8644890" y="190119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读图结论</a:t>
            </a:r>
          </a:p>
        </p:txBody>
      </p:sp>
      <p:sp>
        <p:nvSpPr>
          <p:cNvPr id="58" name="TextBox 58"/>
          <p:cNvSpPr txBox="1"/>
          <p:nvPr/>
        </p:nvSpPr>
        <p:spPr>
          <a:xfrm>
            <a:off x="8623935" y="2275522"/>
            <a:ext cx="1833548" cy="701040"/>
          </a:xfrm>
          <a:prstGeom prst="rect">
            <a:avLst/>
          </a:prstGeom>
          <a:noFill/>
          <a:ln>
            <a:noFill/>
          </a:ln>
        </p:spPr>
        <p:txBody>
          <a:bodyPr wrap="none" lIns="0" tIns="0" rIns="0" bIns="0" anchor="t" anchorCtr="0">
            <a:spAutoFit/>
          </a:bodyPr>
          <a:lstStyle/>
          <a:p>
            <a:pPr algn="l"/>
            <a:r>
              <a:rPr lang="zh-CN" sz="3450" b="1" dirty="0">
                <a:solidFill>
                  <a:srgbClr val="1565C0"/>
                </a:solidFill>
                <a:latin typeface="Arial"/>
                <a:ea typeface="Microsoft YaHei"/>
                <a:cs typeface="Arial"/>
              </a:rPr>
              <a:t>+86.8%</a:t>
            </a:r>
          </a:p>
        </p:txBody>
      </p:sp>
      <p:sp>
        <p:nvSpPr>
          <p:cNvPr id="59" name="TextBox 59"/>
          <p:cNvSpPr txBox="1"/>
          <p:nvPr/>
        </p:nvSpPr>
        <p:spPr>
          <a:xfrm>
            <a:off x="8652510" y="2804160"/>
            <a:ext cx="230886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2014-2023 年博物馆数量增长</a:t>
            </a:r>
          </a:p>
        </p:txBody>
      </p:sp>
      <p:sp>
        <p:nvSpPr>
          <p:cNvPr id="60" name="Line 60"/>
          <p:cNvSpPr/>
          <p:nvPr/>
        </p:nvSpPr>
        <p:spPr>
          <a:xfrm>
            <a:off x="8667750" y="3238500"/>
            <a:ext cx="2647950" cy="9525"/>
          </a:xfrm>
          <a:custGeom>
            <a:avLst/>
            <a:gdLst/>
            <a:ahLst/>
            <a:cxnLst/>
            <a:rect l="l" t="t" r="r" b="b"/>
            <a:pathLst>
              <a:path w="2647950" h="9525">
                <a:moveTo>
                  <a:pt x="0" y="0"/>
                </a:moveTo>
                <a:lnTo>
                  <a:pt x="2647950" y="0"/>
                </a:lnTo>
              </a:path>
            </a:pathLst>
          </a:custGeom>
          <a:noFill/>
          <a:ln w="9525">
            <a:solidFill>
              <a:srgbClr val="DDE6EF"/>
            </a:solidFill>
          </a:ln>
        </p:spPr>
      </p:sp>
      <p:sp>
        <p:nvSpPr>
          <p:cNvPr id="61" name="TextBox 61"/>
          <p:cNvSpPr txBox="1"/>
          <p:nvPr/>
        </p:nvSpPr>
        <p:spPr>
          <a:xfrm>
            <a:off x="8648700" y="3495675"/>
            <a:ext cx="2625923"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Arial"/>
                <a:ea typeface="Microsoft YaHei"/>
                <a:cs typeface="Arial"/>
              </a:rPr>
              <a:t>2019 年旅游消费达到高点</a:t>
            </a:r>
          </a:p>
        </p:txBody>
      </p:sp>
      <p:sp>
        <p:nvSpPr>
          <p:cNvPr id="62" name="TextBox 62"/>
          <p:cNvSpPr txBox="1"/>
          <p:nvPr/>
        </p:nvSpPr>
        <p:spPr>
          <a:xfrm>
            <a:off x="8651558" y="3843814"/>
            <a:ext cx="3952184"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57251 亿元，随后 2020 年降至 22286.3 亿元。</a:t>
            </a:r>
          </a:p>
        </p:txBody>
      </p:sp>
      <p:sp>
        <p:nvSpPr>
          <p:cNvPr id="63" name="TextBox 63"/>
          <p:cNvSpPr txBox="1"/>
          <p:nvPr/>
        </p:nvSpPr>
        <p:spPr>
          <a:xfrm>
            <a:off x="8648700" y="4410075"/>
            <a:ext cx="2453402"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Arial"/>
                <a:ea typeface="Microsoft YaHei"/>
                <a:cs typeface="Arial"/>
              </a:rPr>
              <a:t>2023 年需求侧明显修复</a:t>
            </a:r>
          </a:p>
        </p:txBody>
      </p:sp>
      <p:sp>
        <p:nvSpPr>
          <p:cNvPr id="64" name="TextBox 64"/>
          <p:cNvSpPr txBox="1"/>
          <p:nvPr/>
        </p:nvSpPr>
        <p:spPr>
          <a:xfrm>
            <a:off x="8651558" y="4758214"/>
            <a:ext cx="4408408"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旅游总花费回升至 49133.1 亿元，但仍低于 2019 年。</a:t>
            </a:r>
          </a:p>
        </p:txBody>
      </p:sp>
      <p:sp>
        <p:nvSpPr>
          <p:cNvPr id="65" name="TextBox 65"/>
          <p:cNvSpPr txBox="1"/>
          <p:nvPr/>
        </p:nvSpPr>
        <p:spPr>
          <a:xfrm>
            <a:off x="521970" y="6417945"/>
            <a:ext cx="332870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国家统计局国家数据、中国统计年鉴；团队计算</a:t>
            </a:r>
          </a:p>
        </p:txBody>
      </p:sp>
      <p:sp>
        <p:nvSpPr>
          <p:cNvPr id="66" name="TextBox 66"/>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08 / 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01015" y="372428"/>
            <a:ext cx="9176209"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变化率：2020 年冲击与 2023 年修复被差分清晰捕捉</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sp>
      <p:sp>
        <p:nvSpPr>
          <p:cNvPr id="5" name="TextBox 5"/>
          <p:cNvSpPr txBox="1"/>
          <p:nvPr/>
        </p:nvSpPr>
        <p:spPr>
          <a:xfrm>
            <a:off x="725805" y="1054418"/>
            <a:ext cx="6994303"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博物馆增量相对稳定，游客变化率在 2020 年附近急剧转负，2023 年显著转正。</a:t>
            </a:r>
          </a:p>
        </p:txBody>
      </p:sp>
      <p:sp>
        <p:nvSpPr>
          <p:cNvPr id="6" name="Rectangle 6"/>
          <p:cNvSpPr/>
          <p:nvPr/>
        </p:nvSpPr>
        <p:spPr>
          <a:xfrm>
            <a:off x="533400" y="1619250"/>
            <a:ext cx="8001000" cy="4476750"/>
          </a:xfrm>
          <a:prstGeom prst="roundRect">
            <a:avLst>
              <a:gd name="adj" fmla="val 1702"/>
            </a:avLst>
          </a:prstGeom>
          <a:solidFill>
            <a:srgbClr val="FFFFFF"/>
          </a:solidFill>
          <a:ln w="9525">
            <a:solidFill>
              <a:srgbClr val="DDE6EF"/>
            </a:solidFill>
          </a:ln>
        </p:spPr>
      </p:sp>
      <p:grpSp>
        <p:nvGrpSpPr>
          <p:cNvPr id="50" name="Group 50"/>
          <p:cNvGrpSpPr/>
          <p:nvPr/>
        </p:nvGrpSpPr>
        <p:grpSpPr>
          <a:xfrm>
            <a:off x="536258" y="1647349"/>
            <a:ext cx="7668387" cy="4210526"/>
            <a:chOff x="536258" y="1647349"/>
            <a:chExt cx="7668387" cy="4210526"/>
          </a:xfrm>
        </p:grpSpPr>
        <p:sp>
          <p:nvSpPr>
            <p:cNvPr id="7" name="Line 7"/>
            <p:cNvSpPr/>
            <p:nvPr/>
          </p:nvSpPr>
          <p:spPr>
            <a:xfrm>
              <a:off x="1047750" y="5429250"/>
              <a:ext cx="7000875" cy="9525"/>
            </a:xfrm>
            <a:custGeom>
              <a:avLst/>
              <a:gdLst/>
              <a:ahLst/>
              <a:cxnLst/>
              <a:rect l="l" t="t" r="r" b="b"/>
              <a:pathLst>
                <a:path w="7000875" h="9525">
                  <a:moveTo>
                    <a:pt x="0" y="0"/>
                  </a:moveTo>
                  <a:lnTo>
                    <a:pt x="7000875" y="0"/>
                  </a:lnTo>
                </a:path>
              </a:pathLst>
            </a:custGeom>
            <a:noFill/>
            <a:ln w="19050">
              <a:solidFill>
                <a:srgbClr val="DDE6EF"/>
              </a:solidFill>
            </a:ln>
          </p:spPr>
        </p:sp>
        <p:sp>
          <p:nvSpPr>
            <p:cNvPr id="8" name="Line 8"/>
            <p:cNvSpPr/>
            <p:nvPr/>
          </p:nvSpPr>
          <p:spPr>
            <a:xfrm>
              <a:off x="1047750" y="4524375"/>
              <a:ext cx="7000875" cy="9525"/>
            </a:xfrm>
            <a:custGeom>
              <a:avLst/>
              <a:gdLst/>
              <a:ahLst/>
              <a:cxnLst/>
              <a:rect l="l" t="t" r="r" b="b"/>
              <a:pathLst>
                <a:path w="7000875" h="9525">
                  <a:moveTo>
                    <a:pt x="0" y="0"/>
                  </a:moveTo>
                  <a:lnTo>
                    <a:pt x="7000875" y="0"/>
                  </a:lnTo>
                </a:path>
              </a:pathLst>
            </a:custGeom>
            <a:noFill/>
            <a:ln w="9525">
              <a:solidFill>
                <a:srgbClr val="E9EEF4"/>
              </a:solidFill>
            </a:ln>
          </p:spPr>
        </p:sp>
        <p:sp>
          <p:nvSpPr>
            <p:cNvPr id="9" name="Line 9"/>
            <p:cNvSpPr/>
            <p:nvPr/>
          </p:nvSpPr>
          <p:spPr>
            <a:xfrm>
              <a:off x="1047750" y="3619500"/>
              <a:ext cx="7000875" cy="9525"/>
            </a:xfrm>
            <a:custGeom>
              <a:avLst/>
              <a:gdLst/>
              <a:ahLst/>
              <a:cxnLst/>
              <a:rect l="l" t="t" r="r" b="b"/>
              <a:pathLst>
                <a:path w="7000875" h="9525">
                  <a:moveTo>
                    <a:pt x="0" y="0"/>
                  </a:moveTo>
                  <a:lnTo>
                    <a:pt x="7000875" y="0"/>
                  </a:lnTo>
                </a:path>
              </a:pathLst>
            </a:custGeom>
            <a:noFill/>
            <a:ln w="9525">
              <a:solidFill>
                <a:srgbClr val="E9EEF4"/>
              </a:solidFill>
            </a:ln>
          </p:spPr>
        </p:sp>
        <p:sp>
          <p:nvSpPr>
            <p:cNvPr id="10" name="Line 10"/>
            <p:cNvSpPr/>
            <p:nvPr/>
          </p:nvSpPr>
          <p:spPr>
            <a:xfrm>
              <a:off x="1047750" y="2714625"/>
              <a:ext cx="7000875" cy="9525"/>
            </a:xfrm>
            <a:custGeom>
              <a:avLst/>
              <a:gdLst/>
              <a:ahLst/>
              <a:cxnLst/>
              <a:rect l="l" t="t" r="r" b="b"/>
              <a:pathLst>
                <a:path w="7000875" h="9525">
                  <a:moveTo>
                    <a:pt x="0" y="0"/>
                  </a:moveTo>
                  <a:lnTo>
                    <a:pt x="7000875" y="0"/>
                  </a:lnTo>
                </a:path>
              </a:pathLst>
            </a:custGeom>
            <a:noFill/>
            <a:ln w="9525">
              <a:solidFill>
                <a:srgbClr val="E9EEF4"/>
              </a:solidFill>
            </a:ln>
          </p:spPr>
        </p:sp>
        <p:sp>
          <p:nvSpPr>
            <p:cNvPr id="11" name="Line 11"/>
            <p:cNvSpPr/>
            <p:nvPr/>
          </p:nvSpPr>
          <p:spPr>
            <a:xfrm>
              <a:off x="1047750" y="1809750"/>
              <a:ext cx="7000875" cy="9525"/>
            </a:xfrm>
            <a:custGeom>
              <a:avLst/>
              <a:gdLst/>
              <a:ahLst/>
              <a:cxnLst/>
              <a:rect l="l" t="t" r="r" b="b"/>
              <a:pathLst>
                <a:path w="7000875" h="9525">
                  <a:moveTo>
                    <a:pt x="0" y="0"/>
                  </a:moveTo>
                  <a:lnTo>
                    <a:pt x="7000875" y="0"/>
                  </a:lnTo>
                </a:path>
              </a:pathLst>
            </a:custGeom>
            <a:noFill/>
            <a:ln w="9525">
              <a:solidFill>
                <a:srgbClr val="DDE6EF"/>
              </a:solidFill>
            </a:ln>
          </p:spPr>
        </p:sp>
        <p:sp>
          <p:nvSpPr>
            <p:cNvPr id="12" name="Line 12"/>
            <p:cNvSpPr/>
            <p:nvPr/>
          </p:nvSpPr>
          <p:spPr>
            <a:xfrm>
              <a:off x="1047750" y="1809750"/>
              <a:ext cx="9525" cy="3619500"/>
            </a:xfrm>
            <a:custGeom>
              <a:avLst/>
              <a:gdLst/>
              <a:ahLst/>
              <a:cxnLst/>
              <a:rect l="l" t="t" r="r" b="b"/>
              <a:pathLst>
                <a:path w="9525" h="3619500">
                  <a:moveTo>
                    <a:pt x="0" y="0"/>
                  </a:moveTo>
                  <a:lnTo>
                    <a:pt x="0" y="3619500"/>
                  </a:lnTo>
                </a:path>
              </a:pathLst>
            </a:custGeom>
            <a:noFill/>
            <a:ln w="19050">
              <a:solidFill>
                <a:srgbClr val="DDE6EF"/>
              </a:solidFill>
            </a:ln>
          </p:spPr>
        </p:sp>
        <p:sp>
          <p:nvSpPr>
            <p:cNvPr id="13" name="Line 13"/>
            <p:cNvSpPr/>
            <p:nvPr/>
          </p:nvSpPr>
          <p:spPr>
            <a:xfrm>
              <a:off x="1047750" y="4050030"/>
              <a:ext cx="7000875" cy="9525"/>
            </a:xfrm>
            <a:custGeom>
              <a:avLst/>
              <a:gdLst/>
              <a:ahLst/>
              <a:cxnLst/>
              <a:rect l="l" t="t" r="r" b="b"/>
              <a:pathLst>
                <a:path w="7000875" h="9525">
                  <a:moveTo>
                    <a:pt x="0" y="0"/>
                  </a:moveTo>
                  <a:lnTo>
                    <a:pt x="7000875" y="0"/>
                  </a:lnTo>
                </a:path>
              </a:pathLst>
            </a:custGeom>
            <a:noFill/>
            <a:ln w="19050">
              <a:solidFill>
                <a:srgbClr val="607D8B"/>
              </a:solidFill>
              <a:custDash>
                <a:ds d="300000" sp="300000"/>
              </a:custDash>
            </a:ln>
          </p:spPr>
        </p:sp>
        <p:sp>
          <p:nvSpPr>
            <p:cNvPr id="14" name="TextBox 14"/>
            <p:cNvSpPr txBox="1"/>
            <p:nvPr/>
          </p:nvSpPr>
          <p:spPr>
            <a:xfrm>
              <a:off x="536258" y="5370195"/>
              <a:ext cx="351472"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-1600</a:t>
              </a:r>
            </a:p>
          </p:txBody>
        </p:sp>
        <p:sp>
          <p:nvSpPr>
            <p:cNvPr id="15" name="TextBox 15"/>
            <p:cNvSpPr txBox="1"/>
            <p:nvPr/>
          </p:nvSpPr>
          <p:spPr>
            <a:xfrm>
              <a:off x="792575" y="3989070"/>
              <a:ext cx="95155"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0</a:t>
              </a:r>
            </a:p>
          </p:txBody>
        </p:sp>
        <p:sp>
          <p:nvSpPr>
            <p:cNvPr id="16" name="TextBox 16"/>
            <p:cNvSpPr txBox="1"/>
            <p:nvPr/>
          </p:nvSpPr>
          <p:spPr>
            <a:xfrm>
              <a:off x="575691" y="1750695"/>
              <a:ext cx="312039"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2600</a:t>
              </a:r>
            </a:p>
          </p:txBody>
        </p:sp>
        <p:sp>
          <p:nvSpPr>
            <p:cNvPr id="17" name="Polyline 17"/>
            <p:cNvSpPr/>
            <p:nvPr/>
          </p:nvSpPr>
          <p:spPr>
            <a:xfrm>
              <a:off x="1047750" y="3568065"/>
              <a:ext cx="7000875" cy="315277"/>
            </a:xfrm>
            <a:custGeom>
              <a:avLst/>
              <a:gdLst/>
              <a:ahLst/>
              <a:cxnLst/>
              <a:rect l="l" t="t" r="r" b="b"/>
              <a:pathLst>
                <a:path w="7000875" h="315277">
                  <a:moveTo>
                    <a:pt x="0" y="315277"/>
                  </a:moveTo>
                  <a:lnTo>
                    <a:pt x="778192" y="287655"/>
                  </a:lnTo>
                  <a:lnTo>
                    <a:pt x="1555432" y="107632"/>
                  </a:lnTo>
                  <a:lnTo>
                    <a:pt x="2333625" y="133350"/>
                  </a:lnTo>
                  <a:lnTo>
                    <a:pt x="3111818" y="304800"/>
                  </a:lnTo>
                  <a:lnTo>
                    <a:pt x="3889057" y="255270"/>
                  </a:lnTo>
                  <a:lnTo>
                    <a:pt x="4667250" y="206692"/>
                  </a:lnTo>
                  <a:lnTo>
                    <a:pt x="5445442" y="0"/>
                  </a:lnTo>
                  <a:lnTo>
                    <a:pt x="6222682" y="24765"/>
                  </a:lnTo>
                  <a:lnTo>
                    <a:pt x="7000875" y="251460"/>
                  </a:lnTo>
                </a:path>
              </a:pathLst>
            </a:custGeom>
            <a:noFill/>
            <a:ln w="38100" cap="rnd">
              <a:solidFill>
                <a:srgbClr val="1565C0"/>
              </a:solidFill>
              <a:round/>
            </a:ln>
          </p:spPr>
        </p:sp>
        <p:sp>
          <p:nvSpPr>
            <p:cNvPr id="18" name="Polyline 18"/>
            <p:cNvSpPr/>
            <p:nvPr/>
          </p:nvSpPr>
          <p:spPr>
            <a:xfrm>
              <a:off x="1047750" y="2015490"/>
              <a:ext cx="7000875" cy="3224212"/>
            </a:xfrm>
            <a:custGeom>
              <a:avLst/>
              <a:gdLst/>
              <a:ahLst/>
              <a:cxnLst/>
              <a:rect l="l" t="t" r="r" b="b"/>
              <a:pathLst>
                <a:path w="7000875" h="3224212">
                  <a:moveTo>
                    <a:pt x="0" y="1699260"/>
                  </a:moveTo>
                  <a:lnTo>
                    <a:pt x="778192" y="1677352"/>
                  </a:lnTo>
                  <a:lnTo>
                    <a:pt x="1555432" y="1604010"/>
                  </a:lnTo>
                  <a:lnTo>
                    <a:pt x="2333625" y="1561148"/>
                  </a:lnTo>
                  <a:lnTo>
                    <a:pt x="3111818" y="1602105"/>
                  </a:lnTo>
                  <a:lnTo>
                    <a:pt x="3889057" y="3181350"/>
                  </a:lnTo>
                  <a:lnTo>
                    <a:pt x="4667250" y="3224212"/>
                  </a:lnTo>
                  <a:lnTo>
                    <a:pt x="5445442" y="2185035"/>
                  </a:lnTo>
                  <a:lnTo>
                    <a:pt x="6222682" y="1325880"/>
                  </a:lnTo>
                  <a:lnTo>
                    <a:pt x="7000875" y="0"/>
                  </a:lnTo>
                </a:path>
              </a:pathLst>
            </a:custGeom>
            <a:noFill/>
            <a:ln w="38100" cap="rnd">
              <a:solidFill>
                <a:srgbClr val="C41E3A"/>
              </a:solidFill>
              <a:round/>
            </a:ln>
          </p:spPr>
        </p:sp>
        <p:sp>
          <p:nvSpPr>
            <p:cNvPr id="19" name="Line 19"/>
            <p:cNvSpPr/>
            <p:nvPr/>
          </p:nvSpPr>
          <p:spPr>
            <a:xfrm>
              <a:off x="5715000" y="1809750"/>
              <a:ext cx="9525" cy="3619500"/>
            </a:xfrm>
            <a:custGeom>
              <a:avLst/>
              <a:gdLst/>
              <a:ahLst/>
              <a:cxnLst/>
              <a:rect l="l" t="t" r="r" b="b"/>
              <a:pathLst>
                <a:path w="9525" h="3619500">
                  <a:moveTo>
                    <a:pt x="0" y="0"/>
                  </a:moveTo>
                  <a:lnTo>
                    <a:pt x="0" y="3619500"/>
                  </a:lnTo>
                </a:path>
              </a:pathLst>
            </a:custGeom>
            <a:noFill/>
            <a:ln w="19050">
              <a:solidFill>
                <a:srgbClr val="C41E3A"/>
              </a:solidFill>
              <a:custDash>
                <a:ds d="300000" sp="300000"/>
              </a:custDash>
            </a:ln>
          </p:spPr>
        </p:sp>
        <p:sp>
          <p:nvSpPr>
            <p:cNvPr id="20" name="TextBox 20"/>
            <p:cNvSpPr txBox="1"/>
            <p:nvPr/>
          </p:nvSpPr>
          <p:spPr>
            <a:xfrm>
              <a:off x="5328821" y="1647349"/>
              <a:ext cx="772358" cy="198120"/>
            </a:xfrm>
            <a:prstGeom prst="rect">
              <a:avLst/>
            </a:prstGeom>
            <a:noFill/>
            <a:ln>
              <a:noFill/>
            </a:ln>
          </p:spPr>
          <p:txBody>
            <a:bodyPr wrap="none" lIns="0" tIns="0" rIns="0" bIns="0" anchor="t" anchorCtr="0">
              <a:spAutoFit/>
            </a:bodyPr>
            <a:lstStyle/>
            <a:p>
              <a:pPr algn="ctr"/>
              <a:r>
                <a:rPr lang="zh-CN" sz="975" b="1" dirty="0">
                  <a:solidFill>
                    <a:srgbClr val="C41E3A"/>
                  </a:solidFill>
                  <a:latin typeface="Arial"/>
                  <a:ea typeface="Microsoft YaHei"/>
                  <a:cs typeface="Arial"/>
                </a:rPr>
                <a:t>最低变化率</a:t>
              </a:r>
            </a:p>
          </p:txBody>
        </p:sp>
        <p:grpSp>
          <p:nvGrpSpPr>
            <p:cNvPr id="31" name="Group 31"/>
            <p:cNvGrpSpPr/>
            <p:nvPr/>
          </p:nvGrpSpPr>
          <p:grpSpPr>
            <a:xfrm>
              <a:off x="1000125" y="3520440"/>
              <a:ext cx="7096125" cy="410528"/>
              <a:chOff x="1000125" y="3520440"/>
              <a:chExt cx="7096125" cy="410528"/>
            </a:xfrm>
          </p:grpSpPr>
          <p:sp>
            <p:nvSpPr>
              <p:cNvPr id="21" name="Ellipse 21"/>
              <p:cNvSpPr/>
              <p:nvPr/>
            </p:nvSpPr>
            <p:spPr>
              <a:xfrm>
                <a:off x="1000125" y="3835718"/>
                <a:ext cx="95250" cy="95250"/>
              </a:xfrm>
              <a:prstGeom prst="ellipse">
                <a:avLst/>
              </a:prstGeom>
              <a:solidFill>
                <a:srgbClr val="1565C0"/>
              </a:solidFill>
              <a:ln w="19050">
                <a:solidFill>
                  <a:srgbClr val="FFFFFF"/>
                </a:solidFill>
              </a:ln>
            </p:spPr>
          </p:sp>
          <p:sp>
            <p:nvSpPr>
              <p:cNvPr id="22" name="Ellipse 22"/>
              <p:cNvSpPr/>
              <p:nvPr/>
            </p:nvSpPr>
            <p:spPr>
              <a:xfrm>
                <a:off x="1778318" y="3808095"/>
                <a:ext cx="95250" cy="95250"/>
              </a:xfrm>
              <a:prstGeom prst="ellipse">
                <a:avLst/>
              </a:prstGeom>
              <a:solidFill>
                <a:srgbClr val="1565C0"/>
              </a:solidFill>
              <a:ln w="19050">
                <a:solidFill>
                  <a:srgbClr val="FFFFFF"/>
                </a:solidFill>
              </a:ln>
            </p:spPr>
          </p:sp>
          <p:sp>
            <p:nvSpPr>
              <p:cNvPr id="23" name="Ellipse 23"/>
              <p:cNvSpPr/>
              <p:nvPr/>
            </p:nvSpPr>
            <p:spPr>
              <a:xfrm>
                <a:off x="2555558" y="3628072"/>
                <a:ext cx="95250" cy="95250"/>
              </a:xfrm>
              <a:prstGeom prst="ellipse">
                <a:avLst/>
              </a:prstGeom>
              <a:solidFill>
                <a:srgbClr val="1565C0"/>
              </a:solidFill>
              <a:ln w="19050">
                <a:solidFill>
                  <a:srgbClr val="FFFFFF"/>
                </a:solidFill>
              </a:ln>
            </p:spPr>
          </p:sp>
          <p:sp>
            <p:nvSpPr>
              <p:cNvPr id="24" name="Ellipse 24"/>
              <p:cNvSpPr/>
              <p:nvPr/>
            </p:nvSpPr>
            <p:spPr>
              <a:xfrm>
                <a:off x="3333750" y="3653790"/>
                <a:ext cx="95250" cy="95250"/>
              </a:xfrm>
              <a:prstGeom prst="ellipse">
                <a:avLst/>
              </a:prstGeom>
              <a:solidFill>
                <a:srgbClr val="1565C0"/>
              </a:solidFill>
              <a:ln w="19050">
                <a:solidFill>
                  <a:srgbClr val="FFFFFF"/>
                </a:solidFill>
              </a:ln>
            </p:spPr>
          </p:sp>
          <p:sp>
            <p:nvSpPr>
              <p:cNvPr id="25" name="Ellipse 25"/>
              <p:cNvSpPr/>
              <p:nvPr/>
            </p:nvSpPr>
            <p:spPr>
              <a:xfrm>
                <a:off x="4111942" y="3825240"/>
                <a:ext cx="95250" cy="95250"/>
              </a:xfrm>
              <a:prstGeom prst="ellipse">
                <a:avLst/>
              </a:prstGeom>
              <a:solidFill>
                <a:srgbClr val="1565C0"/>
              </a:solidFill>
              <a:ln w="19050">
                <a:solidFill>
                  <a:srgbClr val="FFFFFF"/>
                </a:solidFill>
              </a:ln>
            </p:spPr>
          </p:sp>
          <p:sp>
            <p:nvSpPr>
              <p:cNvPr id="26" name="Ellipse 26"/>
              <p:cNvSpPr/>
              <p:nvPr/>
            </p:nvSpPr>
            <p:spPr>
              <a:xfrm>
                <a:off x="4889182" y="3775710"/>
                <a:ext cx="95250" cy="95250"/>
              </a:xfrm>
              <a:prstGeom prst="ellipse">
                <a:avLst/>
              </a:prstGeom>
              <a:solidFill>
                <a:srgbClr val="1565C0"/>
              </a:solidFill>
              <a:ln w="19050">
                <a:solidFill>
                  <a:srgbClr val="FFFFFF"/>
                </a:solidFill>
              </a:ln>
            </p:spPr>
          </p:sp>
          <p:sp>
            <p:nvSpPr>
              <p:cNvPr id="27" name="Ellipse 27"/>
              <p:cNvSpPr/>
              <p:nvPr/>
            </p:nvSpPr>
            <p:spPr>
              <a:xfrm>
                <a:off x="5667375" y="3727132"/>
                <a:ext cx="95250" cy="95250"/>
              </a:xfrm>
              <a:prstGeom prst="ellipse">
                <a:avLst/>
              </a:prstGeom>
              <a:solidFill>
                <a:srgbClr val="1565C0"/>
              </a:solidFill>
              <a:ln w="19050">
                <a:solidFill>
                  <a:srgbClr val="FFFFFF"/>
                </a:solidFill>
              </a:ln>
            </p:spPr>
          </p:sp>
          <p:sp>
            <p:nvSpPr>
              <p:cNvPr id="28" name="Ellipse 28"/>
              <p:cNvSpPr/>
              <p:nvPr/>
            </p:nvSpPr>
            <p:spPr>
              <a:xfrm>
                <a:off x="6445568" y="3520440"/>
                <a:ext cx="95250" cy="95250"/>
              </a:xfrm>
              <a:prstGeom prst="ellipse">
                <a:avLst/>
              </a:prstGeom>
              <a:solidFill>
                <a:srgbClr val="1565C0"/>
              </a:solidFill>
              <a:ln w="19050">
                <a:solidFill>
                  <a:srgbClr val="FFFFFF"/>
                </a:solidFill>
              </a:ln>
            </p:spPr>
          </p:sp>
          <p:sp>
            <p:nvSpPr>
              <p:cNvPr id="29" name="Ellipse 29"/>
              <p:cNvSpPr/>
              <p:nvPr/>
            </p:nvSpPr>
            <p:spPr>
              <a:xfrm>
                <a:off x="7222808" y="3545205"/>
                <a:ext cx="95250" cy="95250"/>
              </a:xfrm>
              <a:prstGeom prst="ellipse">
                <a:avLst/>
              </a:prstGeom>
              <a:solidFill>
                <a:srgbClr val="1565C0"/>
              </a:solidFill>
              <a:ln w="19050">
                <a:solidFill>
                  <a:srgbClr val="FFFFFF"/>
                </a:solidFill>
              </a:ln>
            </p:spPr>
          </p:sp>
          <p:sp>
            <p:nvSpPr>
              <p:cNvPr id="30" name="Ellipse 30"/>
              <p:cNvSpPr/>
              <p:nvPr/>
            </p:nvSpPr>
            <p:spPr>
              <a:xfrm>
                <a:off x="8001000" y="3771900"/>
                <a:ext cx="95250" cy="95250"/>
              </a:xfrm>
              <a:prstGeom prst="ellipse">
                <a:avLst/>
              </a:prstGeom>
              <a:solidFill>
                <a:srgbClr val="1565C0"/>
              </a:solidFill>
              <a:ln w="19050">
                <a:solidFill>
                  <a:srgbClr val="FFFFFF"/>
                </a:solidFill>
              </a:ln>
            </p:spPr>
          </p:sp>
        </p:grpSp>
        <p:grpSp>
          <p:nvGrpSpPr>
            <p:cNvPr id="42" name="Group 42"/>
            <p:cNvGrpSpPr/>
            <p:nvPr/>
          </p:nvGrpSpPr>
          <p:grpSpPr>
            <a:xfrm>
              <a:off x="1000125" y="1967865"/>
              <a:ext cx="7096125" cy="3319463"/>
              <a:chOff x="1000125" y="1967865"/>
              <a:chExt cx="7096125" cy="3319463"/>
            </a:xfrm>
          </p:grpSpPr>
          <p:sp>
            <p:nvSpPr>
              <p:cNvPr id="32" name="Ellipse 32"/>
              <p:cNvSpPr/>
              <p:nvPr/>
            </p:nvSpPr>
            <p:spPr>
              <a:xfrm>
                <a:off x="1000125" y="3667125"/>
                <a:ext cx="95250" cy="95250"/>
              </a:xfrm>
              <a:prstGeom prst="ellipse">
                <a:avLst/>
              </a:prstGeom>
              <a:solidFill>
                <a:srgbClr val="C41E3A"/>
              </a:solidFill>
              <a:ln w="19050">
                <a:solidFill>
                  <a:srgbClr val="FFFFFF"/>
                </a:solidFill>
              </a:ln>
            </p:spPr>
          </p:sp>
          <p:sp>
            <p:nvSpPr>
              <p:cNvPr id="33" name="Ellipse 33"/>
              <p:cNvSpPr/>
              <p:nvPr/>
            </p:nvSpPr>
            <p:spPr>
              <a:xfrm>
                <a:off x="1778318" y="3645218"/>
                <a:ext cx="95250" cy="95250"/>
              </a:xfrm>
              <a:prstGeom prst="ellipse">
                <a:avLst/>
              </a:prstGeom>
              <a:solidFill>
                <a:srgbClr val="C41E3A"/>
              </a:solidFill>
              <a:ln w="19050">
                <a:solidFill>
                  <a:srgbClr val="FFFFFF"/>
                </a:solidFill>
              </a:ln>
            </p:spPr>
          </p:sp>
          <p:sp>
            <p:nvSpPr>
              <p:cNvPr id="34" name="Ellipse 34"/>
              <p:cNvSpPr/>
              <p:nvPr/>
            </p:nvSpPr>
            <p:spPr>
              <a:xfrm>
                <a:off x="2555558" y="3571875"/>
                <a:ext cx="95250" cy="95250"/>
              </a:xfrm>
              <a:prstGeom prst="ellipse">
                <a:avLst/>
              </a:prstGeom>
              <a:solidFill>
                <a:srgbClr val="C41E3A"/>
              </a:solidFill>
              <a:ln w="19050">
                <a:solidFill>
                  <a:srgbClr val="FFFFFF"/>
                </a:solidFill>
              </a:ln>
            </p:spPr>
          </p:sp>
          <p:sp>
            <p:nvSpPr>
              <p:cNvPr id="35" name="Ellipse 35"/>
              <p:cNvSpPr/>
              <p:nvPr/>
            </p:nvSpPr>
            <p:spPr>
              <a:xfrm>
                <a:off x="3333750" y="3529012"/>
                <a:ext cx="95250" cy="95250"/>
              </a:xfrm>
              <a:prstGeom prst="ellipse">
                <a:avLst/>
              </a:prstGeom>
              <a:solidFill>
                <a:srgbClr val="C41E3A"/>
              </a:solidFill>
              <a:ln w="19050">
                <a:solidFill>
                  <a:srgbClr val="FFFFFF"/>
                </a:solidFill>
              </a:ln>
            </p:spPr>
          </p:sp>
          <p:sp>
            <p:nvSpPr>
              <p:cNvPr id="36" name="Ellipse 36"/>
              <p:cNvSpPr/>
              <p:nvPr/>
            </p:nvSpPr>
            <p:spPr>
              <a:xfrm>
                <a:off x="4111942" y="3569970"/>
                <a:ext cx="95250" cy="95250"/>
              </a:xfrm>
              <a:prstGeom prst="ellipse">
                <a:avLst/>
              </a:prstGeom>
              <a:solidFill>
                <a:srgbClr val="C41E3A"/>
              </a:solidFill>
              <a:ln w="19050">
                <a:solidFill>
                  <a:srgbClr val="FFFFFF"/>
                </a:solidFill>
              </a:ln>
            </p:spPr>
          </p:sp>
          <p:sp>
            <p:nvSpPr>
              <p:cNvPr id="37" name="Ellipse 37"/>
              <p:cNvSpPr/>
              <p:nvPr/>
            </p:nvSpPr>
            <p:spPr>
              <a:xfrm>
                <a:off x="4889182" y="5149215"/>
                <a:ext cx="95250" cy="95250"/>
              </a:xfrm>
              <a:prstGeom prst="ellipse">
                <a:avLst/>
              </a:prstGeom>
              <a:solidFill>
                <a:srgbClr val="C41E3A"/>
              </a:solidFill>
              <a:ln w="19050">
                <a:solidFill>
                  <a:srgbClr val="FFFFFF"/>
                </a:solidFill>
              </a:ln>
            </p:spPr>
          </p:sp>
          <p:sp>
            <p:nvSpPr>
              <p:cNvPr id="38" name="Ellipse 38"/>
              <p:cNvSpPr/>
              <p:nvPr/>
            </p:nvSpPr>
            <p:spPr>
              <a:xfrm>
                <a:off x="5667375" y="5192078"/>
                <a:ext cx="95250" cy="95250"/>
              </a:xfrm>
              <a:prstGeom prst="ellipse">
                <a:avLst/>
              </a:prstGeom>
              <a:solidFill>
                <a:srgbClr val="C41E3A"/>
              </a:solidFill>
              <a:ln w="19050">
                <a:solidFill>
                  <a:srgbClr val="FFFFFF"/>
                </a:solidFill>
              </a:ln>
            </p:spPr>
          </p:sp>
          <p:sp>
            <p:nvSpPr>
              <p:cNvPr id="39" name="Ellipse 39"/>
              <p:cNvSpPr/>
              <p:nvPr/>
            </p:nvSpPr>
            <p:spPr>
              <a:xfrm>
                <a:off x="6445568" y="4152900"/>
                <a:ext cx="95250" cy="95250"/>
              </a:xfrm>
              <a:prstGeom prst="ellipse">
                <a:avLst/>
              </a:prstGeom>
              <a:solidFill>
                <a:srgbClr val="C41E3A"/>
              </a:solidFill>
              <a:ln w="19050">
                <a:solidFill>
                  <a:srgbClr val="FFFFFF"/>
                </a:solidFill>
              </a:ln>
            </p:spPr>
          </p:sp>
          <p:sp>
            <p:nvSpPr>
              <p:cNvPr id="40" name="Ellipse 40"/>
              <p:cNvSpPr/>
              <p:nvPr/>
            </p:nvSpPr>
            <p:spPr>
              <a:xfrm>
                <a:off x="7222808" y="3293745"/>
                <a:ext cx="95250" cy="95250"/>
              </a:xfrm>
              <a:prstGeom prst="ellipse">
                <a:avLst/>
              </a:prstGeom>
              <a:solidFill>
                <a:srgbClr val="C41E3A"/>
              </a:solidFill>
              <a:ln w="19050">
                <a:solidFill>
                  <a:srgbClr val="FFFFFF"/>
                </a:solidFill>
              </a:ln>
            </p:spPr>
          </p:sp>
          <p:sp>
            <p:nvSpPr>
              <p:cNvPr id="41" name="Ellipse 41"/>
              <p:cNvSpPr/>
              <p:nvPr/>
            </p:nvSpPr>
            <p:spPr>
              <a:xfrm>
                <a:off x="8001000" y="1967865"/>
                <a:ext cx="95250" cy="95250"/>
              </a:xfrm>
              <a:prstGeom prst="ellipse">
                <a:avLst/>
              </a:prstGeom>
              <a:solidFill>
                <a:srgbClr val="C41E3A"/>
              </a:solidFill>
              <a:ln w="19050">
                <a:solidFill>
                  <a:srgbClr val="FFFFFF"/>
                </a:solidFill>
              </a:ln>
            </p:spPr>
          </p:sp>
        </p:grpSp>
        <p:grpSp>
          <p:nvGrpSpPr>
            <p:cNvPr id="49" name="Group 49"/>
            <p:cNvGrpSpPr/>
            <p:nvPr/>
          </p:nvGrpSpPr>
          <p:grpSpPr>
            <a:xfrm>
              <a:off x="908161" y="5674995"/>
              <a:ext cx="7296484" cy="182880"/>
              <a:chOff x="908161" y="5674995"/>
              <a:chExt cx="7296484" cy="182880"/>
            </a:xfrm>
          </p:grpSpPr>
          <p:sp>
            <p:nvSpPr>
              <p:cNvPr id="43" name="TextBox 43"/>
              <p:cNvSpPr txBox="1"/>
              <p:nvPr/>
            </p:nvSpPr>
            <p:spPr>
              <a:xfrm>
                <a:off x="908161"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2014</a:t>
                </a:r>
              </a:p>
            </p:txBody>
          </p:sp>
          <p:sp>
            <p:nvSpPr>
              <p:cNvPr id="44" name="TextBox 44"/>
              <p:cNvSpPr txBox="1"/>
              <p:nvPr/>
            </p:nvSpPr>
            <p:spPr>
              <a:xfrm>
                <a:off x="2460736"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2016</a:t>
                </a:r>
              </a:p>
            </p:txBody>
          </p:sp>
          <p:sp>
            <p:nvSpPr>
              <p:cNvPr id="45" name="TextBox 45"/>
              <p:cNvSpPr txBox="1"/>
              <p:nvPr/>
            </p:nvSpPr>
            <p:spPr>
              <a:xfrm>
                <a:off x="4022836"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2018</a:t>
                </a:r>
              </a:p>
            </p:txBody>
          </p:sp>
          <p:sp>
            <p:nvSpPr>
              <p:cNvPr id="46" name="TextBox 46"/>
              <p:cNvSpPr txBox="1"/>
              <p:nvPr/>
            </p:nvSpPr>
            <p:spPr>
              <a:xfrm>
                <a:off x="5558980"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2020</a:t>
                </a:r>
              </a:p>
            </p:txBody>
          </p:sp>
          <p:sp>
            <p:nvSpPr>
              <p:cNvPr id="47" name="TextBox 47"/>
              <p:cNvSpPr txBox="1"/>
              <p:nvPr/>
            </p:nvSpPr>
            <p:spPr>
              <a:xfrm>
                <a:off x="7111556"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2022</a:t>
                </a:r>
              </a:p>
            </p:txBody>
          </p:sp>
          <p:sp>
            <p:nvSpPr>
              <p:cNvPr id="48" name="TextBox 48"/>
              <p:cNvSpPr txBox="1"/>
              <p:nvPr/>
            </p:nvSpPr>
            <p:spPr>
              <a:xfrm>
                <a:off x="7892606"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2023</a:t>
                </a:r>
              </a:p>
            </p:txBody>
          </p:sp>
        </p:grpSp>
      </p:grpSp>
      <p:sp>
        <p:nvSpPr>
          <p:cNvPr id="51" name="Line 51"/>
          <p:cNvSpPr/>
          <p:nvPr/>
        </p:nvSpPr>
        <p:spPr>
          <a:xfrm>
            <a:off x="2381250" y="5981700"/>
            <a:ext cx="381000" cy="9525"/>
          </a:xfrm>
          <a:custGeom>
            <a:avLst/>
            <a:gdLst/>
            <a:ahLst/>
            <a:cxnLst/>
            <a:rect l="l" t="t" r="r" b="b"/>
            <a:pathLst>
              <a:path w="381000" h="9525">
                <a:moveTo>
                  <a:pt x="0" y="0"/>
                </a:moveTo>
                <a:lnTo>
                  <a:pt x="381000" y="0"/>
                </a:lnTo>
              </a:path>
            </a:pathLst>
          </a:custGeom>
          <a:noFill/>
          <a:ln w="38100">
            <a:solidFill>
              <a:srgbClr val="1565C0"/>
            </a:solidFill>
          </a:ln>
        </p:spPr>
      </p:sp>
      <p:sp>
        <p:nvSpPr>
          <p:cNvPr id="52" name="TextBox 52"/>
          <p:cNvSpPr txBox="1"/>
          <p:nvPr/>
        </p:nvSpPr>
        <p:spPr>
          <a:xfrm>
            <a:off x="2863215" y="5915978"/>
            <a:ext cx="1100137"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博物馆年度增量</a:t>
            </a:r>
          </a:p>
        </p:txBody>
      </p:sp>
      <p:sp>
        <p:nvSpPr>
          <p:cNvPr id="53" name="Line 53"/>
          <p:cNvSpPr/>
          <p:nvPr/>
        </p:nvSpPr>
        <p:spPr>
          <a:xfrm>
            <a:off x="4762500" y="5981700"/>
            <a:ext cx="381000" cy="9525"/>
          </a:xfrm>
          <a:custGeom>
            <a:avLst/>
            <a:gdLst/>
            <a:ahLst/>
            <a:cxnLst/>
            <a:rect l="l" t="t" r="r" b="b"/>
            <a:pathLst>
              <a:path w="381000" h="9525">
                <a:moveTo>
                  <a:pt x="0" y="0"/>
                </a:moveTo>
                <a:lnTo>
                  <a:pt x="381000" y="0"/>
                </a:lnTo>
              </a:path>
            </a:pathLst>
          </a:custGeom>
          <a:noFill/>
          <a:ln w="38100">
            <a:solidFill>
              <a:srgbClr val="C41E3A"/>
            </a:solidFill>
          </a:ln>
        </p:spPr>
      </p:sp>
      <p:sp>
        <p:nvSpPr>
          <p:cNvPr id="54" name="TextBox 54"/>
          <p:cNvSpPr txBox="1"/>
          <p:nvPr/>
        </p:nvSpPr>
        <p:spPr>
          <a:xfrm>
            <a:off x="5244465" y="5915978"/>
            <a:ext cx="946785"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游客年度变化</a:t>
            </a:r>
          </a:p>
        </p:txBody>
      </p:sp>
      <p:sp>
        <p:nvSpPr>
          <p:cNvPr id="55" name="Rectangle 55"/>
          <p:cNvSpPr/>
          <p:nvPr/>
        </p:nvSpPr>
        <p:spPr>
          <a:xfrm>
            <a:off x="8858250" y="1619250"/>
            <a:ext cx="2800350" cy="4476750"/>
          </a:xfrm>
          <a:prstGeom prst="roundRect">
            <a:avLst>
              <a:gd name="adj" fmla="val 2721"/>
            </a:avLst>
          </a:prstGeom>
          <a:solidFill>
            <a:srgbClr val="FFFFFF"/>
          </a:solidFill>
          <a:ln w="9525">
            <a:solidFill>
              <a:srgbClr val="DDE6EF"/>
            </a:solidFill>
          </a:ln>
        </p:spPr>
      </p:sp>
      <p:sp>
        <p:nvSpPr>
          <p:cNvPr id="56" name="Freeform 56"/>
          <p:cNvSpPr/>
          <p:nvPr/>
        </p:nvSpPr>
        <p:spPr>
          <a:xfrm>
            <a:off x="9242425" y="2079625"/>
            <a:ext cx="241300" cy="241300"/>
          </a:xfrm>
          <a:custGeom>
            <a:avLst/>
            <a:gdLst/>
            <a:ahLst/>
            <a:cxnLst/>
            <a:rect l="l" t="t" r="r" b="b"/>
            <a:pathLst>
              <a:path w="241300" h="241300">
                <a:moveTo>
                  <a:pt x="0" y="241300"/>
                </a:moveTo>
                <a:lnTo>
                  <a:pt x="241300" y="241300"/>
                </a:lnTo>
                <a:lnTo>
                  <a:pt x="120650" y="0"/>
                </a:lnTo>
                <a:lnTo>
                  <a:pt x="0" y="241300"/>
                </a:lnTo>
              </a:path>
            </a:pathLst>
          </a:custGeom>
          <a:noFill/>
          <a:ln w="19050">
            <a:solidFill>
              <a:srgbClr val="C41E3A"/>
            </a:solidFill>
          </a:ln>
        </p:spPr>
      </p:sp>
      <p:sp>
        <p:nvSpPr>
          <p:cNvPr id="57" name="TextBox 57"/>
          <p:cNvSpPr txBox="1"/>
          <p:nvPr/>
        </p:nvSpPr>
        <p:spPr>
          <a:xfrm>
            <a:off x="9654540" y="209169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关键读数</a:t>
            </a:r>
          </a:p>
        </p:txBody>
      </p:sp>
      <p:sp>
        <p:nvSpPr>
          <p:cNvPr id="58" name="TextBox 58"/>
          <p:cNvSpPr txBox="1"/>
          <p:nvPr/>
        </p:nvSpPr>
        <p:spPr>
          <a:xfrm>
            <a:off x="9138285" y="2542222"/>
            <a:ext cx="1410295" cy="701040"/>
          </a:xfrm>
          <a:prstGeom prst="rect">
            <a:avLst/>
          </a:prstGeom>
          <a:noFill/>
          <a:ln>
            <a:noFill/>
          </a:ln>
        </p:spPr>
        <p:txBody>
          <a:bodyPr wrap="none" lIns="0" tIns="0" rIns="0" bIns="0" anchor="t" anchorCtr="0">
            <a:spAutoFit/>
          </a:bodyPr>
          <a:lstStyle/>
          <a:p>
            <a:pPr algn="l"/>
            <a:r>
              <a:rPr lang="zh-CN" sz="3450" b="1" dirty="0">
                <a:solidFill>
                  <a:srgbClr val="C41E3A"/>
                </a:solidFill>
                <a:latin typeface="Arial"/>
                <a:ea typeface="Microsoft YaHei"/>
                <a:cs typeface="Arial"/>
              </a:rPr>
              <a:t>-1380</a:t>
            </a:r>
          </a:p>
        </p:txBody>
      </p:sp>
      <p:sp>
        <p:nvSpPr>
          <p:cNvPr id="59" name="TextBox 59"/>
          <p:cNvSpPr txBox="1"/>
          <p:nvPr/>
        </p:nvSpPr>
        <p:spPr>
          <a:xfrm>
            <a:off x="9166860" y="3051810"/>
            <a:ext cx="3193923"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2020 年附近游客变化率（百万人次/年）</a:t>
            </a:r>
          </a:p>
        </p:txBody>
      </p:sp>
      <p:sp>
        <p:nvSpPr>
          <p:cNvPr id="60" name="Line 60"/>
          <p:cNvSpPr/>
          <p:nvPr/>
        </p:nvSpPr>
        <p:spPr>
          <a:xfrm>
            <a:off x="9182100" y="3486150"/>
            <a:ext cx="2133600" cy="9525"/>
          </a:xfrm>
          <a:custGeom>
            <a:avLst/>
            <a:gdLst/>
            <a:ahLst/>
            <a:cxnLst/>
            <a:rect l="l" t="t" r="r" b="b"/>
            <a:pathLst>
              <a:path w="2133600" h="9525">
                <a:moveTo>
                  <a:pt x="0" y="0"/>
                </a:moveTo>
                <a:lnTo>
                  <a:pt x="2133600" y="0"/>
                </a:lnTo>
              </a:path>
            </a:pathLst>
          </a:custGeom>
          <a:noFill/>
          <a:ln w="9525">
            <a:solidFill>
              <a:srgbClr val="DDE6EF"/>
            </a:solidFill>
          </a:ln>
        </p:spPr>
      </p:sp>
      <p:sp>
        <p:nvSpPr>
          <p:cNvPr id="61" name="TextBox 61"/>
          <p:cNvSpPr txBox="1"/>
          <p:nvPr/>
        </p:nvSpPr>
        <p:spPr>
          <a:xfrm>
            <a:off x="9138285" y="3570922"/>
            <a:ext cx="1410295" cy="701040"/>
          </a:xfrm>
          <a:prstGeom prst="rect">
            <a:avLst/>
          </a:prstGeom>
          <a:noFill/>
          <a:ln>
            <a:noFill/>
          </a:ln>
        </p:spPr>
        <p:txBody>
          <a:bodyPr wrap="none" lIns="0" tIns="0" rIns="0" bIns="0" anchor="t" anchorCtr="0">
            <a:spAutoFit/>
          </a:bodyPr>
          <a:lstStyle/>
          <a:p>
            <a:pPr algn="l"/>
            <a:r>
              <a:rPr lang="zh-CN" sz="3450" b="1" dirty="0">
                <a:solidFill>
                  <a:srgbClr val="26A69A"/>
                </a:solidFill>
                <a:latin typeface="Arial"/>
                <a:ea typeface="Microsoft YaHei"/>
                <a:cs typeface="Arial"/>
              </a:rPr>
              <a:t>+2361</a:t>
            </a:r>
          </a:p>
        </p:txBody>
      </p:sp>
      <p:sp>
        <p:nvSpPr>
          <p:cNvPr id="62" name="TextBox 62"/>
          <p:cNvSpPr txBox="1"/>
          <p:nvPr/>
        </p:nvSpPr>
        <p:spPr>
          <a:xfrm>
            <a:off x="9166860" y="4080510"/>
            <a:ext cx="309753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2023 年游客变化率，恢复速度明显抬升</a:t>
            </a:r>
          </a:p>
        </p:txBody>
      </p:sp>
      <p:sp>
        <p:nvSpPr>
          <p:cNvPr id="63" name="TextBox 63"/>
          <p:cNvSpPr txBox="1"/>
          <p:nvPr/>
        </p:nvSpPr>
        <p:spPr>
          <a:xfrm>
            <a:off x="9164955" y="4750118"/>
            <a:ext cx="448342"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解释</a:t>
            </a:r>
          </a:p>
        </p:txBody>
      </p:sp>
      <p:sp>
        <p:nvSpPr>
          <p:cNvPr id="64" name="TextBox 64"/>
          <p:cNvSpPr txBox="1"/>
          <p:nvPr/>
        </p:nvSpPr>
        <p:spPr>
          <a:xfrm>
            <a:off x="9166860" y="5071110"/>
            <a:ext cx="195834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供给侧持续扩张，需求侧</a:t>
            </a:r>
          </a:p>
        </p:txBody>
      </p:sp>
      <p:sp>
        <p:nvSpPr>
          <p:cNvPr id="65" name="TextBox 65"/>
          <p:cNvSpPr txBox="1"/>
          <p:nvPr/>
        </p:nvSpPr>
        <p:spPr>
          <a:xfrm>
            <a:off x="9166860" y="5318760"/>
            <a:ext cx="195834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受外生冲击后快速修复。</a:t>
            </a:r>
          </a:p>
        </p:txBody>
      </p:sp>
      <p:sp>
        <p:nvSpPr>
          <p:cNvPr id="66" name="TextBox 66"/>
          <p:cNvSpPr txBox="1"/>
          <p:nvPr/>
        </p:nvSpPr>
        <p:spPr>
          <a:xfrm>
            <a:off x="521970" y="6417945"/>
            <a:ext cx="280292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团队三点差分计算；单位见原始数据表</a:t>
            </a:r>
          </a:p>
        </p:txBody>
      </p:sp>
      <p:sp>
        <p:nvSpPr>
          <p:cNvPr id="67" name="TextBox 67"/>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09 / 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01015" y="372428"/>
            <a:ext cx="8667845"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相关性：平稳期高度同向，冲击期削弱全周期关系</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sp>
      <p:sp>
        <p:nvSpPr>
          <p:cNvPr id="5" name="TextBox 5"/>
          <p:cNvSpPr txBox="1"/>
          <p:nvPr/>
        </p:nvSpPr>
        <p:spPr>
          <a:xfrm>
            <a:off x="725805" y="1054418"/>
            <a:ext cx="7704106"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Pearson 相关系数显示：2014-2019 年关系非常紧密，全周期因疫情冲击转弱甚至失真。</a:t>
            </a:r>
          </a:p>
        </p:txBody>
      </p:sp>
      <p:sp>
        <p:nvSpPr>
          <p:cNvPr id="6" name="Rectangle 6"/>
          <p:cNvSpPr/>
          <p:nvPr/>
        </p:nvSpPr>
        <p:spPr>
          <a:xfrm>
            <a:off x="533400" y="1619250"/>
            <a:ext cx="7239000" cy="4476750"/>
          </a:xfrm>
          <a:prstGeom prst="roundRect">
            <a:avLst>
              <a:gd name="adj" fmla="val 1702"/>
            </a:avLst>
          </a:prstGeom>
          <a:solidFill>
            <a:srgbClr val="FFFFFF"/>
          </a:solidFill>
          <a:ln w="9525">
            <a:solidFill>
              <a:srgbClr val="DDE6EF"/>
            </a:solidFill>
          </a:ln>
        </p:spPr>
      </p:sp>
      <p:grpSp>
        <p:nvGrpSpPr>
          <p:cNvPr id="33" name="Group 33"/>
          <p:cNvGrpSpPr/>
          <p:nvPr/>
        </p:nvGrpSpPr>
        <p:grpSpPr>
          <a:xfrm>
            <a:off x="-670322" y="1750695"/>
            <a:ext cx="8065341" cy="4204811"/>
            <a:chOff x="-670322" y="1750695"/>
            <a:chExt cx="8065341" cy="4204811"/>
          </a:xfrm>
        </p:grpSpPr>
        <p:sp>
          <p:nvSpPr>
            <p:cNvPr id="7" name="Line 7"/>
            <p:cNvSpPr/>
            <p:nvPr/>
          </p:nvSpPr>
          <p:spPr>
            <a:xfrm>
              <a:off x="1143000" y="5334000"/>
              <a:ext cx="6096000" cy="9525"/>
            </a:xfrm>
            <a:custGeom>
              <a:avLst/>
              <a:gdLst/>
              <a:ahLst/>
              <a:cxnLst/>
              <a:rect l="l" t="t" r="r" b="b"/>
              <a:pathLst>
                <a:path w="6096000" h="9525">
                  <a:moveTo>
                    <a:pt x="0" y="0"/>
                  </a:moveTo>
                  <a:lnTo>
                    <a:pt x="6096000" y="0"/>
                  </a:lnTo>
                </a:path>
              </a:pathLst>
            </a:custGeom>
            <a:noFill/>
            <a:ln w="19050">
              <a:solidFill>
                <a:srgbClr val="DDE6EF"/>
              </a:solidFill>
            </a:ln>
          </p:spPr>
        </p:sp>
        <p:sp>
          <p:nvSpPr>
            <p:cNvPr id="8" name="Line 8"/>
            <p:cNvSpPr/>
            <p:nvPr/>
          </p:nvSpPr>
          <p:spPr>
            <a:xfrm>
              <a:off x="1143000" y="4452938"/>
              <a:ext cx="6096000" cy="9525"/>
            </a:xfrm>
            <a:custGeom>
              <a:avLst/>
              <a:gdLst/>
              <a:ahLst/>
              <a:cxnLst/>
              <a:rect l="l" t="t" r="r" b="b"/>
              <a:pathLst>
                <a:path w="6096000" h="9525">
                  <a:moveTo>
                    <a:pt x="0" y="0"/>
                  </a:moveTo>
                  <a:lnTo>
                    <a:pt x="6096000" y="0"/>
                  </a:lnTo>
                </a:path>
              </a:pathLst>
            </a:custGeom>
            <a:noFill/>
            <a:ln w="9525">
              <a:solidFill>
                <a:srgbClr val="E9EEF4"/>
              </a:solidFill>
            </a:ln>
          </p:spPr>
        </p:sp>
        <p:sp>
          <p:nvSpPr>
            <p:cNvPr id="9" name="Line 9"/>
            <p:cNvSpPr/>
            <p:nvPr/>
          </p:nvSpPr>
          <p:spPr>
            <a:xfrm>
              <a:off x="1143000" y="3571875"/>
              <a:ext cx="6096000" cy="9525"/>
            </a:xfrm>
            <a:custGeom>
              <a:avLst/>
              <a:gdLst/>
              <a:ahLst/>
              <a:cxnLst/>
              <a:rect l="l" t="t" r="r" b="b"/>
              <a:pathLst>
                <a:path w="6096000" h="9525">
                  <a:moveTo>
                    <a:pt x="0" y="0"/>
                  </a:moveTo>
                  <a:lnTo>
                    <a:pt x="6096000" y="0"/>
                  </a:lnTo>
                </a:path>
              </a:pathLst>
            </a:custGeom>
            <a:noFill/>
            <a:ln w="9525">
              <a:solidFill>
                <a:srgbClr val="E9EEF4"/>
              </a:solidFill>
            </a:ln>
          </p:spPr>
        </p:sp>
        <p:sp>
          <p:nvSpPr>
            <p:cNvPr id="10" name="Line 10"/>
            <p:cNvSpPr/>
            <p:nvPr/>
          </p:nvSpPr>
          <p:spPr>
            <a:xfrm>
              <a:off x="1143000" y="2690812"/>
              <a:ext cx="6096000" cy="9525"/>
            </a:xfrm>
            <a:custGeom>
              <a:avLst/>
              <a:gdLst/>
              <a:ahLst/>
              <a:cxnLst/>
              <a:rect l="l" t="t" r="r" b="b"/>
              <a:pathLst>
                <a:path w="6096000" h="9525">
                  <a:moveTo>
                    <a:pt x="0" y="0"/>
                  </a:moveTo>
                  <a:lnTo>
                    <a:pt x="6096000" y="0"/>
                  </a:lnTo>
                </a:path>
              </a:pathLst>
            </a:custGeom>
            <a:noFill/>
            <a:ln w="9525">
              <a:solidFill>
                <a:srgbClr val="E9EEF4"/>
              </a:solidFill>
            </a:ln>
          </p:spPr>
        </p:sp>
        <p:sp>
          <p:nvSpPr>
            <p:cNvPr id="11" name="Line 11"/>
            <p:cNvSpPr/>
            <p:nvPr/>
          </p:nvSpPr>
          <p:spPr>
            <a:xfrm>
              <a:off x="1143000" y="1809750"/>
              <a:ext cx="6096000" cy="9525"/>
            </a:xfrm>
            <a:custGeom>
              <a:avLst/>
              <a:gdLst/>
              <a:ahLst/>
              <a:cxnLst/>
              <a:rect l="l" t="t" r="r" b="b"/>
              <a:pathLst>
                <a:path w="6096000" h="9525">
                  <a:moveTo>
                    <a:pt x="0" y="0"/>
                  </a:moveTo>
                  <a:lnTo>
                    <a:pt x="6096000" y="0"/>
                  </a:lnTo>
                </a:path>
              </a:pathLst>
            </a:custGeom>
            <a:noFill/>
            <a:ln w="9525">
              <a:solidFill>
                <a:srgbClr val="DDE6EF"/>
              </a:solidFill>
            </a:ln>
          </p:spPr>
        </p:sp>
        <p:sp>
          <p:nvSpPr>
            <p:cNvPr id="12" name="Line 12"/>
            <p:cNvSpPr/>
            <p:nvPr/>
          </p:nvSpPr>
          <p:spPr>
            <a:xfrm>
              <a:off x="1143000" y="1809750"/>
              <a:ext cx="9525" cy="3524250"/>
            </a:xfrm>
            <a:custGeom>
              <a:avLst/>
              <a:gdLst/>
              <a:ahLst/>
              <a:cxnLst/>
              <a:rect l="l" t="t" r="r" b="b"/>
              <a:pathLst>
                <a:path w="9525" h="3524250">
                  <a:moveTo>
                    <a:pt x="0" y="0"/>
                  </a:moveTo>
                  <a:lnTo>
                    <a:pt x="0" y="3524250"/>
                  </a:lnTo>
                </a:path>
              </a:pathLst>
            </a:custGeom>
            <a:noFill/>
            <a:ln w="19050">
              <a:solidFill>
                <a:srgbClr val="DDE6EF"/>
              </a:solidFill>
            </a:ln>
          </p:spPr>
        </p:sp>
        <p:sp>
          <p:nvSpPr>
            <p:cNvPr id="13" name="TextBox 13"/>
            <p:cNvSpPr txBox="1"/>
            <p:nvPr/>
          </p:nvSpPr>
          <p:spPr>
            <a:xfrm>
              <a:off x="689991" y="5284470"/>
              <a:ext cx="312039"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2000</a:t>
              </a:r>
            </a:p>
          </p:txBody>
        </p:sp>
        <p:sp>
          <p:nvSpPr>
            <p:cNvPr id="14" name="TextBox 14"/>
            <p:cNvSpPr txBox="1"/>
            <p:nvPr/>
          </p:nvSpPr>
          <p:spPr>
            <a:xfrm>
              <a:off x="689991" y="1750695"/>
              <a:ext cx="312039"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6500</a:t>
              </a:r>
            </a:p>
          </p:txBody>
        </p:sp>
        <p:sp>
          <p:nvSpPr>
            <p:cNvPr id="15" name="TextBox 15"/>
            <p:cNvSpPr txBox="1"/>
            <p:nvPr/>
          </p:nvSpPr>
          <p:spPr>
            <a:xfrm>
              <a:off x="986980" y="55225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3500</a:t>
              </a:r>
            </a:p>
          </p:txBody>
        </p:sp>
        <p:sp>
          <p:nvSpPr>
            <p:cNvPr id="16" name="TextBox 16"/>
            <p:cNvSpPr txBox="1"/>
            <p:nvPr/>
          </p:nvSpPr>
          <p:spPr>
            <a:xfrm>
              <a:off x="7082980" y="55225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7000</a:t>
              </a:r>
            </a:p>
          </p:txBody>
        </p:sp>
        <p:sp>
          <p:nvSpPr>
            <p:cNvPr id="17" name="Line 17"/>
            <p:cNvSpPr/>
            <p:nvPr/>
          </p:nvSpPr>
          <p:spPr>
            <a:xfrm>
              <a:off x="1418272" y="2196465"/>
              <a:ext cx="2566988" cy="1875472"/>
            </a:xfrm>
            <a:custGeom>
              <a:avLst/>
              <a:gdLst/>
              <a:ahLst/>
              <a:cxnLst/>
              <a:rect l="l" t="t" r="r" b="b"/>
              <a:pathLst>
                <a:path w="2566988" h="1875472">
                  <a:moveTo>
                    <a:pt x="0" y="1875472"/>
                  </a:moveTo>
                  <a:lnTo>
                    <a:pt x="2566988" y="0"/>
                  </a:lnTo>
                </a:path>
              </a:pathLst>
            </a:custGeom>
            <a:noFill/>
            <a:ln w="28575">
              <a:solidFill>
                <a:srgbClr val="1565C0"/>
              </a:solidFill>
              <a:custDash>
                <a:ds d="200000" sp="166666"/>
              </a:custDash>
            </a:ln>
          </p:spPr>
        </p:sp>
        <p:sp>
          <p:nvSpPr>
            <p:cNvPr id="18" name="Line 18"/>
            <p:cNvSpPr/>
            <p:nvPr/>
          </p:nvSpPr>
          <p:spPr>
            <a:xfrm>
              <a:off x="4531995" y="3069908"/>
              <a:ext cx="2416492" cy="1575435"/>
            </a:xfrm>
            <a:custGeom>
              <a:avLst/>
              <a:gdLst/>
              <a:ahLst/>
              <a:cxnLst/>
              <a:rect l="l" t="t" r="r" b="b"/>
              <a:pathLst>
                <a:path w="2416492" h="1575435">
                  <a:moveTo>
                    <a:pt x="0" y="1575435"/>
                  </a:moveTo>
                  <a:lnTo>
                    <a:pt x="2416492" y="0"/>
                  </a:lnTo>
                </a:path>
              </a:pathLst>
            </a:custGeom>
            <a:noFill/>
            <a:ln w="28575">
              <a:solidFill>
                <a:srgbClr val="C41E3A"/>
              </a:solidFill>
              <a:custDash>
                <a:ds d="200000" sp="166666"/>
              </a:custDash>
            </a:ln>
          </p:spPr>
        </p:sp>
        <p:grpSp>
          <p:nvGrpSpPr>
            <p:cNvPr id="25" name="Group 25"/>
            <p:cNvGrpSpPr/>
            <p:nvPr/>
          </p:nvGrpSpPr>
          <p:grpSpPr>
            <a:xfrm>
              <a:off x="1351598" y="2129790"/>
              <a:ext cx="2700337" cy="2008822"/>
              <a:chOff x="1351598" y="2129790"/>
              <a:chExt cx="2700337" cy="2008822"/>
            </a:xfrm>
          </p:grpSpPr>
          <p:sp>
            <p:nvSpPr>
              <p:cNvPr id="19" name="Ellipse 19"/>
              <p:cNvSpPr/>
              <p:nvPr/>
            </p:nvSpPr>
            <p:spPr>
              <a:xfrm>
                <a:off x="1351598" y="4005262"/>
                <a:ext cx="133350" cy="133350"/>
              </a:xfrm>
              <a:prstGeom prst="ellipse">
                <a:avLst/>
              </a:prstGeom>
              <a:solidFill>
                <a:srgbClr val="1565C0"/>
              </a:solidFill>
              <a:ln w="19050">
                <a:solidFill>
                  <a:srgbClr val="FFFFFF"/>
                </a:solidFill>
              </a:ln>
            </p:spPr>
          </p:sp>
          <p:sp>
            <p:nvSpPr>
              <p:cNvPr id="20" name="Ellipse 20"/>
              <p:cNvSpPr/>
              <p:nvPr/>
            </p:nvSpPr>
            <p:spPr>
              <a:xfrm>
                <a:off x="1689735" y="3701415"/>
                <a:ext cx="133350" cy="133350"/>
              </a:xfrm>
              <a:prstGeom prst="ellipse">
                <a:avLst/>
              </a:prstGeom>
              <a:solidFill>
                <a:srgbClr val="1565C0"/>
              </a:solidFill>
              <a:ln w="19050">
                <a:solidFill>
                  <a:srgbClr val="FFFFFF"/>
                </a:solidFill>
              </a:ln>
            </p:spPr>
          </p:sp>
          <p:sp>
            <p:nvSpPr>
              <p:cNvPr id="21" name="Ellipse 21"/>
              <p:cNvSpPr/>
              <p:nvPr/>
            </p:nvSpPr>
            <p:spPr>
              <a:xfrm>
                <a:off x="2137410" y="3356610"/>
                <a:ext cx="133350" cy="133350"/>
              </a:xfrm>
              <a:prstGeom prst="ellipse">
                <a:avLst/>
              </a:prstGeom>
              <a:solidFill>
                <a:srgbClr val="1565C0"/>
              </a:solidFill>
              <a:ln w="19050">
                <a:solidFill>
                  <a:srgbClr val="FFFFFF"/>
                </a:solidFill>
              </a:ln>
            </p:spPr>
          </p:sp>
          <p:sp>
            <p:nvSpPr>
              <p:cNvPr id="22" name="Ellipse 22"/>
              <p:cNvSpPr/>
              <p:nvPr/>
            </p:nvSpPr>
            <p:spPr>
              <a:xfrm>
                <a:off x="3203258" y="2917508"/>
                <a:ext cx="133350" cy="133350"/>
              </a:xfrm>
              <a:prstGeom prst="ellipse">
                <a:avLst/>
              </a:prstGeom>
              <a:solidFill>
                <a:srgbClr val="1565C0"/>
              </a:solidFill>
              <a:ln w="19050">
                <a:solidFill>
                  <a:srgbClr val="FFFFFF"/>
                </a:solidFill>
              </a:ln>
            </p:spPr>
          </p:sp>
          <p:sp>
            <p:nvSpPr>
              <p:cNvPr id="23" name="Ellipse 23"/>
              <p:cNvSpPr/>
              <p:nvPr/>
            </p:nvSpPr>
            <p:spPr>
              <a:xfrm>
                <a:off x="3546158" y="2495550"/>
                <a:ext cx="133350" cy="133350"/>
              </a:xfrm>
              <a:prstGeom prst="ellipse">
                <a:avLst/>
              </a:prstGeom>
              <a:solidFill>
                <a:srgbClr val="1565C0"/>
              </a:solidFill>
              <a:ln w="19050">
                <a:solidFill>
                  <a:srgbClr val="FFFFFF"/>
                </a:solidFill>
              </a:ln>
            </p:spPr>
          </p:sp>
          <p:sp>
            <p:nvSpPr>
              <p:cNvPr id="24" name="Ellipse 24"/>
              <p:cNvSpPr/>
              <p:nvPr/>
            </p:nvSpPr>
            <p:spPr>
              <a:xfrm>
                <a:off x="3918585" y="2129790"/>
                <a:ext cx="133350" cy="133350"/>
              </a:xfrm>
              <a:prstGeom prst="ellipse">
                <a:avLst/>
              </a:prstGeom>
              <a:solidFill>
                <a:srgbClr val="1565C0"/>
              </a:solidFill>
              <a:ln w="19050">
                <a:solidFill>
                  <a:srgbClr val="FFFFFF"/>
                </a:solidFill>
              </a:ln>
            </p:spPr>
          </p:sp>
        </p:grpSp>
        <p:grpSp>
          <p:nvGrpSpPr>
            <p:cNvPr id="30" name="Group 30"/>
            <p:cNvGrpSpPr/>
            <p:nvPr/>
          </p:nvGrpSpPr>
          <p:grpSpPr>
            <a:xfrm>
              <a:off x="4465320" y="3003232"/>
              <a:ext cx="2549842" cy="1982153"/>
              <a:chOff x="4465320" y="3003232"/>
              <a:chExt cx="2549842" cy="1982153"/>
            </a:xfrm>
          </p:grpSpPr>
          <p:sp>
            <p:nvSpPr>
              <p:cNvPr id="26" name="Ellipse 26"/>
              <p:cNvSpPr/>
              <p:nvPr/>
            </p:nvSpPr>
            <p:spPr>
              <a:xfrm>
                <a:off x="4465320" y="4578668"/>
                <a:ext cx="133350" cy="133350"/>
              </a:xfrm>
              <a:prstGeom prst="ellipse">
                <a:avLst/>
              </a:prstGeom>
              <a:solidFill>
                <a:srgbClr val="C41E3A"/>
              </a:solidFill>
              <a:ln w="19050">
                <a:solidFill>
                  <a:srgbClr val="FFFFFF"/>
                </a:solidFill>
              </a:ln>
            </p:spPr>
          </p:sp>
          <p:sp>
            <p:nvSpPr>
              <p:cNvPr id="27" name="Ellipse 27"/>
              <p:cNvSpPr/>
              <p:nvPr/>
            </p:nvSpPr>
            <p:spPr>
              <a:xfrm>
                <a:off x="5033962" y="4291965"/>
                <a:ext cx="133350" cy="133350"/>
              </a:xfrm>
              <a:prstGeom prst="ellipse">
                <a:avLst/>
              </a:prstGeom>
              <a:solidFill>
                <a:srgbClr val="C41E3A"/>
              </a:solidFill>
              <a:ln w="19050">
                <a:solidFill>
                  <a:srgbClr val="FFFFFF"/>
                </a:solidFill>
              </a:ln>
            </p:spPr>
          </p:sp>
          <p:sp>
            <p:nvSpPr>
              <p:cNvPr id="28" name="Ellipse 28"/>
              <p:cNvSpPr/>
              <p:nvPr/>
            </p:nvSpPr>
            <p:spPr>
              <a:xfrm>
                <a:off x="6415088" y="4852035"/>
                <a:ext cx="133350" cy="133350"/>
              </a:xfrm>
              <a:prstGeom prst="ellipse">
                <a:avLst/>
              </a:prstGeom>
              <a:solidFill>
                <a:srgbClr val="C41E3A"/>
              </a:solidFill>
              <a:ln w="19050">
                <a:solidFill>
                  <a:srgbClr val="FFFFFF"/>
                </a:solidFill>
              </a:ln>
            </p:spPr>
          </p:sp>
          <p:sp>
            <p:nvSpPr>
              <p:cNvPr id="29" name="Ellipse 29"/>
              <p:cNvSpPr/>
              <p:nvPr/>
            </p:nvSpPr>
            <p:spPr>
              <a:xfrm>
                <a:off x="6881812" y="3003232"/>
                <a:ext cx="133350" cy="133350"/>
              </a:xfrm>
              <a:prstGeom prst="ellipse">
                <a:avLst/>
              </a:prstGeom>
              <a:solidFill>
                <a:srgbClr val="C41E3A"/>
              </a:solidFill>
              <a:ln w="19050">
                <a:solidFill>
                  <a:srgbClr val="FFFFFF"/>
                </a:solidFill>
              </a:ln>
            </p:spPr>
          </p:sp>
        </p:grpSp>
        <p:sp>
          <p:nvSpPr>
            <p:cNvPr id="31" name="TextBox 31"/>
            <p:cNvSpPr txBox="1"/>
            <p:nvPr/>
          </p:nvSpPr>
          <p:spPr>
            <a:xfrm>
              <a:off x="3273028" y="5726906"/>
              <a:ext cx="1835944" cy="228600"/>
            </a:xfrm>
            <a:prstGeom prst="rect">
              <a:avLst/>
            </a:prstGeom>
            <a:noFill/>
            <a:ln>
              <a:noFill/>
            </a:ln>
          </p:spPr>
          <p:txBody>
            <a:bodyPr wrap="none" lIns="0" tIns="0" rIns="0" bIns="0" anchor="t" anchorCtr="0">
              <a:spAutoFit/>
            </a:bodyPr>
            <a:lstStyle/>
            <a:p>
              <a:pPr algn="ctr"/>
              <a:r>
                <a:rPr lang="zh-CN" sz="1125" dirty="0">
                  <a:solidFill>
                    <a:srgbClr val="607D8B"/>
                  </a:solidFill>
                  <a:latin typeface="Arial"/>
                  <a:ea typeface="Microsoft YaHei"/>
                  <a:cs typeface="Arial"/>
                </a:rPr>
                <a:t>横轴：博物馆数量（个）</a:t>
              </a:r>
            </a:p>
          </p:txBody>
        </p:sp>
        <p:sp>
          <p:nvSpPr>
            <p:cNvPr id="32" name="TextBox 32"/>
            <p:cNvSpPr txBox="1"/>
            <p:nvPr/>
          </p:nvSpPr>
          <p:spPr>
            <a:xfrm rot="-5400000">
              <a:off x="-670322" y="3457575"/>
              <a:ext cx="2164556" cy="228600"/>
            </a:xfrm>
            <a:prstGeom prst="rect">
              <a:avLst/>
            </a:prstGeom>
            <a:noFill/>
            <a:ln>
              <a:noFill/>
            </a:ln>
          </p:spPr>
          <p:txBody>
            <a:bodyPr wrap="none" lIns="0" tIns="0" rIns="0" bIns="0" anchor="t" anchorCtr="0">
              <a:spAutoFit/>
            </a:bodyPr>
            <a:lstStyle/>
            <a:p>
              <a:pPr algn="ctr"/>
              <a:r>
                <a:rPr lang="zh-CN" sz="1125" dirty="0">
                  <a:solidFill>
                    <a:srgbClr val="607D8B"/>
                  </a:solidFill>
                  <a:latin typeface="Arial"/>
                  <a:ea typeface="Microsoft YaHei"/>
                  <a:cs typeface="Arial"/>
                </a:rPr>
                <a:t>纵轴：国内游客（百万人次）</a:t>
              </a:r>
            </a:p>
          </p:txBody>
        </p:sp>
      </p:grpSp>
      <p:sp>
        <p:nvSpPr>
          <p:cNvPr id="34" name="Line 34"/>
          <p:cNvSpPr/>
          <p:nvPr/>
        </p:nvSpPr>
        <p:spPr>
          <a:xfrm>
            <a:off x="2286000" y="6019800"/>
            <a:ext cx="342900" cy="9525"/>
          </a:xfrm>
          <a:custGeom>
            <a:avLst/>
            <a:gdLst/>
            <a:ahLst/>
            <a:cxnLst/>
            <a:rect l="l" t="t" r="r" b="b"/>
            <a:pathLst>
              <a:path w="342900" h="9525">
                <a:moveTo>
                  <a:pt x="0" y="0"/>
                </a:moveTo>
                <a:lnTo>
                  <a:pt x="342900" y="0"/>
                </a:lnTo>
              </a:path>
            </a:pathLst>
          </a:custGeom>
          <a:noFill/>
          <a:ln w="38100">
            <a:solidFill>
              <a:srgbClr val="1565C0"/>
            </a:solidFill>
          </a:ln>
        </p:spPr>
      </p:sp>
      <p:sp>
        <p:nvSpPr>
          <p:cNvPr id="35" name="TextBox 35"/>
          <p:cNvSpPr txBox="1"/>
          <p:nvPr/>
        </p:nvSpPr>
        <p:spPr>
          <a:xfrm>
            <a:off x="2729865" y="5954078"/>
            <a:ext cx="709089"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2014-2019</a:t>
            </a:r>
          </a:p>
        </p:txBody>
      </p:sp>
      <p:sp>
        <p:nvSpPr>
          <p:cNvPr id="36" name="Line 36"/>
          <p:cNvSpPr/>
          <p:nvPr/>
        </p:nvSpPr>
        <p:spPr>
          <a:xfrm>
            <a:off x="4095750" y="6019800"/>
            <a:ext cx="342900" cy="9525"/>
          </a:xfrm>
          <a:custGeom>
            <a:avLst/>
            <a:gdLst/>
            <a:ahLst/>
            <a:cxnLst/>
            <a:rect l="l" t="t" r="r" b="b"/>
            <a:pathLst>
              <a:path w="342900" h="9525">
                <a:moveTo>
                  <a:pt x="0" y="0"/>
                </a:moveTo>
                <a:lnTo>
                  <a:pt x="342900" y="0"/>
                </a:lnTo>
              </a:path>
            </a:pathLst>
          </a:custGeom>
          <a:noFill/>
          <a:ln w="38100">
            <a:solidFill>
              <a:srgbClr val="C41E3A"/>
            </a:solidFill>
          </a:ln>
        </p:spPr>
      </p:sp>
      <p:sp>
        <p:nvSpPr>
          <p:cNvPr id="37" name="TextBox 37"/>
          <p:cNvSpPr txBox="1"/>
          <p:nvPr/>
        </p:nvSpPr>
        <p:spPr>
          <a:xfrm>
            <a:off x="4539615" y="5954078"/>
            <a:ext cx="785765"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2020-2023</a:t>
            </a:r>
          </a:p>
        </p:txBody>
      </p:sp>
      <p:sp>
        <p:nvSpPr>
          <p:cNvPr id="38" name="Rectangle 38"/>
          <p:cNvSpPr/>
          <p:nvPr/>
        </p:nvSpPr>
        <p:spPr>
          <a:xfrm>
            <a:off x="8096250" y="1619250"/>
            <a:ext cx="3562350" cy="4476750"/>
          </a:xfrm>
          <a:prstGeom prst="roundRect">
            <a:avLst>
              <a:gd name="adj" fmla="val 2139"/>
            </a:avLst>
          </a:prstGeom>
          <a:solidFill>
            <a:srgbClr val="FFFFFF"/>
          </a:solidFill>
          <a:ln w="9525">
            <a:solidFill>
              <a:srgbClr val="DDE6EF"/>
            </a:solidFill>
          </a:ln>
        </p:spPr>
      </p:sp>
      <p:grpSp>
        <p:nvGrpSpPr>
          <p:cNvPr id="45" name="Group 45"/>
          <p:cNvGrpSpPr/>
          <p:nvPr/>
        </p:nvGrpSpPr>
        <p:grpSpPr>
          <a:xfrm>
            <a:off x="8465344" y="2045494"/>
            <a:ext cx="271462" cy="271462"/>
            <a:chOff x="8465344" y="2045494"/>
            <a:chExt cx="271462" cy="271462"/>
          </a:xfrm>
        </p:grpSpPr>
        <p:sp>
          <p:nvSpPr>
            <p:cNvPr id="39" name="Freeform 39"/>
            <p:cNvSpPr/>
            <p:nvPr/>
          </p:nvSpPr>
          <p:spPr>
            <a:xfrm>
              <a:off x="8465344" y="2045494"/>
              <a:ext cx="271462" cy="271462"/>
            </a:xfrm>
            <a:custGeom>
              <a:avLst/>
              <a:gdLst/>
              <a:ahLst/>
              <a:cxnLst/>
              <a:rect l="l" t="t" r="r" b="b"/>
              <a:pathLst>
                <a:path w="271462" h="271462">
                  <a:moveTo>
                    <a:pt x="0" y="0"/>
                  </a:moveTo>
                  <a:lnTo>
                    <a:pt x="0" y="271462"/>
                  </a:lnTo>
                  <a:lnTo>
                    <a:pt x="271462" y="271462"/>
                  </a:lnTo>
                </a:path>
              </a:pathLst>
            </a:custGeom>
            <a:noFill/>
            <a:ln w="19050">
              <a:solidFill>
                <a:srgbClr val="1565C0"/>
              </a:solidFill>
            </a:ln>
          </p:spPr>
        </p:sp>
        <p:sp>
          <p:nvSpPr>
            <p:cNvPr id="40" name="Freeform 40"/>
            <p:cNvSpPr/>
            <p:nvPr/>
          </p:nvSpPr>
          <p:spPr>
            <a:xfrm>
              <a:off x="8525669" y="2105819"/>
              <a:ext cx="60325" cy="60325"/>
            </a:xfrm>
            <a:custGeom>
              <a:avLst/>
              <a:gdLst/>
              <a:ahLst/>
              <a:cxnLst/>
              <a:rect l="l" t="t" r="r" b="b"/>
              <a:pathLst>
                <a:path w="60325" h="60325">
                  <a:moveTo>
                    <a:pt x="0" y="30162"/>
                  </a:moveTo>
                  <a:cubicBezTo>
                    <a:pt x="0" y="46821"/>
                    <a:pt x="13504" y="60325"/>
                    <a:pt x="30162" y="60325"/>
                  </a:cubicBezTo>
                  <a:cubicBezTo>
                    <a:pt x="46821" y="60325"/>
                    <a:pt x="60325" y="46821"/>
                    <a:pt x="60325" y="30162"/>
                  </a:cubicBezTo>
                  <a:cubicBezTo>
                    <a:pt x="60325" y="13504"/>
                    <a:pt x="46821" y="0"/>
                    <a:pt x="30162" y="0"/>
                  </a:cubicBezTo>
                  <a:cubicBezTo>
                    <a:pt x="13504" y="0"/>
                    <a:pt x="0" y="13504"/>
                    <a:pt x="0" y="30162"/>
                  </a:cubicBezTo>
                </a:path>
              </a:pathLst>
            </a:custGeom>
            <a:noFill/>
            <a:ln w="19050">
              <a:solidFill>
                <a:srgbClr val="1565C0"/>
              </a:solidFill>
            </a:ln>
          </p:spPr>
        </p:sp>
        <p:sp>
          <p:nvSpPr>
            <p:cNvPr id="41" name="Freeform 41"/>
            <p:cNvSpPr/>
            <p:nvPr/>
          </p:nvSpPr>
          <p:spPr>
            <a:xfrm>
              <a:off x="8676481" y="2075656"/>
              <a:ext cx="60325" cy="60325"/>
            </a:xfrm>
            <a:custGeom>
              <a:avLst/>
              <a:gdLst/>
              <a:ahLst/>
              <a:cxnLst/>
              <a:rect l="l" t="t" r="r" b="b"/>
              <a:pathLst>
                <a:path w="60325" h="60325">
                  <a:moveTo>
                    <a:pt x="0" y="30163"/>
                  </a:moveTo>
                  <a:cubicBezTo>
                    <a:pt x="0" y="46821"/>
                    <a:pt x="13504" y="60325"/>
                    <a:pt x="30163" y="60325"/>
                  </a:cubicBezTo>
                  <a:cubicBezTo>
                    <a:pt x="46821" y="60325"/>
                    <a:pt x="60325" y="46821"/>
                    <a:pt x="60325" y="30163"/>
                  </a:cubicBezTo>
                  <a:cubicBezTo>
                    <a:pt x="60325" y="13504"/>
                    <a:pt x="46821" y="0"/>
                    <a:pt x="30163" y="0"/>
                  </a:cubicBezTo>
                  <a:cubicBezTo>
                    <a:pt x="13504" y="0"/>
                    <a:pt x="0" y="13504"/>
                    <a:pt x="0" y="30163"/>
                  </a:cubicBezTo>
                </a:path>
              </a:pathLst>
            </a:custGeom>
            <a:noFill/>
            <a:ln w="19050">
              <a:solidFill>
                <a:srgbClr val="1565C0"/>
              </a:solidFill>
            </a:ln>
          </p:spPr>
        </p:sp>
        <p:sp>
          <p:nvSpPr>
            <p:cNvPr id="42" name="Freeform 42"/>
            <p:cNvSpPr/>
            <p:nvPr/>
          </p:nvSpPr>
          <p:spPr>
            <a:xfrm>
              <a:off x="8601075" y="2196306"/>
              <a:ext cx="60325" cy="60325"/>
            </a:xfrm>
            <a:custGeom>
              <a:avLst/>
              <a:gdLst/>
              <a:ahLst/>
              <a:cxnLst/>
              <a:rect l="l" t="t" r="r" b="b"/>
              <a:pathLst>
                <a:path w="60325" h="60325">
                  <a:moveTo>
                    <a:pt x="0" y="30162"/>
                  </a:moveTo>
                  <a:cubicBezTo>
                    <a:pt x="0" y="46821"/>
                    <a:pt x="13504" y="60325"/>
                    <a:pt x="30162" y="60325"/>
                  </a:cubicBezTo>
                  <a:cubicBezTo>
                    <a:pt x="46821" y="60325"/>
                    <a:pt x="60325" y="46821"/>
                    <a:pt x="60325" y="30162"/>
                  </a:cubicBezTo>
                  <a:cubicBezTo>
                    <a:pt x="60325" y="13504"/>
                    <a:pt x="46821" y="0"/>
                    <a:pt x="30162" y="0"/>
                  </a:cubicBezTo>
                  <a:cubicBezTo>
                    <a:pt x="13504" y="0"/>
                    <a:pt x="0" y="13504"/>
                    <a:pt x="0" y="30162"/>
                  </a:cubicBezTo>
                </a:path>
              </a:pathLst>
            </a:custGeom>
            <a:noFill/>
            <a:ln w="19050">
              <a:solidFill>
                <a:srgbClr val="1565C0"/>
              </a:solidFill>
            </a:ln>
          </p:spPr>
        </p:sp>
        <p:sp>
          <p:nvSpPr>
            <p:cNvPr id="43" name="Freeform 43"/>
            <p:cNvSpPr/>
            <p:nvPr/>
          </p:nvSpPr>
          <p:spPr>
            <a:xfrm>
              <a:off x="8573326" y="2160413"/>
              <a:ext cx="35290" cy="43434"/>
            </a:xfrm>
            <a:custGeom>
              <a:avLst/>
              <a:gdLst/>
              <a:ahLst/>
              <a:cxnLst/>
              <a:rect l="l" t="t" r="r" b="b"/>
              <a:pathLst>
                <a:path w="35290" h="43434">
                  <a:moveTo>
                    <a:pt x="0" y="0"/>
                  </a:moveTo>
                  <a:lnTo>
                    <a:pt x="35290" y="43434"/>
                  </a:lnTo>
                </a:path>
              </a:pathLst>
            </a:custGeom>
            <a:noFill/>
            <a:ln w="19050">
              <a:solidFill>
                <a:srgbClr val="1565C0"/>
              </a:solidFill>
            </a:ln>
          </p:spPr>
        </p:sp>
        <p:sp>
          <p:nvSpPr>
            <p:cNvPr id="44" name="Freeform 44"/>
            <p:cNvSpPr/>
            <p:nvPr/>
          </p:nvSpPr>
          <p:spPr>
            <a:xfrm>
              <a:off x="8647646" y="2132090"/>
              <a:ext cx="42786" cy="69163"/>
            </a:xfrm>
            <a:custGeom>
              <a:avLst/>
              <a:gdLst/>
              <a:ahLst/>
              <a:cxnLst/>
              <a:rect l="l" t="t" r="r" b="b"/>
              <a:pathLst>
                <a:path w="42786" h="69163">
                  <a:moveTo>
                    <a:pt x="0" y="69163"/>
                  </a:moveTo>
                  <a:lnTo>
                    <a:pt x="42786" y="0"/>
                  </a:lnTo>
                </a:path>
              </a:pathLst>
            </a:custGeom>
            <a:noFill/>
            <a:ln w="19050">
              <a:solidFill>
                <a:srgbClr val="1565C0"/>
              </a:solidFill>
            </a:ln>
          </p:spPr>
        </p:sp>
      </p:grpSp>
      <p:sp>
        <p:nvSpPr>
          <p:cNvPr id="46" name="TextBox 46"/>
          <p:cNvSpPr txBox="1"/>
          <p:nvPr/>
        </p:nvSpPr>
        <p:spPr>
          <a:xfrm>
            <a:off x="8892540" y="20726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相关系数</a:t>
            </a:r>
          </a:p>
        </p:txBody>
      </p:sp>
      <p:sp>
        <p:nvSpPr>
          <p:cNvPr id="47" name="Rectangle 47"/>
          <p:cNvSpPr/>
          <p:nvPr/>
        </p:nvSpPr>
        <p:spPr>
          <a:xfrm>
            <a:off x="8420100" y="2724150"/>
            <a:ext cx="2895600" cy="666750"/>
          </a:xfrm>
          <a:prstGeom prst="roundRect">
            <a:avLst>
              <a:gd name="adj" fmla="val 11429"/>
            </a:avLst>
          </a:prstGeom>
          <a:solidFill>
            <a:srgbClr val="1565C0">
              <a:alpha val="8000"/>
            </a:srgbClr>
          </a:solidFill>
          <a:ln>
            <a:noFill/>
          </a:ln>
        </p:spPr>
      </p:sp>
      <p:sp>
        <p:nvSpPr>
          <p:cNvPr id="48" name="TextBox 48"/>
          <p:cNvSpPr txBox="1"/>
          <p:nvPr/>
        </p:nvSpPr>
        <p:spPr>
          <a:xfrm>
            <a:off x="8616315" y="2867978"/>
            <a:ext cx="1140154" cy="518160"/>
          </a:xfrm>
          <a:prstGeom prst="rect">
            <a:avLst/>
          </a:prstGeom>
          <a:noFill/>
          <a:ln>
            <a:noFill/>
          </a:ln>
        </p:spPr>
        <p:txBody>
          <a:bodyPr wrap="none" lIns="0" tIns="0" rIns="0" bIns="0" anchor="t" anchorCtr="0">
            <a:spAutoFit/>
          </a:bodyPr>
          <a:lstStyle/>
          <a:p>
            <a:pPr algn="l"/>
            <a:r>
              <a:rPr lang="zh-CN" sz="2550" b="1" dirty="0">
                <a:solidFill>
                  <a:srgbClr val="1565C0"/>
                </a:solidFill>
                <a:latin typeface="Arial"/>
                <a:ea typeface="Microsoft YaHei"/>
                <a:cs typeface="Arial"/>
              </a:rPr>
              <a:t>0.988</a:t>
            </a:r>
          </a:p>
        </p:txBody>
      </p:sp>
      <p:sp>
        <p:nvSpPr>
          <p:cNvPr id="49" name="TextBox 49"/>
          <p:cNvSpPr txBox="1"/>
          <p:nvPr/>
        </p:nvSpPr>
        <p:spPr>
          <a:xfrm>
            <a:off x="9890760" y="2975610"/>
            <a:ext cx="2081022"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平稳期：博物馆数 vs 游客</a:t>
            </a:r>
          </a:p>
        </p:txBody>
      </p:sp>
      <p:sp>
        <p:nvSpPr>
          <p:cNvPr id="50" name="Rectangle 50"/>
          <p:cNvSpPr/>
          <p:nvPr/>
        </p:nvSpPr>
        <p:spPr>
          <a:xfrm>
            <a:off x="8420100" y="3657600"/>
            <a:ext cx="2895600" cy="666750"/>
          </a:xfrm>
          <a:prstGeom prst="roundRect">
            <a:avLst>
              <a:gd name="adj" fmla="val 11429"/>
            </a:avLst>
          </a:prstGeom>
          <a:solidFill>
            <a:srgbClr val="C41E3A">
              <a:alpha val="8000"/>
            </a:srgbClr>
          </a:solidFill>
          <a:ln>
            <a:noFill/>
          </a:ln>
        </p:spPr>
      </p:sp>
      <p:sp>
        <p:nvSpPr>
          <p:cNvPr id="51" name="TextBox 51"/>
          <p:cNvSpPr txBox="1"/>
          <p:nvPr/>
        </p:nvSpPr>
        <p:spPr>
          <a:xfrm>
            <a:off x="8616315" y="3801428"/>
            <a:ext cx="1257469" cy="518160"/>
          </a:xfrm>
          <a:prstGeom prst="rect">
            <a:avLst/>
          </a:prstGeom>
          <a:noFill/>
          <a:ln>
            <a:noFill/>
          </a:ln>
        </p:spPr>
        <p:txBody>
          <a:bodyPr wrap="none" lIns="0" tIns="0" rIns="0" bIns="0" anchor="t" anchorCtr="0">
            <a:spAutoFit/>
          </a:bodyPr>
          <a:lstStyle/>
          <a:p>
            <a:pPr algn="l"/>
            <a:r>
              <a:rPr lang="zh-CN" sz="2550" b="1" dirty="0">
                <a:solidFill>
                  <a:srgbClr val="C41E3A"/>
                </a:solidFill>
                <a:latin typeface="Arial"/>
                <a:ea typeface="Microsoft YaHei"/>
                <a:cs typeface="Arial"/>
              </a:rPr>
              <a:t>-0.175</a:t>
            </a:r>
          </a:p>
        </p:txBody>
      </p:sp>
      <p:sp>
        <p:nvSpPr>
          <p:cNvPr id="52" name="TextBox 52"/>
          <p:cNvSpPr txBox="1"/>
          <p:nvPr/>
        </p:nvSpPr>
        <p:spPr>
          <a:xfrm>
            <a:off x="10119360" y="3909060"/>
            <a:ext cx="160782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全周期：被冲击拉低</a:t>
            </a:r>
          </a:p>
        </p:txBody>
      </p:sp>
      <p:sp>
        <p:nvSpPr>
          <p:cNvPr id="53" name="TextBox 53"/>
          <p:cNvSpPr txBox="1"/>
          <p:nvPr/>
        </p:nvSpPr>
        <p:spPr>
          <a:xfrm>
            <a:off x="8402955" y="4673918"/>
            <a:ext cx="862393"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解释要点</a:t>
            </a:r>
          </a:p>
        </p:txBody>
      </p:sp>
      <p:sp>
        <p:nvSpPr>
          <p:cNvPr id="54" name="TextBox 54"/>
          <p:cNvSpPr txBox="1"/>
          <p:nvPr/>
        </p:nvSpPr>
        <p:spPr>
          <a:xfrm>
            <a:off x="8404860" y="5013960"/>
            <a:ext cx="213360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相关不等于因果，但平稳期</a:t>
            </a:r>
          </a:p>
        </p:txBody>
      </p:sp>
      <p:sp>
        <p:nvSpPr>
          <p:cNvPr id="55" name="TextBox 55"/>
          <p:cNvSpPr txBox="1"/>
          <p:nvPr/>
        </p:nvSpPr>
        <p:spPr>
          <a:xfrm>
            <a:off x="8404860" y="5261610"/>
            <a:ext cx="230886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高度同向说明公共文化供给与</a:t>
            </a:r>
          </a:p>
        </p:txBody>
      </p:sp>
      <p:sp>
        <p:nvSpPr>
          <p:cNvPr id="56" name="TextBox 56"/>
          <p:cNvSpPr txBox="1"/>
          <p:nvPr/>
        </p:nvSpPr>
        <p:spPr>
          <a:xfrm>
            <a:off x="8404860" y="5509260"/>
            <a:ext cx="213360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文旅需求有共同增长背景。</a:t>
            </a:r>
          </a:p>
        </p:txBody>
      </p:sp>
      <p:sp>
        <p:nvSpPr>
          <p:cNvPr id="57" name="TextBox 57"/>
          <p:cNvSpPr txBox="1"/>
          <p:nvPr/>
        </p:nvSpPr>
        <p:spPr>
          <a:xfrm>
            <a:off x="521970" y="6417945"/>
            <a:ext cx="2204847"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团队 Pearson 相关系数计算</a:t>
            </a:r>
          </a:p>
        </p:txBody>
      </p:sp>
      <p:sp>
        <p:nvSpPr>
          <p:cNvPr id="58" name="TextBox 58"/>
          <p:cNvSpPr txBox="1"/>
          <p:nvPr/>
        </p:nvSpPr>
        <p:spPr>
          <a:xfrm>
            <a:off x="11272552" y="6417945"/>
            <a:ext cx="397478"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10 / 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01015" y="372428"/>
            <a:ext cx="9449943"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短期预测与误差分析：恢复段可外推，但不宜过度解释</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sp>
      <p:sp>
        <p:nvSpPr>
          <p:cNvPr id="5" name="TextBox 5"/>
          <p:cNvSpPr txBox="1"/>
          <p:nvPr/>
        </p:nvSpPr>
        <p:spPr>
          <a:xfrm>
            <a:off x="725805" y="1054418"/>
            <a:ext cx="9123712"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基于 2020-2023 年恢复段线性拟合，得到 2024-2026 年情景预测；结果用于趋势判断，不作精确预测。</a:t>
            </a:r>
          </a:p>
        </p:txBody>
      </p:sp>
      <p:sp>
        <p:nvSpPr>
          <p:cNvPr id="6" name="Rectangle 6"/>
          <p:cNvSpPr/>
          <p:nvPr/>
        </p:nvSpPr>
        <p:spPr>
          <a:xfrm>
            <a:off x="533400" y="1676400"/>
            <a:ext cx="5905500" cy="3600450"/>
          </a:xfrm>
          <a:prstGeom prst="roundRect">
            <a:avLst>
              <a:gd name="adj" fmla="val 2116"/>
            </a:avLst>
          </a:prstGeom>
          <a:solidFill>
            <a:srgbClr val="FFFFFF"/>
          </a:solidFill>
          <a:ln w="9525">
            <a:solidFill>
              <a:srgbClr val="DDE6EF"/>
            </a:solidFill>
          </a:ln>
        </p:spPr>
      </p:sp>
      <p:grpSp>
        <p:nvGrpSpPr>
          <p:cNvPr id="15" name="Group 15"/>
          <p:cNvGrpSpPr/>
          <p:nvPr/>
        </p:nvGrpSpPr>
        <p:grpSpPr>
          <a:xfrm>
            <a:off x="901700" y="2085975"/>
            <a:ext cx="254000" cy="285750"/>
            <a:chOff x="901700" y="2085975"/>
            <a:chExt cx="254000" cy="285750"/>
          </a:xfrm>
        </p:grpSpPr>
        <p:sp>
          <p:nvSpPr>
            <p:cNvPr id="7" name="Freeform 7"/>
            <p:cNvSpPr/>
            <p:nvPr/>
          </p:nvSpPr>
          <p:spPr>
            <a:xfrm>
              <a:off x="901700" y="2085975"/>
              <a:ext cx="254000" cy="285750"/>
            </a:xfrm>
            <a:custGeom>
              <a:avLst/>
              <a:gdLst/>
              <a:ahLst/>
              <a:cxnLst/>
              <a:rect l="l" t="t" r="r" b="b"/>
              <a:pathLst>
                <a:path w="254000" h="285750">
                  <a:moveTo>
                    <a:pt x="0" y="31750"/>
                  </a:moveTo>
                  <a:cubicBezTo>
                    <a:pt x="0" y="14215"/>
                    <a:pt x="14215" y="0"/>
                    <a:pt x="31750" y="0"/>
                  </a:cubicBezTo>
                  <a:lnTo>
                    <a:pt x="222250" y="0"/>
                  </a:lnTo>
                  <a:cubicBezTo>
                    <a:pt x="239785" y="0"/>
                    <a:pt x="254000" y="14215"/>
                    <a:pt x="254000" y="31750"/>
                  </a:cubicBezTo>
                  <a:lnTo>
                    <a:pt x="254000" y="254000"/>
                  </a:lnTo>
                  <a:cubicBezTo>
                    <a:pt x="254000" y="271535"/>
                    <a:pt x="239785" y="285750"/>
                    <a:pt x="222250" y="285750"/>
                  </a:cubicBezTo>
                  <a:lnTo>
                    <a:pt x="31750" y="285750"/>
                  </a:lnTo>
                  <a:cubicBezTo>
                    <a:pt x="14215" y="285750"/>
                    <a:pt x="0" y="271535"/>
                    <a:pt x="0" y="254000"/>
                  </a:cubicBezTo>
                  <a:lnTo>
                    <a:pt x="0" y="31750"/>
                  </a:lnTo>
                </a:path>
              </a:pathLst>
            </a:custGeom>
            <a:noFill/>
            <a:ln w="19050">
              <a:solidFill>
                <a:srgbClr val="1565C0"/>
              </a:solidFill>
            </a:ln>
          </p:spPr>
        </p:sp>
        <p:sp>
          <p:nvSpPr>
            <p:cNvPr id="8" name="Freeform 8"/>
            <p:cNvSpPr/>
            <p:nvPr/>
          </p:nvSpPr>
          <p:spPr>
            <a:xfrm>
              <a:off x="965200" y="2149475"/>
              <a:ext cx="127000" cy="47625"/>
            </a:xfrm>
            <a:custGeom>
              <a:avLst/>
              <a:gdLst/>
              <a:ahLst/>
              <a:cxnLst/>
              <a:rect l="l" t="t" r="r" b="b"/>
              <a:pathLst>
                <a:path w="127000" h="47625">
                  <a:moveTo>
                    <a:pt x="0" y="15875"/>
                  </a:moveTo>
                  <a:cubicBezTo>
                    <a:pt x="0" y="7107"/>
                    <a:pt x="7107" y="0"/>
                    <a:pt x="15875" y="0"/>
                  </a:cubicBezTo>
                  <a:lnTo>
                    <a:pt x="111125" y="0"/>
                  </a:lnTo>
                  <a:cubicBezTo>
                    <a:pt x="119893" y="0"/>
                    <a:pt x="127000" y="7107"/>
                    <a:pt x="127000" y="15875"/>
                  </a:cubicBezTo>
                  <a:lnTo>
                    <a:pt x="127000" y="31750"/>
                  </a:lnTo>
                  <a:cubicBezTo>
                    <a:pt x="127000" y="40518"/>
                    <a:pt x="119893" y="47625"/>
                    <a:pt x="111125" y="47625"/>
                  </a:cubicBezTo>
                  <a:lnTo>
                    <a:pt x="15875" y="47625"/>
                  </a:lnTo>
                  <a:cubicBezTo>
                    <a:pt x="7107" y="47625"/>
                    <a:pt x="0" y="40518"/>
                    <a:pt x="0" y="31750"/>
                  </a:cubicBezTo>
                  <a:lnTo>
                    <a:pt x="0" y="15875"/>
                  </a:lnTo>
                </a:path>
              </a:pathLst>
            </a:custGeom>
            <a:noFill/>
            <a:ln w="19050">
              <a:solidFill>
                <a:srgbClr val="1565C0"/>
              </a:solidFill>
            </a:ln>
          </p:spPr>
        </p:sp>
        <p:sp>
          <p:nvSpPr>
            <p:cNvPr id="9" name="Freeform 9"/>
            <p:cNvSpPr/>
            <p:nvPr/>
          </p:nvSpPr>
          <p:spPr>
            <a:xfrm>
              <a:off x="965200" y="2260600"/>
              <a:ext cx="9525" cy="9525"/>
            </a:xfrm>
            <a:custGeom>
              <a:avLst/>
              <a:gdLst/>
              <a:ahLst/>
              <a:cxnLst/>
              <a:rect l="l" t="t" r="r" b="b"/>
              <a:pathLst>
                <a:path w="9525" h="9525">
                  <a:moveTo>
                    <a:pt x="0" y="0"/>
                  </a:moveTo>
                  <a:lnTo>
                    <a:pt x="0" y="159"/>
                  </a:lnTo>
                </a:path>
              </a:pathLst>
            </a:custGeom>
            <a:noFill/>
            <a:ln w="19050">
              <a:solidFill>
                <a:srgbClr val="1565C0"/>
              </a:solidFill>
            </a:ln>
          </p:spPr>
        </p:sp>
        <p:sp>
          <p:nvSpPr>
            <p:cNvPr id="10" name="Freeform 10"/>
            <p:cNvSpPr/>
            <p:nvPr/>
          </p:nvSpPr>
          <p:spPr>
            <a:xfrm>
              <a:off x="1028700" y="2260600"/>
              <a:ext cx="9525" cy="9525"/>
            </a:xfrm>
            <a:custGeom>
              <a:avLst/>
              <a:gdLst/>
              <a:ahLst/>
              <a:cxnLst/>
              <a:rect l="l" t="t" r="r" b="b"/>
              <a:pathLst>
                <a:path w="9525" h="9525">
                  <a:moveTo>
                    <a:pt x="0" y="0"/>
                  </a:moveTo>
                  <a:lnTo>
                    <a:pt x="0" y="159"/>
                  </a:lnTo>
                </a:path>
              </a:pathLst>
            </a:custGeom>
            <a:noFill/>
            <a:ln w="19050">
              <a:solidFill>
                <a:srgbClr val="1565C0"/>
              </a:solidFill>
            </a:ln>
          </p:spPr>
        </p:sp>
        <p:sp>
          <p:nvSpPr>
            <p:cNvPr id="11" name="Freeform 11"/>
            <p:cNvSpPr/>
            <p:nvPr/>
          </p:nvSpPr>
          <p:spPr>
            <a:xfrm>
              <a:off x="1092200" y="2260600"/>
              <a:ext cx="9525" cy="9525"/>
            </a:xfrm>
            <a:custGeom>
              <a:avLst/>
              <a:gdLst/>
              <a:ahLst/>
              <a:cxnLst/>
              <a:rect l="l" t="t" r="r" b="b"/>
              <a:pathLst>
                <a:path w="9525" h="9525">
                  <a:moveTo>
                    <a:pt x="0" y="0"/>
                  </a:moveTo>
                  <a:lnTo>
                    <a:pt x="0" y="159"/>
                  </a:lnTo>
                </a:path>
              </a:pathLst>
            </a:custGeom>
            <a:noFill/>
            <a:ln w="19050">
              <a:solidFill>
                <a:srgbClr val="1565C0"/>
              </a:solidFill>
            </a:ln>
          </p:spPr>
        </p:sp>
        <p:sp>
          <p:nvSpPr>
            <p:cNvPr id="12" name="Freeform 12"/>
            <p:cNvSpPr/>
            <p:nvPr/>
          </p:nvSpPr>
          <p:spPr>
            <a:xfrm>
              <a:off x="965200" y="2308225"/>
              <a:ext cx="9525" cy="9525"/>
            </a:xfrm>
            <a:custGeom>
              <a:avLst/>
              <a:gdLst/>
              <a:ahLst/>
              <a:cxnLst/>
              <a:rect l="l" t="t" r="r" b="b"/>
              <a:pathLst>
                <a:path w="9525" h="9525">
                  <a:moveTo>
                    <a:pt x="0" y="0"/>
                  </a:moveTo>
                  <a:lnTo>
                    <a:pt x="0" y="159"/>
                  </a:lnTo>
                </a:path>
              </a:pathLst>
            </a:custGeom>
            <a:noFill/>
            <a:ln w="19050">
              <a:solidFill>
                <a:srgbClr val="1565C0"/>
              </a:solidFill>
            </a:ln>
          </p:spPr>
        </p:sp>
        <p:sp>
          <p:nvSpPr>
            <p:cNvPr id="13" name="Freeform 13"/>
            <p:cNvSpPr/>
            <p:nvPr/>
          </p:nvSpPr>
          <p:spPr>
            <a:xfrm>
              <a:off x="1028700" y="2308225"/>
              <a:ext cx="9525" cy="9525"/>
            </a:xfrm>
            <a:custGeom>
              <a:avLst/>
              <a:gdLst/>
              <a:ahLst/>
              <a:cxnLst/>
              <a:rect l="l" t="t" r="r" b="b"/>
              <a:pathLst>
                <a:path w="9525" h="9525">
                  <a:moveTo>
                    <a:pt x="0" y="0"/>
                  </a:moveTo>
                  <a:lnTo>
                    <a:pt x="0" y="159"/>
                  </a:lnTo>
                </a:path>
              </a:pathLst>
            </a:custGeom>
            <a:noFill/>
            <a:ln w="19050">
              <a:solidFill>
                <a:srgbClr val="1565C0"/>
              </a:solidFill>
            </a:ln>
          </p:spPr>
        </p:sp>
        <p:sp>
          <p:nvSpPr>
            <p:cNvPr id="14" name="Freeform 14"/>
            <p:cNvSpPr/>
            <p:nvPr/>
          </p:nvSpPr>
          <p:spPr>
            <a:xfrm>
              <a:off x="1092200" y="2308225"/>
              <a:ext cx="9525" cy="9525"/>
            </a:xfrm>
            <a:custGeom>
              <a:avLst/>
              <a:gdLst/>
              <a:ahLst/>
              <a:cxnLst/>
              <a:rect l="l" t="t" r="r" b="b"/>
              <a:pathLst>
                <a:path w="9525" h="9525">
                  <a:moveTo>
                    <a:pt x="0" y="0"/>
                  </a:moveTo>
                  <a:lnTo>
                    <a:pt x="0" y="159"/>
                  </a:lnTo>
                </a:path>
              </a:pathLst>
            </a:custGeom>
            <a:noFill/>
            <a:ln w="19050">
              <a:solidFill>
                <a:srgbClr val="1565C0"/>
              </a:solidFill>
            </a:ln>
          </p:spPr>
        </p:sp>
      </p:grpSp>
      <p:sp>
        <p:nvSpPr>
          <p:cNvPr id="16" name="TextBox 16"/>
          <p:cNvSpPr txBox="1"/>
          <p:nvPr/>
        </p:nvSpPr>
        <p:spPr>
          <a:xfrm>
            <a:off x="1348740" y="2129790"/>
            <a:ext cx="1977962"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恢复段拟合预测</a:t>
            </a:r>
          </a:p>
        </p:txBody>
      </p:sp>
      <p:sp>
        <p:nvSpPr>
          <p:cNvPr id="17" name="Rectangle 17"/>
          <p:cNvSpPr/>
          <p:nvPr/>
        </p:nvSpPr>
        <p:spPr>
          <a:xfrm>
            <a:off x="857250" y="2781300"/>
            <a:ext cx="5257800" cy="419100"/>
          </a:xfrm>
          <a:prstGeom prst="roundRect">
            <a:avLst>
              <a:gd name="adj" fmla="val 18182"/>
            </a:avLst>
          </a:prstGeom>
          <a:solidFill>
            <a:srgbClr val="1565C0"/>
          </a:solidFill>
          <a:ln>
            <a:noFill/>
          </a:ln>
        </p:spPr>
      </p:sp>
      <p:sp>
        <p:nvSpPr>
          <p:cNvPr id="18" name="TextBox 18"/>
          <p:cNvSpPr txBox="1"/>
          <p:nvPr/>
        </p:nvSpPr>
        <p:spPr>
          <a:xfrm>
            <a:off x="1166812" y="2926556"/>
            <a:ext cx="37361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年份</a:t>
            </a:r>
          </a:p>
        </p:txBody>
      </p:sp>
      <p:sp>
        <p:nvSpPr>
          <p:cNvPr id="19" name="TextBox 19"/>
          <p:cNvSpPr txBox="1"/>
          <p:nvPr/>
        </p:nvSpPr>
        <p:spPr>
          <a:xfrm>
            <a:off x="2057876" y="2926556"/>
            <a:ext cx="718661"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博物馆数</a:t>
            </a:r>
          </a:p>
        </p:txBody>
      </p:sp>
      <p:sp>
        <p:nvSpPr>
          <p:cNvPr id="20" name="TextBox 20"/>
          <p:cNvSpPr txBox="1"/>
          <p:nvPr/>
        </p:nvSpPr>
        <p:spPr>
          <a:xfrm>
            <a:off x="3101340" y="2926556"/>
            <a:ext cx="1408747"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游客（百万人次）</a:t>
            </a:r>
          </a:p>
        </p:txBody>
      </p:sp>
      <p:sp>
        <p:nvSpPr>
          <p:cNvPr id="21" name="TextBox 21"/>
          <p:cNvSpPr txBox="1"/>
          <p:nvPr/>
        </p:nvSpPr>
        <p:spPr>
          <a:xfrm>
            <a:off x="4856083" y="2926556"/>
            <a:ext cx="1063704"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消费（亿元）</a:t>
            </a:r>
          </a:p>
        </p:txBody>
      </p:sp>
      <p:sp>
        <p:nvSpPr>
          <p:cNvPr id="22" name="Line 22"/>
          <p:cNvSpPr/>
          <p:nvPr/>
        </p:nvSpPr>
        <p:spPr>
          <a:xfrm>
            <a:off x="857250" y="3638550"/>
            <a:ext cx="5257800" cy="9525"/>
          </a:xfrm>
          <a:custGeom>
            <a:avLst/>
            <a:gdLst/>
            <a:ahLst/>
            <a:cxnLst/>
            <a:rect l="l" t="t" r="r" b="b"/>
            <a:pathLst>
              <a:path w="5257800" h="9525">
                <a:moveTo>
                  <a:pt x="0" y="0"/>
                </a:moveTo>
                <a:lnTo>
                  <a:pt x="5257800" y="0"/>
                </a:lnTo>
              </a:path>
            </a:pathLst>
          </a:custGeom>
          <a:noFill/>
          <a:ln w="9525">
            <a:solidFill>
              <a:srgbClr val="DDE6EF"/>
            </a:solidFill>
          </a:ln>
        </p:spPr>
      </p:sp>
      <p:sp>
        <p:nvSpPr>
          <p:cNvPr id="23" name="Line 23"/>
          <p:cNvSpPr/>
          <p:nvPr/>
        </p:nvSpPr>
        <p:spPr>
          <a:xfrm>
            <a:off x="857250" y="4076700"/>
            <a:ext cx="5257800" cy="9525"/>
          </a:xfrm>
          <a:custGeom>
            <a:avLst/>
            <a:gdLst/>
            <a:ahLst/>
            <a:cxnLst/>
            <a:rect l="l" t="t" r="r" b="b"/>
            <a:pathLst>
              <a:path w="5257800" h="9525">
                <a:moveTo>
                  <a:pt x="0" y="0"/>
                </a:moveTo>
                <a:lnTo>
                  <a:pt x="5257800" y="0"/>
                </a:lnTo>
              </a:path>
            </a:pathLst>
          </a:custGeom>
          <a:noFill/>
          <a:ln w="9525">
            <a:solidFill>
              <a:srgbClr val="DDE6EF"/>
            </a:solidFill>
          </a:ln>
        </p:spPr>
      </p:sp>
      <p:sp>
        <p:nvSpPr>
          <p:cNvPr id="24" name="Line 24"/>
          <p:cNvSpPr/>
          <p:nvPr/>
        </p:nvSpPr>
        <p:spPr>
          <a:xfrm>
            <a:off x="1905000" y="2781300"/>
            <a:ext cx="9525" cy="1733550"/>
          </a:xfrm>
          <a:custGeom>
            <a:avLst/>
            <a:gdLst/>
            <a:ahLst/>
            <a:cxnLst/>
            <a:rect l="l" t="t" r="r" b="b"/>
            <a:pathLst>
              <a:path w="9525" h="1733550">
                <a:moveTo>
                  <a:pt x="0" y="0"/>
                </a:moveTo>
                <a:lnTo>
                  <a:pt x="0" y="1733550"/>
                </a:lnTo>
              </a:path>
            </a:pathLst>
          </a:custGeom>
          <a:noFill/>
          <a:ln w="9525">
            <a:solidFill>
              <a:srgbClr val="DDE6EF"/>
            </a:solidFill>
          </a:ln>
        </p:spPr>
      </p:sp>
      <p:sp>
        <p:nvSpPr>
          <p:cNvPr id="25" name="Line 25"/>
          <p:cNvSpPr/>
          <p:nvPr/>
        </p:nvSpPr>
        <p:spPr>
          <a:xfrm>
            <a:off x="3105150" y="2781300"/>
            <a:ext cx="9525" cy="1733550"/>
          </a:xfrm>
          <a:custGeom>
            <a:avLst/>
            <a:gdLst/>
            <a:ahLst/>
            <a:cxnLst/>
            <a:rect l="l" t="t" r="r" b="b"/>
            <a:pathLst>
              <a:path w="9525" h="1733550">
                <a:moveTo>
                  <a:pt x="0" y="0"/>
                </a:moveTo>
                <a:lnTo>
                  <a:pt x="0" y="1733550"/>
                </a:lnTo>
              </a:path>
            </a:pathLst>
          </a:custGeom>
          <a:noFill/>
          <a:ln w="9525">
            <a:solidFill>
              <a:srgbClr val="DDE6EF"/>
            </a:solidFill>
          </a:ln>
        </p:spPr>
      </p:sp>
      <p:sp>
        <p:nvSpPr>
          <p:cNvPr id="26" name="Line 26"/>
          <p:cNvSpPr/>
          <p:nvPr/>
        </p:nvSpPr>
        <p:spPr>
          <a:xfrm>
            <a:off x="4819650" y="2781300"/>
            <a:ext cx="9525" cy="1733550"/>
          </a:xfrm>
          <a:custGeom>
            <a:avLst/>
            <a:gdLst/>
            <a:ahLst/>
            <a:cxnLst/>
            <a:rect l="l" t="t" r="r" b="b"/>
            <a:pathLst>
              <a:path w="9525" h="1733550">
                <a:moveTo>
                  <a:pt x="0" y="0"/>
                </a:moveTo>
                <a:lnTo>
                  <a:pt x="0" y="1733550"/>
                </a:lnTo>
              </a:path>
            </a:pathLst>
          </a:custGeom>
          <a:noFill/>
          <a:ln w="9525">
            <a:solidFill>
              <a:srgbClr val="DDE6EF"/>
            </a:solidFill>
          </a:ln>
        </p:spPr>
      </p:sp>
      <p:sp>
        <p:nvSpPr>
          <p:cNvPr id="27" name="TextBox 27"/>
          <p:cNvSpPr txBox="1"/>
          <p:nvPr/>
        </p:nvSpPr>
        <p:spPr>
          <a:xfrm>
            <a:off x="1163955" y="3378518"/>
            <a:ext cx="468058"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2024</a:t>
            </a:r>
          </a:p>
        </p:txBody>
      </p:sp>
      <p:sp>
        <p:nvSpPr>
          <p:cNvPr id="28" name="TextBox 28"/>
          <p:cNvSpPr txBox="1"/>
          <p:nvPr/>
        </p:nvSpPr>
        <p:spPr>
          <a:xfrm>
            <a:off x="2094452" y="3378518"/>
            <a:ext cx="68494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7392.5</a:t>
            </a:r>
          </a:p>
        </p:txBody>
      </p:sp>
      <p:sp>
        <p:nvSpPr>
          <p:cNvPr id="29" name="TextBox 29"/>
          <p:cNvSpPr txBox="1"/>
          <p:nvPr/>
        </p:nvSpPr>
        <p:spPr>
          <a:xfrm>
            <a:off x="3877294" y="3378518"/>
            <a:ext cx="635651"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4716.5</a:t>
            </a:r>
          </a:p>
        </p:txBody>
      </p:sp>
      <p:sp>
        <p:nvSpPr>
          <p:cNvPr id="30" name="TextBox 30"/>
          <p:cNvSpPr txBox="1"/>
          <p:nvPr/>
        </p:nvSpPr>
        <p:spPr>
          <a:xfrm>
            <a:off x="5227844" y="3378518"/>
            <a:ext cx="694801"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48211.9</a:t>
            </a:r>
          </a:p>
        </p:txBody>
      </p:sp>
      <p:sp>
        <p:nvSpPr>
          <p:cNvPr id="31" name="TextBox 31"/>
          <p:cNvSpPr txBox="1"/>
          <p:nvPr/>
        </p:nvSpPr>
        <p:spPr>
          <a:xfrm>
            <a:off x="1163955" y="3816668"/>
            <a:ext cx="468058"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2025</a:t>
            </a:r>
          </a:p>
        </p:txBody>
      </p:sp>
      <p:sp>
        <p:nvSpPr>
          <p:cNvPr id="32" name="TextBox 32"/>
          <p:cNvSpPr txBox="1"/>
          <p:nvPr/>
        </p:nvSpPr>
        <p:spPr>
          <a:xfrm>
            <a:off x="2094452" y="3816668"/>
            <a:ext cx="68494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7887.9</a:t>
            </a:r>
          </a:p>
        </p:txBody>
      </p:sp>
      <p:sp>
        <p:nvSpPr>
          <p:cNvPr id="33" name="TextBox 33"/>
          <p:cNvSpPr txBox="1"/>
          <p:nvPr/>
        </p:nvSpPr>
        <p:spPr>
          <a:xfrm>
            <a:off x="3828002" y="3816668"/>
            <a:ext cx="68494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5248.5</a:t>
            </a:r>
          </a:p>
        </p:txBody>
      </p:sp>
      <p:sp>
        <p:nvSpPr>
          <p:cNvPr id="34" name="TextBox 34"/>
          <p:cNvSpPr txBox="1"/>
          <p:nvPr/>
        </p:nvSpPr>
        <p:spPr>
          <a:xfrm>
            <a:off x="5178552" y="3816668"/>
            <a:ext cx="74409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55391.3</a:t>
            </a:r>
          </a:p>
        </p:txBody>
      </p:sp>
      <p:sp>
        <p:nvSpPr>
          <p:cNvPr id="35" name="TextBox 35"/>
          <p:cNvSpPr txBox="1"/>
          <p:nvPr/>
        </p:nvSpPr>
        <p:spPr>
          <a:xfrm>
            <a:off x="1163955" y="4254818"/>
            <a:ext cx="468058"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2026</a:t>
            </a:r>
          </a:p>
        </p:txBody>
      </p:sp>
      <p:sp>
        <p:nvSpPr>
          <p:cNvPr id="36" name="TextBox 36"/>
          <p:cNvSpPr txBox="1"/>
          <p:nvPr/>
        </p:nvSpPr>
        <p:spPr>
          <a:xfrm>
            <a:off x="2094452" y="4254818"/>
            <a:ext cx="68494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8383.3</a:t>
            </a:r>
          </a:p>
        </p:txBody>
      </p:sp>
      <p:sp>
        <p:nvSpPr>
          <p:cNvPr id="37" name="TextBox 37"/>
          <p:cNvSpPr txBox="1"/>
          <p:nvPr/>
        </p:nvSpPr>
        <p:spPr>
          <a:xfrm>
            <a:off x="3828002" y="4254818"/>
            <a:ext cx="68494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5780.5</a:t>
            </a:r>
          </a:p>
        </p:txBody>
      </p:sp>
      <p:sp>
        <p:nvSpPr>
          <p:cNvPr id="38" name="TextBox 38"/>
          <p:cNvSpPr txBox="1"/>
          <p:nvPr/>
        </p:nvSpPr>
        <p:spPr>
          <a:xfrm>
            <a:off x="5129260" y="4254818"/>
            <a:ext cx="793385"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62570.6</a:t>
            </a:r>
          </a:p>
        </p:txBody>
      </p:sp>
      <p:sp>
        <p:nvSpPr>
          <p:cNvPr id="39" name="TextBox 39"/>
          <p:cNvSpPr txBox="1"/>
          <p:nvPr/>
        </p:nvSpPr>
        <p:spPr>
          <a:xfrm>
            <a:off x="842962" y="4793456"/>
            <a:ext cx="5171361" cy="228600"/>
          </a:xfrm>
          <a:prstGeom prst="rect">
            <a:avLst/>
          </a:prstGeom>
          <a:noFill/>
          <a:ln>
            <a:noFill/>
          </a:ln>
        </p:spPr>
        <p:txBody>
          <a:bodyPr wrap="none" lIns="0" tIns="0" rIns="0" bIns="0" anchor="t" anchorCtr="0">
            <a:spAutoFit/>
          </a:bodyPr>
          <a:lstStyle/>
          <a:p>
            <a:pPr algn="l"/>
            <a:r>
              <a:rPr lang="zh-CN" sz="1125" dirty="0">
                <a:solidFill>
                  <a:srgbClr val="607D8B"/>
                </a:solidFill>
                <a:latin typeface="Arial"/>
                <a:ea typeface="Microsoft YaHei"/>
                <a:cs typeface="Arial"/>
              </a:rPr>
              <a:t>模型：y = ax + b，x = year - 2020；仅使用 2020-2023 恢复段估计。</a:t>
            </a:r>
          </a:p>
        </p:txBody>
      </p:sp>
      <p:sp>
        <p:nvSpPr>
          <p:cNvPr id="40" name="Rectangle 40"/>
          <p:cNvSpPr/>
          <p:nvPr/>
        </p:nvSpPr>
        <p:spPr>
          <a:xfrm>
            <a:off x="6858000" y="1676400"/>
            <a:ext cx="4800600" cy="3600450"/>
          </a:xfrm>
          <a:prstGeom prst="roundRect">
            <a:avLst>
              <a:gd name="adj" fmla="val 2116"/>
            </a:avLst>
          </a:prstGeom>
          <a:solidFill>
            <a:srgbClr val="FFFFFF"/>
          </a:solidFill>
          <a:ln w="9525">
            <a:solidFill>
              <a:srgbClr val="DDE6EF"/>
            </a:solidFill>
          </a:ln>
        </p:spPr>
      </p:sp>
      <p:sp>
        <p:nvSpPr>
          <p:cNvPr id="41" name="TextBox 41"/>
          <p:cNvSpPr txBox="1"/>
          <p:nvPr/>
        </p:nvSpPr>
        <p:spPr>
          <a:xfrm>
            <a:off x="7178040" y="19583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误差来源</a:t>
            </a:r>
          </a:p>
        </p:txBody>
      </p:sp>
      <p:sp>
        <p:nvSpPr>
          <p:cNvPr id="42" name="Rectangle 42"/>
          <p:cNvSpPr/>
          <p:nvPr/>
        </p:nvSpPr>
        <p:spPr>
          <a:xfrm>
            <a:off x="7200900" y="2552700"/>
            <a:ext cx="4095750" cy="552450"/>
          </a:xfrm>
          <a:prstGeom prst="roundRect">
            <a:avLst>
              <a:gd name="adj" fmla="val 13793"/>
            </a:avLst>
          </a:prstGeom>
          <a:solidFill>
            <a:srgbClr val="C41E3A">
              <a:alpha val="8000"/>
            </a:srgbClr>
          </a:solidFill>
          <a:ln>
            <a:noFill/>
          </a:ln>
        </p:spPr>
      </p:sp>
      <p:sp>
        <p:nvSpPr>
          <p:cNvPr id="43" name="TextBox 43"/>
          <p:cNvSpPr txBox="1"/>
          <p:nvPr/>
        </p:nvSpPr>
        <p:spPr>
          <a:xfrm>
            <a:off x="7393305" y="2749868"/>
            <a:ext cx="1690497"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年度采样间隔较大</a:t>
            </a:r>
          </a:p>
        </p:txBody>
      </p:sp>
      <p:sp>
        <p:nvSpPr>
          <p:cNvPr id="44" name="Rectangle 44"/>
          <p:cNvSpPr/>
          <p:nvPr/>
        </p:nvSpPr>
        <p:spPr>
          <a:xfrm>
            <a:off x="7200900" y="3333750"/>
            <a:ext cx="4095750" cy="552450"/>
          </a:xfrm>
          <a:prstGeom prst="roundRect">
            <a:avLst>
              <a:gd name="adj" fmla="val 13793"/>
            </a:avLst>
          </a:prstGeom>
          <a:solidFill>
            <a:srgbClr val="1565C0">
              <a:alpha val="8000"/>
            </a:srgbClr>
          </a:solidFill>
          <a:ln>
            <a:noFill/>
          </a:ln>
        </p:spPr>
      </p:sp>
      <p:sp>
        <p:nvSpPr>
          <p:cNvPr id="45" name="TextBox 45"/>
          <p:cNvSpPr txBox="1"/>
          <p:nvPr/>
        </p:nvSpPr>
        <p:spPr>
          <a:xfrm>
            <a:off x="7393305" y="3530918"/>
            <a:ext cx="2104549"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冲击事件使序列非平稳</a:t>
            </a:r>
          </a:p>
        </p:txBody>
      </p:sp>
      <p:sp>
        <p:nvSpPr>
          <p:cNvPr id="46" name="Rectangle 46"/>
          <p:cNvSpPr/>
          <p:nvPr/>
        </p:nvSpPr>
        <p:spPr>
          <a:xfrm>
            <a:off x="7200900" y="4114800"/>
            <a:ext cx="4095750" cy="552450"/>
          </a:xfrm>
          <a:prstGeom prst="roundRect">
            <a:avLst>
              <a:gd name="adj" fmla="val 13793"/>
            </a:avLst>
          </a:prstGeom>
          <a:solidFill>
            <a:srgbClr val="26A69A">
              <a:alpha val="10000"/>
            </a:srgbClr>
          </a:solidFill>
          <a:ln>
            <a:noFill/>
          </a:ln>
        </p:spPr>
      </p:sp>
      <p:sp>
        <p:nvSpPr>
          <p:cNvPr id="47" name="TextBox 47"/>
          <p:cNvSpPr txBox="1"/>
          <p:nvPr/>
        </p:nvSpPr>
        <p:spPr>
          <a:xfrm>
            <a:off x="7393305" y="4311968"/>
            <a:ext cx="3139678"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博物馆数与旅游需求存在滞后效应</a:t>
            </a:r>
          </a:p>
        </p:txBody>
      </p:sp>
      <p:sp>
        <p:nvSpPr>
          <p:cNvPr id="48" name="Rectangle 48"/>
          <p:cNvSpPr/>
          <p:nvPr/>
        </p:nvSpPr>
        <p:spPr>
          <a:xfrm>
            <a:off x="1676400" y="5562600"/>
            <a:ext cx="8839200" cy="419100"/>
          </a:xfrm>
          <a:prstGeom prst="roundRect">
            <a:avLst>
              <a:gd name="adj" fmla="val 18182"/>
            </a:avLst>
          </a:prstGeom>
          <a:solidFill>
            <a:srgbClr val="263238"/>
          </a:solidFill>
          <a:ln>
            <a:noFill/>
          </a:ln>
        </p:spPr>
      </p:sp>
      <p:sp>
        <p:nvSpPr>
          <p:cNvPr id="49" name="TextBox 49"/>
          <p:cNvSpPr txBox="1"/>
          <p:nvPr/>
        </p:nvSpPr>
        <p:spPr>
          <a:xfrm>
            <a:off x="2559415" y="5683568"/>
            <a:ext cx="7073170"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误差分析结论：模型更适合解释方向和弹性，不适合替代统计部门正式预测。</a:t>
            </a:r>
          </a:p>
        </p:txBody>
      </p:sp>
      <p:sp>
        <p:nvSpPr>
          <p:cNvPr id="50" name="TextBox 50"/>
          <p:cNvSpPr txBox="1"/>
          <p:nvPr/>
        </p:nvSpPr>
        <p:spPr>
          <a:xfrm>
            <a:off x="521970" y="6417945"/>
            <a:ext cx="227714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团队最小二乘拟合与误差分析</a:t>
            </a:r>
          </a:p>
        </p:txBody>
      </p:sp>
      <p:sp>
        <p:nvSpPr>
          <p:cNvPr id="51" name="TextBox 51"/>
          <p:cNvSpPr txBox="1"/>
          <p:nvPr/>
        </p:nvSpPr>
        <p:spPr>
          <a:xfrm>
            <a:off x="11305413" y="6417945"/>
            <a:ext cx="364617"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11 / 12</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Freeform 3"/>
          <p:cNvSpPr/>
          <p:nvPr/>
        </p:nvSpPr>
        <p:spPr>
          <a:xfrm>
            <a:off x="0" y="0"/>
            <a:ext cx="12192000" cy="1809750"/>
          </a:xfrm>
          <a:custGeom>
            <a:avLst/>
            <a:gdLst/>
            <a:ahLst/>
            <a:cxnLst/>
            <a:rect l="l" t="t" r="r" b="b"/>
            <a:pathLst>
              <a:path w="12192000" h="1809750">
                <a:moveTo>
                  <a:pt x="0" y="0"/>
                </a:moveTo>
                <a:lnTo>
                  <a:pt x="12192000" y="0"/>
                </a:lnTo>
                <a:lnTo>
                  <a:pt x="12192000" y="1714500"/>
                </a:lnTo>
                <a:cubicBezTo>
                  <a:pt x="9334500" y="1238250"/>
                  <a:pt x="7239000" y="1809750"/>
                  <a:pt x="4953000" y="1352550"/>
                </a:cubicBezTo>
                <a:cubicBezTo>
                  <a:pt x="2952750" y="952500"/>
                  <a:pt x="1619250" y="552450"/>
                  <a:pt x="0" y="819150"/>
                </a:cubicBezTo>
                <a:close/>
              </a:path>
            </a:pathLst>
          </a:custGeom>
          <a:solidFill>
            <a:srgbClr val="1565C0">
              <a:alpha val="10000"/>
            </a:srgbClr>
          </a:solidFill>
          <a:ln>
            <a:noFill/>
          </a:ln>
        </p:spPr>
      </p:sp>
      <p:sp>
        <p:nvSpPr>
          <p:cNvPr id="4" name="TextBox 4"/>
          <p:cNvSpPr txBox="1"/>
          <p:nvPr/>
        </p:nvSpPr>
        <p:spPr>
          <a:xfrm>
            <a:off x="491490" y="577215"/>
            <a:ext cx="9699022" cy="670560"/>
          </a:xfrm>
          <a:prstGeom prst="rect">
            <a:avLst/>
          </a:prstGeom>
          <a:noFill/>
          <a:ln>
            <a:noFill/>
          </a:ln>
        </p:spPr>
        <p:txBody>
          <a:bodyPr wrap="none" lIns="0" tIns="0" rIns="0" bIns="0" anchor="t" anchorCtr="0">
            <a:spAutoFit/>
          </a:bodyPr>
          <a:lstStyle/>
          <a:p>
            <a:pPr algn="l"/>
            <a:r>
              <a:rPr lang="zh-CN" sz="3300" b="1" dirty="0">
                <a:solidFill>
                  <a:srgbClr val="263238"/>
                </a:solidFill>
                <a:latin typeface="Arial"/>
                <a:ea typeface="Microsoft YaHei"/>
                <a:cs typeface="Arial"/>
              </a:rPr>
              <a:t>结论：文化设施供给是文旅复苏的基础条件</a:t>
            </a:r>
          </a:p>
        </p:txBody>
      </p:sp>
      <p:sp>
        <p:nvSpPr>
          <p:cNvPr id="5" name="TextBox 5"/>
          <p:cNvSpPr txBox="1"/>
          <p:nvPr/>
        </p:nvSpPr>
        <p:spPr>
          <a:xfrm>
            <a:off x="531495" y="1174432"/>
            <a:ext cx="5355574"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Arial"/>
                <a:ea typeface="Microsoft YaHei"/>
                <a:cs typeface="Arial"/>
              </a:rPr>
              <a:t>数字化能力提升，则决定供给向消费转化的效率</a:t>
            </a:r>
          </a:p>
        </p:txBody>
      </p:sp>
      <p:sp>
        <p:nvSpPr>
          <p:cNvPr id="6" name="Rectangle 6"/>
          <p:cNvSpPr/>
          <p:nvPr/>
        </p:nvSpPr>
        <p:spPr>
          <a:xfrm>
            <a:off x="723900" y="2019300"/>
            <a:ext cx="3333750" cy="2628900"/>
          </a:xfrm>
          <a:prstGeom prst="roundRect">
            <a:avLst>
              <a:gd name="adj" fmla="val 2899"/>
            </a:avLst>
          </a:prstGeom>
          <a:solidFill>
            <a:srgbClr val="FFFFFF"/>
          </a:solidFill>
          <a:ln w="9525">
            <a:solidFill>
              <a:srgbClr val="DDE6EF"/>
            </a:solidFill>
          </a:ln>
        </p:spPr>
      </p:sp>
      <p:sp>
        <p:nvSpPr>
          <p:cNvPr id="7" name="Rectangle 7"/>
          <p:cNvSpPr/>
          <p:nvPr/>
        </p:nvSpPr>
        <p:spPr>
          <a:xfrm>
            <a:off x="4438650" y="2019300"/>
            <a:ext cx="3333750" cy="2628900"/>
          </a:xfrm>
          <a:prstGeom prst="roundRect">
            <a:avLst>
              <a:gd name="adj" fmla="val 2899"/>
            </a:avLst>
          </a:prstGeom>
          <a:solidFill>
            <a:srgbClr val="FFFFFF"/>
          </a:solidFill>
          <a:ln w="9525">
            <a:solidFill>
              <a:srgbClr val="DDE6EF"/>
            </a:solidFill>
          </a:ln>
        </p:spPr>
      </p:sp>
      <p:sp>
        <p:nvSpPr>
          <p:cNvPr id="8" name="Rectangle 8"/>
          <p:cNvSpPr/>
          <p:nvPr/>
        </p:nvSpPr>
        <p:spPr>
          <a:xfrm>
            <a:off x="8153400" y="2019300"/>
            <a:ext cx="3333750" cy="2628900"/>
          </a:xfrm>
          <a:prstGeom prst="roundRect">
            <a:avLst>
              <a:gd name="adj" fmla="val 2899"/>
            </a:avLst>
          </a:prstGeom>
          <a:solidFill>
            <a:srgbClr val="FFFFFF"/>
          </a:solidFill>
          <a:ln w="9525">
            <a:solidFill>
              <a:srgbClr val="DDE6EF"/>
            </a:solidFill>
          </a:ln>
        </p:spPr>
      </p:sp>
      <p:grpSp>
        <p:nvGrpSpPr>
          <p:cNvPr id="11" name="Group 11"/>
          <p:cNvGrpSpPr/>
          <p:nvPr/>
        </p:nvGrpSpPr>
        <p:grpSpPr>
          <a:xfrm>
            <a:off x="1136650" y="2486025"/>
            <a:ext cx="279400" cy="236538"/>
            <a:chOff x="1136650" y="2486025"/>
            <a:chExt cx="279400" cy="236538"/>
          </a:xfrm>
        </p:grpSpPr>
        <p:sp>
          <p:nvSpPr>
            <p:cNvPr id="9" name="Freeform 9"/>
            <p:cNvSpPr/>
            <p:nvPr/>
          </p:nvSpPr>
          <p:spPr>
            <a:xfrm>
              <a:off x="1136650" y="2713038"/>
              <a:ext cx="279400" cy="9525"/>
            </a:xfrm>
            <a:custGeom>
              <a:avLst/>
              <a:gdLst/>
              <a:ahLst/>
              <a:cxnLst/>
              <a:rect l="l" t="t" r="r" b="b"/>
              <a:pathLst>
                <a:path w="279400" h="9525">
                  <a:moveTo>
                    <a:pt x="0" y="0"/>
                  </a:moveTo>
                  <a:lnTo>
                    <a:pt x="279400" y="0"/>
                  </a:lnTo>
                </a:path>
              </a:pathLst>
            </a:custGeom>
            <a:noFill/>
            <a:ln w="19050">
              <a:solidFill>
                <a:srgbClr val="1565C0"/>
              </a:solidFill>
            </a:ln>
          </p:spPr>
        </p:sp>
        <p:sp>
          <p:nvSpPr>
            <p:cNvPr id="10" name="Freeform 10"/>
            <p:cNvSpPr/>
            <p:nvPr/>
          </p:nvSpPr>
          <p:spPr>
            <a:xfrm>
              <a:off x="1136650" y="2486025"/>
              <a:ext cx="279400" cy="157162"/>
            </a:xfrm>
            <a:custGeom>
              <a:avLst/>
              <a:gdLst/>
              <a:ahLst/>
              <a:cxnLst/>
              <a:rect l="l" t="t" r="r" b="b"/>
              <a:pathLst>
                <a:path w="279400" h="157162">
                  <a:moveTo>
                    <a:pt x="0" y="157162"/>
                  </a:moveTo>
                  <a:lnTo>
                    <a:pt x="69850" y="52388"/>
                  </a:lnTo>
                  <a:lnTo>
                    <a:pt x="139700" y="87313"/>
                  </a:lnTo>
                  <a:lnTo>
                    <a:pt x="209550" y="0"/>
                  </a:lnTo>
                  <a:lnTo>
                    <a:pt x="279400" y="69850"/>
                  </a:lnTo>
                </a:path>
              </a:pathLst>
            </a:custGeom>
            <a:noFill/>
            <a:ln w="19050">
              <a:solidFill>
                <a:srgbClr val="1565C0"/>
              </a:solidFill>
            </a:ln>
          </p:spPr>
        </p:sp>
      </p:grpSp>
      <p:sp>
        <p:nvSpPr>
          <p:cNvPr id="12" name="TextBox 12"/>
          <p:cNvSpPr txBox="1"/>
          <p:nvPr/>
        </p:nvSpPr>
        <p:spPr>
          <a:xfrm>
            <a:off x="1043940" y="29870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数据结论</a:t>
            </a:r>
          </a:p>
        </p:txBody>
      </p:sp>
      <p:sp>
        <p:nvSpPr>
          <p:cNvPr id="13" name="TextBox 13"/>
          <p:cNvSpPr txBox="1"/>
          <p:nvPr/>
        </p:nvSpPr>
        <p:spPr>
          <a:xfrm>
            <a:off x="1049655" y="3492818"/>
            <a:ext cx="2005965"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博物馆数量 2014-2023</a:t>
            </a:r>
          </a:p>
        </p:txBody>
      </p:sp>
      <p:sp>
        <p:nvSpPr>
          <p:cNvPr id="14" name="TextBox 14"/>
          <p:cNvSpPr txBox="1"/>
          <p:nvPr/>
        </p:nvSpPr>
        <p:spPr>
          <a:xfrm>
            <a:off x="1049655" y="3778568"/>
            <a:ext cx="2015823"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年增长 86.8%，供给侧</a:t>
            </a:r>
          </a:p>
        </p:txBody>
      </p:sp>
      <p:sp>
        <p:nvSpPr>
          <p:cNvPr id="15" name="TextBox 15"/>
          <p:cNvSpPr txBox="1"/>
          <p:nvPr/>
        </p:nvSpPr>
        <p:spPr>
          <a:xfrm>
            <a:off x="1049655" y="4064318"/>
            <a:ext cx="1414462"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保持长期扩张。</a:t>
            </a:r>
          </a:p>
        </p:txBody>
      </p:sp>
      <p:grpSp>
        <p:nvGrpSpPr>
          <p:cNvPr id="20" name="Group 20"/>
          <p:cNvGrpSpPr/>
          <p:nvPr/>
        </p:nvGrpSpPr>
        <p:grpSpPr>
          <a:xfrm>
            <a:off x="4833938" y="2433638"/>
            <a:ext cx="314325" cy="314325"/>
            <a:chOff x="4833938" y="2433638"/>
            <a:chExt cx="314325" cy="314325"/>
          </a:xfrm>
        </p:grpSpPr>
        <p:sp>
          <p:nvSpPr>
            <p:cNvPr id="16" name="Freeform 16"/>
            <p:cNvSpPr/>
            <p:nvPr/>
          </p:nvSpPr>
          <p:spPr>
            <a:xfrm>
              <a:off x="4833938" y="2433638"/>
              <a:ext cx="174625" cy="314325"/>
            </a:xfrm>
            <a:custGeom>
              <a:avLst/>
              <a:gdLst/>
              <a:ahLst/>
              <a:cxnLst/>
              <a:rect l="l" t="t" r="r" b="b"/>
              <a:pathLst>
                <a:path w="174625" h="314325">
                  <a:moveTo>
                    <a:pt x="0" y="279400"/>
                  </a:moveTo>
                  <a:cubicBezTo>
                    <a:pt x="0" y="298689"/>
                    <a:pt x="15636" y="314325"/>
                    <a:pt x="34925" y="314325"/>
                  </a:cubicBezTo>
                  <a:cubicBezTo>
                    <a:pt x="69850" y="314325"/>
                    <a:pt x="69850" y="244475"/>
                    <a:pt x="87312" y="157162"/>
                  </a:cubicBezTo>
                  <a:cubicBezTo>
                    <a:pt x="104775" y="69850"/>
                    <a:pt x="104775" y="0"/>
                    <a:pt x="139700" y="0"/>
                  </a:cubicBezTo>
                  <a:cubicBezTo>
                    <a:pt x="158989" y="0"/>
                    <a:pt x="174625" y="15636"/>
                    <a:pt x="174625" y="34925"/>
                  </a:cubicBezTo>
                </a:path>
              </a:pathLst>
            </a:custGeom>
            <a:noFill/>
            <a:ln w="19050">
              <a:solidFill>
                <a:srgbClr val="C41E3A"/>
              </a:solidFill>
            </a:ln>
          </p:spPr>
        </p:sp>
        <p:sp>
          <p:nvSpPr>
            <p:cNvPr id="17" name="Freeform 17"/>
            <p:cNvSpPr/>
            <p:nvPr/>
          </p:nvSpPr>
          <p:spPr>
            <a:xfrm>
              <a:off x="4868862" y="2590800"/>
              <a:ext cx="104775" cy="9525"/>
            </a:xfrm>
            <a:custGeom>
              <a:avLst/>
              <a:gdLst/>
              <a:ahLst/>
              <a:cxnLst/>
              <a:rect l="l" t="t" r="r" b="b"/>
              <a:pathLst>
                <a:path w="104775" h="9525">
                  <a:moveTo>
                    <a:pt x="0" y="0"/>
                  </a:moveTo>
                  <a:lnTo>
                    <a:pt x="104775" y="0"/>
                  </a:lnTo>
                </a:path>
              </a:pathLst>
            </a:custGeom>
            <a:noFill/>
            <a:ln w="19050">
              <a:solidFill>
                <a:srgbClr val="C41E3A"/>
              </a:solidFill>
            </a:ln>
          </p:spPr>
        </p:sp>
        <p:sp>
          <p:nvSpPr>
            <p:cNvPr id="18" name="Freeform 18"/>
            <p:cNvSpPr/>
            <p:nvPr/>
          </p:nvSpPr>
          <p:spPr>
            <a:xfrm>
              <a:off x="5043488" y="2590800"/>
              <a:ext cx="104775" cy="104775"/>
            </a:xfrm>
            <a:custGeom>
              <a:avLst/>
              <a:gdLst/>
              <a:ahLst/>
              <a:cxnLst/>
              <a:rect l="l" t="t" r="r" b="b"/>
              <a:pathLst>
                <a:path w="104775" h="104775">
                  <a:moveTo>
                    <a:pt x="0" y="0"/>
                  </a:moveTo>
                  <a:lnTo>
                    <a:pt x="104775" y="104775"/>
                  </a:lnTo>
                </a:path>
              </a:pathLst>
            </a:custGeom>
            <a:noFill/>
            <a:ln w="19050">
              <a:solidFill>
                <a:srgbClr val="C41E3A"/>
              </a:solidFill>
            </a:ln>
          </p:spPr>
        </p:sp>
        <p:sp>
          <p:nvSpPr>
            <p:cNvPr id="19" name="Freeform 19"/>
            <p:cNvSpPr/>
            <p:nvPr/>
          </p:nvSpPr>
          <p:spPr>
            <a:xfrm>
              <a:off x="5043488" y="2590800"/>
              <a:ext cx="104775" cy="104775"/>
            </a:xfrm>
            <a:custGeom>
              <a:avLst/>
              <a:gdLst/>
              <a:ahLst/>
              <a:cxnLst/>
              <a:rect l="l" t="t" r="r" b="b"/>
              <a:pathLst>
                <a:path w="104775" h="104775">
                  <a:moveTo>
                    <a:pt x="0" y="104775"/>
                  </a:moveTo>
                  <a:lnTo>
                    <a:pt x="104775" y="0"/>
                  </a:lnTo>
                </a:path>
              </a:pathLst>
            </a:custGeom>
            <a:noFill/>
            <a:ln w="19050">
              <a:solidFill>
                <a:srgbClr val="C41E3A"/>
              </a:solidFill>
            </a:ln>
          </p:spPr>
        </p:sp>
      </p:grpSp>
      <p:sp>
        <p:nvSpPr>
          <p:cNvPr id="21" name="TextBox 21"/>
          <p:cNvSpPr txBox="1"/>
          <p:nvPr/>
        </p:nvSpPr>
        <p:spPr>
          <a:xfrm>
            <a:off x="4758690" y="29870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算法结论</a:t>
            </a:r>
          </a:p>
        </p:txBody>
      </p:sp>
      <p:sp>
        <p:nvSpPr>
          <p:cNvPr id="22" name="TextBox 22"/>
          <p:cNvSpPr txBox="1"/>
          <p:nvPr/>
        </p:nvSpPr>
        <p:spPr>
          <a:xfrm>
            <a:off x="4764405" y="3492818"/>
            <a:ext cx="1907381"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三点差分识别了 2020</a:t>
            </a:r>
          </a:p>
        </p:txBody>
      </p:sp>
      <p:sp>
        <p:nvSpPr>
          <p:cNvPr id="23" name="TextBox 23"/>
          <p:cNvSpPr txBox="1"/>
          <p:nvPr/>
        </p:nvSpPr>
        <p:spPr>
          <a:xfrm>
            <a:off x="4764405" y="3778568"/>
            <a:ext cx="2163699"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年冲击与 2023 年修复，</a:t>
            </a:r>
          </a:p>
        </p:txBody>
      </p:sp>
      <p:sp>
        <p:nvSpPr>
          <p:cNvPr id="24" name="TextBox 24"/>
          <p:cNvSpPr txBox="1"/>
          <p:nvPr/>
        </p:nvSpPr>
        <p:spPr>
          <a:xfrm>
            <a:off x="4764405" y="4064318"/>
            <a:ext cx="1611630"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分段拟合更合理。</a:t>
            </a:r>
          </a:p>
        </p:txBody>
      </p:sp>
      <p:grpSp>
        <p:nvGrpSpPr>
          <p:cNvPr id="28" name="Group 28"/>
          <p:cNvGrpSpPr/>
          <p:nvPr/>
        </p:nvGrpSpPr>
        <p:grpSpPr>
          <a:xfrm>
            <a:off x="8583612" y="2435284"/>
            <a:ext cx="279401" cy="312678"/>
            <a:chOff x="8583612" y="2435284"/>
            <a:chExt cx="279401" cy="312678"/>
          </a:xfrm>
        </p:grpSpPr>
        <p:sp>
          <p:nvSpPr>
            <p:cNvPr id="25" name="Freeform 25"/>
            <p:cNvSpPr/>
            <p:nvPr/>
          </p:nvSpPr>
          <p:spPr>
            <a:xfrm>
              <a:off x="8583612" y="2435284"/>
              <a:ext cx="244475" cy="209999"/>
            </a:xfrm>
            <a:custGeom>
              <a:avLst/>
              <a:gdLst/>
              <a:ahLst/>
              <a:cxnLst/>
              <a:rect l="l" t="t" r="r" b="b"/>
              <a:pathLst>
                <a:path w="244475" h="209999">
                  <a:moveTo>
                    <a:pt x="153094" y="209999"/>
                  </a:moveTo>
                  <a:cubicBezTo>
                    <a:pt x="141540" y="205737"/>
                    <a:pt x="131023" y="199070"/>
                    <a:pt x="122238" y="190441"/>
                  </a:cubicBezTo>
                  <a:cubicBezTo>
                    <a:pt x="88287" y="157162"/>
                    <a:pt x="33951" y="157162"/>
                    <a:pt x="0" y="190441"/>
                  </a:cubicBezTo>
                  <a:lnTo>
                    <a:pt x="0" y="33279"/>
                  </a:lnTo>
                  <a:cubicBezTo>
                    <a:pt x="33951" y="0"/>
                    <a:pt x="88287" y="0"/>
                    <a:pt x="122238" y="33279"/>
                  </a:cubicBezTo>
                  <a:cubicBezTo>
                    <a:pt x="156188" y="66557"/>
                    <a:pt x="210524" y="66557"/>
                    <a:pt x="244475" y="33279"/>
                  </a:cubicBezTo>
                  <a:lnTo>
                    <a:pt x="244475" y="181710"/>
                  </a:lnTo>
                </a:path>
              </a:pathLst>
            </a:custGeom>
            <a:noFill/>
            <a:ln w="19050">
              <a:solidFill>
                <a:srgbClr val="26A69A"/>
              </a:solidFill>
            </a:ln>
          </p:spPr>
        </p:sp>
        <p:sp>
          <p:nvSpPr>
            <p:cNvPr id="26" name="Freeform 26"/>
            <p:cNvSpPr/>
            <p:nvPr/>
          </p:nvSpPr>
          <p:spPr>
            <a:xfrm>
              <a:off x="8583612" y="2625725"/>
              <a:ext cx="9525" cy="122237"/>
            </a:xfrm>
            <a:custGeom>
              <a:avLst/>
              <a:gdLst/>
              <a:ahLst/>
              <a:cxnLst/>
              <a:rect l="l" t="t" r="r" b="b"/>
              <a:pathLst>
                <a:path w="9525" h="122237">
                  <a:moveTo>
                    <a:pt x="0" y="122237"/>
                  </a:moveTo>
                  <a:lnTo>
                    <a:pt x="0" y="0"/>
                  </a:lnTo>
                </a:path>
              </a:pathLst>
            </a:custGeom>
            <a:noFill/>
            <a:ln w="19050">
              <a:solidFill>
                <a:srgbClr val="26A69A"/>
              </a:solidFill>
            </a:ln>
          </p:spPr>
        </p:sp>
        <p:sp>
          <p:nvSpPr>
            <p:cNvPr id="27" name="Freeform 27"/>
            <p:cNvSpPr/>
            <p:nvPr/>
          </p:nvSpPr>
          <p:spPr>
            <a:xfrm>
              <a:off x="8758238" y="2678112"/>
              <a:ext cx="104775" cy="69850"/>
            </a:xfrm>
            <a:custGeom>
              <a:avLst/>
              <a:gdLst/>
              <a:ahLst/>
              <a:cxnLst/>
              <a:rect l="l" t="t" r="r" b="b"/>
              <a:pathLst>
                <a:path w="104775" h="69850">
                  <a:moveTo>
                    <a:pt x="0" y="34925"/>
                  </a:moveTo>
                  <a:lnTo>
                    <a:pt x="34925" y="69850"/>
                  </a:lnTo>
                  <a:lnTo>
                    <a:pt x="104775" y="0"/>
                  </a:lnTo>
                </a:path>
              </a:pathLst>
            </a:custGeom>
            <a:noFill/>
            <a:ln w="19050">
              <a:solidFill>
                <a:srgbClr val="26A69A"/>
              </a:solidFill>
            </a:ln>
          </p:spPr>
        </p:sp>
      </p:grpSp>
      <p:sp>
        <p:nvSpPr>
          <p:cNvPr id="29" name="TextBox 29"/>
          <p:cNvSpPr txBox="1"/>
          <p:nvPr/>
        </p:nvSpPr>
        <p:spPr>
          <a:xfrm>
            <a:off x="8473440" y="29870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政策结论</a:t>
            </a:r>
          </a:p>
        </p:txBody>
      </p:sp>
      <p:sp>
        <p:nvSpPr>
          <p:cNvPr id="30" name="TextBox 30"/>
          <p:cNvSpPr txBox="1"/>
          <p:nvPr/>
        </p:nvSpPr>
        <p:spPr>
          <a:xfrm>
            <a:off x="8479155" y="3492818"/>
            <a:ext cx="2005965"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公共文化设施扩张叠加</a:t>
            </a:r>
          </a:p>
        </p:txBody>
      </p:sp>
      <p:sp>
        <p:nvSpPr>
          <p:cNvPr id="31" name="TextBox 31"/>
          <p:cNvSpPr txBox="1"/>
          <p:nvPr/>
        </p:nvSpPr>
        <p:spPr>
          <a:xfrm>
            <a:off x="8479155" y="3778568"/>
            <a:ext cx="2203132"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数字化展示，有助于释放</a:t>
            </a:r>
          </a:p>
        </p:txBody>
      </p:sp>
      <p:sp>
        <p:nvSpPr>
          <p:cNvPr id="32" name="TextBox 32"/>
          <p:cNvSpPr txBox="1"/>
          <p:nvPr/>
        </p:nvSpPr>
        <p:spPr>
          <a:xfrm>
            <a:off x="8479155" y="4064318"/>
            <a:ext cx="1414462"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文旅消费潜力。</a:t>
            </a:r>
          </a:p>
        </p:txBody>
      </p:sp>
      <p:sp>
        <p:nvSpPr>
          <p:cNvPr id="33" name="Rectangle 33"/>
          <p:cNvSpPr/>
          <p:nvPr/>
        </p:nvSpPr>
        <p:spPr>
          <a:xfrm>
            <a:off x="1295400" y="5200650"/>
            <a:ext cx="9601200" cy="552450"/>
          </a:xfrm>
          <a:prstGeom prst="roundRect">
            <a:avLst>
              <a:gd name="adj" fmla="val 13793"/>
            </a:avLst>
          </a:prstGeom>
          <a:solidFill>
            <a:srgbClr val="263238"/>
          </a:solidFill>
          <a:ln>
            <a:noFill/>
          </a:ln>
        </p:spPr>
      </p:sp>
      <p:sp>
        <p:nvSpPr>
          <p:cNvPr id="34" name="TextBox 34"/>
          <p:cNvSpPr txBox="1"/>
          <p:nvPr/>
        </p:nvSpPr>
        <p:spPr>
          <a:xfrm>
            <a:off x="2013887" y="5374958"/>
            <a:ext cx="816422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汇报亮点：用数值方法解释“长期增长、短期冲击、恢复修复”三个阶段。</a:t>
            </a:r>
          </a:p>
        </p:txBody>
      </p:sp>
      <p:sp>
        <p:nvSpPr>
          <p:cNvPr id="35" name="TextBox 35"/>
          <p:cNvSpPr txBox="1"/>
          <p:nvPr/>
        </p:nvSpPr>
        <p:spPr>
          <a:xfrm>
            <a:off x="521970" y="6417945"/>
            <a:ext cx="1357027"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团队综合分析</a:t>
            </a:r>
          </a:p>
        </p:txBody>
      </p:sp>
      <p:sp>
        <p:nvSpPr>
          <p:cNvPr id="36" name="TextBox 36"/>
          <p:cNvSpPr txBox="1"/>
          <p:nvPr/>
        </p:nvSpPr>
        <p:spPr>
          <a:xfrm>
            <a:off x="11272552" y="6417945"/>
            <a:ext cx="397478"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12 / 12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