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这次报告我会从 GPU 模拟器的使用背景讲起，再介绍 trace-driven simulation 为什么需要压缩。最后回到我们的工作：希望 PKA 不只是选出代表 trace，而是输出能够进入机制归因的 evidence，并进一步生成可以在模拟器中验证的 prescription。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整体分成四部分。前 6 分钟讲必要背景，包括 GPU 执行模型、模拟器用途和 trace replay 成本。中间 7 分钟讲我们的端到端方法。之后用 Rodinia 和 ref_layer3 两个案例说明效果和边界。最后 2 分钟总结优势、限制和下一步计划。</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在讲模拟器之前，我们先快速对齐 GPU 程序执行的基本概念。程序员写 CUDA kernel 时看到的是软件抽象：kernel launch 把代码发送到 GPU，grid 定义整个并行空间，里面是一组 thread block，每个 block 里是大量 thread。关键在于硬件怎么执行这些 thread——block 被 GigaThread Engine 分配到有空闲资源的 SM 上，每个 SM 再把 block 里的 thread 按顺序切成 warp，每个 warp 固定 32 个线程，以 SIMT 方式 lockstep 执行同一条指令。这里有两个性能关键点：一是 warp divergence——同一个 warp 里的线程如果走了不同分支，两条路径会被串行化，吞吐直接减半甚至更差；二是延迟隐藏——GPU 的设计哲学不是降低单次访存的绝对延迟，而是当某个 warp 在等 HBM 的几百个周期时，warp scheduler 零开销切换到另一个就绪 warp 继续算，只要 occupancy 够高，计算单元就不会空闲。SM 内部的 register file、shared memory、L1 cache 到外部的 L2 和 HBM，构成了从零周期到几百周期的存储层次。模拟器做的事，就是在可配置的模型中复现这些硬件状态如何影响 kernel 性能。</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先讲清楚问题再讲方法。Trace-driven GPU 模拟的标准流程是：CUDA 程序在真实 GPU 上运行，NVBit 这样的 binary instrumentation 工具采集 SASS 级别的指令 trace，然后把 trace 文件注入 GPGPU-Sim 做逐周期回放。问题出在中间两步——SASS trace 文件动辄 TB 级别，以 BERT 一次训练为例就产生约 2 TB 的 raw trace；而 GPGPU-Sim 的逐周期模拟有 93% 的时间都花在 SM 执行上，单次 replay 需要数小时到数天。一旦你要做设计空间探索，10 个 knob 乘 5 个 workload 就是 50 次 replay，周期拉到数周甚至数月。这就是我们整个工作的出发点：trace 太大、模拟太慢，但机制信息不能丢。</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既然完整 trace 回放太贵，学术界的主流应对策略是用 microbenchmark 绕过 trace。基本思路是写最小的 PTX 或 CUDA kernel，用 pointer-chasing 测各级 cache 延迟、用 clock64 寄存器测指令吞吐、用参数扫描揭示 bank conflict 和流水线深度。这种做法在 Dissecting Hopper（IPDPS 2024）、Blackwell 微架构分析（arXiv 2024）、MT4G 的 50+ 微基准自动拓扑发现等工作中已经非常成熟，甚至工业界 SemiAnalysis 也在广泛使用。但这套方法有三个根本局限：第一，每个测试需要手工设计和编写，无法随 workload 变化自动适配；第二，它测出的是硬件独立参数，缺少真实应用 kernel 之间的复杂交互上下文——一条指令的延迟在 microbenchmark 里和在真实 kernel 的 register pressure、memory contention 下可能完全不同；第三，也是我们最关心的：microbenchmark 能告诉你瓶颈在哪，但没有自动链路告诉你"应该改模拟器的哪个 knob"。这正是我们工作要填补的空白。</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到这里我们可以清楚地看到两种路径的对比。Microbenchmark 是一条"绕路"：绕过真实应用的 trace，用人工设计的微型测试去探测硬件参数，然后由专家解读这些参数、猜测应该修改模拟器的哪个 knob。这条路在硬件逆向工程中非常有效，但它有三个根本问题——手工、无 workload 上下文、无自动化的"测量→改 knob"映射。我们的工作走的是另一条路：在压缩 trace 的同时提取 PKA evidence，通过 B 线把 kernel 归类到 family/subtype（对齐到硬件机制），通过 C 线给每个 regime 分配时间权重（决定修改的影响范围），最终自动映射到具体的 simulator knob，并且在模拟器中闭环验证。相比 microbenchmark，我们的链路有三个提升：不需要为每个 kernel 手工写测试，保留了 workload 级别的 kernel 交互上下文，而且改完 knob 后能在 simulator 里实测验证效果。接下来我会展开这个端到端链路的具体设计。</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GPU 模拟器主要服务四类问题。第一是架构设计空间探索，例如调整 SM、cache 或 pipeline。第二是性能瓶颈归因。第三是软件和硬件协同优化。第四是作为可复现实验平台。NCU 更像真实硬件观察工具，模拟器更适合问 what-if 问题。</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Trace-driven simulator 通常先在真实运行或 tracer 中采集 kernel 行为，再把得到的 trace 放进模拟器回放。这样同一份 trace 可以在不同架构配置下重复评估，输出 cycles、IPC 等指标。也正因为如此，simulator knob 成为我们做机制验证的入口。</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完整 replay 慢有几个原因。trace 中动态指令规模很大，访存和调度状态又会互相影响；如果对象是一个网络层或 workload，kernel 序列会进一步拉长。调一个参数就重新回放，实验迭代会很慢，所以需要压缩。但压缩不能破坏后续机制分析。</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PKA 的直觉是从很长的 trace 或 kernel 序列中选出少量代表片段，用这些片段近似整体行为。但如果我们的最终目标是模拟器调参，仅有代表片段还不够。我们还要知道这些片段代表了哪类硬件机制。</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传统压缩输出通常回答"选哪些 kernel 或片段"。但我们现在的问题是：如果想修改模拟器，必须回答"应该改哪个机制"。因此压缩结果需要被进一步翻译成 family、subtype、regime 和 knob，这样才能形成可验证的处方。</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我们的端到端链路是 PKA evidence 到 family/subtype，再到 regime/time weight，最后映射到 subtype-to-knob 并做 simulator validation。它的优势是把压缩、归因、调参和验证连起来，而不是把每一步作为孤立工具。</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 线负责机制归因。family_id 选择硬件资源大类，例如 dense compute 或 memory hierarchy。family_subtype_id 进一步定位具体机制，例如 FP64/DP pipeline。这样结果不再只是"compute bound"，而是能指出模拟器里应该关注哪个组件。</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 线负责估计影响范围。regime 表示 workload 中一类稳定行为片段，time_weight 表示它占总时间的比例。这样局部 kernel 的加速就能折算成 workload-level 的预期收益。subtype 再通过 registry 映射到具体 simulator knob。</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这一步是整个链路中最容易被误解的地方，所以我想讲清楚"AI 桥梁"具体怎么做。我们不是把 PKA 特征扔进一个黑箱模型让它输出分类结果。我们的做法分两层：第一层是弱监督信号生成——用三个互补的来源产生 noisy but informative 的初始标签。规则引擎根据 opcode mix 的阈值直接判断 kernel 是 dense_compute 还是 mem_bound；已知案例是我们人工标注过的 kernel-subtype 映射对；simulator registry 记录了 knob 和机制之间的已知关系。三路信号融合后给每个 kernel 一个初始的 family + subtype + regime 标签。第二层是图一致性约束——我们构建了一个 kernel-family-subtype-regime 关系图，kernel 之间通过 shares_regime 边连接。图上有两类约束：相似 kernel 应该得到相似的 family 预测，属于同一个 regime 的 kernel 应该得到一致的 subtype 预测。标注一个 kernel 就可以通过图结构把约束传播到相邻 kernel，大大减少了需要人工标注的数量。</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第一个案例是 Rodinia backprop。目标 kernel 是 bpnn_adjust_weights_cuda。B 线归因给出 family_id 为 dense_compute，subtype 为 fp64_dp_pipeline_compute。这说明瓶颈不是泛泛的计算密集，而是具体指向 FP64/DP 执行路径。</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根据 subtype-to-knob map，fp64_dp_pipeline_compute 对应 trace_opcode_latency_initiation_dp。我们做的修改是 24,16 到 24,4。这里要强调，这是修改模拟器中 DP pipeline 的 initiation interval，不是修改真实硬件。</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修改后，bpnn_adjust_weights_cuda 的 cycles 从 12593 降到 7106，下降约 43.6%。IPC 从 234.2 提升到 415.1，提升约 77.2%。目标 kernel 局部 speedup 为 1.772x，workload 估计 speedup 为 1.403x。这说明链路确实能产生可观测效果。</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第二个案例是 ref_layer3/stage3。当前我们从 29 个 kernel invocation 中选出 6 个 anchors，并得到 7 个 regime candidates。主 regime 的 time_weight 约为 0.758，预计 stage3 speedup 为 1.064x。但它目前是 proxy/accounting 证据，不是完整 replay 结论。</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当前最大的工程限制是完整 replay 太慢。Rodinia 可以作为闭环验证案例，但 ref_layer3 目前只能作为趋势和方法链路验证。后续需要引入 simulator-layer sampled simulation，例如 Photon-style 思路，和 PKA/B/C 机制归因主线互补。</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总结来看，我们的优势是让 trace 压缩结果可解释、可归因、可验证。下一步要扩展 3 到 5 个 workload，实现弱监督 AI 桥梁，并探索 sampled simulation 以支撑完整验证。这样才能把方法从单个案例推进到更稳固的论文实验。</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533400" y="514350"/>
            <a:ext cx="11125200" cy="5829300"/>
          </a:xfrm>
          <a:prstGeom prst="roundRect">
            <a:avLst>
              <a:gd name="adj" fmla="val 1307"/>
            </a:avLst>
          </a:prstGeom>
          <a:solidFill>
            <a:srgbClr val="FFFFFF"/>
          </a:solidFill>
          <a:ln w="9525">
            <a:solidFill>
              <a:srgbClr val="CBD5E1"/>
            </a:solidFill>
          </a:ln>
        </p:spPr>
      </p:sp>
      <p:sp>
        <p:nvSpPr>
          <p:cNvPr id="4" name="Rectangle 4"/>
          <p:cNvSpPr/>
          <p:nvPr/>
        </p:nvSpPr>
        <p:spPr>
          <a:xfrm>
            <a:off x="533400" y="514350"/>
            <a:ext cx="76200" cy="5829300"/>
          </a:xfrm>
          <a:prstGeom prst="rect">
            <a:avLst/>
          </a:prstGeom>
          <a:solidFill>
            <a:srgbClr val="1E3A5F"/>
          </a:solidFill>
          <a:ln>
            <a:noFill/>
          </a:ln>
        </p:spPr>
      </p:sp>
      <p:sp>
        <p:nvSpPr>
          <p:cNvPr id="5" name="TextBox 5"/>
          <p:cNvSpPr txBox="1"/>
          <p:nvPr/>
        </p:nvSpPr>
        <p:spPr>
          <a:xfrm>
            <a:off x="1047750" y="1304925"/>
            <a:ext cx="7877770" cy="914400"/>
          </a:xfrm>
          <a:prstGeom prst="rect">
            <a:avLst/>
          </a:prstGeom>
          <a:noFill/>
          <a:ln>
            <a:noFill/>
          </a:ln>
        </p:spPr>
        <p:txBody>
          <a:bodyPr wrap="none" lIns="0" tIns="0" rIns="0" bIns="0" anchor="t" anchorCtr="0">
            <a:spAutoFit/>
          </a:bodyPr>
          <a:lstStyle/>
          <a:p>
            <a:pPr algn="l"/>
            <a:r>
              <a:rPr lang="zh-CN" sz="4500" b="1" dirty="0">
                <a:solidFill>
                  <a:srgbClr val="111827"/>
                </a:solidFill>
                <a:latin typeface="Arial"/>
                <a:ea typeface="Microsoft YaHei"/>
                <a:cs typeface="Arial"/>
              </a:rPr>
              <a:t>从 GPU 模拟器到机制归因</a:t>
            </a:r>
          </a:p>
        </p:txBody>
      </p:sp>
      <p:sp>
        <p:nvSpPr>
          <p:cNvPr id="6" name="TextBox 6"/>
          <p:cNvSpPr txBox="1"/>
          <p:nvPr/>
        </p:nvSpPr>
        <p:spPr>
          <a:xfrm>
            <a:off x="1101090" y="2129790"/>
            <a:ext cx="7995514" cy="365760"/>
          </a:xfrm>
          <a:prstGeom prst="rect">
            <a:avLst/>
          </a:prstGeom>
          <a:noFill/>
          <a:ln>
            <a:noFill/>
          </a:ln>
        </p:spPr>
        <p:txBody>
          <a:bodyPr wrap="none" lIns="0" tIns="0" rIns="0" bIns="0" anchor="t" anchorCtr="0">
            <a:spAutoFit/>
          </a:bodyPr>
          <a:lstStyle/>
          <a:p>
            <a:pPr algn="l"/>
            <a:r>
              <a:rPr lang="zh-CN" sz="1800" b="1" dirty="0">
                <a:solidFill>
                  <a:srgbClr val="4B5563"/>
                </a:solidFill>
                <a:latin typeface="Arial"/>
                <a:ea typeface="Microsoft YaHei"/>
                <a:cs typeface="Arial"/>
              </a:rPr>
              <a:t>Trace 压缩、PKA evidence 与可验证的 simulator prescription</a:t>
            </a:r>
          </a:p>
        </p:txBody>
      </p:sp>
      <p:sp>
        <p:nvSpPr>
          <p:cNvPr id="7" name="Rectangle 7"/>
          <p:cNvSpPr/>
          <p:nvPr/>
        </p:nvSpPr>
        <p:spPr>
          <a:xfrm>
            <a:off x="1123950" y="2705100"/>
            <a:ext cx="6286500" cy="38100"/>
          </a:xfrm>
          <a:prstGeom prst="rect">
            <a:avLst/>
          </a:prstGeom>
          <a:gradFill>
            <a:gsLst>
              <a:gs pos="0">
                <a:srgbClr val="1E3A5F"/>
              </a:gs>
              <a:gs pos="55000">
                <a:srgbClr val="D97706"/>
              </a:gs>
              <a:gs pos="100000">
                <a:srgbClr val="2F855A"/>
              </a:gs>
            </a:gsLst>
            <a:lin ang="0" scaled="1"/>
          </a:gradFill>
          <a:ln>
            <a:noFill/>
          </a:ln>
        </p:spPr>
      </p:sp>
      <p:sp>
        <p:nvSpPr>
          <p:cNvPr id="8" name="Rectangle 8"/>
          <p:cNvSpPr/>
          <p:nvPr/>
        </p:nvSpPr>
        <p:spPr>
          <a:xfrm>
            <a:off x="1123950" y="3257550"/>
            <a:ext cx="7543800" cy="1200150"/>
          </a:xfrm>
          <a:prstGeom prst="roundRect">
            <a:avLst>
              <a:gd name="adj" fmla="val 6349"/>
            </a:avLst>
          </a:prstGeom>
          <a:solidFill>
            <a:srgbClr val="F8FAFC"/>
          </a:solidFill>
          <a:ln w="9525">
            <a:solidFill>
              <a:srgbClr val="CBD5E1"/>
            </a:solidFill>
          </a:ln>
        </p:spPr>
      </p:sp>
      <p:sp>
        <p:nvSpPr>
          <p:cNvPr id="9" name="TextBox 9"/>
          <p:cNvSpPr txBox="1"/>
          <p:nvPr/>
        </p:nvSpPr>
        <p:spPr>
          <a:xfrm>
            <a:off x="1390650" y="3476625"/>
            <a:ext cx="1418272" cy="304800"/>
          </a:xfrm>
          <a:prstGeom prst="rect">
            <a:avLst/>
          </a:prstGeom>
          <a:noFill/>
          <a:ln>
            <a:noFill/>
          </a:ln>
        </p:spPr>
        <p:txBody>
          <a:bodyPr wrap="none" lIns="0" tIns="0" rIns="0" bIns="0" anchor="t" anchorCtr="0">
            <a:spAutoFit/>
          </a:bodyPr>
          <a:lstStyle/>
          <a:p>
            <a:pPr algn="l"/>
            <a:r>
              <a:rPr lang="zh-CN" sz="1500" b="1" dirty="0">
                <a:solidFill>
                  <a:srgbClr val="1E3A5F"/>
                </a:solidFill>
                <a:latin typeface="Arial"/>
                <a:ea typeface="Microsoft YaHei"/>
                <a:cs typeface="Arial"/>
              </a:rPr>
              <a:t>课程报告主线</a:t>
            </a:r>
          </a:p>
        </p:txBody>
      </p:sp>
      <p:sp>
        <p:nvSpPr>
          <p:cNvPr id="10" name="TextBox 10"/>
          <p:cNvSpPr txBox="1"/>
          <p:nvPr/>
        </p:nvSpPr>
        <p:spPr>
          <a:xfrm>
            <a:off x="1391602" y="3846671"/>
            <a:ext cx="7101911" cy="289560"/>
          </a:xfrm>
          <a:prstGeom prst="rect">
            <a:avLst/>
          </a:prstGeom>
          <a:noFill/>
          <a:ln>
            <a:noFill/>
          </a:ln>
        </p:spPr>
        <p:txBody>
          <a:bodyPr wrap="none" lIns="0" tIns="0" rIns="0" bIns="0" anchor="t" anchorCtr="0">
            <a:spAutoFit/>
          </a:bodyPr>
          <a:lstStyle/>
          <a:p>
            <a:pPr algn="l"/>
            <a:r>
              <a:rPr lang="zh-CN" sz="1425" dirty="0">
                <a:solidFill>
                  <a:srgbClr val="111827"/>
                </a:solidFill>
                <a:latin typeface="Arial"/>
                <a:ea typeface="Microsoft YaHei"/>
                <a:cs typeface="Arial"/>
              </a:rPr>
              <a:t>先解释当前 GPU 模拟器如何被使用，再说明为什么 trace replay 需要压缩，</a:t>
            </a:r>
          </a:p>
        </p:txBody>
      </p:sp>
      <p:sp>
        <p:nvSpPr>
          <p:cNvPr id="11" name="TextBox 11"/>
          <p:cNvSpPr txBox="1"/>
          <p:nvPr/>
        </p:nvSpPr>
        <p:spPr>
          <a:xfrm>
            <a:off x="1391602" y="4151471"/>
            <a:ext cx="6279832" cy="289560"/>
          </a:xfrm>
          <a:prstGeom prst="rect">
            <a:avLst/>
          </a:prstGeom>
          <a:noFill/>
          <a:ln>
            <a:noFill/>
          </a:ln>
        </p:spPr>
        <p:txBody>
          <a:bodyPr wrap="none" lIns="0" tIns="0" rIns="0" bIns="0" anchor="t" anchorCtr="0">
            <a:spAutoFit/>
          </a:bodyPr>
          <a:lstStyle/>
          <a:p>
            <a:pPr algn="l"/>
            <a:r>
              <a:rPr lang="zh-CN" sz="1425" dirty="0">
                <a:solidFill>
                  <a:srgbClr val="111827"/>
                </a:solidFill>
                <a:latin typeface="Arial"/>
                <a:ea typeface="Microsoft YaHei"/>
                <a:cs typeface="Arial"/>
              </a:rPr>
              <a:t>最后展示我们的端到端设计如何把压缩结果转成可验证的机制处方。</a:t>
            </a:r>
          </a:p>
        </p:txBody>
      </p:sp>
      <p:sp>
        <p:nvSpPr>
          <p:cNvPr id="12" name="Rectangle 12"/>
          <p:cNvSpPr/>
          <p:nvPr/>
        </p:nvSpPr>
        <p:spPr>
          <a:xfrm>
            <a:off x="9124950" y="3257550"/>
            <a:ext cx="1943100" cy="1200150"/>
          </a:xfrm>
          <a:prstGeom prst="roundRect">
            <a:avLst>
              <a:gd name="adj" fmla="val 6349"/>
            </a:avLst>
          </a:prstGeom>
          <a:solidFill>
            <a:srgbClr val="1E3A5F"/>
          </a:solidFill>
          <a:ln>
            <a:noFill/>
          </a:ln>
        </p:spPr>
      </p:sp>
      <p:sp>
        <p:nvSpPr>
          <p:cNvPr id="13" name="TextBox 13"/>
          <p:cNvSpPr txBox="1"/>
          <p:nvPr/>
        </p:nvSpPr>
        <p:spPr>
          <a:xfrm>
            <a:off x="9441132" y="3442335"/>
            <a:ext cx="1310735" cy="548640"/>
          </a:xfrm>
          <a:prstGeom prst="rect">
            <a:avLst/>
          </a:prstGeom>
          <a:noFill/>
          <a:ln>
            <a:noFill/>
          </a:ln>
        </p:spPr>
        <p:txBody>
          <a:bodyPr wrap="none" lIns="0" tIns="0" rIns="0" bIns="0" anchor="t" anchorCtr="0">
            <a:spAutoFit/>
          </a:bodyPr>
          <a:lstStyle/>
          <a:p>
            <a:pPr algn="ctr"/>
            <a:r>
              <a:rPr lang="zh-CN" sz="2700" b="1" dirty="0">
                <a:solidFill>
                  <a:srgbClr val="FFFFFF"/>
                </a:solidFill>
                <a:latin typeface="Arial"/>
                <a:ea typeface="Microsoft YaHei"/>
                <a:cs typeface="Arial"/>
              </a:rPr>
              <a:t>20 min</a:t>
            </a:r>
          </a:p>
        </p:txBody>
      </p:sp>
      <p:sp>
        <p:nvSpPr>
          <p:cNvPr id="14" name="TextBox 14"/>
          <p:cNvSpPr txBox="1"/>
          <p:nvPr/>
        </p:nvSpPr>
        <p:spPr>
          <a:xfrm>
            <a:off x="9671447" y="3974306"/>
            <a:ext cx="850106" cy="228600"/>
          </a:xfrm>
          <a:prstGeom prst="rect">
            <a:avLst/>
          </a:prstGeom>
          <a:noFill/>
          <a:ln>
            <a:noFill/>
          </a:ln>
        </p:spPr>
        <p:txBody>
          <a:bodyPr wrap="none" lIns="0" tIns="0" rIns="0" bIns="0" anchor="t" anchorCtr="0">
            <a:spAutoFit/>
          </a:bodyPr>
          <a:lstStyle/>
          <a:p>
            <a:pPr algn="ctr"/>
            <a:r>
              <a:rPr lang="zh-CN" sz="1125" dirty="0">
                <a:solidFill>
                  <a:srgbClr val="FFFFFF"/>
                </a:solidFill>
                <a:latin typeface="Arial"/>
                <a:ea typeface="Microsoft YaHei"/>
                <a:cs typeface="Arial"/>
              </a:rPr>
              <a:t>课程报告版</a:t>
            </a:r>
          </a:p>
        </p:txBody>
      </p:sp>
      <p:sp>
        <p:nvSpPr>
          <p:cNvPr id="15" name="Rectangle 15"/>
          <p:cNvSpPr/>
          <p:nvPr/>
        </p:nvSpPr>
        <p:spPr>
          <a:xfrm>
            <a:off x="1123950" y="5219700"/>
            <a:ext cx="9944100" cy="647700"/>
          </a:xfrm>
          <a:prstGeom prst="roundRect">
            <a:avLst>
              <a:gd name="adj" fmla="val 11765"/>
            </a:avLst>
          </a:prstGeom>
          <a:solidFill>
            <a:srgbClr val="FFFFFF"/>
          </a:solidFill>
          <a:ln w="9525">
            <a:solidFill>
              <a:srgbClr val="CBD5E1"/>
            </a:solidFill>
          </a:ln>
        </p:spPr>
      </p:sp>
      <p:sp>
        <p:nvSpPr>
          <p:cNvPr id="16" name="Line 16"/>
          <p:cNvSpPr/>
          <p:nvPr/>
        </p:nvSpPr>
        <p:spPr>
          <a:xfrm>
            <a:off x="2000250" y="5543550"/>
            <a:ext cx="8191500" cy="9525"/>
          </a:xfrm>
          <a:custGeom>
            <a:avLst/>
            <a:gdLst/>
            <a:ahLst/>
            <a:cxnLst/>
            <a:rect l="l" t="t" r="r" b="b"/>
            <a:pathLst>
              <a:path w="8191500" h="9525">
                <a:moveTo>
                  <a:pt x="0" y="0"/>
                </a:moveTo>
                <a:lnTo>
                  <a:pt x="8191500" y="0"/>
                </a:lnTo>
              </a:path>
            </a:pathLst>
          </a:custGeom>
          <a:noFill/>
          <a:ln w="28575">
            <a:solidFill>
              <a:srgbClr val="CBD5E1"/>
            </a:solidFill>
          </a:ln>
        </p:spPr>
      </p:sp>
      <p:sp>
        <p:nvSpPr>
          <p:cNvPr id="17" name="Ellipse 17"/>
          <p:cNvSpPr/>
          <p:nvPr/>
        </p:nvSpPr>
        <p:spPr>
          <a:xfrm>
            <a:off x="1847850" y="5391150"/>
            <a:ext cx="304800" cy="304800"/>
          </a:xfrm>
          <a:prstGeom prst="ellipse">
            <a:avLst/>
          </a:prstGeom>
          <a:solidFill>
            <a:srgbClr val="1E3A5F"/>
          </a:solidFill>
          <a:ln>
            <a:noFill/>
          </a:ln>
        </p:spPr>
      </p:sp>
      <p:sp>
        <p:nvSpPr>
          <p:cNvPr id="18" name="Ellipse 18"/>
          <p:cNvSpPr/>
          <p:nvPr/>
        </p:nvSpPr>
        <p:spPr>
          <a:xfrm>
            <a:off x="3895725" y="5391150"/>
            <a:ext cx="304800" cy="304800"/>
          </a:xfrm>
          <a:prstGeom prst="ellipse">
            <a:avLst/>
          </a:prstGeom>
          <a:solidFill>
            <a:srgbClr val="1E3A5F"/>
          </a:solidFill>
          <a:ln>
            <a:noFill/>
          </a:ln>
        </p:spPr>
      </p:sp>
      <p:sp>
        <p:nvSpPr>
          <p:cNvPr id="19" name="Ellipse 19"/>
          <p:cNvSpPr/>
          <p:nvPr/>
        </p:nvSpPr>
        <p:spPr>
          <a:xfrm>
            <a:off x="5943600" y="5391150"/>
            <a:ext cx="304800" cy="304800"/>
          </a:xfrm>
          <a:prstGeom prst="ellipse">
            <a:avLst/>
          </a:prstGeom>
          <a:solidFill>
            <a:srgbClr val="D97706"/>
          </a:solidFill>
          <a:ln>
            <a:noFill/>
          </a:ln>
        </p:spPr>
      </p:sp>
      <p:sp>
        <p:nvSpPr>
          <p:cNvPr id="20" name="Ellipse 20"/>
          <p:cNvSpPr/>
          <p:nvPr/>
        </p:nvSpPr>
        <p:spPr>
          <a:xfrm>
            <a:off x="7991475" y="5391150"/>
            <a:ext cx="304800" cy="304800"/>
          </a:xfrm>
          <a:prstGeom prst="ellipse">
            <a:avLst/>
          </a:prstGeom>
          <a:solidFill>
            <a:srgbClr val="D97706"/>
          </a:solidFill>
          <a:ln>
            <a:noFill/>
          </a:ln>
        </p:spPr>
      </p:sp>
      <p:sp>
        <p:nvSpPr>
          <p:cNvPr id="21" name="Ellipse 21"/>
          <p:cNvSpPr/>
          <p:nvPr/>
        </p:nvSpPr>
        <p:spPr>
          <a:xfrm>
            <a:off x="10039350" y="5391150"/>
            <a:ext cx="304800" cy="304800"/>
          </a:xfrm>
          <a:prstGeom prst="ellipse">
            <a:avLst/>
          </a:prstGeom>
          <a:solidFill>
            <a:srgbClr val="2F855A"/>
          </a:solidFill>
          <a:ln>
            <a:noFill/>
          </a:ln>
        </p:spPr>
      </p:sp>
      <p:sp>
        <p:nvSpPr>
          <p:cNvPr id="22" name="TextBox 22"/>
          <p:cNvSpPr txBox="1"/>
          <p:nvPr/>
        </p:nvSpPr>
        <p:spPr>
          <a:xfrm>
            <a:off x="1584365" y="5849302"/>
            <a:ext cx="831771"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模拟器背景</a:t>
            </a:r>
          </a:p>
        </p:txBody>
      </p:sp>
      <p:sp>
        <p:nvSpPr>
          <p:cNvPr id="23" name="TextBox 23"/>
          <p:cNvSpPr txBox="1"/>
          <p:nvPr/>
        </p:nvSpPr>
        <p:spPr>
          <a:xfrm>
            <a:off x="3551730" y="5849302"/>
            <a:ext cx="992791"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trace 与 PKA</a:t>
            </a:r>
          </a:p>
        </p:txBody>
      </p:sp>
      <p:sp>
        <p:nvSpPr>
          <p:cNvPr id="24" name="TextBox 24"/>
          <p:cNvSpPr txBox="1"/>
          <p:nvPr/>
        </p:nvSpPr>
        <p:spPr>
          <a:xfrm>
            <a:off x="5760625" y="5849302"/>
            <a:ext cx="670750"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机制归因</a:t>
            </a:r>
          </a:p>
        </p:txBody>
      </p:sp>
      <p:sp>
        <p:nvSpPr>
          <p:cNvPr id="25" name="TextBox 25"/>
          <p:cNvSpPr txBox="1"/>
          <p:nvPr/>
        </p:nvSpPr>
        <p:spPr>
          <a:xfrm>
            <a:off x="7808500" y="5849302"/>
            <a:ext cx="670750"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处方验证</a:t>
            </a:r>
          </a:p>
        </p:txBody>
      </p:sp>
      <p:sp>
        <p:nvSpPr>
          <p:cNvPr id="26" name="TextBox 26"/>
          <p:cNvSpPr txBox="1"/>
          <p:nvPr/>
        </p:nvSpPr>
        <p:spPr>
          <a:xfrm>
            <a:off x="9936885" y="5849302"/>
            <a:ext cx="509730"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下一步</a:t>
            </a:r>
          </a:p>
        </p:txBody>
      </p:sp>
      <p:sp>
        <p:nvSpPr>
          <p:cNvPr id="27" name="TextBox 27"/>
          <p:cNvSpPr txBox="1"/>
          <p:nvPr/>
        </p:nvSpPr>
        <p:spPr>
          <a:xfrm>
            <a:off x="1110615" y="6116002"/>
            <a:ext cx="162153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课程报告 · 2026-05-17</a:t>
            </a:r>
          </a:p>
        </p:txBody>
      </p:sp>
      <p:sp>
        <p:nvSpPr>
          <p:cNvPr id="28" name="TextBox 28"/>
          <p:cNvSpPr txBox="1"/>
          <p:nvPr/>
        </p:nvSpPr>
        <p:spPr>
          <a:xfrm>
            <a:off x="1071417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01 / 18</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711006"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ROADMAP</a:t>
            </a:r>
          </a:p>
        </p:txBody>
      </p:sp>
      <p:sp>
        <p:nvSpPr>
          <p:cNvPr id="4" name="TextBox 4"/>
          <p:cNvSpPr txBox="1"/>
          <p:nvPr/>
        </p:nvSpPr>
        <p:spPr>
          <a:xfrm>
            <a:off x="502920" y="845820"/>
            <a:ext cx="315254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20 分钟报告路线图</a:t>
            </a:r>
          </a:p>
        </p:txBody>
      </p:sp>
      <p:sp>
        <p:nvSpPr>
          <p:cNvPr id="5" name="TextBox 5"/>
          <p:cNvSpPr txBox="1"/>
          <p:nvPr/>
        </p:nvSpPr>
        <p:spPr>
          <a:xfrm>
            <a:off x="515302" y="1274921"/>
            <a:ext cx="6071711"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从背景科普进入方法，再用两个实验案例说明端到端设计的价值。</a:t>
            </a:r>
          </a:p>
        </p:txBody>
      </p:sp>
      <p:sp>
        <p:nvSpPr>
          <p:cNvPr id="6" name="Rectangle 6"/>
          <p:cNvSpPr/>
          <p:nvPr/>
        </p:nvSpPr>
        <p:spPr>
          <a:xfrm>
            <a:off x="533400" y="1885950"/>
            <a:ext cx="11125200" cy="3733800"/>
          </a:xfrm>
          <a:prstGeom prst="roundRect">
            <a:avLst>
              <a:gd name="adj" fmla="val 2041"/>
            </a:avLst>
          </a:prstGeom>
          <a:solidFill>
            <a:srgbClr val="FFFFFF"/>
          </a:solidFill>
          <a:ln w="9525">
            <a:solidFill>
              <a:srgbClr val="CBD5E1"/>
            </a:solidFill>
          </a:ln>
        </p:spPr>
      </p:sp>
      <p:sp>
        <p:nvSpPr>
          <p:cNvPr id="7" name="Line 7"/>
          <p:cNvSpPr/>
          <p:nvPr/>
        </p:nvSpPr>
        <p:spPr>
          <a:xfrm>
            <a:off x="1428750" y="2457450"/>
            <a:ext cx="9525" cy="2590800"/>
          </a:xfrm>
          <a:custGeom>
            <a:avLst/>
            <a:gdLst/>
            <a:ahLst/>
            <a:cxnLst/>
            <a:rect l="l" t="t" r="r" b="b"/>
            <a:pathLst>
              <a:path w="9525" h="2590800">
                <a:moveTo>
                  <a:pt x="0" y="0"/>
                </a:moveTo>
                <a:lnTo>
                  <a:pt x="0" y="2590800"/>
                </a:lnTo>
              </a:path>
            </a:pathLst>
          </a:custGeom>
          <a:noFill/>
          <a:ln w="38100">
            <a:solidFill>
              <a:srgbClr val="CBD5E1"/>
            </a:solidFill>
          </a:ln>
        </p:spPr>
      </p:sp>
      <p:sp>
        <p:nvSpPr>
          <p:cNvPr id="8" name="Ellipse 8"/>
          <p:cNvSpPr/>
          <p:nvPr/>
        </p:nvSpPr>
        <p:spPr>
          <a:xfrm>
            <a:off x="1219200" y="2247900"/>
            <a:ext cx="419100" cy="419100"/>
          </a:xfrm>
          <a:prstGeom prst="ellipse">
            <a:avLst/>
          </a:prstGeom>
          <a:solidFill>
            <a:srgbClr val="1E3A5F"/>
          </a:solidFill>
          <a:ln>
            <a:noFill/>
          </a:ln>
        </p:spPr>
      </p:sp>
      <p:sp>
        <p:nvSpPr>
          <p:cNvPr id="9" name="Ellipse 9"/>
          <p:cNvSpPr/>
          <p:nvPr/>
        </p:nvSpPr>
        <p:spPr>
          <a:xfrm>
            <a:off x="1219200" y="3105150"/>
            <a:ext cx="419100" cy="419100"/>
          </a:xfrm>
          <a:prstGeom prst="ellipse">
            <a:avLst/>
          </a:prstGeom>
          <a:solidFill>
            <a:srgbClr val="1E3A5F"/>
          </a:solidFill>
          <a:ln>
            <a:noFill/>
          </a:ln>
        </p:spPr>
      </p:sp>
      <p:sp>
        <p:nvSpPr>
          <p:cNvPr id="10" name="Ellipse 10"/>
          <p:cNvSpPr/>
          <p:nvPr/>
        </p:nvSpPr>
        <p:spPr>
          <a:xfrm>
            <a:off x="1219200" y="3962400"/>
            <a:ext cx="419100" cy="419100"/>
          </a:xfrm>
          <a:prstGeom prst="ellipse">
            <a:avLst/>
          </a:prstGeom>
          <a:solidFill>
            <a:srgbClr val="D97706"/>
          </a:solidFill>
          <a:ln>
            <a:noFill/>
          </a:ln>
        </p:spPr>
      </p:sp>
      <p:sp>
        <p:nvSpPr>
          <p:cNvPr id="11" name="Ellipse 11"/>
          <p:cNvSpPr/>
          <p:nvPr/>
        </p:nvSpPr>
        <p:spPr>
          <a:xfrm>
            <a:off x="1219200" y="4819650"/>
            <a:ext cx="419100" cy="419100"/>
          </a:xfrm>
          <a:prstGeom prst="ellipse">
            <a:avLst/>
          </a:prstGeom>
          <a:solidFill>
            <a:srgbClr val="2F855A"/>
          </a:solidFill>
          <a:ln>
            <a:noFill/>
          </a:ln>
        </p:spPr>
      </p:sp>
      <p:sp>
        <p:nvSpPr>
          <p:cNvPr id="12" name="TextBox 12"/>
          <p:cNvSpPr txBox="1"/>
          <p:nvPr/>
        </p:nvSpPr>
        <p:spPr>
          <a:xfrm>
            <a:off x="1380551" y="2378392"/>
            <a:ext cx="9639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3" name="TextBox 13"/>
          <p:cNvSpPr txBox="1"/>
          <p:nvPr/>
        </p:nvSpPr>
        <p:spPr>
          <a:xfrm>
            <a:off x="1354673" y="3235642"/>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14" name="TextBox 14"/>
          <p:cNvSpPr txBox="1"/>
          <p:nvPr/>
        </p:nvSpPr>
        <p:spPr>
          <a:xfrm>
            <a:off x="1354673" y="4092892"/>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15" name="TextBox 15"/>
          <p:cNvSpPr txBox="1"/>
          <p:nvPr/>
        </p:nvSpPr>
        <p:spPr>
          <a:xfrm>
            <a:off x="1354673" y="4950142"/>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16" name="TextBox 16"/>
          <p:cNvSpPr txBox="1"/>
          <p:nvPr/>
        </p:nvSpPr>
        <p:spPr>
          <a:xfrm>
            <a:off x="1979295" y="2165032"/>
            <a:ext cx="3824733"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前置科普：GPU 模拟器如何被使用</a:t>
            </a:r>
          </a:p>
        </p:txBody>
      </p:sp>
      <p:sp>
        <p:nvSpPr>
          <p:cNvPr id="17" name="TextBox 17"/>
          <p:cNvSpPr txBox="1"/>
          <p:nvPr/>
        </p:nvSpPr>
        <p:spPr>
          <a:xfrm>
            <a:off x="1983105" y="2502218"/>
            <a:ext cx="5801439"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GPU 执行模型、trace-driven simulator、完整回放为什么昂贵。</a:t>
            </a:r>
          </a:p>
        </p:txBody>
      </p:sp>
      <p:sp>
        <p:nvSpPr>
          <p:cNvPr id="18" name="TextBox 18"/>
          <p:cNvSpPr txBox="1"/>
          <p:nvPr/>
        </p:nvSpPr>
        <p:spPr>
          <a:xfrm>
            <a:off x="9112508" y="2349818"/>
            <a:ext cx="810637" cy="274320"/>
          </a:xfrm>
          <a:prstGeom prst="rect">
            <a:avLst/>
          </a:prstGeom>
          <a:noFill/>
          <a:ln>
            <a:noFill/>
          </a:ln>
        </p:spPr>
        <p:txBody>
          <a:bodyPr wrap="none" lIns="0" tIns="0" rIns="0" bIns="0" anchor="t" anchorCtr="0">
            <a:spAutoFit/>
          </a:bodyPr>
          <a:lstStyle/>
          <a:p>
            <a:pPr algn="r"/>
            <a:r>
              <a:rPr lang="zh-CN" sz="1350" b="1" dirty="0">
                <a:solidFill>
                  <a:srgbClr val="1E3A5F"/>
                </a:solidFill>
                <a:latin typeface="Arial"/>
                <a:ea typeface="Microsoft YaHei"/>
                <a:cs typeface="Arial"/>
              </a:rPr>
              <a:t>约 6 min</a:t>
            </a:r>
          </a:p>
        </p:txBody>
      </p:sp>
      <p:sp>
        <p:nvSpPr>
          <p:cNvPr id="19" name="TextBox 19"/>
          <p:cNvSpPr txBox="1"/>
          <p:nvPr/>
        </p:nvSpPr>
        <p:spPr>
          <a:xfrm>
            <a:off x="1979295" y="3022282"/>
            <a:ext cx="3394579"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方法主线：从 PKA 到机制归因</a:t>
            </a:r>
          </a:p>
        </p:txBody>
      </p:sp>
      <p:sp>
        <p:nvSpPr>
          <p:cNvPr id="20" name="TextBox 20"/>
          <p:cNvSpPr txBox="1"/>
          <p:nvPr/>
        </p:nvSpPr>
        <p:spPr>
          <a:xfrm>
            <a:off x="1983105" y="3359468"/>
            <a:ext cx="6590109"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压缩不是终点，关键是保留能进入 family/subtype/regime 的 evidence。</a:t>
            </a:r>
          </a:p>
        </p:txBody>
      </p:sp>
      <p:sp>
        <p:nvSpPr>
          <p:cNvPr id="21" name="TextBox 21"/>
          <p:cNvSpPr txBox="1"/>
          <p:nvPr/>
        </p:nvSpPr>
        <p:spPr>
          <a:xfrm>
            <a:off x="9112508" y="3207068"/>
            <a:ext cx="810637" cy="274320"/>
          </a:xfrm>
          <a:prstGeom prst="rect">
            <a:avLst/>
          </a:prstGeom>
          <a:noFill/>
          <a:ln>
            <a:noFill/>
          </a:ln>
        </p:spPr>
        <p:txBody>
          <a:bodyPr wrap="none" lIns="0" tIns="0" rIns="0" bIns="0" anchor="t" anchorCtr="0">
            <a:spAutoFit/>
          </a:bodyPr>
          <a:lstStyle/>
          <a:p>
            <a:pPr algn="r"/>
            <a:r>
              <a:rPr lang="zh-CN" sz="1350" b="1" dirty="0">
                <a:solidFill>
                  <a:srgbClr val="1E3A5F"/>
                </a:solidFill>
                <a:latin typeface="Arial"/>
                <a:ea typeface="Microsoft YaHei"/>
                <a:cs typeface="Arial"/>
              </a:rPr>
              <a:t>约 7 min</a:t>
            </a:r>
          </a:p>
        </p:txBody>
      </p:sp>
      <p:sp>
        <p:nvSpPr>
          <p:cNvPr id="22" name="TextBox 22"/>
          <p:cNvSpPr txBox="1"/>
          <p:nvPr/>
        </p:nvSpPr>
        <p:spPr>
          <a:xfrm>
            <a:off x="1979295" y="3879532"/>
            <a:ext cx="3887991"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实验案例：Rodinia 与 ref_layer3</a:t>
            </a:r>
          </a:p>
        </p:txBody>
      </p:sp>
      <p:sp>
        <p:nvSpPr>
          <p:cNvPr id="23" name="TextBox 23"/>
          <p:cNvSpPr txBox="1"/>
          <p:nvPr/>
        </p:nvSpPr>
        <p:spPr>
          <a:xfrm>
            <a:off x="1983105" y="4216718"/>
            <a:ext cx="6935152"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展示 DP pipeline knob 修改的闭环效果，并说明 ref_layer3 的代理验证边界。</a:t>
            </a:r>
          </a:p>
        </p:txBody>
      </p:sp>
      <p:sp>
        <p:nvSpPr>
          <p:cNvPr id="24" name="TextBox 24"/>
          <p:cNvSpPr txBox="1"/>
          <p:nvPr/>
        </p:nvSpPr>
        <p:spPr>
          <a:xfrm>
            <a:off x="9112508" y="4064318"/>
            <a:ext cx="810637" cy="274320"/>
          </a:xfrm>
          <a:prstGeom prst="rect">
            <a:avLst/>
          </a:prstGeom>
          <a:noFill/>
          <a:ln>
            <a:noFill/>
          </a:ln>
        </p:spPr>
        <p:txBody>
          <a:bodyPr wrap="none" lIns="0" tIns="0" rIns="0" bIns="0" anchor="t" anchorCtr="0">
            <a:spAutoFit/>
          </a:bodyPr>
          <a:lstStyle/>
          <a:p>
            <a:pPr algn="r"/>
            <a:r>
              <a:rPr lang="zh-CN" sz="1350" b="1" dirty="0">
                <a:solidFill>
                  <a:srgbClr val="D97706"/>
                </a:solidFill>
                <a:latin typeface="Arial"/>
                <a:ea typeface="Microsoft YaHei"/>
                <a:cs typeface="Arial"/>
              </a:rPr>
              <a:t>约 5 min</a:t>
            </a:r>
          </a:p>
        </p:txBody>
      </p:sp>
      <p:sp>
        <p:nvSpPr>
          <p:cNvPr id="25" name="TextBox 25"/>
          <p:cNvSpPr txBox="1"/>
          <p:nvPr/>
        </p:nvSpPr>
        <p:spPr>
          <a:xfrm>
            <a:off x="1979295" y="4736782"/>
            <a:ext cx="3078289"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总结：优势、限制与下一步</a:t>
            </a:r>
          </a:p>
        </p:txBody>
      </p:sp>
      <p:sp>
        <p:nvSpPr>
          <p:cNvPr id="26" name="TextBox 26"/>
          <p:cNvSpPr txBox="1"/>
          <p:nvPr/>
        </p:nvSpPr>
        <p:spPr>
          <a:xfrm>
            <a:off x="1983105" y="5073968"/>
            <a:ext cx="7063311"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把方法价值落在可解释、可归因、可验证，以及后续 sampled simulation 路线。</a:t>
            </a:r>
          </a:p>
        </p:txBody>
      </p:sp>
      <p:sp>
        <p:nvSpPr>
          <p:cNvPr id="27" name="TextBox 27"/>
          <p:cNvSpPr txBox="1"/>
          <p:nvPr/>
        </p:nvSpPr>
        <p:spPr>
          <a:xfrm>
            <a:off x="9112508" y="4921568"/>
            <a:ext cx="810637" cy="274320"/>
          </a:xfrm>
          <a:prstGeom prst="rect">
            <a:avLst/>
          </a:prstGeom>
          <a:noFill/>
          <a:ln>
            <a:noFill/>
          </a:ln>
        </p:spPr>
        <p:txBody>
          <a:bodyPr wrap="none" lIns="0" tIns="0" rIns="0" bIns="0" anchor="t" anchorCtr="0">
            <a:spAutoFit/>
          </a:bodyPr>
          <a:lstStyle/>
          <a:p>
            <a:pPr algn="r"/>
            <a:r>
              <a:rPr lang="zh-CN" sz="1350" b="1" dirty="0">
                <a:solidFill>
                  <a:srgbClr val="2F855A"/>
                </a:solidFill>
                <a:latin typeface="Arial"/>
                <a:ea typeface="Microsoft YaHei"/>
                <a:cs typeface="Arial"/>
              </a:rPr>
              <a:t>约 2 min</a:t>
            </a:r>
          </a:p>
        </p:txBody>
      </p:sp>
      <p:sp>
        <p:nvSpPr>
          <p:cNvPr id="28" name="TextBox 28"/>
          <p:cNvSpPr txBox="1"/>
          <p:nvPr/>
        </p:nvSpPr>
        <p:spPr>
          <a:xfrm>
            <a:off x="520065" y="6116002"/>
            <a:ext cx="1705880"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roadmap</a:t>
            </a:r>
          </a:p>
        </p:txBody>
      </p:sp>
      <p:sp>
        <p:nvSpPr>
          <p:cNvPr id="29" name="TextBox 29"/>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02 / 18</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137709"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PREREQUISITE 1</a:t>
            </a:r>
          </a:p>
        </p:txBody>
      </p:sp>
      <p:sp>
        <p:nvSpPr>
          <p:cNvPr id="4" name="TextBox 4"/>
          <p:cNvSpPr txBox="1"/>
          <p:nvPr/>
        </p:nvSpPr>
        <p:spPr>
          <a:xfrm>
            <a:off x="502920" y="845820"/>
            <a:ext cx="642815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GPU 程序执行基础：kernel 如何跑起来</a:t>
            </a:r>
          </a:p>
        </p:txBody>
      </p:sp>
      <p:sp>
        <p:nvSpPr>
          <p:cNvPr id="5" name="TextBox 5"/>
          <p:cNvSpPr txBox="1"/>
          <p:nvPr/>
        </p:nvSpPr>
        <p:spPr>
          <a:xfrm>
            <a:off x="515302" y="1274921"/>
            <a:ext cx="10473476"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建立软件层(kernel/grid/block/thread)到硬件层(SM/warp/CUDA core)的映射直觉，理解模拟器在建模什么。</a:t>
            </a:r>
          </a:p>
        </p:txBody>
      </p:sp>
      <p:sp>
        <p:nvSpPr>
          <p:cNvPr id="6" name="Rectangle 6"/>
          <p:cNvSpPr/>
          <p:nvPr/>
        </p:nvSpPr>
        <p:spPr>
          <a:xfrm>
            <a:off x="533400" y="1714500"/>
            <a:ext cx="3486150" cy="4476750"/>
          </a:xfrm>
          <a:prstGeom prst="roundRect">
            <a:avLst>
              <a:gd name="adj" fmla="val 2186"/>
            </a:avLst>
          </a:prstGeom>
          <a:solidFill>
            <a:srgbClr val="FFFFFF"/>
          </a:solidFill>
          <a:ln w="9525">
            <a:solidFill>
              <a:srgbClr val="CBD5E1"/>
            </a:solidFill>
          </a:ln>
        </p:spPr>
      </p:sp>
      <p:sp>
        <p:nvSpPr>
          <p:cNvPr id="7" name="Freeform 7"/>
          <p:cNvSpPr/>
          <p:nvPr/>
        </p:nvSpPr>
        <p:spPr>
          <a:xfrm>
            <a:off x="533400" y="1638300"/>
            <a:ext cx="3486150" cy="514350"/>
          </a:xfrm>
          <a:custGeom>
            <a:avLst/>
            <a:gdLst/>
            <a:ahLst/>
            <a:cxnLst/>
            <a:rect l="l" t="t" r="r" b="b"/>
            <a:pathLst>
              <a:path w="3486150" h="514350">
                <a:moveTo>
                  <a:pt x="0" y="152400"/>
                </a:moveTo>
                <a:lnTo>
                  <a:pt x="0" y="76200"/>
                </a:lnTo>
                <a:cubicBezTo>
                  <a:pt x="0" y="25400"/>
                  <a:pt x="25400" y="0"/>
                  <a:pt x="76200" y="0"/>
                </a:cubicBezTo>
                <a:lnTo>
                  <a:pt x="3409950" y="0"/>
                </a:lnTo>
                <a:cubicBezTo>
                  <a:pt x="3460750" y="0"/>
                  <a:pt x="3486150" y="25400"/>
                  <a:pt x="3486150" y="76200"/>
                </a:cubicBezTo>
                <a:lnTo>
                  <a:pt x="3486150" y="514350"/>
                </a:lnTo>
                <a:lnTo>
                  <a:pt x="0" y="514350"/>
                </a:lnTo>
                <a:close/>
              </a:path>
            </a:pathLst>
          </a:custGeom>
          <a:solidFill>
            <a:srgbClr val="1E3A5F"/>
          </a:solidFill>
          <a:ln>
            <a:noFill/>
          </a:ln>
        </p:spPr>
      </p:sp>
      <p:sp>
        <p:nvSpPr>
          <p:cNvPr id="8" name="TextBox 8"/>
          <p:cNvSpPr txBox="1"/>
          <p:nvPr/>
        </p:nvSpPr>
        <p:spPr>
          <a:xfrm>
            <a:off x="1567339" y="1809750"/>
            <a:ext cx="141827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软件抽象层次</a:t>
            </a:r>
          </a:p>
        </p:txBody>
      </p:sp>
      <p:sp>
        <p:nvSpPr>
          <p:cNvPr id="9" name="Ellipse 9"/>
          <p:cNvSpPr/>
          <p:nvPr/>
        </p:nvSpPr>
        <p:spPr>
          <a:xfrm>
            <a:off x="695325" y="2600325"/>
            <a:ext cx="57150" cy="57150"/>
          </a:xfrm>
          <a:prstGeom prst="ellipse">
            <a:avLst/>
          </a:prstGeom>
          <a:solidFill>
            <a:srgbClr val="1E3A5F"/>
          </a:solidFill>
          <a:ln>
            <a:noFill/>
          </a:ln>
        </p:spPr>
      </p:sp>
      <p:sp>
        <p:nvSpPr>
          <p:cNvPr id="10" name="TextBox 10"/>
          <p:cNvSpPr txBox="1"/>
          <p:nvPr/>
        </p:nvSpPr>
        <p:spPr>
          <a:xfrm>
            <a:off x="821055" y="2521268"/>
            <a:ext cx="1359256"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kernel launch</a:t>
            </a:r>
          </a:p>
        </p:txBody>
      </p:sp>
      <p:sp>
        <p:nvSpPr>
          <p:cNvPr id="11" name="TextBox 11"/>
          <p:cNvSpPr txBox="1"/>
          <p:nvPr/>
        </p:nvSpPr>
        <p:spPr>
          <a:xfrm>
            <a:off x="824865" y="2763202"/>
            <a:ext cx="2702671"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CPU 通过 PCIe 将代码与参数发送到 GPU</a:t>
            </a:r>
          </a:p>
        </p:txBody>
      </p:sp>
      <p:sp>
        <p:nvSpPr>
          <p:cNvPr id="12" name="Line 12"/>
          <p:cNvSpPr/>
          <p:nvPr/>
        </p:nvSpPr>
        <p:spPr>
          <a:xfrm>
            <a:off x="838200" y="302895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13" name="Ellipse 13"/>
          <p:cNvSpPr/>
          <p:nvPr/>
        </p:nvSpPr>
        <p:spPr>
          <a:xfrm>
            <a:off x="695325" y="3248025"/>
            <a:ext cx="57150" cy="57150"/>
          </a:xfrm>
          <a:prstGeom prst="ellipse">
            <a:avLst/>
          </a:prstGeom>
          <a:solidFill>
            <a:srgbClr val="1E3A5F"/>
          </a:solidFill>
          <a:ln>
            <a:noFill/>
          </a:ln>
        </p:spPr>
      </p:sp>
      <p:sp>
        <p:nvSpPr>
          <p:cNvPr id="14" name="TextBox 14"/>
          <p:cNvSpPr txBox="1"/>
          <p:nvPr/>
        </p:nvSpPr>
        <p:spPr>
          <a:xfrm>
            <a:off x="821055" y="3168968"/>
            <a:ext cx="437990"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grid</a:t>
            </a:r>
          </a:p>
        </p:txBody>
      </p:sp>
      <p:sp>
        <p:nvSpPr>
          <p:cNvPr id="15" name="TextBox 15"/>
          <p:cNvSpPr txBox="1"/>
          <p:nvPr/>
        </p:nvSpPr>
        <p:spPr>
          <a:xfrm>
            <a:off x="824865" y="3410902"/>
            <a:ext cx="3507772"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整个并行任务空间，由一组独立 thread block 组成</a:t>
            </a:r>
          </a:p>
        </p:txBody>
      </p:sp>
      <p:sp>
        <p:nvSpPr>
          <p:cNvPr id="16" name="Line 16"/>
          <p:cNvSpPr/>
          <p:nvPr/>
        </p:nvSpPr>
        <p:spPr>
          <a:xfrm>
            <a:off x="838200" y="367665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17" name="Ellipse 17"/>
          <p:cNvSpPr/>
          <p:nvPr/>
        </p:nvSpPr>
        <p:spPr>
          <a:xfrm>
            <a:off x="695325" y="3895725"/>
            <a:ext cx="57150" cy="57150"/>
          </a:xfrm>
          <a:prstGeom prst="ellipse">
            <a:avLst/>
          </a:prstGeom>
          <a:solidFill>
            <a:srgbClr val="1E3A5F"/>
          </a:solidFill>
          <a:ln>
            <a:noFill/>
          </a:ln>
        </p:spPr>
      </p:sp>
      <p:sp>
        <p:nvSpPr>
          <p:cNvPr id="18" name="TextBox 18"/>
          <p:cNvSpPr txBox="1"/>
          <p:nvPr/>
        </p:nvSpPr>
        <p:spPr>
          <a:xfrm>
            <a:off x="821055" y="3816668"/>
            <a:ext cx="1876820"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thread block / CTA</a:t>
            </a:r>
          </a:p>
        </p:txBody>
      </p:sp>
      <p:sp>
        <p:nvSpPr>
          <p:cNvPr id="19" name="TextBox 19"/>
          <p:cNvSpPr txBox="1"/>
          <p:nvPr/>
        </p:nvSpPr>
        <p:spPr>
          <a:xfrm>
            <a:off x="824865" y="4058602"/>
            <a:ext cx="3415760"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同 SM 上协作的线程组，共享内存与 barrier 同步</a:t>
            </a:r>
          </a:p>
        </p:txBody>
      </p:sp>
      <p:sp>
        <p:nvSpPr>
          <p:cNvPr id="20" name="Line 20"/>
          <p:cNvSpPr/>
          <p:nvPr/>
        </p:nvSpPr>
        <p:spPr>
          <a:xfrm>
            <a:off x="838200" y="432435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21" name="Ellipse 21"/>
          <p:cNvSpPr/>
          <p:nvPr/>
        </p:nvSpPr>
        <p:spPr>
          <a:xfrm>
            <a:off x="695325" y="4543425"/>
            <a:ext cx="57150" cy="57150"/>
          </a:xfrm>
          <a:prstGeom prst="ellipse">
            <a:avLst/>
          </a:prstGeom>
          <a:solidFill>
            <a:srgbClr val="1E3A5F"/>
          </a:solidFill>
          <a:ln>
            <a:noFill/>
          </a:ln>
        </p:spPr>
      </p:sp>
      <p:sp>
        <p:nvSpPr>
          <p:cNvPr id="22" name="TextBox 22"/>
          <p:cNvSpPr txBox="1"/>
          <p:nvPr/>
        </p:nvSpPr>
        <p:spPr>
          <a:xfrm>
            <a:off x="821055" y="4464368"/>
            <a:ext cx="717475"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thread</a:t>
            </a:r>
          </a:p>
        </p:txBody>
      </p:sp>
      <p:sp>
        <p:nvSpPr>
          <p:cNvPr id="23" name="TextBox 23"/>
          <p:cNvSpPr txBox="1"/>
          <p:nvPr/>
        </p:nvSpPr>
        <p:spPr>
          <a:xfrm>
            <a:off x="824865" y="4706302"/>
            <a:ext cx="3638121"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最小并行单元，每个 thread 执行同一 kernel 但处理</a:t>
            </a:r>
          </a:p>
        </p:txBody>
      </p:sp>
      <p:sp>
        <p:nvSpPr>
          <p:cNvPr id="24" name="TextBox 24"/>
          <p:cNvSpPr txBox="1"/>
          <p:nvPr/>
        </p:nvSpPr>
        <p:spPr>
          <a:xfrm>
            <a:off x="824865" y="4858702"/>
            <a:ext cx="330074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不同数据，通过 threadIdx / blockIdx 定位自身</a:t>
            </a:r>
          </a:p>
        </p:txBody>
      </p:sp>
      <p:sp>
        <p:nvSpPr>
          <p:cNvPr id="25" name="Rectangle 25"/>
          <p:cNvSpPr/>
          <p:nvPr/>
        </p:nvSpPr>
        <p:spPr>
          <a:xfrm>
            <a:off x="838200" y="5219700"/>
            <a:ext cx="2914650" cy="342900"/>
          </a:xfrm>
          <a:prstGeom prst="roundRect">
            <a:avLst>
              <a:gd name="adj" fmla="val 16667"/>
            </a:avLst>
          </a:prstGeom>
          <a:solidFill>
            <a:srgbClr val="F1F5F9"/>
          </a:solidFill>
          <a:ln w="4762">
            <a:solidFill>
              <a:srgbClr val="E2E8F0"/>
            </a:solidFill>
          </a:ln>
        </p:spPr>
      </p:sp>
      <p:sp>
        <p:nvSpPr>
          <p:cNvPr id="26" name="TextBox 26"/>
          <p:cNvSpPr txBox="1"/>
          <p:nvPr/>
        </p:nvSpPr>
        <p:spPr>
          <a:xfrm>
            <a:off x="1268551" y="5333524"/>
            <a:ext cx="2053947" cy="198120"/>
          </a:xfrm>
          <a:prstGeom prst="rect">
            <a:avLst/>
          </a:prstGeom>
          <a:noFill/>
          <a:ln>
            <a:noFill/>
          </a:ln>
        </p:spPr>
        <p:txBody>
          <a:bodyPr wrap="none" lIns="0" tIns="0" rIns="0" bIns="0" anchor="t" anchorCtr="0">
            <a:spAutoFit/>
          </a:bodyPr>
          <a:lstStyle/>
          <a:p>
            <a:pPr algn="ctr"/>
            <a:r>
              <a:rPr lang="zh-CN" sz="975" dirty="0">
                <a:solidFill>
                  <a:srgbClr val="1E3A5F"/>
                </a:solidFill>
                <a:latin typeface="Arial"/>
                <a:ea typeface="Microsoft YaHei"/>
                <a:cs typeface="Arial"/>
              </a:rPr>
              <a:t>kernel → grid → block → thread</a:t>
            </a:r>
          </a:p>
        </p:txBody>
      </p:sp>
      <p:sp>
        <p:nvSpPr>
          <p:cNvPr id="27" name="TextBox 27"/>
          <p:cNvSpPr txBox="1"/>
          <p:nvPr/>
        </p:nvSpPr>
        <p:spPr>
          <a:xfrm>
            <a:off x="1492829" y="5685949"/>
            <a:ext cx="1605391" cy="198120"/>
          </a:xfrm>
          <a:prstGeom prst="rect">
            <a:avLst/>
          </a:prstGeom>
          <a:noFill/>
          <a:ln>
            <a:noFill/>
          </a:ln>
        </p:spPr>
        <p:txBody>
          <a:bodyPr wrap="none" lIns="0" tIns="0" rIns="0" bIns="0" anchor="t" anchorCtr="0">
            <a:spAutoFit/>
          </a:bodyPr>
          <a:lstStyle/>
          <a:p>
            <a:pPr algn="ctr"/>
            <a:r>
              <a:rPr lang="zh-CN" sz="975" dirty="0">
                <a:solidFill>
                  <a:srgbClr val="9CA3AF"/>
                </a:solidFill>
                <a:latin typeface="Arial"/>
                <a:ea typeface="Microsoft YaHei"/>
                <a:cs typeface="Arial"/>
              </a:rPr>
              <a:t>程序员描述"做什么"并行</a:t>
            </a:r>
          </a:p>
        </p:txBody>
      </p:sp>
      <p:sp>
        <p:nvSpPr>
          <p:cNvPr id="28" name="Rectangle 28"/>
          <p:cNvSpPr/>
          <p:nvPr/>
        </p:nvSpPr>
        <p:spPr>
          <a:xfrm>
            <a:off x="4248150" y="1714500"/>
            <a:ext cx="3486150" cy="4476750"/>
          </a:xfrm>
          <a:prstGeom prst="roundRect">
            <a:avLst>
              <a:gd name="adj" fmla="val 2186"/>
            </a:avLst>
          </a:prstGeom>
          <a:solidFill>
            <a:srgbClr val="FFFFFF"/>
          </a:solidFill>
          <a:ln w="9525">
            <a:solidFill>
              <a:srgbClr val="CBD5E1"/>
            </a:solidFill>
          </a:ln>
        </p:spPr>
      </p:sp>
      <p:sp>
        <p:nvSpPr>
          <p:cNvPr id="29" name="Freeform 29"/>
          <p:cNvSpPr/>
          <p:nvPr/>
        </p:nvSpPr>
        <p:spPr>
          <a:xfrm>
            <a:off x="4248150" y="1638300"/>
            <a:ext cx="3486150" cy="514350"/>
          </a:xfrm>
          <a:custGeom>
            <a:avLst/>
            <a:gdLst/>
            <a:ahLst/>
            <a:cxnLst/>
            <a:rect l="l" t="t" r="r" b="b"/>
            <a:pathLst>
              <a:path w="3486150" h="514350">
                <a:moveTo>
                  <a:pt x="0" y="152400"/>
                </a:moveTo>
                <a:lnTo>
                  <a:pt x="0" y="76200"/>
                </a:lnTo>
                <a:cubicBezTo>
                  <a:pt x="0" y="25400"/>
                  <a:pt x="25400" y="0"/>
                  <a:pt x="76200" y="0"/>
                </a:cubicBezTo>
                <a:lnTo>
                  <a:pt x="3409950" y="0"/>
                </a:lnTo>
                <a:cubicBezTo>
                  <a:pt x="3460750" y="0"/>
                  <a:pt x="3486150" y="25400"/>
                  <a:pt x="3486150" y="76200"/>
                </a:cubicBezTo>
                <a:lnTo>
                  <a:pt x="3486150" y="514350"/>
                </a:lnTo>
                <a:lnTo>
                  <a:pt x="0" y="514350"/>
                </a:lnTo>
                <a:close/>
              </a:path>
            </a:pathLst>
          </a:custGeom>
          <a:solidFill>
            <a:srgbClr val="D97706"/>
          </a:solidFill>
          <a:ln>
            <a:noFill/>
          </a:ln>
        </p:spPr>
      </p:sp>
      <p:sp>
        <p:nvSpPr>
          <p:cNvPr id="30" name="TextBox 30"/>
          <p:cNvSpPr txBox="1"/>
          <p:nvPr/>
        </p:nvSpPr>
        <p:spPr>
          <a:xfrm>
            <a:off x="5167074" y="1809750"/>
            <a:ext cx="1648301"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执行映射与调度</a:t>
            </a:r>
          </a:p>
        </p:txBody>
      </p:sp>
      <p:sp>
        <p:nvSpPr>
          <p:cNvPr id="31" name="Ellipse 31"/>
          <p:cNvSpPr/>
          <p:nvPr/>
        </p:nvSpPr>
        <p:spPr>
          <a:xfrm>
            <a:off x="4410075" y="2457450"/>
            <a:ext cx="57150" cy="57150"/>
          </a:xfrm>
          <a:prstGeom prst="ellipse">
            <a:avLst/>
          </a:prstGeom>
          <a:solidFill>
            <a:srgbClr val="D97706"/>
          </a:solidFill>
          <a:ln>
            <a:noFill/>
          </a:ln>
        </p:spPr>
      </p:sp>
      <p:sp>
        <p:nvSpPr>
          <p:cNvPr id="32" name="TextBox 32"/>
          <p:cNvSpPr txBox="1"/>
          <p:nvPr/>
        </p:nvSpPr>
        <p:spPr>
          <a:xfrm>
            <a:off x="4535805" y="2378392"/>
            <a:ext cx="1535228"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block → SM 分发</a:t>
            </a:r>
          </a:p>
        </p:txBody>
      </p:sp>
      <p:sp>
        <p:nvSpPr>
          <p:cNvPr id="33" name="TextBox 33"/>
          <p:cNvSpPr txBox="1"/>
          <p:nvPr/>
        </p:nvSpPr>
        <p:spPr>
          <a:xfrm>
            <a:off x="4539615" y="2620328"/>
            <a:ext cx="3400425"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GigaThread Engine 将 block 分配到有空闲资源的</a:t>
            </a:r>
          </a:p>
        </p:txBody>
      </p:sp>
      <p:sp>
        <p:nvSpPr>
          <p:cNvPr id="34" name="TextBox 34"/>
          <p:cNvSpPr txBox="1"/>
          <p:nvPr/>
        </p:nvSpPr>
        <p:spPr>
          <a:xfrm>
            <a:off x="4539615" y="2772728"/>
            <a:ext cx="252631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SM，一个 block 只驻留在一个 SM 上</a:t>
            </a:r>
          </a:p>
        </p:txBody>
      </p:sp>
      <p:sp>
        <p:nvSpPr>
          <p:cNvPr id="35" name="Line 35"/>
          <p:cNvSpPr/>
          <p:nvPr/>
        </p:nvSpPr>
        <p:spPr>
          <a:xfrm>
            <a:off x="4552950" y="302895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36" name="Ellipse 36"/>
          <p:cNvSpPr/>
          <p:nvPr/>
        </p:nvSpPr>
        <p:spPr>
          <a:xfrm>
            <a:off x="4410075" y="3238500"/>
            <a:ext cx="57150" cy="57150"/>
          </a:xfrm>
          <a:prstGeom prst="ellipse">
            <a:avLst/>
          </a:prstGeom>
          <a:solidFill>
            <a:srgbClr val="D97706"/>
          </a:solidFill>
          <a:ln>
            <a:noFill/>
          </a:ln>
        </p:spPr>
      </p:sp>
      <p:sp>
        <p:nvSpPr>
          <p:cNvPr id="37" name="TextBox 37"/>
          <p:cNvSpPr txBox="1"/>
          <p:nvPr/>
        </p:nvSpPr>
        <p:spPr>
          <a:xfrm>
            <a:off x="4535805" y="3159442"/>
            <a:ext cx="1680146"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warp = 32 个线程</a:t>
            </a:r>
          </a:p>
        </p:txBody>
      </p:sp>
      <p:sp>
        <p:nvSpPr>
          <p:cNvPr id="38" name="TextBox 38"/>
          <p:cNvSpPr txBox="1"/>
          <p:nvPr/>
        </p:nvSpPr>
        <p:spPr>
          <a:xfrm>
            <a:off x="4539615" y="3401378"/>
            <a:ext cx="326240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硬件调度的基本单位，block 按 threadIdx 顺序</a:t>
            </a:r>
          </a:p>
        </p:txBody>
      </p:sp>
      <p:sp>
        <p:nvSpPr>
          <p:cNvPr id="39" name="TextBox 39"/>
          <p:cNvSpPr txBox="1"/>
          <p:nvPr/>
        </p:nvSpPr>
        <p:spPr>
          <a:xfrm>
            <a:off x="4539615" y="3553778"/>
            <a:ext cx="3477101"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线性切分为多个 warp（thread 0-31, 32-63...）</a:t>
            </a:r>
          </a:p>
        </p:txBody>
      </p:sp>
      <p:sp>
        <p:nvSpPr>
          <p:cNvPr id="40" name="Line 40"/>
          <p:cNvSpPr/>
          <p:nvPr/>
        </p:nvSpPr>
        <p:spPr>
          <a:xfrm>
            <a:off x="4552950" y="381000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41" name="Ellipse 41"/>
          <p:cNvSpPr/>
          <p:nvPr/>
        </p:nvSpPr>
        <p:spPr>
          <a:xfrm>
            <a:off x="4410075" y="4019550"/>
            <a:ext cx="57150" cy="57150"/>
          </a:xfrm>
          <a:prstGeom prst="ellipse">
            <a:avLst/>
          </a:prstGeom>
          <a:solidFill>
            <a:srgbClr val="D97706"/>
          </a:solidFill>
          <a:ln>
            <a:noFill/>
          </a:ln>
        </p:spPr>
      </p:sp>
      <p:sp>
        <p:nvSpPr>
          <p:cNvPr id="42" name="TextBox 42"/>
          <p:cNvSpPr txBox="1"/>
          <p:nvPr/>
        </p:nvSpPr>
        <p:spPr>
          <a:xfrm>
            <a:off x="4535805" y="3940492"/>
            <a:ext cx="1369607"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SIMT 执行模型</a:t>
            </a:r>
          </a:p>
        </p:txBody>
      </p:sp>
      <p:sp>
        <p:nvSpPr>
          <p:cNvPr id="43" name="TextBox 43"/>
          <p:cNvSpPr txBox="1"/>
          <p:nvPr/>
        </p:nvSpPr>
        <p:spPr>
          <a:xfrm>
            <a:off x="4539615" y="4182428"/>
            <a:ext cx="3339084"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程序员为每个 thread 写标量代码，硬件以 warp</a:t>
            </a:r>
          </a:p>
        </p:txBody>
      </p:sp>
      <p:sp>
        <p:nvSpPr>
          <p:cNvPr id="44" name="TextBox 44"/>
          <p:cNvSpPr txBox="1"/>
          <p:nvPr/>
        </p:nvSpPr>
        <p:spPr>
          <a:xfrm>
            <a:off x="4539615" y="4334828"/>
            <a:ext cx="3362087"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为单位 lockstep 执行同一指令，自动管理向量化</a:t>
            </a:r>
          </a:p>
        </p:txBody>
      </p:sp>
      <p:sp>
        <p:nvSpPr>
          <p:cNvPr id="45" name="Line 45"/>
          <p:cNvSpPr/>
          <p:nvPr/>
        </p:nvSpPr>
        <p:spPr>
          <a:xfrm>
            <a:off x="4552950" y="459105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46" name="Ellipse 46"/>
          <p:cNvSpPr/>
          <p:nvPr/>
        </p:nvSpPr>
        <p:spPr>
          <a:xfrm>
            <a:off x="4410075" y="4800600"/>
            <a:ext cx="57150" cy="57150"/>
          </a:xfrm>
          <a:prstGeom prst="ellipse">
            <a:avLst/>
          </a:prstGeom>
          <a:solidFill>
            <a:srgbClr val="D97706"/>
          </a:solidFill>
          <a:ln>
            <a:noFill/>
          </a:ln>
        </p:spPr>
      </p:sp>
      <p:sp>
        <p:nvSpPr>
          <p:cNvPr id="47" name="TextBox 47"/>
          <p:cNvSpPr txBox="1"/>
          <p:nvPr/>
        </p:nvSpPr>
        <p:spPr>
          <a:xfrm>
            <a:off x="4535805" y="4721542"/>
            <a:ext cx="1680146"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warp divergence</a:t>
            </a:r>
          </a:p>
        </p:txBody>
      </p:sp>
      <p:sp>
        <p:nvSpPr>
          <p:cNvPr id="48" name="TextBox 48"/>
          <p:cNvSpPr txBox="1"/>
          <p:nvPr/>
        </p:nvSpPr>
        <p:spPr>
          <a:xfrm>
            <a:off x="4539615" y="4963478"/>
            <a:ext cx="3247072"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同一 warp 内分支不同时，两条路径被串行化，</a:t>
            </a:r>
          </a:p>
        </p:txBody>
      </p:sp>
      <p:sp>
        <p:nvSpPr>
          <p:cNvPr id="49" name="TextBox 49"/>
          <p:cNvSpPr txBox="1"/>
          <p:nvPr/>
        </p:nvSpPr>
        <p:spPr>
          <a:xfrm>
            <a:off x="4539615" y="5115878"/>
            <a:ext cx="3231737"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最坏仅 1/32 利用率；Volta+ 支持独立线程调度</a:t>
            </a:r>
          </a:p>
        </p:txBody>
      </p:sp>
      <p:sp>
        <p:nvSpPr>
          <p:cNvPr id="50" name="Line 50"/>
          <p:cNvSpPr/>
          <p:nvPr/>
        </p:nvSpPr>
        <p:spPr>
          <a:xfrm>
            <a:off x="4552950" y="537210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51" name="Ellipse 51"/>
          <p:cNvSpPr/>
          <p:nvPr/>
        </p:nvSpPr>
        <p:spPr>
          <a:xfrm>
            <a:off x="4410075" y="5581650"/>
            <a:ext cx="57150" cy="57150"/>
          </a:xfrm>
          <a:prstGeom prst="ellipse">
            <a:avLst/>
          </a:prstGeom>
          <a:solidFill>
            <a:srgbClr val="D97706"/>
          </a:solidFill>
          <a:ln>
            <a:noFill/>
          </a:ln>
        </p:spPr>
      </p:sp>
      <p:sp>
        <p:nvSpPr>
          <p:cNvPr id="52" name="TextBox 52"/>
          <p:cNvSpPr txBox="1"/>
          <p:nvPr/>
        </p:nvSpPr>
        <p:spPr>
          <a:xfrm>
            <a:off x="4535805" y="5502592"/>
            <a:ext cx="2156305"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延迟隐藏与 occupancy</a:t>
            </a:r>
          </a:p>
        </p:txBody>
      </p:sp>
      <p:sp>
        <p:nvSpPr>
          <p:cNvPr id="53" name="TextBox 53"/>
          <p:cNvSpPr txBox="1"/>
          <p:nvPr/>
        </p:nvSpPr>
        <p:spPr>
          <a:xfrm>
            <a:off x="4539615" y="5744528"/>
            <a:ext cx="361511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warp 等内存时调度器零开销切换到另一就绪 warp；</a:t>
            </a:r>
          </a:p>
        </p:txBody>
      </p:sp>
      <p:sp>
        <p:nvSpPr>
          <p:cNvPr id="54" name="TextBox 54"/>
          <p:cNvSpPr txBox="1"/>
          <p:nvPr/>
        </p:nvSpPr>
        <p:spPr>
          <a:xfrm>
            <a:off x="4539615" y="5896928"/>
            <a:ext cx="3653457"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occupancy = 活跃 warp / 最大 warp，越高隐藏越强</a:t>
            </a:r>
          </a:p>
        </p:txBody>
      </p:sp>
      <p:sp>
        <p:nvSpPr>
          <p:cNvPr id="55" name="Rectangle 55"/>
          <p:cNvSpPr/>
          <p:nvPr/>
        </p:nvSpPr>
        <p:spPr>
          <a:xfrm>
            <a:off x="7962900" y="1714500"/>
            <a:ext cx="3695700" cy="4476750"/>
          </a:xfrm>
          <a:prstGeom prst="roundRect">
            <a:avLst>
              <a:gd name="adj" fmla="val 2062"/>
            </a:avLst>
          </a:prstGeom>
          <a:solidFill>
            <a:srgbClr val="FFFFFF"/>
          </a:solidFill>
          <a:ln w="9525">
            <a:solidFill>
              <a:srgbClr val="CBD5E1"/>
            </a:solidFill>
          </a:ln>
        </p:spPr>
      </p:sp>
      <p:sp>
        <p:nvSpPr>
          <p:cNvPr id="56" name="Freeform 56"/>
          <p:cNvSpPr/>
          <p:nvPr/>
        </p:nvSpPr>
        <p:spPr>
          <a:xfrm>
            <a:off x="7962900" y="1638300"/>
            <a:ext cx="3695700" cy="514350"/>
          </a:xfrm>
          <a:custGeom>
            <a:avLst/>
            <a:gdLst/>
            <a:ahLst/>
            <a:cxnLst/>
            <a:rect l="l" t="t" r="r" b="b"/>
            <a:pathLst>
              <a:path w="3695700" h="514350">
                <a:moveTo>
                  <a:pt x="0" y="152400"/>
                </a:moveTo>
                <a:lnTo>
                  <a:pt x="0" y="76200"/>
                </a:lnTo>
                <a:cubicBezTo>
                  <a:pt x="0" y="25400"/>
                  <a:pt x="25400" y="0"/>
                  <a:pt x="76200" y="0"/>
                </a:cubicBezTo>
                <a:lnTo>
                  <a:pt x="3619500" y="0"/>
                </a:lnTo>
                <a:cubicBezTo>
                  <a:pt x="3670300" y="0"/>
                  <a:pt x="3695700" y="25400"/>
                  <a:pt x="3695700" y="76200"/>
                </a:cubicBezTo>
                <a:lnTo>
                  <a:pt x="3695700" y="514350"/>
                </a:lnTo>
                <a:lnTo>
                  <a:pt x="0" y="514350"/>
                </a:lnTo>
                <a:close/>
              </a:path>
            </a:pathLst>
          </a:custGeom>
          <a:solidFill>
            <a:srgbClr val="2F855A"/>
          </a:solidFill>
          <a:ln>
            <a:noFill/>
          </a:ln>
        </p:spPr>
      </p:sp>
      <p:sp>
        <p:nvSpPr>
          <p:cNvPr id="57" name="TextBox 57"/>
          <p:cNvSpPr txBox="1"/>
          <p:nvPr/>
        </p:nvSpPr>
        <p:spPr>
          <a:xfrm>
            <a:off x="8802576" y="1809750"/>
            <a:ext cx="2016347"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SM 内部与存储层次</a:t>
            </a:r>
          </a:p>
        </p:txBody>
      </p:sp>
      <p:sp>
        <p:nvSpPr>
          <p:cNvPr id="58" name="Rectangle 58"/>
          <p:cNvSpPr/>
          <p:nvPr/>
        </p:nvSpPr>
        <p:spPr>
          <a:xfrm>
            <a:off x="8191500" y="2286000"/>
            <a:ext cx="3238500" cy="1714500"/>
          </a:xfrm>
          <a:prstGeom prst="roundRect">
            <a:avLst>
              <a:gd name="adj" fmla="val 3333"/>
            </a:avLst>
          </a:prstGeom>
          <a:solidFill>
            <a:srgbClr val="F1F5F9"/>
          </a:solidFill>
          <a:ln w="4762">
            <a:solidFill>
              <a:srgbClr val="CBD5E1"/>
            </a:solidFill>
          </a:ln>
        </p:spPr>
      </p:sp>
      <p:sp>
        <p:nvSpPr>
          <p:cNvPr id="59" name="TextBox 59"/>
          <p:cNvSpPr txBox="1"/>
          <p:nvPr/>
        </p:nvSpPr>
        <p:spPr>
          <a:xfrm>
            <a:off x="8380438" y="2363152"/>
            <a:ext cx="2860624" cy="213360"/>
          </a:xfrm>
          <a:prstGeom prst="rect">
            <a:avLst/>
          </a:prstGeom>
          <a:noFill/>
          <a:ln>
            <a:noFill/>
          </a:ln>
        </p:spPr>
        <p:txBody>
          <a:bodyPr wrap="none" lIns="0" tIns="0" rIns="0" bIns="0" anchor="t" anchorCtr="0">
            <a:spAutoFit/>
          </a:bodyPr>
          <a:lstStyle/>
          <a:p>
            <a:pPr algn="ctr"/>
            <a:r>
              <a:rPr lang="zh-CN" sz="1050" b="1" dirty="0">
                <a:solidFill>
                  <a:srgbClr val="1E3A5F"/>
                </a:solidFill>
                <a:latin typeface="Arial"/>
                <a:ea typeface="Microsoft YaHei"/>
                <a:cs typeface="Arial"/>
              </a:rPr>
              <a:t>SM (Streaming Multiprocessor) 内部</a:t>
            </a:r>
          </a:p>
        </p:txBody>
      </p:sp>
      <p:sp>
        <p:nvSpPr>
          <p:cNvPr id="60" name="Rectangle 60"/>
          <p:cNvSpPr/>
          <p:nvPr/>
        </p:nvSpPr>
        <p:spPr>
          <a:xfrm>
            <a:off x="8324850" y="2590800"/>
            <a:ext cx="1371600" cy="266700"/>
          </a:xfrm>
          <a:prstGeom prst="roundRect">
            <a:avLst>
              <a:gd name="adj" fmla="val 14286"/>
            </a:avLst>
          </a:prstGeom>
          <a:solidFill>
            <a:srgbClr val="DBEAFE"/>
          </a:solidFill>
          <a:ln w="4762">
            <a:solidFill>
              <a:srgbClr val="93C5FD"/>
            </a:solidFill>
          </a:ln>
        </p:spPr>
      </p:sp>
      <p:sp>
        <p:nvSpPr>
          <p:cNvPr id="61" name="TextBox 61"/>
          <p:cNvSpPr txBox="1"/>
          <p:nvPr/>
        </p:nvSpPr>
        <p:spPr>
          <a:xfrm>
            <a:off x="8488556" y="2674620"/>
            <a:ext cx="1044188" cy="182880"/>
          </a:xfrm>
          <a:prstGeom prst="rect">
            <a:avLst/>
          </a:prstGeom>
          <a:noFill/>
          <a:ln>
            <a:noFill/>
          </a:ln>
        </p:spPr>
        <p:txBody>
          <a:bodyPr wrap="none" lIns="0" tIns="0" rIns="0" bIns="0" anchor="t" anchorCtr="0">
            <a:spAutoFit/>
          </a:bodyPr>
          <a:lstStyle/>
          <a:p>
            <a:pPr algn="ctr"/>
            <a:r>
              <a:rPr lang="zh-CN" sz="900" b="1" dirty="0">
                <a:solidFill>
                  <a:srgbClr val="1E3A5F"/>
                </a:solidFill>
                <a:latin typeface="Arial"/>
                <a:ea typeface="Microsoft YaHei"/>
                <a:cs typeface="Arial"/>
              </a:rPr>
              <a:t>warp scheduler</a:t>
            </a:r>
          </a:p>
        </p:txBody>
      </p:sp>
      <p:sp>
        <p:nvSpPr>
          <p:cNvPr id="62" name="Rectangle 62"/>
          <p:cNvSpPr/>
          <p:nvPr/>
        </p:nvSpPr>
        <p:spPr>
          <a:xfrm>
            <a:off x="9772650" y="2590800"/>
            <a:ext cx="1371600" cy="266700"/>
          </a:xfrm>
          <a:prstGeom prst="roundRect">
            <a:avLst>
              <a:gd name="adj" fmla="val 14286"/>
            </a:avLst>
          </a:prstGeom>
          <a:solidFill>
            <a:srgbClr val="DBEAFE"/>
          </a:solidFill>
          <a:ln w="4762">
            <a:solidFill>
              <a:srgbClr val="93C5FD"/>
            </a:solidFill>
          </a:ln>
        </p:spPr>
      </p:sp>
      <p:sp>
        <p:nvSpPr>
          <p:cNvPr id="63" name="TextBox 63"/>
          <p:cNvSpPr txBox="1"/>
          <p:nvPr/>
        </p:nvSpPr>
        <p:spPr>
          <a:xfrm>
            <a:off x="10005365" y="2674620"/>
            <a:ext cx="906170" cy="182880"/>
          </a:xfrm>
          <a:prstGeom prst="rect">
            <a:avLst/>
          </a:prstGeom>
          <a:noFill/>
          <a:ln>
            <a:noFill/>
          </a:ln>
        </p:spPr>
        <p:txBody>
          <a:bodyPr wrap="none" lIns="0" tIns="0" rIns="0" bIns="0" anchor="t" anchorCtr="0">
            <a:spAutoFit/>
          </a:bodyPr>
          <a:lstStyle/>
          <a:p>
            <a:pPr algn="ctr"/>
            <a:r>
              <a:rPr lang="zh-CN" sz="900" b="1" dirty="0">
                <a:solidFill>
                  <a:srgbClr val="1E3A5F"/>
                </a:solidFill>
                <a:latin typeface="Arial"/>
                <a:ea typeface="Microsoft YaHei"/>
                <a:cs typeface="Arial"/>
              </a:rPr>
              <a:t>dispatch unit</a:t>
            </a:r>
          </a:p>
        </p:txBody>
      </p:sp>
      <p:sp>
        <p:nvSpPr>
          <p:cNvPr id="64" name="Rectangle 64"/>
          <p:cNvSpPr/>
          <p:nvPr/>
        </p:nvSpPr>
        <p:spPr>
          <a:xfrm>
            <a:off x="8324850" y="2914650"/>
            <a:ext cx="2819400" cy="228600"/>
          </a:xfrm>
          <a:prstGeom prst="roundRect">
            <a:avLst>
              <a:gd name="adj" fmla="val 16667"/>
            </a:avLst>
          </a:prstGeom>
          <a:solidFill>
            <a:srgbClr val="FEF3C7"/>
          </a:solidFill>
          <a:ln w="4762">
            <a:solidFill>
              <a:srgbClr val="FCD34D"/>
            </a:solidFill>
          </a:ln>
        </p:spPr>
      </p:sp>
      <p:sp>
        <p:nvSpPr>
          <p:cNvPr id="65" name="TextBox 65"/>
          <p:cNvSpPr txBox="1"/>
          <p:nvPr/>
        </p:nvSpPr>
        <p:spPr>
          <a:xfrm>
            <a:off x="8822557" y="2979420"/>
            <a:ext cx="1823985" cy="182880"/>
          </a:xfrm>
          <a:prstGeom prst="rect">
            <a:avLst/>
          </a:prstGeom>
          <a:noFill/>
          <a:ln>
            <a:noFill/>
          </a:ln>
        </p:spPr>
        <p:txBody>
          <a:bodyPr wrap="none" lIns="0" tIns="0" rIns="0" bIns="0" anchor="t" anchorCtr="0">
            <a:spAutoFit/>
          </a:bodyPr>
          <a:lstStyle/>
          <a:p>
            <a:pPr algn="ctr"/>
            <a:r>
              <a:rPr lang="zh-CN" sz="900" b="1" dirty="0">
                <a:solidFill>
                  <a:srgbClr val="92400E"/>
                </a:solidFill>
                <a:latin typeface="Arial"/>
                <a:ea typeface="Microsoft YaHei"/>
                <a:cs typeface="Arial"/>
              </a:rPr>
              <a:t>register file (256 KB / SM)</a:t>
            </a:r>
          </a:p>
        </p:txBody>
      </p:sp>
      <p:sp>
        <p:nvSpPr>
          <p:cNvPr id="66" name="Rectangle 66"/>
          <p:cNvSpPr/>
          <p:nvPr/>
        </p:nvSpPr>
        <p:spPr>
          <a:xfrm>
            <a:off x="8324850" y="3200400"/>
            <a:ext cx="876300" cy="266700"/>
          </a:xfrm>
          <a:prstGeom prst="roundRect">
            <a:avLst>
              <a:gd name="adj" fmla="val 14286"/>
            </a:avLst>
          </a:prstGeom>
          <a:solidFill>
            <a:srgbClr val="D1FAE5"/>
          </a:solidFill>
          <a:ln w="4762">
            <a:solidFill>
              <a:srgbClr val="A7F3D0"/>
            </a:solidFill>
          </a:ln>
        </p:spPr>
      </p:sp>
      <p:sp>
        <p:nvSpPr>
          <p:cNvPr id="67" name="TextBox 67"/>
          <p:cNvSpPr txBox="1"/>
          <p:nvPr/>
        </p:nvSpPr>
        <p:spPr>
          <a:xfrm>
            <a:off x="8389275" y="3284220"/>
            <a:ext cx="747451" cy="182880"/>
          </a:xfrm>
          <a:prstGeom prst="rect">
            <a:avLst/>
          </a:prstGeom>
          <a:noFill/>
          <a:ln>
            <a:noFill/>
          </a:ln>
        </p:spPr>
        <p:txBody>
          <a:bodyPr wrap="none" lIns="0" tIns="0" rIns="0" bIns="0" anchor="t" anchorCtr="0">
            <a:spAutoFit/>
          </a:bodyPr>
          <a:lstStyle/>
          <a:p>
            <a:pPr algn="ctr"/>
            <a:r>
              <a:rPr lang="zh-CN" sz="900" b="1" dirty="0">
                <a:solidFill>
                  <a:srgbClr val="065F46"/>
                </a:solidFill>
                <a:latin typeface="Arial"/>
                <a:ea typeface="Microsoft YaHei"/>
                <a:cs typeface="Arial"/>
              </a:rPr>
              <a:t>CUDA cores</a:t>
            </a:r>
          </a:p>
        </p:txBody>
      </p:sp>
      <p:sp>
        <p:nvSpPr>
          <p:cNvPr id="68" name="Rectangle 68"/>
          <p:cNvSpPr/>
          <p:nvPr/>
        </p:nvSpPr>
        <p:spPr>
          <a:xfrm>
            <a:off x="9277350" y="3200400"/>
            <a:ext cx="876300" cy="266700"/>
          </a:xfrm>
          <a:prstGeom prst="roundRect">
            <a:avLst>
              <a:gd name="adj" fmla="val 14286"/>
            </a:avLst>
          </a:prstGeom>
          <a:solidFill>
            <a:srgbClr val="D1FAE5"/>
          </a:solidFill>
          <a:ln w="4762">
            <a:solidFill>
              <a:srgbClr val="A7F3D0"/>
            </a:solidFill>
          </a:ln>
        </p:spPr>
      </p:sp>
      <p:sp>
        <p:nvSpPr>
          <p:cNvPr id="69" name="TextBox 69"/>
          <p:cNvSpPr txBox="1"/>
          <p:nvPr/>
        </p:nvSpPr>
        <p:spPr>
          <a:xfrm>
            <a:off x="9590206" y="3284220"/>
            <a:ext cx="250588" cy="182880"/>
          </a:xfrm>
          <a:prstGeom prst="rect">
            <a:avLst/>
          </a:prstGeom>
          <a:noFill/>
          <a:ln>
            <a:noFill/>
          </a:ln>
        </p:spPr>
        <p:txBody>
          <a:bodyPr wrap="none" lIns="0" tIns="0" rIns="0" bIns="0" anchor="t" anchorCtr="0">
            <a:spAutoFit/>
          </a:bodyPr>
          <a:lstStyle/>
          <a:p>
            <a:pPr algn="ctr"/>
            <a:r>
              <a:rPr lang="zh-CN" sz="900" b="1" dirty="0">
                <a:solidFill>
                  <a:srgbClr val="065F46"/>
                </a:solidFill>
                <a:latin typeface="Arial"/>
                <a:ea typeface="Microsoft YaHei"/>
                <a:cs typeface="Arial"/>
              </a:rPr>
              <a:t>SFU</a:t>
            </a:r>
          </a:p>
        </p:txBody>
      </p:sp>
      <p:sp>
        <p:nvSpPr>
          <p:cNvPr id="70" name="Rectangle 70"/>
          <p:cNvSpPr/>
          <p:nvPr/>
        </p:nvSpPr>
        <p:spPr>
          <a:xfrm>
            <a:off x="10229850" y="3200400"/>
            <a:ext cx="914400" cy="266700"/>
          </a:xfrm>
          <a:prstGeom prst="roundRect">
            <a:avLst>
              <a:gd name="adj" fmla="val 14286"/>
            </a:avLst>
          </a:prstGeom>
          <a:solidFill>
            <a:srgbClr val="D1FAE5"/>
          </a:solidFill>
          <a:ln w="4762">
            <a:solidFill>
              <a:srgbClr val="A7F3D0"/>
            </a:solidFill>
          </a:ln>
        </p:spPr>
      </p:sp>
      <p:sp>
        <p:nvSpPr>
          <p:cNvPr id="71" name="TextBox 71"/>
          <p:cNvSpPr txBox="1"/>
          <p:nvPr/>
        </p:nvSpPr>
        <p:spPr>
          <a:xfrm>
            <a:off x="10292622" y="3284220"/>
            <a:ext cx="788856" cy="182880"/>
          </a:xfrm>
          <a:prstGeom prst="rect">
            <a:avLst/>
          </a:prstGeom>
          <a:noFill/>
          <a:ln>
            <a:noFill/>
          </a:ln>
        </p:spPr>
        <p:txBody>
          <a:bodyPr wrap="none" lIns="0" tIns="0" rIns="0" bIns="0" anchor="t" anchorCtr="0">
            <a:spAutoFit/>
          </a:bodyPr>
          <a:lstStyle/>
          <a:p>
            <a:pPr algn="ctr"/>
            <a:r>
              <a:rPr lang="zh-CN" sz="900" b="1" dirty="0">
                <a:solidFill>
                  <a:srgbClr val="065F46"/>
                </a:solidFill>
                <a:latin typeface="Arial"/>
                <a:ea typeface="Microsoft YaHei"/>
                <a:cs typeface="Arial"/>
              </a:rPr>
              <a:t>LD/ST units</a:t>
            </a:r>
          </a:p>
        </p:txBody>
      </p:sp>
      <p:sp>
        <p:nvSpPr>
          <p:cNvPr id="72" name="Rectangle 72"/>
          <p:cNvSpPr/>
          <p:nvPr/>
        </p:nvSpPr>
        <p:spPr>
          <a:xfrm>
            <a:off x="8324850" y="3543300"/>
            <a:ext cx="2819400" cy="228600"/>
          </a:xfrm>
          <a:prstGeom prst="roundRect">
            <a:avLst>
              <a:gd name="adj" fmla="val 16667"/>
            </a:avLst>
          </a:prstGeom>
          <a:solidFill>
            <a:srgbClr val="EDE9FE"/>
          </a:solidFill>
          <a:ln w="4762">
            <a:solidFill>
              <a:srgbClr val="C4B5FD"/>
            </a:solidFill>
          </a:ln>
        </p:spPr>
      </p:sp>
      <p:sp>
        <p:nvSpPr>
          <p:cNvPr id="73" name="TextBox 73"/>
          <p:cNvSpPr txBox="1"/>
          <p:nvPr/>
        </p:nvSpPr>
        <p:spPr>
          <a:xfrm>
            <a:off x="8567226" y="3608070"/>
            <a:ext cx="2334649" cy="182880"/>
          </a:xfrm>
          <a:prstGeom prst="rect">
            <a:avLst/>
          </a:prstGeom>
          <a:noFill/>
          <a:ln>
            <a:noFill/>
          </a:ln>
        </p:spPr>
        <p:txBody>
          <a:bodyPr wrap="none" lIns="0" tIns="0" rIns="0" bIns="0" anchor="t" anchorCtr="0">
            <a:spAutoFit/>
          </a:bodyPr>
          <a:lstStyle/>
          <a:p>
            <a:pPr algn="ctr"/>
            <a:r>
              <a:rPr lang="zh-CN" sz="900" b="1" dirty="0">
                <a:solidFill>
                  <a:srgbClr val="5B21B6"/>
                </a:solidFill>
                <a:latin typeface="Arial"/>
                <a:ea typeface="Microsoft YaHei"/>
                <a:cs typeface="Arial"/>
              </a:rPr>
              <a:t>shared memory / L1 cache (可配比)</a:t>
            </a:r>
          </a:p>
        </p:txBody>
      </p:sp>
      <p:sp>
        <p:nvSpPr>
          <p:cNvPr id="74" name="TextBox 74"/>
          <p:cNvSpPr txBox="1"/>
          <p:nvPr/>
        </p:nvSpPr>
        <p:spPr>
          <a:xfrm>
            <a:off x="8962858" y="3854291"/>
            <a:ext cx="1695783" cy="167640"/>
          </a:xfrm>
          <a:prstGeom prst="rect">
            <a:avLst/>
          </a:prstGeom>
          <a:noFill/>
          <a:ln>
            <a:noFill/>
          </a:ln>
        </p:spPr>
        <p:txBody>
          <a:bodyPr wrap="none" lIns="0" tIns="0" rIns="0" bIns="0" anchor="t" anchorCtr="0">
            <a:spAutoFit/>
          </a:bodyPr>
          <a:lstStyle/>
          <a:p>
            <a:pPr algn="ctr"/>
            <a:r>
              <a:rPr lang="zh-CN" sz="825" dirty="0">
                <a:solidFill>
                  <a:srgbClr val="9CA3AF"/>
                </a:solidFill>
                <a:latin typeface="Arial"/>
                <a:ea typeface="Microsoft YaHei"/>
                <a:cs typeface="Arial"/>
              </a:rPr>
              <a:t>每个 SM 独立拥有上述全部组件</a:t>
            </a:r>
          </a:p>
        </p:txBody>
      </p:sp>
      <p:sp>
        <p:nvSpPr>
          <p:cNvPr id="75" name="TextBox 75"/>
          <p:cNvSpPr txBox="1"/>
          <p:nvPr/>
        </p:nvSpPr>
        <p:spPr>
          <a:xfrm>
            <a:off x="8178165" y="4115752"/>
            <a:ext cx="1975014" cy="213360"/>
          </a:xfrm>
          <a:prstGeom prst="rect">
            <a:avLst/>
          </a:prstGeom>
          <a:noFill/>
          <a:ln>
            <a:noFill/>
          </a:ln>
        </p:spPr>
        <p:txBody>
          <a:bodyPr wrap="none" lIns="0" tIns="0" rIns="0" bIns="0" anchor="t" anchorCtr="0">
            <a:spAutoFit/>
          </a:bodyPr>
          <a:lstStyle/>
          <a:p>
            <a:pPr algn="l"/>
            <a:r>
              <a:rPr lang="zh-CN" sz="1050" b="1" dirty="0">
                <a:solidFill>
                  <a:srgbClr val="111827"/>
                </a:solidFill>
                <a:latin typeface="Arial"/>
                <a:ea typeface="Microsoft YaHei"/>
                <a:cs typeface="Arial"/>
              </a:rPr>
              <a:t>存储层次（快→慢，小→大）</a:t>
            </a:r>
          </a:p>
        </p:txBody>
      </p:sp>
      <p:sp>
        <p:nvSpPr>
          <p:cNvPr id="76" name="Rectangle 76"/>
          <p:cNvSpPr/>
          <p:nvPr/>
        </p:nvSpPr>
        <p:spPr>
          <a:xfrm>
            <a:off x="8191500" y="4324350"/>
            <a:ext cx="3238500" cy="171450"/>
          </a:xfrm>
          <a:prstGeom prst="roundRect">
            <a:avLst>
              <a:gd name="adj" fmla="val 16667"/>
            </a:avLst>
          </a:prstGeom>
          <a:solidFill>
            <a:srgbClr val="1E3A5F"/>
          </a:solidFill>
          <a:ln>
            <a:noFill/>
          </a:ln>
        </p:spPr>
      </p:sp>
      <p:sp>
        <p:nvSpPr>
          <p:cNvPr id="77" name="TextBox 77"/>
          <p:cNvSpPr txBox="1"/>
          <p:nvPr/>
        </p:nvSpPr>
        <p:spPr>
          <a:xfrm>
            <a:off x="8276272" y="4359116"/>
            <a:ext cx="587264"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registers</a:t>
            </a:r>
          </a:p>
        </p:txBody>
      </p:sp>
      <p:sp>
        <p:nvSpPr>
          <p:cNvPr id="78" name="TextBox 78"/>
          <p:cNvSpPr txBox="1"/>
          <p:nvPr/>
        </p:nvSpPr>
        <p:spPr>
          <a:xfrm>
            <a:off x="10647283" y="4367212"/>
            <a:ext cx="506492" cy="152400"/>
          </a:xfrm>
          <a:prstGeom prst="rect">
            <a:avLst/>
          </a:prstGeom>
          <a:noFill/>
          <a:ln>
            <a:noFill/>
          </a:ln>
        </p:spPr>
        <p:txBody>
          <a:bodyPr wrap="none" lIns="0" tIns="0" rIns="0" bIns="0" anchor="t" anchorCtr="0">
            <a:spAutoFit/>
          </a:bodyPr>
          <a:lstStyle/>
          <a:p>
            <a:pPr algn="r"/>
            <a:r>
              <a:rPr lang="zh-CN" sz="750" dirty="0">
                <a:solidFill>
                  <a:srgbClr val="CBD5E1"/>
                </a:solidFill>
                <a:latin typeface="Consolas"/>
                <a:ea typeface="Microsoft YaHei"/>
                <a:cs typeface="Consolas"/>
              </a:rPr>
              <a:t>~0 cycles</a:t>
            </a:r>
          </a:p>
        </p:txBody>
      </p:sp>
      <p:sp>
        <p:nvSpPr>
          <p:cNvPr id="79" name="Rectangle 79"/>
          <p:cNvSpPr/>
          <p:nvPr/>
        </p:nvSpPr>
        <p:spPr>
          <a:xfrm>
            <a:off x="8191500" y="4533900"/>
            <a:ext cx="2590800" cy="171450"/>
          </a:xfrm>
          <a:prstGeom prst="roundRect">
            <a:avLst>
              <a:gd name="adj" fmla="val 16667"/>
            </a:avLst>
          </a:prstGeom>
          <a:solidFill>
            <a:srgbClr val="3B5998"/>
          </a:solidFill>
          <a:ln>
            <a:noFill/>
          </a:ln>
        </p:spPr>
      </p:sp>
      <p:sp>
        <p:nvSpPr>
          <p:cNvPr id="80" name="TextBox 80"/>
          <p:cNvSpPr txBox="1"/>
          <p:nvPr/>
        </p:nvSpPr>
        <p:spPr>
          <a:xfrm>
            <a:off x="8276272" y="4568666"/>
            <a:ext cx="1509022"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shared memory / L1 cache</a:t>
            </a:r>
          </a:p>
        </p:txBody>
      </p:sp>
      <p:sp>
        <p:nvSpPr>
          <p:cNvPr id="81" name="TextBox 81"/>
          <p:cNvSpPr txBox="1"/>
          <p:nvPr/>
        </p:nvSpPr>
        <p:spPr>
          <a:xfrm>
            <a:off x="10554176" y="4576762"/>
            <a:ext cx="599599" cy="152400"/>
          </a:xfrm>
          <a:prstGeom prst="rect">
            <a:avLst/>
          </a:prstGeom>
          <a:noFill/>
          <a:ln>
            <a:noFill/>
          </a:ln>
        </p:spPr>
        <p:txBody>
          <a:bodyPr wrap="none" lIns="0" tIns="0" rIns="0" bIns="0" anchor="t" anchorCtr="0">
            <a:spAutoFit/>
          </a:bodyPr>
          <a:lstStyle/>
          <a:p>
            <a:pPr algn="r"/>
            <a:r>
              <a:rPr lang="zh-CN" sz="750" dirty="0">
                <a:solidFill>
                  <a:srgbClr val="9CA3AF"/>
                </a:solidFill>
                <a:latin typeface="Consolas"/>
                <a:ea typeface="Microsoft YaHei"/>
                <a:cs typeface="Consolas"/>
              </a:rPr>
              <a:t>&lt;100 cycles</a:t>
            </a:r>
          </a:p>
        </p:txBody>
      </p:sp>
      <p:sp>
        <p:nvSpPr>
          <p:cNvPr id="82" name="Rectangle 82"/>
          <p:cNvSpPr/>
          <p:nvPr/>
        </p:nvSpPr>
        <p:spPr>
          <a:xfrm>
            <a:off x="8191500" y="4743450"/>
            <a:ext cx="1943100" cy="171450"/>
          </a:xfrm>
          <a:prstGeom prst="roundRect">
            <a:avLst>
              <a:gd name="adj" fmla="val 16667"/>
            </a:avLst>
          </a:prstGeom>
          <a:solidFill>
            <a:srgbClr val="5B7DB5"/>
          </a:solidFill>
          <a:ln>
            <a:noFill/>
          </a:ln>
        </p:spPr>
      </p:sp>
      <p:sp>
        <p:nvSpPr>
          <p:cNvPr id="83" name="TextBox 83"/>
          <p:cNvSpPr txBox="1"/>
          <p:nvPr/>
        </p:nvSpPr>
        <p:spPr>
          <a:xfrm>
            <a:off x="8276272" y="4778216"/>
            <a:ext cx="520994"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L2 cache</a:t>
            </a:r>
          </a:p>
        </p:txBody>
      </p:sp>
      <p:sp>
        <p:nvSpPr>
          <p:cNvPr id="84" name="TextBox 84"/>
          <p:cNvSpPr txBox="1"/>
          <p:nvPr/>
        </p:nvSpPr>
        <p:spPr>
          <a:xfrm>
            <a:off x="10526792" y="4786312"/>
            <a:ext cx="626983" cy="152400"/>
          </a:xfrm>
          <a:prstGeom prst="rect">
            <a:avLst/>
          </a:prstGeom>
          <a:noFill/>
          <a:ln>
            <a:noFill/>
          </a:ln>
        </p:spPr>
        <p:txBody>
          <a:bodyPr wrap="none" lIns="0" tIns="0" rIns="0" bIns="0" anchor="t" anchorCtr="0">
            <a:spAutoFit/>
          </a:bodyPr>
          <a:lstStyle/>
          <a:p>
            <a:pPr algn="r"/>
            <a:r>
              <a:rPr lang="zh-CN" sz="750" dirty="0">
                <a:solidFill>
                  <a:srgbClr val="9CA3AF"/>
                </a:solidFill>
                <a:latin typeface="Consolas"/>
                <a:ea typeface="Microsoft YaHei"/>
                <a:cs typeface="Consolas"/>
              </a:rPr>
              <a:t>~200 cycles</a:t>
            </a:r>
          </a:p>
        </p:txBody>
      </p:sp>
      <p:sp>
        <p:nvSpPr>
          <p:cNvPr id="85" name="Rectangle 85"/>
          <p:cNvSpPr/>
          <p:nvPr/>
        </p:nvSpPr>
        <p:spPr>
          <a:xfrm>
            <a:off x="8191500" y="4953000"/>
            <a:ext cx="1295400" cy="171450"/>
          </a:xfrm>
          <a:prstGeom prst="roundRect">
            <a:avLst>
              <a:gd name="adj" fmla="val 16667"/>
            </a:avLst>
          </a:prstGeom>
          <a:solidFill>
            <a:srgbClr val="8CA5CE"/>
          </a:solidFill>
          <a:ln>
            <a:noFill/>
          </a:ln>
        </p:spPr>
      </p:sp>
      <p:sp>
        <p:nvSpPr>
          <p:cNvPr id="86" name="TextBox 86"/>
          <p:cNvSpPr txBox="1"/>
          <p:nvPr/>
        </p:nvSpPr>
        <p:spPr>
          <a:xfrm>
            <a:off x="8276272" y="4987766"/>
            <a:ext cx="671608"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HBM / DRAM</a:t>
            </a:r>
          </a:p>
        </p:txBody>
      </p:sp>
      <p:sp>
        <p:nvSpPr>
          <p:cNvPr id="87" name="TextBox 87"/>
          <p:cNvSpPr txBox="1"/>
          <p:nvPr/>
        </p:nvSpPr>
        <p:spPr>
          <a:xfrm>
            <a:off x="10346055" y="4995862"/>
            <a:ext cx="807720" cy="152400"/>
          </a:xfrm>
          <a:prstGeom prst="rect">
            <a:avLst/>
          </a:prstGeom>
          <a:noFill/>
          <a:ln>
            <a:noFill/>
          </a:ln>
        </p:spPr>
        <p:txBody>
          <a:bodyPr wrap="none" lIns="0" tIns="0" rIns="0" bIns="0" anchor="t" anchorCtr="0">
            <a:spAutoFit/>
          </a:bodyPr>
          <a:lstStyle/>
          <a:p>
            <a:pPr algn="r"/>
            <a:r>
              <a:rPr lang="zh-CN" sz="750" dirty="0">
                <a:solidFill>
                  <a:srgbClr val="9CA3AF"/>
                </a:solidFill>
                <a:latin typeface="Consolas"/>
                <a:ea typeface="Microsoft YaHei"/>
                <a:cs typeface="Consolas"/>
              </a:rPr>
              <a:t>400-800 cycles</a:t>
            </a:r>
          </a:p>
        </p:txBody>
      </p:sp>
      <p:sp>
        <p:nvSpPr>
          <p:cNvPr id="88" name="Rectangle 88"/>
          <p:cNvSpPr/>
          <p:nvPr/>
        </p:nvSpPr>
        <p:spPr>
          <a:xfrm>
            <a:off x="8191500" y="5257800"/>
            <a:ext cx="3238500" cy="533400"/>
          </a:xfrm>
          <a:prstGeom prst="roundRect">
            <a:avLst>
              <a:gd name="adj" fmla="val 10714"/>
            </a:avLst>
          </a:prstGeom>
          <a:solidFill>
            <a:srgbClr val="FEF3C7"/>
          </a:solidFill>
          <a:ln w="9525">
            <a:solidFill>
              <a:srgbClr val="FCD34D"/>
            </a:solidFill>
          </a:ln>
        </p:spPr>
      </p:sp>
      <p:sp>
        <p:nvSpPr>
          <p:cNvPr id="89" name="TextBox 89"/>
          <p:cNvSpPr txBox="1"/>
          <p:nvPr/>
        </p:nvSpPr>
        <p:spPr>
          <a:xfrm>
            <a:off x="9475375" y="5354002"/>
            <a:ext cx="670750" cy="213360"/>
          </a:xfrm>
          <a:prstGeom prst="rect">
            <a:avLst/>
          </a:prstGeom>
          <a:noFill/>
          <a:ln>
            <a:noFill/>
          </a:ln>
        </p:spPr>
        <p:txBody>
          <a:bodyPr wrap="none" lIns="0" tIns="0" rIns="0" bIns="0" anchor="t" anchorCtr="0">
            <a:spAutoFit/>
          </a:bodyPr>
          <a:lstStyle/>
          <a:p>
            <a:pPr algn="ctr"/>
            <a:r>
              <a:rPr lang="zh-CN" sz="1050" b="1" dirty="0">
                <a:solidFill>
                  <a:srgbClr val="92400E"/>
                </a:solidFill>
                <a:latin typeface="Arial"/>
                <a:ea typeface="Microsoft YaHei"/>
                <a:cs typeface="Arial"/>
              </a:rPr>
              <a:t>核心洞察</a:t>
            </a:r>
          </a:p>
        </p:txBody>
      </p:sp>
      <p:sp>
        <p:nvSpPr>
          <p:cNvPr id="90" name="TextBox 90"/>
          <p:cNvSpPr txBox="1"/>
          <p:nvPr/>
        </p:nvSpPr>
        <p:spPr>
          <a:xfrm>
            <a:off x="8086023" y="5571649"/>
            <a:ext cx="3449455" cy="198120"/>
          </a:xfrm>
          <a:prstGeom prst="rect">
            <a:avLst/>
          </a:prstGeom>
          <a:noFill/>
          <a:ln>
            <a:noFill/>
          </a:ln>
        </p:spPr>
        <p:txBody>
          <a:bodyPr wrap="none" lIns="0" tIns="0" rIns="0" bIns="0" anchor="t" anchorCtr="0">
            <a:spAutoFit/>
          </a:bodyPr>
          <a:lstStyle/>
          <a:p>
            <a:pPr algn="ctr"/>
            <a:r>
              <a:rPr lang="zh-CN" sz="975" dirty="0">
                <a:solidFill>
                  <a:srgbClr val="92400E"/>
                </a:solidFill>
                <a:latin typeface="Arial"/>
                <a:ea typeface="Microsoft YaHei"/>
                <a:cs typeface="Arial"/>
              </a:rPr>
              <a:t>GPU 的设计目标不是降低延迟，而是靠并行"隐藏"延迟</a:t>
            </a:r>
          </a:p>
        </p:txBody>
      </p:sp>
      <p:sp>
        <p:nvSpPr>
          <p:cNvPr id="91" name="TextBox 91"/>
          <p:cNvSpPr txBox="1"/>
          <p:nvPr/>
        </p:nvSpPr>
        <p:spPr>
          <a:xfrm>
            <a:off x="520065" y="6363652"/>
            <a:ext cx="3162729"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prerequisite_gpu_execution</a:t>
            </a:r>
          </a:p>
        </p:txBody>
      </p:sp>
      <p:sp>
        <p:nvSpPr>
          <p:cNvPr id="92" name="TextBox 92"/>
          <p:cNvSpPr txBox="1"/>
          <p:nvPr/>
        </p:nvSpPr>
        <p:spPr>
          <a:xfrm>
            <a:off x="11274600" y="638794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03 / 18</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024995"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Arial"/>
                <a:ea typeface="Microsoft YaHei"/>
                <a:cs typeface="Arial"/>
              </a:rPr>
              <a:t>THE PROBLEM</a:t>
            </a:r>
          </a:p>
        </p:txBody>
      </p:sp>
      <p:sp>
        <p:nvSpPr>
          <p:cNvPr id="4" name="TextBox 4"/>
          <p:cNvSpPr txBox="1"/>
          <p:nvPr/>
        </p:nvSpPr>
        <p:spPr>
          <a:xfrm>
            <a:off x="502920" y="845820"/>
            <a:ext cx="4863960"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Trace 太大：完整模拟的瓶颈</a:t>
            </a:r>
          </a:p>
        </p:txBody>
      </p:sp>
      <p:sp>
        <p:nvSpPr>
          <p:cNvPr id="5" name="TextBox 5"/>
          <p:cNvSpPr txBox="1"/>
          <p:nvPr/>
        </p:nvSpPr>
        <p:spPr>
          <a:xfrm>
            <a:off x="515302" y="1274921"/>
            <a:ext cx="6061305"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在讨论我们的方法之前，先看清 trace-driven 模拟的核心困境。</a:t>
            </a:r>
          </a:p>
        </p:txBody>
      </p:sp>
      <p:sp>
        <p:nvSpPr>
          <p:cNvPr id="6" name="Rectangle 6"/>
          <p:cNvSpPr/>
          <p:nvPr/>
        </p:nvSpPr>
        <p:spPr>
          <a:xfrm>
            <a:off x="533400" y="1809750"/>
            <a:ext cx="1714500" cy="571500"/>
          </a:xfrm>
          <a:prstGeom prst="roundRect">
            <a:avLst>
              <a:gd name="adj" fmla="val 13333"/>
            </a:avLst>
          </a:prstGeom>
          <a:solidFill>
            <a:srgbClr val="FFFFFF"/>
          </a:solidFill>
          <a:ln w="9525">
            <a:solidFill>
              <a:srgbClr val="CBD5E1"/>
            </a:solidFill>
          </a:ln>
        </p:spPr>
      </p:sp>
      <p:sp>
        <p:nvSpPr>
          <p:cNvPr id="7" name="TextBox 7"/>
          <p:cNvSpPr txBox="1"/>
          <p:nvPr/>
        </p:nvSpPr>
        <p:spPr>
          <a:xfrm>
            <a:off x="993562" y="1946910"/>
            <a:ext cx="794175" cy="243840"/>
          </a:xfrm>
          <a:prstGeom prst="rect">
            <a:avLst/>
          </a:prstGeom>
          <a:noFill/>
          <a:ln>
            <a:noFill/>
          </a:ln>
        </p:spPr>
        <p:txBody>
          <a:bodyPr wrap="none" lIns="0" tIns="0" rIns="0" bIns="0" anchor="t" anchorCtr="0">
            <a:spAutoFit/>
          </a:bodyPr>
          <a:lstStyle/>
          <a:p>
            <a:pPr algn="ctr"/>
            <a:r>
              <a:rPr lang="zh-CN" sz="1200" b="1" dirty="0">
                <a:solidFill>
                  <a:srgbClr val="1E3A5F"/>
                </a:solidFill>
                <a:latin typeface="Arial"/>
                <a:ea typeface="Microsoft YaHei"/>
                <a:cs typeface="Arial"/>
              </a:rPr>
              <a:t>CUDA App</a:t>
            </a:r>
          </a:p>
        </p:txBody>
      </p:sp>
      <p:sp>
        <p:nvSpPr>
          <p:cNvPr id="8" name="TextBox 8"/>
          <p:cNvSpPr txBox="1"/>
          <p:nvPr/>
        </p:nvSpPr>
        <p:spPr>
          <a:xfrm>
            <a:off x="1030891" y="2169795"/>
            <a:ext cx="719519" cy="182880"/>
          </a:xfrm>
          <a:prstGeom prst="rect">
            <a:avLst/>
          </a:prstGeom>
          <a:noFill/>
          <a:ln>
            <a:noFill/>
          </a:ln>
        </p:spPr>
        <p:txBody>
          <a:bodyPr wrap="none" lIns="0" tIns="0" rIns="0" bIns="0" anchor="t" anchorCtr="0">
            <a:spAutoFit/>
          </a:bodyPr>
          <a:lstStyle/>
          <a:p>
            <a:pPr algn="ctr"/>
            <a:r>
              <a:rPr lang="zh-CN" sz="900" dirty="0">
                <a:solidFill>
                  <a:srgbClr val="4B5563"/>
                </a:solidFill>
                <a:latin typeface="Arial"/>
                <a:ea typeface="Microsoft YaHei"/>
                <a:cs typeface="Arial"/>
              </a:rPr>
              <a:t>on real GPU</a:t>
            </a:r>
          </a:p>
        </p:txBody>
      </p:sp>
      <p:sp>
        <p:nvSpPr>
          <p:cNvPr id="9" name="Line 9"/>
          <p:cNvSpPr/>
          <p:nvPr/>
        </p:nvSpPr>
        <p:spPr>
          <a:xfrm>
            <a:off x="2247900" y="2095500"/>
            <a:ext cx="304800" cy="9525"/>
          </a:xfrm>
          <a:custGeom>
            <a:avLst/>
            <a:gdLst/>
            <a:ahLst/>
            <a:cxnLst/>
            <a:rect l="l" t="t" r="r" b="b"/>
            <a:pathLst>
              <a:path w="304800" h="9525">
                <a:moveTo>
                  <a:pt x="0" y="0"/>
                </a:moveTo>
                <a:lnTo>
                  <a:pt x="304800" y="0"/>
                </a:lnTo>
              </a:path>
            </a:pathLst>
          </a:custGeom>
          <a:noFill/>
          <a:ln w="19050">
            <a:solidFill>
              <a:srgbClr val="CBD5E1"/>
            </a:solidFill>
          </a:ln>
        </p:spPr>
      </p:sp>
      <p:sp>
        <p:nvSpPr>
          <p:cNvPr id="10" name="Polygon 10"/>
          <p:cNvSpPr/>
          <p:nvPr/>
        </p:nvSpPr>
        <p:spPr>
          <a:xfrm>
            <a:off x="2514600" y="2038350"/>
            <a:ext cx="114300" cy="114300"/>
          </a:xfrm>
          <a:custGeom>
            <a:avLst/>
            <a:gdLst/>
            <a:ahLst/>
            <a:cxnLst/>
            <a:rect l="l" t="t" r="r" b="b"/>
            <a:pathLst>
              <a:path w="114300" h="114300">
                <a:moveTo>
                  <a:pt x="0" y="0"/>
                </a:moveTo>
                <a:lnTo>
                  <a:pt x="114300" y="57150"/>
                </a:lnTo>
                <a:lnTo>
                  <a:pt x="0" y="114300"/>
                </a:lnTo>
                <a:close/>
              </a:path>
            </a:pathLst>
          </a:custGeom>
          <a:solidFill>
            <a:srgbClr val="CBD5E1"/>
          </a:solidFill>
          <a:ln>
            <a:noFill/>
          </a:ln>
        </p:spPr>
      </p:sp>
      <p:sp>
        <p:nvSpPr>
          <p:cNvPr id="11" name="Rectangle 11"/>
          <p:cNvSpPr/>
          <p:nvPr/>
        </p:nvSpPr>
        <p:spPr>
          <a:xfrm>
            <a:off x="2647950" y="1809750"/>
            <a:ext cx="1714500" cy="571500"/>
          </a:xfrm>
          <a:prstGeom prst="roundRect">
            <a:avLst>
              <a:gd name="adj" fmla="val 13333"/>
            </a:avLst>
          </a:prstGeom>
          <a:solidFill>
            <a:srgbClr val="FFFFFF"/>
          </a:solidFill>
          <a:ln w="9525">
            <a:solidFill>
              <a:srgbClr val="CBD5E1"/>
            </a:solidFill>
          </a:ln>
        </p:spPr>
      </p:sp>
      <p:sp>
        <p:nvSpPr>
          <p:cNvPr id="12" name="TextBox 12"/>
          <p:cNvSpPr txBox="1"/>
          <p:nvPr/>
        </p:nvSpPr>
        <p:spPr>
          <a:xfrm>
            <a:off x="2928690" y="1946910"/>
            <a:ext cx="1153020" cy="243840"/>
          </a:xfrm>
          <a:prstGeom prst="rect">
            <a:avLst/>
          </a:prstGeom>
          <a:noFill/>
          <a:ln>
            <a:noFill/>
          </a:ln>
        </p:spPr>
        <p:txBody>
          <a:bodyPr wrap="none" lIns="0" tIns="0" rIns="0" bIns="0" anchor="t" anchorCtr="0">
            <a:spAutoFit/>
          </a:bodyPr>
          <a:lstStyle/>
          <a:p>
            <a:pPr algn="ctr"/>
            <a:r>
              <a:rPr lang="zh-CN" sz="1200" b="1" dirty="0">
                <a:solidFill>
                  <a:srgbClr val="1E3A5F"/>
                </a:solidFill>
                <a:latin typeface="Arial"/>
                <a:ea typeface="Microsoft YaHei"/>
                <a:cs typeface="Arial"/>
              </a:rPr>
              <a:t>NVBit Tracer</a:t>
            </a:r>
          </a:p>
        </p:txBody>
      </p:sp>
      <p:sp>
        <p:nvSpPr>
          <p:cNvPr id="13" name="TextBox 13"/>
          <p:cNvSpPr txBox="1"/>
          <p:nvPr/>
        </p:nvSpPr>
        <p:spPr>
          <a:xfrm>
            <a:off x="2915412" y="2169795"/>
            <a:ext cx="1179576" cy="182880"/>
          </a:xfrm>
          <a:prstGeom prst="rect">
            <a:avLst/>
          </a:prstGeom>
          <a:noFill/>
          <a:ln>
            <a:noFill/>
          </a:ln>
        </p:spPr>
        <p:txBody>
          <a:bodyPr wrap="none" lIns="0" tIns="0" rIns="0" bIns="0" anchor="t" anchorCtr="0">
            <a:spAutoFit/>
          </a:bodyPr>
          <a:lstStyle/>
          <a:p>
            <a:pPr algn="ctr"/>
            <a:r>
              <a:rPr lang="zh-CN" sz="900" dirty="0">
                <a:solidFill>
                  <a:srgbClr val="4B5563"/>
                </a:solidFill>
                <a:latin typeface="Arial"/>
                <a:ea typeface="Microsoft YaHei"/>
                <a:cs typeface="Arial"/>
              </a:rPr>
              <a:t>binary instrument</a:t>
            </a:r>
          </a:p>
        </p:txBody>
      </p:sp>
      <p:sp>
        <p:nvSpPr>
          <p:cNvPr id="14" name="Line 14"/>
          <p:cNvSpPr/>
          <p:nvPr/>
        </p:nvSpPr>
        <p:spPr>
          <a:xfrm>
            <a:off x="4362450" y="2095500"/>
            <a:ext cx="304800" cy="9525"/>
          </a:xfrm>
          <a:custGeom>
            <a:avLst/>
            <a:gdLst/>
            <a:ahLst/>
            <a:cxnLst/>
            <a:rect l="l" t="t" r="r" b="b"/>
            <a:pathLst>
              <a:path w="304800" h="9525">
                <a:moveTo>
                  <a:pt x="0" y="0"/>
                </a:moveTo>
                <a:lnTo>
                  <a:pt x="304800" y="0"/>
                </a:lnTo>
              </a:path>
            </a:pathLst>
          </a:custGeom>
          <a:noFill/>
          <a:ln w="19050">
            <a:solidFill>
              <a:srgbClr val="B91C1C"/>
            </a:solidFill>
          </a:ln>
        </p:spPr>
      </p:sp>
      <p:sp>
        <p:nvSpPr>
          <p:cNvPr id="15" name="Polygon 15"/>
          <p:cNvSpPr/>
          <p:nvPr/>
        </p:nvSpPr>
        <p:spPr>
          <a:xfrm>
            <a:off x="4629150" y="2038350"/>
            <a:ext cx="114300" cy="114300"/>
          </a:xfrm>
          <a:custGeom>
            <a:avLst/>
            <a:gdLst/>
            <a:ahLst/>
            <a:cxnLst/>
            <a:rect l="l" t="t" r="r" b="b"/>
            <a:pathLst>
              <a:path w="114300" h="114300">
                <a:moveTo>
                  <a:pt x="0" y="0"/>
                </a:moveTo>
                <a:lnTo>
                  <a:pt x="114300" y="57150"/>
                </a:lnTo>
                <a:lnTo>
                  <a:pt x="0" y="114300"/>
                </a:lnTo>
                <a:close/>
              </a:path>
            </a:pathLst>
          </a:custGeom>
          <a:solidFill>
            <a:srgbClr val="B91C1C"/>
          </a:solidFill>
          <a:ln>
            <a:noFill/>
          </a:ln>
        </p:spPr>
      </p:sp>
      <p:sp>
        <p:nvSpPr>
          <p:cNvPr id="16" name="Rectangle 16"/>
          <p:cNvSpPr/>
          <p:nvPr/>
        </p:nvSpPr>
        <p:spPr>
          <a:xfrm>
            <a:off x="4762500" y="1771650"/>
            <a:ext cx="1714500" cy="647700"/>
          </a:xfrm>
          <a:prstGeom prst="roundRect">
            <a:avLst>
              <a:gd name="adj" fmla="val 11765"/>
            </a:avLst>
          </a:prstGeom>
          <a:solidFill>
            <a:srgbClr val="FEF2F2"/>
          </a:solidFill>
          <a:ln w="19050">
            <a:solidFill>
              <a:srgbClr val="B91C1C"/>
            </a:solidFill>
          </a:ln>
        </p:spPr>
      </p:sp>
      <p:sp>
        <p:nvSpPr>
          <p:cNvPr id="17" name="TextBox 17"/>
          <p:cNvSpPr txBox="1"/>
          <p:nvPr/>
        </p:nvSpPr>
        <p:spPr>
          <a:xfrm>
            <a:off x="5121450" y="1908810"/>
            <a:ext cx="996601" cy="243840"/>
          </a:xfrm>
          <a:prstGeom prst="rect">
            <a:avLst/>
          </a:prstGeom>
          <a:noFill/>
          <a:ln>
            <a:noFill/>
          </a:ln>
        </p:spPr>
        <p:txBody>
          <a:bodyPr wrap="none" lIns="0" tIns="0" rIns="0" bIns="0" anchor="t" anchorCtr="0">
            <a:spAutoFit/>
          </a:bodyPr>
          <a:lstStyle/>
          <a:p>
            <a:pPr algn="ctr"/>
            <a:r>
              <a:rPr lang="zh-CN" sz="1200" b="1" dirty="0">
                <a:solidFill>
                  <a:srgbClr val="B91C1C"/>
                </a:solidFill>
                <a:latin typeface="Arial"/>
                <a:ea typeface="Microsoft YaHei"/>
                <a:cs typeface="Arial"/>
              </a:rPr>
              <a:t>SASS Trace</a:t>
            </a:r>
          </a:p>
        </p:txBody>
      </p:sp>
      <p:sp>
        <p:nvSpPr>
          <p:cNvPr id="18" name="TextBox 18"/>
          <p:cNvSpPr txBox="1"/>
          <p:nvPr/>
        </p:nvSpPr>
        <p:spPr>
          <a:xfrm>
            <a:off x="5149413" y="2131695"/>
            <a:ext cx="940675" cy="182880"/>
          </a:xfrm>
          <a:prstGeom prst="rect">
            <a:avLst/>
          </a:prstGeom>
          <a:noFill/>
          <a:ln>
            <a:noFill/>
          </a:ln>
        </p:spPr>
        <p:txBody>
          <a:bodyPr wrap="none" lIns="0" tIns="0" rIns="0" bIns="0" anchor="t" anchorCtr="0">
            <a:spAutoFit/>
          </a:bodyPr>
          <a:lstStyle/>
          <a:p>
            <a:pPr algn="ctr"/>
            <a:r>
              <a:rPr lang="zh-CN" sz="900" b="1" dirty="0">
                <a:solidFill>
                  <a:srgbClr val="B91C1C"/>
                </a:solidFill>
                <a:latin typeface="Arial"/>
                <a:ea typeface="Microsoft YaHei"/>
                <a:cs typeface="Arial"/>
              </a:rPr>
              <a:t>TB 级 .pb 文件</a:t>
            </a:r>
          </a:p>
        </p:txBody>
      </p:sp>
      <p:sp>
        <p:nvSpPr>
          <p:cNvPr id="19" name="Line 19"/>
          <p:cNvSpPr/>
          <p:nvPr/>
        </p:nvSpPr>
        <p:spPr>
          <a:xfrm>
            <a:off x="6477000" y="2095500"/>
            <a:ext cx="304800" cy="9525"/>
          </a:xfrm>
          <a:custGeom>
            <a:avLst/>
            <a:gdLst/>
            <a:ahLst/>
            <a:cxnLst/>
            <a:rect l="l" t="t" r="r" b="b"/>
            <a:pathLst>
              <a:path w="304800" h="9525">
                <a:moveTo>
                  <a:pt x="0" y="0"/>
                </a:moveTo>
                <a:lnTo>
                  <a:pt x="304800" y="0"/>
                </a:lnTo>
              </a:path>
            </a:pathLst>
          </a:custGeom>
          <a:noFill/>
          <a:ln w="19050">
            <a:solidFill>
              <a:srgbClr val="B91C1C"/>
            </a:solidFill>
          </a:ln>
        </p:spPr>
      </p:sp>
      <p:sp>
        <p:nvSpPr>
          <p:cNvPr id="20" name="Polygon 20"/>
          <p:cNvSpPr/>
          <p:nvPr/>
        </p:nvSpPr>
        <p:spPr>
          <a:xfrm>
            <a:off x="6743700" y="2038350"/>
            <a:ext cx="114300" cy="114300"/>
          </a:xfrm>
          <a:custGeom>
            <a:avLst/>
            <a:gdLst/>
            <a:ahLst/>
            <a:cxnLst/>
            <a:rect l="l" t="t" r="r" b="b"/>
            <a:pathLst>
              <a:path w="114300" h="114300">
                <a:moveTo>
                  <a:pt x="0" y="0"/>
                </a:moveTo>
                <a:lnTo>
                  <a:pt x="114300" y="57150"/>
                </a:lnTo>
                <a:lnTo>
                  <a:pt x="0" y="114300"/>
                </a:lnTo>
                <a:close/>
              </a:path>
            </a:pathLst>
          </a:custGeom>
          <a:solidFill>
            <a:srgbClr val="B91C1C"/>
          </a:solidFill>
          <a:ln>
            <a:noFill/>
          </a:ln>
        </p:spPr>
      </p:sp>
      <p:sp>
        <p:nvSpPr>
          <p:cNvPr id="21" name="Rectangle 21"/>
          <p:cNvSpPr/>
          <p:nvPr/>
        </p:nvSpPr>
        <p:spPr>
          <a:xfrm>
            <a:off x="6877050" y="1771650"/>
            <a:ext cx="1714500" cy="647700"/>
          </a:xfrm>
          <a:prstGeom prst="roundRect">
            <a:avLst>
              <a:gd name="adj" fmla="val 11765"/>
            </a:avLst>
          </a:prstGeom>
          <a:solidFill>
            <a:srgbClr val="FEF2F2"/>
          </a:solidFill>
          <a:ln w="19050">
            <a:solidFill>
              <a:srgbClr val="B91C1C"/>
            </a:solidFill>
          </a:ln>
        </p:spPr>
      </p:sp>
      <p:sp>
        <p:nvSpPr>
          <p:cNvPr id="22" name="TextBox 22"/>
          <p:cNvSpPr txBox="1"/>
          <p:nvPr/>
        </p:nvSpPr>
        <p:spPr>
          <a:xfrm>
            <a:off x="7268204" y="1908810"/>
            <a:ext cx="932193" cy="243840"/>
          </a:xfrm>
          <a:prstGeom prst="rect">
            <a:avLst/>
          </a:prstGeom>
          <a:noFill/>
          <a:ln>
            <a:noFill/>
          </a:ln>
        </p:spPr>
        <p:txBody>
          <a:bodyPr wrap="none" lIns="0" tIns="0" rIns="0" bIns="0" anchor="t" anchorCtr="0">
            <a:spAutoFit/>
          </a:bodyPr>
          <a:lstStyle/>
          <a:p>
            <a:pPr algn="ctr"/>
            <a:r>
              <a:rPr lang="zh-CN" sz="1200" b="1" dirty="0">
                <a:solidFill>
                  <a:srgbClr val="B91C1C"/>
                </a:solidFill>
                <a:latin typeface="Arial"/>
                <a:ea typeface="Microsoft YaHei"/>
                <a:cs typeface="Arial"/>
              </a:rPr>
              <a:t>GPGPU-Sim</a:t>
            </a:r>
          </a:p>
        </p:txBody>
      </p:sp>
      <p:sp>
        <p:nvSpPr>
          <p:cNvPr id="23" name="TextBox 23"/>
          <p:cNvSpPr txBox="1"/>
          <p:nvPr/>
        </p:nvSpPr>
        <p:spPr>
          <a:xfrm>
            <a:off x="7284665" y="2131695"/>
            <a:ext cx="899270" cy="182880"/>
          </a:xfrm>
          <a:prstGeom prst="rect">
            <a:avLst/>
          </a:prstGeom>
          <a:noFill/>
          <a:ln>
            <a:noFill/>
          </a:ln>
        </p:spPr>
        <p:txBody>
          <a:bodyPr wrap="none" lIns="0" tIns="0" rIns="0" bIns="0" anchor="t" anchorCtr="0">
            <a:spAutoFit/>
          </a:bodyPr>
          <a:lstStyle/>
          <a:p>
            <a:pPr algn="ctr"/>
            <a:r>
              <a:rPr lang="zh-CN" sz="900" b="1" dirty="0">
                <a:solidFill>
                  <a:srgbClr val="B91C1C"/>
                </a:solidFill>
                <a:latin typeface="Arial"/>
                <a:ea typeface="Microsoft YaHei"/>
                <a:cs typeface="Arial"/>
              </a:rPr>
              <a:t>逐周期 replay</a:t>
            </a:r>
          </a:p>
        </p:txBody>
      </p:sp>
      <p:sp>
        <p:nvSpPr>
          <p:cNvPr id="24" name="Line 24"/>
          <p:cNvSpPr/>
          <p:nvPr/>
        </p:nvSpPr>
        <p:spPr>
          <a:xfrm>
            <a:off x="8591550" y="2095500"/>
            <a:ext cx="304800" cy="9525"/>
          </a:xfrm>
          <a:custGeom>
            <a:avLst/>
            <a:gdLst/>
            <a:ahLst/>
            <a:cxnLst/>
            <a:rect l="l" t="t" r="r" b="b"/>
            <a:pathLst>
              <a:path w="304800" h="9525">
                <a:moveTo>
                  <a:pt x="0" y="0"/>
                </a:moveTo>
                <a:lnTo>
                  <a:pt x="304800" y="0"/>
                </a:lnTo>
              </a:path>
            </a:pathLst>
          </a:custGeom>
          <a:noFill/>
          <a:ln w="19050">
            <a:solidFill>
              <a:srgbClr val="CBD5E1"/>
            </a:solidFill>
          </a:ln>
        </p:spPr>
      </p:sp>
      <p:sp>
        <p:nvSpPr>
          <p:cNvPr id="25" name="Polygon 25"/>
          <p:cNvSpPr/>
          <p:nvPr/>
        </p:nvSpPr>
        <p:spPr>
          <a:xfrm>
            <a:off x="8858250" y="2038350"/>
            <a:ext cx="114300" cy="114300"/>
          </a:xfrm>
          <a:custGeom>
            <a:avLst/>
            <a:gdLst/>
            <a:ahLst/>
            <a:cxnLst/>
            <a:rect l="l" t="t" r="r" b="b"/>
            <a:pathLst>
              <a:path w="114300" h="114300">
                <a:moveTo>
                  <a:pt x="0" y="0"/>
                </a:moveTo>
                <a:lnTo>
                  <a:pt x="114300" y="57150"/>
                </a:lnTo>
                <a:lnTo>
                  <a:pt x="0" y="114300"/>
                </a:lnTo>
                <a:close/>
              </a:path>
            </a:pathLst>
          </a:custGeom>
          <a:solidFill>
            <a:srgbClr val="CBD5E1"/>
          </a:solidFill>
          <a:ln>
            <a:noFill/>
          </a:ln>
        </p:spPr>
      </p:sp>
      <p:sp>
        <p:nvSpPr>
          <p:cNvPr id="26" name="Rectangle 26"/>
          <p:cNvSpPr/>
          <p:nvPr/>
        </p:nvSpPr>
        <p:spPr>
          <a:xfrm>
            <a:off x="8991600" y="1809750"/>
            <a:ext cx="1714500" cy="571500"/>
          </a:xfrm>
          <a:prstGeom prst="roundRect">
            <a:avLst>
              <a:gd name="adj" fmla="val 13333"/>
            </a:avLst>
          </a:prstGeom>
          <a:solidFill>
            <a:srgbClr val="F1F5F9"/>
          </a:solidFill>
          <a:ln w="9525">
            <a:solidFill>
              <a:srgbClr val="CBD5E1"/>
            </a:solidFill>
          </a:ln>
        </p:spPr>
      </p:sp>
      <p:sp>
        <p:nvSpPr>
          <p:cNvPr id="27" name="TextBox 27"/>
          <p:cNvSpPr txBox="1"/>
          <p:nvPr/>
        </p:nvSpPr>
        <p:spPr>
          <a:xfrm>
            <a:off x="9649587" y="1946910"/>
            <a:ext cx="398526" cy="243840"/>
          </a:xfrm>
          <a:prstGeom prst="rect">
            <a:avLst/>
          </a:prstGeom>
          <a:noFill/>
          <a:ln>
            <a:noFill/>
          </a:ln>
        </p:spPr>
        <p:txBody>
          <a:bodyPr wrap="none" lIns="0" tIns="0" rIns="0" bIns="0" anchor="t" anchorCtr="0">
            <a:spAutoFit/>
          </a:bodyPr>
          <a:lstStyle/>
          <a:p>
            <a:pPr algn="ctr"/>
            <a:r>
              <a:rPr lang="zh-CN" sz="1200" b="1" dirty="0">
                <a:solidFill>
                  <a:srgbClr val="4B5563"/>
                </a:solidFill>
                <a:latin typeface="Arial"/>
                <a:ea typeface="Microsoft YaHei"/>
                <a:cs typeface="Arial"/>
              </a:rPr>
              <a:t>结果</a:t>
            </a:r>
          </a:p>
        </p:txBody>
      </p:sp>
      <p:sp>
        <p:nvSpPr>
          <p:cNvPr id="28" name="TextBox 28"/>
          <p:cNvSpPr txBox="1"/>
          <p:nvPr/>
        </p:nvSpPr>
        <p:spPr>
          <a:xfrm>
            <a:off x="9245918" y="2169795"/>
            <a:ext cx="1205865" cy="182880"/>
          </a:xfrm>
          <a:prstGeom prst="rect">
            <a:avLst/>
          </a:prstGeom>
          <a:noFill/>
          <a:ln>
            <a:noFill/>
          </a:ln>
        </p:spPr>
        <p:txBody>
          <a:bodyPr wrap="none" lIns="0" tIns="0" rIns="0" bIns="0" anchor="t" anchorCtr="0">
            <a:spAutoFit/>
          </a:bodyPr>
          <a:lstStyle/>
          <a:p>
            <a:pPr algn="ctr"/>
            <a:r>
              <a:rPr lang="zh-CN" sz="900" dirty="0">
                <a:solidFill>
                  <a:srgbClr val="4B5563"/>
                </a:solidFill>
                <a:latin typeface="Arial"/>
                <a:ea typeface="Microsoft YaHei"/>
                <a:cs typeface="Arial"/>
              </a:rPr>
              <a:t>IPC / stall / cycles</a:t>
            </a:r>
          </a:p>
        </p:txBody>
      </p:sp>
      <p:sp>
        <p:nvSpPr>
          <p:cNvPr id="29" name="Rectangle 29"/>
          <p:cNvSpPr/>
          <p:nvPr/>
        </p:nvSpPr>
        <p:spPr>
          <a:xfrm>
            <a:off x="4762500" y="2495550"/>
            <a:ext cx="3829050" cy="209550"/>
          </a:xfrm>
          <a:prstGeom prst="roundRect">
            <a:avLst>
              <a:gd name="adj" fmla="val 18182"/>
            </a:avLst>
          </a:prstGeom>
          <a:solidFill>
            <a:srgbClr val="FEF2F2"/>
          </a:solidFill>
          <a:ln>
            <a:noFill/>
          </a:ln>
        </p:spPr>
      </p:sp>
      <p:sp>
        <p:nvSpPr>
          <p:cNvPr id="30" name="TextBox 30"/>
          <p:cNvSpPr txBox="1"/>
          <p:nvPr/>
        </p:nvSpPr>
        <p:spPr>
          <a:xfrm>
            <a:off x="5133604" y="2550795"/>
            <a:ext cx="3086843" cy="182880"/>
          </a:xfrm>
          <a:prstGeom prst="rect">
            <a:avLst/>
          </a:prstGeom>
          <a:noFill/>
          <a:ln>
            <a:noFill/>
          </a:ln>
        </p:spPr>
        <p:txBody>
          <a:bodyPr wrap="none" lIns="0" tIns="0" rIns="0" bIns="0" anchor="t" anchorCtr="0">
            <a:spAutoFit/>
          </a:bodyPr>
          <a:lstStyle/>
          <a:p>
            <a:pPr algn="ctr"/>
            <a:r>
              <a:rPr lang="zh-CN" sz="900" b="1" dirty="0">
                <a:solidFill>
                  <a:srgbClr val="B91C1C"/>
                </a:solidFill>
                <a:latin typeface="Arial"/>
                <a:ea typeface="Microsoft YaHei"/>
                <a:cs typeface="Arial"/>
              </a:rPr>
              <a:t>瓶颈在这两步：trace 存储巨大 + 逐周期模拟极慢</a:t>
            </a:r>
          </a:p>
        </p:txBody>
      </p:sp>
      <p:sp>
        <p:nvSpPr>
          <p:cNvPr id="31" name="Rectangle 31"/>
          <p:cNvSpPr/>
          <p:nvPr/>
        </p:nvSpPr>
        <p:spPr>
          <a:xfrm>
            <a:off x="533400" y="2933700"/>
            <a:ext cx="5334000" cy="2133600"/>
          </a:xfrm>
          <a:prstGeom prst="roundRect">
            <a:avLst>
              <a:gd name="adj" fmla="val 3571"/>
            </a:avLst>
          </a:prstGeom>
          <a:solidFill>
            <a:srgbClr val="FFFFFF"/>
          </a:solidFill>
          <a:ln w="9525">
            <a:solidFill>
              <a:srgbClr val="CBD5E1"/>
            </a:solidFill>
          </a:ln>
        </p:spPr>
      </p:sp>
      <p:sp>
        <p:nvSpPr>
          <p:cNvPr id="32" name="Freeform 32"/>
          <p:cNvSpPr/>
          <p:nvPr/>
        </p:nvSpPr>
        <p:spPr>
          <a:xfrm>
            <a:off x="533400" y="2857500"/>
            <a:ext cx="5334000" cy="514350"/>
          </a:xfrm>
          <a:custGeom>
            <a:avLst/>
            <a:gdLst/>
            <a:ahLst/>
            <a:cxnLst/>
            <a:rect l="l" t="t" r="r" b="b"/>
            <a:pathLst>
              <a:path w="5334000" h="514350">
                <a:moveTo>
                  <a:pt x="0" y="152400"/>
                </a:moveTo>
                <a:lnTo>
                  <a:pt x="0" y="76200"/>
                </a:lnTo>
                <a:cubicBezTo>
                  <a:pt x="0" y="25400"/>
                  <a:pt x="25400" y="0"/>
                  <a:pt x="76200" y="0"/>
                </a:cubicBezTo>
                <a:lnTo>
                  <a:pt x="5257800" y="0"/>
                </a:lnTo>
                <a:cubicBezTo>
                  <a:pt x="5308600" y="0"/>
                  <a:pt x="5334000" y="25400"/>
                  <a:pt x="5334000" y="76200"/>
                </a:cubicBezTo>
                <a:lnTo>
                  <a:pt x="5334000" y="514350"/>
                </a:lnTo>
                <a:lnTo>
                  <a:pt x="0" y="514350"/>
                </a:lnTo>
                <a:close/>
              </a:path>
            </a:pathLst>
          </a:custGeom>
          <a:solidFill>
            <a:srgbClr val="1E3A5F"/>
          </a:solidFill>
          <a:ln>
            <a:noFill/>
          </a:ln>
        </p:spPr>
      </p:sp>
      <p:sp>
        <p:nvSpPr>
          <p:cNvPr id="33" name="TextBox 33"/>
          <p:cNvSpPr txBox="1"/>
          <p:nvPr/>
        </p:nvSpPr>
        <p:spPr>
          <a:xfrm>
            <a:off x="2025456" y="3028950"/>
            <a:ext cx="2349889"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Trace 规模：存储爆炸</a:t>
            </a:r>
          </a:p>
        </p:txBody>
      </p:sp>
      <p:sp>
        <p:nvSpPr>
          <p:cNvPr id="34" name="TextBox 34"/>
          <p:cNvSpPr txBox="1"/>
          <p:nvPr/>
        </p:nvSpPr>
        <p:spPr>
          <a:xfrm>
            <a:off x="822008" y="3558064"/>
            <a:ext cx="1840986"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BERT-base 一次训练</a:t>
            </a:r>
          </a:p>
        </p:txBody>
      </p:sp>
      <p:sp>
        <p:nvSpPr>
          <p:cNvPr id="35" name="TextBox 35"/>
          <p:cNvSpPr txBox="1"/>
          <p:nvPr/>
        </p:nvSpPr>
        <p:spPr>
          <a:xfrm>
            <a:off x="824865" y="3830002"/>
            <a:ext cx="387581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~10⁵ kernel invocations，产生约 2 TB raw SASS trace</a:t>
            </a:r>
          </a:p>
        </p:txBody>
      </p:sp>
      <p:sp>
        <p:nvSpPr>
          <p:cNvPr id="36" name="Line 36"/>
          <p:cNvSpPr/>
          <p:nvPr/>
        </p:nvSpPr>
        <p:spPr>
          <a:xfrm>
            <a:off x="838200" y="4133850"/>
            <a:ext cx="4800600" cy="9525"/>
          </a:xfrm>
          <a:custGeom>
            <a:avLst/>
            <a:gdLst/>
            <a:ahLst/>
            <a:cxnLst/>
            <a:rect l="l" t="t" r="r" b="b"/>
            <a:pathLst>
              <a:path w="4800600" h="9525">
                <a:moveTo>
                  <a:pt x="0" y="0"/>
                </a:moveTo>
                <a:lnTo>
                  <a:pt x="4800600" y="0"/>
                </a:lnTo>
              </a:path>
            </a:pathLst>
          </a:custGeom>
          <a:noFill/>
          <a:ln w="9525">
            <a:solidFill>
              <a:srgbClr val="E2E8F0"/>
            </a:solidFill>
          </a:ln>
        </p:spPr>
      </p:sp>
      <p:sp>
        <p:nvSpPr>
          <p:cNvPr id="37" name="TextBox 37"/>
          <p:cNvSpPr txBox="1"/>
          <p:nvPr/>
        </p:nvSpPr>
        <p:spPr>
          <a:xfrm>
            <a:off x="822008" y="4262914"/>
            <a:ext cx="2261364"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Llama 3.1 8B single step</a:t>
            </a:r>
          </a:p>
        </p:txBody>
      </p:sp>
      <p:sp>
        <p:nvSpPr>
          <p:cNvPr id="38" name="TextBox 38"/>
          <p:cNvSpPr txBox="1"/>
          <p:nvPr/>
        </p:nvSpPr>
        <p:spPr>
          <a:xfrm>
            <a:off x="824865" y="4534852"/>
            <a:ext cx="3653457"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更多 kernel × 更复杂的访存模式 → 需要更大量级存储</a:t>
            </a:r>
          </a:p>
        </p:txBody>
      </p:sp>
      <p:sp>
        <p:nvSpPr>
          <p:cNvPr id="39" name="Line 39"/>
          <p:cNvSpPr/>
          <p:nvPr/>
        </p:nvSpPr>
        <p:spPr>
          <a:xfrm>
            <a:off x="838200" y="4838700"/>
            <a:ext cx="4800600" cy="9525"/>
          </a:xfrm>
          <a:custGeom>
            <a:avLst/>
            <a:gdLst/>
            <a:ahLst/>
            <a:cxnLst/>
            <a:rect l="l" t="t" r="r" b="b"/>
            <a:pathLst>
              <a:path w="4800600" h="9525">
                <a:moveTo>
                  <a:pt x="0" y="0"/>
                </a:moveTo>
                <a:lnTo>
                  <a:pt x="4800600" y="0"/>
                </a:lnTo>
              </a:path>
            </a:pathLst>
          </a:custGeom>
          <a:noFill/>
          <a:ln w="9525">
            <a:solidFill>
              <a:srgbClr val="E2E8F0"/>
            </a:solidFill>
          </a:ln>
        </p:spPr>
      </p:sp>
      <p:sp>
        <p:nvSpPr>
          <p:cNvPr id="40" name="TextBox 40"/>
          <p:cNvSpPr txBox="1"/>
          <p:nvPr/>
        </p:nvSpPr>
        <p:spPr>
          <a:xfrm>
            <a:off x="825818" y="4923949"/>
            <a:ext cx="2488263"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存储 + 传输 = 实验基础设施的沉重负担</a:t>
            </a:r>
          </a:p>
        </p:txBody>
      </p:sp>
      <p:sp>
        <p:nvSpPr>
          <p:cNvPr id="41" name="Rectangle 41"/>
          <p:cNvSpPr/>
          <p:nvPr/>
        </p:nvSpPr>
        <p:spPr>
          <a:xfrm>
            <a:off x="6324600" y="2933700"/>
            <a:ext cx="5334000" cy="2133600"/>
          </a:xfrm>
          <a:prstGeom prst="roundRect">
            <a:avLst>
              <a:gd name="adj" fmla="val 3571"/>
            </a:avLst>
          </a:prstGeom>
          <a:solidFill>
            <a:srgbClr val="FFFFFF"/>
          </a:solidFill>
          <a:ln w="9525">
            <a:solidFill>
              <a:srgbClr val="CBD5E1"/>
            </a:solidFill>
          </a:ln>
        </p:spPr>
      </p:sp>
      <p:sp>
        <p:nvSpPr>
          <p:cNvPr id="42" name="Freeform 42"/>
          <p:cNvSpPr/>
          <p:nvPr/>
        </p:nvSpPr>
        <p:spPr>
          <a:xfrm>
            <a:off x="6324600" y="2857500"/>
            <a:ext cx="5334000" cy="514350"/>
          </a:xfrm>
          <a:custGeom>
            <a:avLst/>
            <a:gdLst/>
            <a:ahLst/>
            <a:cxnLst/>
            <a:rect l="l" t="t" r="r" b="b"/>
            <a:pathLst>
              <a:path w="5334000" h="514350">
                <a:moveTo>
                  <a:pt x="0" y="152400"/>
                </a:moveTo>
                <a:lnTo>
                  <a:pt x="0" y="76200"/>
                </a:lnTo>
                <a:cubicBezTo>
                  <a:pt x="0" y="25400"/>
                  <a:pt x="25400" y="0"/>
                  <a:pt x="76200" y="0"/>
                </a:cubicBezTo>
                <a:lnTo>
                  <a:pt x="5257800" y="0"/>
                </a:lnTo>
                <a:cubicBezTo>
                  <a:pt x="5308600" y="0"/>
                  <a:pt x="5334000" y="25400"/>
                  <a:pt x="5334000" y="76200"/>
                </a:cubicBezTo>
                <a:lnTo>
                  <a:pt x="5334000" y="514350"/>
                </a:lnTo>
                <a:lnTo>
                  <a:pt x="0" y="514350"/>
                </a:lnTo>
                <a:close/>
              </a:path>
            </a:pathLst>
          </a:custGeom>
          <a:solidFill>
            <a:srgbClr val="D97706"/>
          </a:solidFill>
          <a:ln>
            <a:noFill/>
          </a:ln>
        </p:spPr>
      </p:sp>
      <p:sp>
        <p:nvSpPr>
          <p:cNvPr id="43" name="TextBox 43"/>
          <p:cNvSpPr txBox="1"/>
          <p:nvPr/>
        </p:nvSpPr>
        <p:spPr>
          <a:xfrm>
            <a:off x="7707392" y="3028950"/>
            <a:ext cx="25684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模拟代价：时间不可承受</a:t>
            </a:r>
          </a:p>
        </p:txBody>
      </p:sp>
      <p:sp>
        <p:nvSpPr>
          <p:cNvPr id="44" name="TextBox 44"/>
          <p:cNvSpPr txBox="1"/>
          <p:nvPr/>
        </p:nvSpPr>
        <p:spPr>
          <a:xfrm>
            <a:off x="6613208" y="3558064"/>
            <a:ext cx="2046287"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Accel-Sim 单次 replay</a:t>
            </a:r>
          </a:p>
        </p:txBody>
      </p:sp>
      <p:sp>
        <p:nvSpPr>
          <p:cNvPr id="45" name="TextBox 45"/>
          <p:cNvSpPr txBox="1"/>
          <p:nvPr/>
        </p:nvSpPr>
        <p:spPr>
          <a:xfrm>
            <a:off x="6616065" y="3830002"/>
            <a:ext cx="3553777"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93% 时间花在 SM 逐周期执行上 → 一次数小时至数天</a:t>
            </a:r>
          </a:p>
        </p:txBody>
      </p:sp>
      <p:sp>
        <p:nvSpPr>
          <p:cNvPr id="46" name="Line 46"/>
          <p:cNvSpPr/>
          <p:nvPr/>
        </p:nvSpPr>
        <p:spPr>
          <a:xfrm>
            <a:off x="6629400" y="4133850"/>
            <a:ext cx="4800600" cy="9525"/>
          </a:xfrm>
          <a:custGeom>
            <a:avLst/>
            <a:gdLst/>
            <a:ahLst/>
            <a:cxnLst/>
            <a:rect l="l" t="t" r="r" b="b"/>
            <a:pathLst>
              <a:path w="4800600" h="9525">
                <a:moveTo>
                  <a:pt x="0" y="0"/>
                </a:moveTo>
                <a:lnTo>
                  <a:pt x="4800600" y="0"/>
                </a:lnTo>
              </a:path>
            </a:pathLst>
          </a:custGeom>
          <a:noFill/>
          <a:ln w="9525">
            <a:solidFill>
              <a:srgbClr val="E2E8F0"/>
            </a:solidFill>
          </a:ln>
        </p:spPr>
      </p:sp>
      <p:sp>
        <p:nvSpPr>
          <p:cNvPr id="47" name="TextBox 47"/>
          <p:cNvSpPr txBox="1"/>
          <p:nvPr/>
        </p:nvSpPr>
        <p:spPr>
          <a:xfrm>
            <a:off x="6613208" y="4262914"/>
            <a:ext cx="1205532"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设计空间探索</a:t>
            </a:r>
          </a:p>
        </p:txBody>
      </p:sp>
      <p:sp>
        <p:nvSpPr>
          <p:cNvPr id="48" name="TextBox 48"/>
          <p:cNvSpPr txBox="1"/>
          <p:nvPr/>
        </p:nvSpPr>
        <p:spPr>
          <a:xfrm>
            <a:off x="6616065" y="4534852"/>
            <a:ext cx="391415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10 个 knob × 5 个 workload = 50 次 replay → 数周至数月</a:t>
            </a:r>
          </a:p>
        </p:txBody>
      </p:sp>
      <p:sp>
        <p:nvSpPr>
          <p:cNvPr id="49" name="Line 49"/>
          <p:cNvSpPr/>
          <p:nvPr/>
        </p:nvSpPr>
        <p:spPr>
          <a:xfrm>
            <a:off x="6629400" y="4838700"/>
            <a:ext cx="4800600" cy="9525"/>
          </a:xfrm>
          <a:custGeom>
            <a:avLst/>
            <a:gdLst/>
            <a:ahLst/>
            <a:cxnLst/>
            <a:rect l="l" t="t" r="r" b="b"/>
            <a:pathLst>
              <a:path w="4800600" h="9525">
                <a:moveTo>
                  <a:pt x="0" y="0"/>
                </a:moveTo>
                <a:lnTo>
                  <a:pt x="4800600" y="0"/>
                </a:lnTo>
              </a:path>
            </a:pathLst>
          </a:custGeom>
          <a:noFill/>
          <a:ln w="9525">
            <a:solidFill>
              <a:srgbClr val="E2E8F0"/>
            </a:solidFill>
          </a:ln>
        </p:spPr>
      </p:sp>
      <p:sp>
        <p:nvSpPr>
          <p:cNvPr id="50" name="TextBox 50"/>
          <p:cNvSpPr txBox="1"/>
          <p:nvPr/>
        </p:nvSpPr>
        <p:spPr>
          <a:xfrm>
            <a:off x="6617018" y="4923949"/>
            <a:ext cx="3271457"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每次改动一个 knob 都需要全部重跑，迭代不可持续</a:t>
            </a:r>
          </a:p>
        </p:txBody>
      </p:sp>
      <p:sp>
        <p:nvSpPr>
          <p:cNvPr id="51" name="Rectangle 51"/>
          <p:cNvSpPr/>
          <p:nvPr/>
        </p:nvSpPr>
        <p:spPr>
          <a:xfrm>
            <a:off x="533400" y="5334000"/>
            <a:ext cx="11125200" cy="533400"/>
          </a:xfrm>
          <a:prstGeom prst="roundRect">
            <a:avLst>
              <a:gd name="adj" fmla="val 14286"/>
            </a:avLst>
          </a:prstGeom>
          <a:solidFill>
            <a:srgbClr val="FEF3C7"/>
          </a:solidFill>
          <a:ln w="9525">
            <a:solidFill>
              <a:srgbClr val="FCD34D"/>
            </a:solidFill>
          </a:ln>
        </p:spPr>
      </p:sp>
      <p:sp>
        <p:nvSpPr>
          <p:cNvPr id="52" name="TextBox 52"/>
          <p:cNvSpPr txBox="1"/>
          <p:nvPr/>
        </p:nvSpPr>
        <p:spPr>
          <a:xfrm>
            <a:off x="5688759" y="5424964"/>
            <a:ext cx="814483" cy="259080"/>
          </a:xfrm>
          <a:prstGeom prst="rect">
            <a:avLst/>
          </a:prstGeom>
          <a:noFill/>
          <a:ln>
            <a:noFill/>
          </a:ln>
        </p:spPr>
        <p:txBody>
          <a:bodyPr wrap="none" lIns="0" tIns="0" rIns="0" bIns="0" anchor="t" anchorCtr="0">
            <a:spAutoFit/>
          </a:bodyPr>
          <a:lstStyle/>
          <a:p>
            <a:pPr algn="ctr"/>
            <a:r>
              <a:rPr lang="zh-CN" sz="1275" b="1" dirty="0">
                <a:solidFill>
                  <a:srgbClr val="92400E"/>
                </a:solidFill>
                <a:latin typeface="Arial"/>
                <a:ea typeface="Microsoft YaHei"/>
                <a:cs typeface="Arial"/>
              </a:rPr>
              <a:t>核心矛盾</a:t>
            </a:r>
          </a:p>
        </p:txBody>
      </p:sp>
      <p:sp>
        <p:nvSpPr>
          <p:cNvPr id="53" name="TextBox 53"/>
          <p:cNvSpPr txBox="1"/>
          <p:nvPr/>
        </p:nvSpPr>
        <p:spPr>
          <a:xfrm>
            <a:off x="1863150" y="5641181"/>
            <a:ext cx="8465701" cy="228600"/>
          </a:xfrm>
          <a:prstGeom prst="rect">
            <a:avLst/>
          </a:prstGeom>
          <a:noFill/>
          <a:ln>
            <a:noFill/>
          </a:ln>
        </p:spPr>
        <p:txBody>
          <a:bodyPr wrap="none" lIns="0" tIns="0" rIns="0" bIns="0" anchor="t" anchorCtr="0">
            <a:spAutoFit/>
          </a:bodyPr>
          <a:lstStyle/>
          <a:p>
            <a:pPr algn="ctr"/>
            <a:r>
              <a:rPr lang="zh-CN" sz="1125" dirty="0">
                <a:solidFill>
                  <a:srgbClr val="92400E"/>
                </a:solidFill>
                <a:latin typeface="Arial"/>
                <a:ea typeface="Microsoft YaHei"/>
                <a:cs typeface="Arial"/>
              </a:rPr>
              <a:t>trace 本身太庞大 → 存储贵、传输慢、回放更慢 → 领域需要一种不丢失机制信息的前提下大幅减少模拟数据量的方法</a:t>
            </a:r>
          </a:p>
        </p:txBody>
      </p:sp>
      <p:sp>
        <p:nvSpPr>
          <p:cNvPr id="54" name="TextBox 54"/>
          <p:cNvSpPr txBox="1"/>
          <p:nvPr/>
        </p:nvSpPr>
        <p:spPr>
          <a:xfrm>
            <a:off x="520065" y="6363652"/>
            <a:ext cx="3063049"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problem_trace_bottleneck</a:t>
            </a:r>
          </a:p>
        </p:txBody>
      </p:sp>
      <p:sp>
        <p:nvSpPr>
          <p:cNvPr id="55" name="TextBox 55"/>
          <p:cNvSpPr txBox="1"/>
          <p:nvPr/>
        </p:nvSpPr>
        <p:spPr>
          <a:xfrm>
            <a:off x="11274600" y="638794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04 / 21</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620769"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EXISTING APPROACHES</a:t>
            </a:r>
          </a:p>
        </p:txBody>
      </p:sp>
      <p:sp>
        <p:nvSpPr>
          <p:cNvPr id="4" name="TextBox 4"/>
          <p:cNvSpPr txBox="1"/>
          <p:nvPr/>
        </p:nvSpPr>
        <p:spPr>
          <a:xfrm>
            <a:off x="502920" y="845820"/>
            <a:ext cx="6391351"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Microbenchmark：绕过 Trace 的路径</a:t>
            </a:r>
          </a:p>
        </p:txBody>
      </p:sp>
      <p:sp>
        <p:nvSpPr>
          <p:cNvPr id="5" name="TextBox 5"/>
          <p:cNvSpPr txBox="1"/>
          <p:nvPr/>
        </p:nvSpPr>
        <p:spPr>
          <a:xfrm>
            <a:off x="515302" y="1274921"/>
            <a:ext cx="9901142"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既然完整 trace 太贵，学术界的主流策略是用微型测试程序直接测量硬件，避免采集和回放大规模 trace。</a:t>
            </a:r>
          </a:p>
        </p:txBody>
      </p:sp>
      <p:sp>
        <p:nvSpPr>
          <p:cNvPr id="6" name="Rectangle 6"/>
          <p:cNvSpPr/>
          <p:nvPr/>
        </p:nvSpPr>
        <p:spPr>
          <a:xfrm>
            <a:off x="533400" y="1752600"/>
            <a:ext cx="5524500" cy="3848100"/>
          </a:xfrm>
          <a:prstGeom prst="roundRect">
            <a:avLst>
              <a:gd name="adj" fmla="val 1980"/>
            </a:avLst>
          </a:prstGeom>
          <a:solidFill>
            <a:srgbClr val="FFFFFF"/>
          </a:solidFill>
          <a:ln w="9525">
            <a:solidFill>
              <a:srgbClr val="CBD5E1"/>
            </a:solidFill>
          </a:ln>
        </p:spPr>
      </p:sp>
      <p:sp>
        <p:nvSpPr>
          <p:cNvPr id="7" name="Freeform 7"/>
          <p:cNvSpPr/>
          <p:nvPr/>
        </p:nvSpPr>
        <p:spPr>
          <a:xfrm>
            <a:off x="533400" y="1676400"/>
            <a:ext cx="5524500" cy="514350"/>
          </a:xfrm>
          <a:custGeom>
            <a:avLst/>
            <a:gdLst/>
            <a:ahLst/>
            <a:cxnLst/>
            <a:rect l="l" t="t" r="r" b="b"/>
            <a:pathLst>
              <a:path w="5524500" h="514350">
                <a:moveTo>
                  <a:pt x="0" y="152400"/>
                </a:moveTo>
                <a:lnTo>
                  <a:pt x="0" y="76200"/>
                </a:lnTo>
                <a:cubicBezTo>
                  <a:pt x="0" y="25400"/>
                  <a:pt x="25400" y="0"/>
                  <a:pt x="76200" y="0"/>
                </a:cubicBezTo>
                <a:lnTo>
                  <a:pt x="5448300" y="0"/>
                </a:lnTo>
                <a:cubicBezTo>
                  <a:pt x="5499100" y="0"/>
                  <a:pt x="5524500" y="25400"/>
                  <a:pt x="5524500" y="76200"/>
                </a:cubicBezTo>
                <a:lnTo>
                  <a:pt x="5524500" y="514350"/>
                </a:lnTo>
                <a:lnTo>
                  <a:pt x="0" y="514350"/>
                </a:lnTo>
                <a:close/>
              </a:path>
            </a:pathLst>
          </a:custGeom>
          <a:solidFill>
            <a:srgbClr val="1E3A5F"/>
          </a:solidFill>
          <a:ln>
            <a:noFill/>
          </a:ln>
        </p:spPr>
      </p:sp>
      <p:sp>
        <p:nvSpPr>
          <p:cNvPr id="8" name="TextBox 8"/>
          <p:cNvSpPr txBox="1"/>
          <p:nvPr/>
        </p:nvSpPr>
        <p:spPr>
          <a:xfrm>
            <a:off x="1309854" y="1847850"/>
            <a:ext cx="397159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方法本质：用微型程序"探针"测量硬件</a:t>
            </a:r>
          </a:p>
        </p:txBody>
      </p:sp>
      <p:sp>
        <p:nvSpPr>
          <p:cNvPr id="9" name="TextBox 9"/>
          <p:cNvSpPr txBox="1"/>
          <p:nvPr/>
        </p:nvSpPr>
        <p:spPr>
          <a:xfrm>
            <a:off x="746760" y="2366010"/>
            <a:ext cx="766572"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Arial"/>
                <a:ea typeface="Microsoft YaHei"/>
                <a:cs typeface="Arial"/>
              </a:rPr>
              <a:t>核心思路</a:t>
            </a:r>
          </a:p>
        </p:txBody>
      </p:sp>
      <p:sp>
        <p:nvSpPr>
          <p:cNvPr id="10" name="TextBox 10"/>
          <p:cNvSpPr txBox="1"/>
          <p:nvPr/>
        </p:nvSpPr>
        <p:spPr>
          <a:xfrm>
            <a:off x="748665" y="2610802"/>
            <a:ext cx="406750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不运行真实应用，而是写最小 PTX/CUDA kernel 去精准压测</a:t>
            </a:r>
          </a:p>
        </p:txBody>
      </p:sp>
      <p:sp>
        <p:nvSpPr>
          <p:cNvPr id="11" name="TextBox 11"/>
          <p:cNvSpPr txBox="1"/>
          <p:nvPr/>
        </p:nvSpPr>
        <p:spPr>
          <a:xfrm>
            <a:off x="748665" y="2801302"/>
            <a:ext cx="294036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某一个硬件单元，测量其真实延迟和吞吐。</a:t>
            </a:r>
          </a:p>
        </p:txBody>
      </p:sp>
      <p:sp>
        <p:nvSpPr>
          <p:cNvPr id="12" name="Line 12"/>
          <p:cNvSpPr/>
          <p:nvPr/>
        </p:nvSpPr>
        <p:spPr>
          <a:xfrm>
            <a:off x="762000" y="3086100"/>
            <a:ext cx="5067300" cy="9525"/>
          </a:xfrm>
          <a:custGeom>
            <a:avLst/>
            <a:gdLst/>
            <a:ahLst/>
            <a:cxnLst/>
            <a:rect l="l" t="t" r="r" b="b"/>
            <a:pathLst>
              <a:path w="5067300" h="9525">
                <a:moveTo>
                  <a:pt x="0" y="0"/>
                </a:moveTo>
                <a:lnTo>
                  <a:pt x="5067300" y="0"/>
                </a:lnTo>
              </a:path>
            </a:pathLst>
          </a:custGeom>
          <a:noFill/>
          <a:ln w="9525">
            <a:solidFill>
              <a:srgbClr val="E2E8F0"/>
            </a:solidFill>
          </a:ln>
        </p:spPr>
      </p:sp>
      <p:sp>
        <p:nvSpPr>
          <p:cNvPr id="13" name="TextBox 13"/>
          <p:cNvSpPr txBox="1"/>
          <p:nvPr/>
        </p:nvSpPr>
        <p:spPr>
          <a:xfrm>
            <a:off x="746760" y="3261360"/>
            <a:ext cx="1134618"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Arial"/>
                <a:ea typeface="Microsoft YaHei"/>
                <a:cs typeface="Arial"/>
              </a:rPr>
              <a:t>三个关键技术</a:t>
            </a:r>
          </a:p>
        </p:txBody>
      </p:sp>
      <p:sp>
        <p:nvSpPr>
          <p:cNvPr id="14" name="Rectangle 14"/>
          <p:cNvSpPr/>
          <p:nvPr/>
        </p:nvSpPr>
        <p:spPr>
          <a:xfrm>
            <a:off x="762000" y="3543300"/>
            <a:ext cx="5048250" cy="266700"/>
          </a:xfrm>
          <a:prstGeom prst="roundRect">
            <a:avLst>
              <a:gd name="adj" fmla="val 14286"/>
            </a:avLst>
          </a:prstGeom>
          <a:solidFill>
            <a:srgbClr val="F1F5F9"/>
          </a:solidFill>
          <a:ln>
            <a:noFill/>
          </a:ln>
        </p:spPr>
      </p:sp>
      <p:sp>
        <p:nvSpPr>
          <p:cNvPr id="15" name="TextBox 15"/>
          <p:cNvSpPr txBox="1"/>
          <p:nvPr/>
        </p:nvSpPr>
        <p:spPr>
          <a:xfrm>
            <a:off x="901065" y="3620452"/>
            <a:ext cx="1797891" cy="213360"/>
          </a:xfrm>
          <a:prstGeom prst="rect">
            <a:avLst/>
          </a:prstGeom>
          <a:noFill/>
          <a:ln>
            <a:noFill/>
          </a:ln>
        </p:spPr>
        <p:txBody>
          <a:bodyPr wrap="none" lIns="0" tIns="0" rIns="0" bIns="0" anchor="t" anchorCtr="0">
            <a:spAutoFit/>
          </a:bodyPr>
          <a:lstStyle/>
          <a:p>
            <a:pPr algn="l"/>
            <a:r>
              <a:rPr lang="zh-CN" sz="1050" b="1" dirty="0">
                <a:solidFill>
                  <a:srgbClr val="111827"/>
                </a:solidFill>
                <a:latin typeface="Arial"/>
                <a:ea typeface="Microsoft YaHei"/>
                <a:cs typeface="Arial"/>
              </a:rPr>
              <a:t>1. P-chase（指针追踪）</a:t>
            </a:r>
          </a:p>
        </p:txBody>
      </p:sp>
      <p:sp>
        <p:nvSpPr>
          <p:cNvPr id="16" name="TextBox 16"/>
          <p:cNvSpPr txBox="1"/>
          <p:nvPr/>
        </p:nvSpPr>
        <p:spPr>
          <a:xfrm>
            <a:off x="2559368" y="3628549"/>
            <a:ext cx="3919371"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随机步长遍历数组，通过延迟跳变定位各级 cache 大小和延迟</a:t>
            </a:r>
          </a:p>
        </p:txBody>
      </p:sp>
      <p:sp>
        <p:nvSpPr>
          <p:cNvPr id="17" name="Rectangle 17"/>
          <p:cNvSpPr/>
          <p:nvPr/>
        </p:nvSpPr>
        <p:spPr>
          <a:xfrm>
            <a:off x="762000" y="3867150"/>
            <a:ext cx="5048250" cy="266700"/>
          </a:xfrm>
          <a:prstGeom prst="roundRect">
            <a:avLst>
              <a:gd name="adj" fmla="val 14286"/>
            </a:avLst>
          </a:prstGeom>
          <a:solidFill>
            <a:srgbClr val="F1F5F9"/>
          </a:solidFill>
          <a:ln>
            <a:noFill/>
          </a:ln>
        </p:spPr>
      </p:sp>
      <p:sp>
        <p:nvSpPr>
          <p:cNvPr id="18" name="TextBox 18"/>
          <p:cNvSpPr txBox="1"/>
          <p:nvPr/>
        </p:nvSpPr>
        <p:spPr>
          <a:xfrm>
            <a:off x="901065" y="3944302"/>
            <a:ext cx="1290678" cy="213360"/>
          </a:xfrm>
          <a:prstGeom prst="rect">
            <a:avLst/>
          </a:prstGeom>
          <a:noFill/>
          <a:ln>
            <a:noFill/>
          </a:ln>
        </p:spPr>
        <p:txBody>
          <a:bodyPr wrap="none" lIns="0" tIns="0" rIns="0" bIns="0" anchor="t" anchorCtr="0">
            <a:spAutoFit/>
          </a:bodyPr>
          <a:lstStyle/>
          <a:p>
            <a:pPr algn="l"/>
            <a:r>
              <a:rPr lang="zh-CN" sz="1050" b="1" dirty="0">
                <a:solidFill>
                  <a:srgbClr val="111827"/>
                </a:solidFill>
                <a:latin typeface="Arial"/>
                <a:ea typeface="Microsoft YaHei"/>
                <a:cs typeface="Arial"/>
              </a:rPr>
              <a:t>2. %clock64 测量</a:t>
            </a:r>
          </a:p>
        </p:txBody>
      </p:sp>
      <p:sp>
        <p:nvSpPr>
          <p:cNvPr id="19" name="TextBox 19"/>
          <p:cNvSpPr txBox="1"/>
          <p:nvPr/>
        </p:nvSpPr>
        <p:spPr>
          <a:xfrm>
            <a:off x="2559368" y="3952399"/>
            <a:ext cx="3905131"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在 PTX 中内嵌时钟寄存器读取，精确测量单条指令的依赖延迟</a:t>
            </a:r>
          </a:p>
        </p:txBody>
      </p:sp>
      <p:sp>
        <p:nvSpPr>
          <p:cNvPr id="20" name="Rectangle 20"/>
          <p:cNvSpPr/>
          <p:nvPr/>
        </p:nvSpPr>
        <p:spPr>
          <a:xfrm>
            <a:off x="762000" y="4191000"/>
            <a:ext cx="5048250" cy="266700"/>
          </a:xfrm>
          <a:prstGeom prst="roundRect">
            <a:avLst>
              <a:gd name="adj" fmla="val 14286"/>
            </a:avLst>
          </a:prstGeom>
          <a:solidFill>
            <a:srgbClr val="F1F5F9"/>
          </a:solidFill>
          <a:ln>
            <a:noFill/>
          </a:ln>
        </p:spPr>
      </p:sp>
      <p:sp>
        <p:nvSpPr>
          <p:cNvPr id="21" name="TextBox 21"/>
          <p:cNvSpPr txBox="1"/>
          <p:nvPr/>
        </p:nvSpPr>
        <p:spPr>
          <a:xfrm>
            <a:off x="901065" y="4268152"/>
            <a:ext cx="1805942" cy="213360"/>
          </a:xfrm>
          <a:prstGeom prst="rect">
            <a:avLst/>
          </a:prstGeom>
          <a:noFill/>
          <a:ln>
            <a:noFill/>
          </a:ln>
        </p:spPr>
        <p:txBody>
          <a:bodyPr wrap="none" lIns="0" tIns="0" rIns="0" bIns="0" anchor="t" anchorCtr="0">
            <a:spAutoFit/>
          </a:bodyPr>
          <a:lstStyle/>
          <a:p>
            <a:pPr algn="l"/>
            <a:r>
              <a:rPr lang="zh-CN" sz="1050" b="1" dirty="0">
                <a:solidFill>
                  <a:srgbClr val="111827"/>
                </a:solidFill>
                <a:latin typeface="Arial"/>
                <a:ea typeface="Microsoft YaHei"/>
                <a:cs typeface="Arial"/>
              </a:rPr>
              <a:t>3. 参数扫描 + SASS 验证</a:t>
            </a:r>
          </a:p>
        </p:txBody>
      </p:sp>
      <p:sp>
        <p:nvSpPr>
          <p:cNvPr id="22" name="TextBox 22"/>
          <p:cNvSpPr txBox="1"/>
          <p:nvPr/>
        </p:nvSpPr>
        <p:spPr>
          <a:xfrm>
            <a:off x="2559368" y="4276249"/>
            <a:ext cx="4125849"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变动 stride/thread count/指令混合，反汇编验证编译器未优化</a:t>
            </a:r>
          </a:p>
        </p:txBody>
      </p:sp>
      <p:sp>
        <p:nvSpPr>
          <p:cNvPr id="23" name="Line 23"/>
          <p:cNvSpPr/>
          <p:nvPr/>
        </p:nvSpPr>
        <p:spPr>
          <a:xfrm>
            <a:off x="762000" y="4591050"/>
            <a:ext cx="5067300" cy="9525"/>
          </a:xfrm>
          <a:custGeom>
            <a:avLst/>
            <a:gdLst/>
            <a:ahLst/>
            <a:cxnLst/>
            <a:rect l="l" t="t" r="r" b="b"/>
            <a:pathLst>
              <a:path w="5067300" h="9525">
                <a:moveTo>
                  <a:pt x="0" y="0"/>
                </a:moveTo>
                <a:lnTo>
                  <a:pt x="5067300" y="0"/>
                </a:lnTo>
              </a:path>
            </a:pathLst>
          </a:custGeom>
          <a:noFill/>
          <a:ln w="9525">
            <a:solidFill>
              <a:srgbClr val="E2E8F0"/>
            </a:solidFill>
          </a:ln>
        </p:spPr>
      </p:sp>
      <p:sp>
        <p:nvSpPr>
          <p:cNvPr id="24" name="TextBox 24"/>
          <p:cNvSpPr txBox="1"/>
          <p:nvPr/>
        </p:nvSpPr>
        <p:spPr>
          <a:xfrm>
            <a:off x="746760" y="4766310"/>
            <a:ext cx="766572"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Arial"/>
                <a:ea typeface="Microsoft YaHei"/>
                <a:cs typeface="Arial"/>
              </a:rPr>
              <a:t>工作流程</a:t>
            </a:r>
          </a:p>
        </p:txBody>
      </p:sp>
      <p:sp>
        <p:nvSpPr>
          <p:cNvPr id="25" name="Rectangle 25"/>
          <p:cNvSpPr/>
          <p:nvPr/>
        </p:nvSpPr>
        <p:spPr>
          <a:xfrm>
            <a:off x="762000" y="5010150"/>
            <a:ext cx="1524000" cy="381000"/>
          </a:xfrm>
          <a:prstGeom prst="roundRect">
            <a:avLst>
              <a:gd name="adj" fmla="val 15000"/>
            </a:avLst>
          </a:prstGeom>
          <a:solidFill>
            <a:srgbClr val="DBEAFE"/>
          </a:solidFill>
          <a:ln>
            <a:noFill/>
          </a:ln>
        </p:spPr>
      </p:sp>
      <p:sp>
        <p:nvSpPr>
          <p:cNvPr id="26" name="TextBox 26"/>
          <p:cNvSpPr txBox="1"/>
          <p:nvPr/>
        </p:nvSpPr>
        <p:spPr>
          <a:xfrm>
            <a:off x="887377" y="5143024"/>
            <a:ext cx="1273246" cy="198120"/>
          </a:xfrm>
          <a:prstGeom prst="rect">
            <a:avLst/>
          </a:prstGeom>
          <a:noFill/>
          <a:ln>
            <a:noFill/>
          </a:ln>
        </p:spPr>
        <p:txBody>
          <a:bodyPr wrap="none" lIns="0" tIns="0" rIns="0" bIns="0" anchor="t" anchorCtr="0">
            <a:spAutoFit/>
          </a:bodyPr>
          <a:lstStyle/>
          <a:p>
            <a:pPr algn="ctr"/>
            <a:r>
              <a:rPr lang="zh-CN" sz="975" b="1" dirty="0">
                <a:solidFill>
                  <a:srgbClr val="1E3A5F"/>
                </a:solidFill>
                <a:latin typeface="Arial"/>
                <a:ea typeface="Microsoft YaHei"/>
                <a:cs typeface="Arial"/>
              </a:rPr>
              <a:t>写最小测试 kernel</a:t>
            </a:r>
          </a:p>
        </p:txBody>
      </p:sp>
      <p:sp>
        <p:nvSpPr>
          <p:cNvPr id="27" name="TextBox 27"/>
          <p:cNvSpPr txBox="1"/>
          <p:nvPr/>
        </p:nvSpPr>
        <p:spPr>
          <a:xfrm>
            <a:off x="2537460" y="5118735"/>
            <a:ext cx="126873"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a:t>
            </a:r>
          </a:p>
        </p:txBody>
      </p:sp>
      <p:sp>
        <p:nvSpPr>
          <p:cNvPr id="28" name="Rectangle 28"/>
          <p:cNvSpPr/>
          <p:nvPr/>
        </p:nvSpPr>
        <p:spPr>
          <a:xfrm>
            <a:off x="2781300" y="5010150"/>
            <a:ext cx="1524000" cy="381000"/>
          </a:xfrm>
          <a:prstGeom prst="roundRect">
            <a:avLst>
              <a:gd name="adj" fmla="val 15000"/>
            </a:avLst>
          </a:prstGeom>
          <a:solidFill>
            <a:srgbClr val="DBEAFE"/>
          </a:solidFill>
          <a:ln>
            <a:noFill/>
          </a:ln>
        </p:spPr>
      </p:sp>
      <p:sp>
        <p:nvSpPr>
          <p:cNvPr id="29" name="TextBox 29"/>
          <p:cNvSpPr txBox="1"/>
          <p:nvPr/>
        </p:nvSpPr>
        <p:spPr>
          <a:xfrm>
            <a:off x="2988912" y="5143024"/>
            <a:ext cx="1108775" cy="198120"/>
          </a:xfrm>
          <a:prstGeom prst="rect">
            <a:avLst/>
          </a:prstGeom>
          <a:noFill/>
          <a:ln>
            <a:noFill/>
          </a:ln>
        </p:spPr>
        <p:txBody>
          <a:bodyPr wrap="none" lIns="0" tIns="0" rIns="0" bIns="0" anchor="t" anchorCtr="0">
            <a:spAutoFit/>
          </a:bodyPr>
          <a:lstStyle/>
          <a:p>
            <a:pPr algn="ctr"/>
            <a:r>
              <a:rPr lang="zh-CN" sz="975" b="1" dirty="0">
                <a:solidFill>
                  <a:srgbClr val="1E3A5F"/>
                </a:solidFill>
                <a:latin typeface="Arial"/>
                <a:ea typeface="Microsoft YaHei"/>
                <a:cs typeface="Arial"/>
              </a:rPr>
              <a:t>在真实 GPU 上跑</a:t>
            </a:r>
          </a:p>
        </p:txBody>
      </p:sp>
      <p:sp>
        <p:nvSpPr>
          <p:cNvPr id="30" name="TextBox 30"/>
          <p:cNvSpPr txBox="1"/>
          <p:nvPr/>
        </p:nvSpPr>
        <p:spPr>
          <a:xfrm>
            <a:off x="4556760" y="5118735"/>
            <a:ext cx="126873"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a:t>
            </a:r>
          </a:p>
        </p:txBody>
      </p:sp>
      <p:sp>
        <p:nvSpPr>
          <p:cNvPr id="31" name="Rectangle 31"/>
          <p:cNvSpPr/>
          <p:nvPr/>
        </p:nvSpPr>
        <p:spPr>
          <a:xfrm>
            <a:off x="4800600" y="5010150"/>
            <a:ext cx="1028700" cy="381000"/>
          </a:xfrm>
          <a:prstGeom prst="roundRect">
            <a:avLst>
              <a:gd name="adj" fmla="val 15000"/>
            </a:avLst>
          </a:prstGeom>
          <a:solidFill>
            <a:srgbClr val="DBEAFE"/>
          </a:solidFill>
          <a:ln>
            <a:noFill/>
          </a:ln>
        </p:spPr>
      </p:sp>
      <p:sp>
        <p:nvSpPr>
          <p:cNvPr id="32" name="TextBox 32"/>
          <p:cNvSpPr txBox="1"/>
          <p:nvPr/>
        </p:nvSpPr>
        <p:spPr>
          <a:xfrm>
            <a:off x="4854011" y="5143024"/>
            <a:ext cx="921877" cy="198120"/>
          </a:xfrm>
          <a:prstGeom prst="rect">
            <a:avLst/>
          </a:prstGeom>
          <a:noFill/>
          <a:ln>
            <a:noFill/>
          </a:ln>
        </p:spPr>
        <p:txBody>
          <a:bodyPr wrap="none" lIns="0" tIns="0" rIns="0" bIns="0" anchor="t" anchorCtr="0">
            <a:spAutoFit/>
          </a:bodyPr>
          <a:lstStyle/>
          <a:p>
            <a:pPr algn="ctr"/>
            <a:r>
              <a:rPr lang="zh-CN" sz="975" b="1" dirty="0">
                <a:solidFill>
                  <a:srgbClr val="1E3A5F"/>
                </a:solidFill>
                <a:latin typeface="Arial"/>
                <a:ea typeface="Microsoft YaHei"/>
                <a:cs typeface="Arial"/>
              </a:rPr>
              <a:t>得到硬件参数</a:t>
            </a:r>
          </a:p>
        </p:txBody>
      </p:sp>
      <p:sp>
        <p:nvSpPr>
          <p:cNvPr id="33" name="Rectangle 33"/>
          <p:cNvSpPr/>
          <p:nvPr/>
        </p:nvSpPr>
        <p:spPr>
          <a:xfrm>
            <a:off x="6324600" y="1752600"/>
            <a:ext cx="5334000" cy="3848100"/>
          </a:xfrm>
          <a:prstGeom prst="roundRect">
            <a:avLst>
              <a:gd name="adj" fmla="val 1980"/>
            </a:avLst>
          </a:prstGeom>
          <a:solidFill>
            <a:srgbClr val="FFFFFF"/>
          </a:solidFill>
          <a:ln w="9525">
            <a:solidFill>
              <a:srgbClr val="CBD5E1"/>
            </a:solidFill>
          </a:ln>
        </p:spPr>
      </p:sp>
      <p:sp>
        <p:nvSpPr>
          <p:cNvPr id="34" name="Freeform 34"/>
          <p:cNvSpPr/>
          <p:nvPr/>
        </p:nvSpPr>
        <p:spPr>
          <a:xfrm>
            <a:off x="6324600" y="1676400"/>
            <a:ext cx="5334000" cy="514350"/>
          </a:xfrm>
          <a:custGeom>
            <a:avLst/>
            <a:gdLst/>
            <a:ahLst/>
            <a:cxnLst/>
            <a:rect l="l" t="t" r="r" b="b"/>
            <a:pathLst>
              <a:path w="5334000" h="514350">
                <a:moveTo>
                  <a:pt x="0" y="152400"/>
                </a:moveTo>
                <a:lnTo>
                  <a:pt x="0" y="76200"/>
                </a:lnTo>
                <a:cubicBezTo>
                  <a:pt x="0" y="25400"/>
                  <a:pt x="25400" y="0"/>
                  <a:pt x="76200" y="0"/>
                </a:cubicBezTo>
                <a:lnTo>
                  <a:pt x="5257800" y="0"/>
                </a:lnTo>
                <a:cubicBezTo>
                  <a:pt x="5308600" y="0"/>
                  <a:pt x="5334000" y="25400"/>
                  <a:pt x="5334000" y="76200"/>
                </a:cubicBezTo>
                <a:lnTo>
                  <a:pt x="5334000" y="514350"/>
                </a:lnTo>
                <a:lnTo>
                  <a:pt x="0" y="514350"/>
                </a:lnTo>
                <a:close/>
              </a:path>
            </a:pathLst>
          </a:custGeom>
          <a:solidFill>
            <a:srgbClr val="D97706"/>
          </a:solidFill>
          <a:ln>
            <a:noFill/>
          </a:ln>
        </p:spPr>
      </p:sp>
      <p:sp>
        <p:nvSpPr>
          <p:cNvPr id="35" name="TextBox 35"/>
          <p:cNvSpPr txBox="1"/>
          <p:nvPr/>
        </p:nvSpPr>
        <p:spPr>
          <a:xfrm>
            <a:off x="8512492" y="1847850"/>
            <a:ext cx="958215"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代表工作</a:t>
            </a:r>
          </a:p>
        </p:txBody>
      </p:sp>
      <p:sp>
        <p:nvSpPr>
          <p:cNvPr id="36" name="Rectangle 36"/>
          <p:cNvSpPr/>
          <p:nvPr/>
        </p:nvSpPr>
        <p:spPr>
          <a:xfrm>
            <a:off x="6515100" y="2343150"/>
            <a:ext cx="4953000" cy="647700"/>
          </a:xfrm>
          <a:prstGeom prst="roundRect">
            <a:avLst>
              <a:gd name="adj" fmla="val 8824"/>
            </a:avLst>
          </a:prstGeom>
          <a:solidFill>
            <a:srgbClr val="F8FAFC"/>
          </a:solidFill>
          <a:ln w="4762">
            <a:solidFill>
              <a:srgbClr val="E2E8F0"/>
            </a:solidFill>
          </a:ln>
        </p:spPr>
      </p:sp>
      <p:sp>
        <p:nvSpPr>
          <p:cNvPr id="37" name="TextBox 37"/>
          <p:cNvSpPr txBox="1"/>
          <p:nvPr/>
        </p:nvSpPr>
        <p:spPr>
          <a:xfrm>
            <a:off x="6653212" y="2450306"/>
            <a:ext cx="2995946"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Dissecting Hopper GPU Architecture</a:t>
            </a:r>
          </a:p>
        </p:txBody>
      </p:sp>
      <p:sp>
        <p:nvSpPr>
          <p:cNvPr id="38" name="TextBox 38"/>
          <p:cNvSpPr txBox="1"/>
          <p:nvPr/>
        </p:nvSpPr>
        <p:spPr>
          <a:xfrm>
            <a:off x="6655118" y="2656999"/>
            <a:ext cx="6119431"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IPDPS 2024 | P-chase + stride sweep → L1/L2/DRAM 延迟、SM 内部流水线、Tensor Core 行为</a:t>
            </a:r>
          </a:p>
        </p:txBody>
      </p:sp>
      <p:sp>
        <p:nvSpPr>
          <p:cNvPr id="39" name="TextBox 39"/>
          <p:cNvSpPr txBox="1"/>
          <p:nvPr/>
        </p:nvSpPr>
        <p:spPr>
          <a:xfrm>
            <a:off x="6656070" y="2817495"/>
            <a:ext cx="2434876"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跨 Ampere / Ada / Hopper 三代架构对比</a:t>
            </a:r>
          </a:p>
        </p:txBody>
      </p:sp>
      <p:sp>
        <p:nvSpPr>
          <p:cNvPr id="40" name="Rectangle 40"/>
          <p:cNvSpPr/>
          <p:nvPr/>
        </p:nvSpPr>
        <p:spPr>
          <a:xfrm>
            <a:off x="6515100" y="3067050"/>
            <a:ext cx="4953000" cy="647700"/>
          </a:xfrm>
          <a:prstGeom prst="roundRect">
            <a:avLst>
              <a:gd name="adj" fmla="val 8824"/>
            </a:avLst>
          </a:prstGeom>
          <a:solidFill>
            <a:srgbClr val="F8FAFC"/>
          </a:solidFill>
          <a:ln w="4762">
            <a:solidFill>
              <a:srgbClr val="E2E8F0"/>
            </a:solidFill>
          </a:ln>
        </p:spPr>
      </p:sp>
      <p:sp>
        <p:nvSpPr>
          <p:cNvPr id="41" name="TextBox 41"/>
          <p:cNvSpPr txBox="1"/>
          <p:nvPr/>
        </p:nvSpPr>
        <p:spPr>
          <a:xfrm>
            <a:off x="6653212" y="3174206"/>
            <a:ext cx="3625650"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Dissecting Blackwell with Microbenchmarks</a:t>
            </a:r>
          </a:p>
        </p:txBody>
      </p:sp>
      <p:sp>
        <p:nvSpPr>
          <p:cNvPr id="42" name="TextBox 42"/>
          <p:cNvSpPr txBox="1"/>
          <p:nvPr/>
        </p:nvSpPr>
        <p:spPr>
          <a:xfrm>
            <a:off x="6655118" y="3380899"/>
            <a:ext cx="5656636"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arXiv 2024 | PTX kernel + clock64 → SM 执行单元吞吐、cache 带宽、Tensor Core 延迟</a:t>
            </a:r>
          </a:p>
        </p:txBody>
      </p:sp>
      <p:sp>
        <p:nvSpPr>
          <p:cNvPr id="43" name="TextBox 43"/>
          <p:cNvSpPr txBox="1"/>
          <p:nvPr/>
        </p:nvSpPr>
        <p:spPr>
          <a:xfrm>
            <a:off x="6656070" y="3541395"/>
            <a:ext cx="2434876"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SemiAnalysis 开源代码，工业界广泛引用</a:t>
            </a:r>
          </a:p>
        </p:txBody>
      </p:sp>
      <p:sp>
        <p:nvSpPr>
          <p:cNvPr id="44" name="Rectangle 44"/>
          <p:cNvSpPr/>
          <p:nvPr/>
        </p:nvSpPr>
        <p:spPr>
          <a:xfrm>
            <a:off x="6515100" y="3790950"/>
            <a:ext cx="4953000" cy="647700"/>
          </a:xfrm>
          <a:prstGeom prst="roundRect">
            <a:avLst>
              <a:gd name="adj" fmla="val 8824"/>
            </a:avLst>
          </a:prstGeom>
          <a:solidFill>
            <a:srgbClr val="F8FAFC"/>
          </a:solidFill>
          <a:ln w="4762">
            <a:solidFill>
              <a:srgbClr val="E2E8F0"/>
            </a:solidFill>
          </a:ln>
        </p:spPr>
      </p:sp>
      <p:sp>
        <p:nvSpPr>
          <p:cNvPr id="45" name="TextBox 45"/>
          <p:cNvSpPr txBox="1"/>
          <p:nvPr/>
        </p:nvSpPr>
        <p:spPr>
          <a:xfrm>
            <a:off x="6653212" y="3898106"/>
            <a:ext cx="3366867"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MT4G: Auto-Discovery of GPU Topologies</a:t>
            </a:r>
          </a:p>
        </p:txBody>
      </p:sp>
      <p:sp>
        <p:nvSpPr>
          <p:cNvPr id="46" name="TextBox 46"/>
          <p:cNvSpPr txBox="1"/>
          <p:nvPr/>
        </p:nvSpPr>
        <p:spPr>
          <a:xfrm>
            <a:off x="6655118" y="4104799"/>
            <a:ext cx="5443037"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arXiv 2024 | 50+ 微基准 + Kolmogorov-Smirnov 检验 → 自动发现 GPU 计算/存储拓扑</a:t>
            </a:r>
          </a:p>
        </p:txBody>
      </p:sp>
      <p:sp>
        <p:nvSpPr>
          <p:cNvPr id="47" name="TextBox 47"/>
          <p:cNvSpPr txBox="1"/>
          <p:nvPr/>
        </p:nvSpPr>
        <p:spPr>
          <a:xfrm>
            <a:off x="6656070" y="4265295"/>
            <a:ext cx="338128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跨 NVIDIA (Pascal→Blackwell) 和 AMD (CDNA)，厂商无关</a:t>
            </a:r>
          </a:p>
        </p:txBody>
      </p:sp>
      <p:sp>
        <p:nvSpPr>
          <p:cNvPr id="48" name="Rectangle 48"/>
          <p:cNvSpPr/>
          <p:nvPr/>
        </p:nvSpPr>
        <p:spPr>
          <a:xfrm>
            <a:off x="6515100" y="4514850"/>
            <a:ext cx="4953000" cy="647700"/>
          </a:xfrm>
          <a:prstGeom prst="roundRect">
            <a:avLst>
              <a:gd name="adj" fmla="val 8824"/>
            </a:avLst>
          </a:prstGeom>
          <a:solidFill>
            <a:srgbClr val="F8FAFC"/>
          </a:solidFill>
          <a:ln w="4762">
            <a:solidFill>
              <a:srgbClr val="E2E8F0"/>
            </a:solidFill>
          </a:ln>
        </p:spPr>
      </p:sp>
      <p:sp>
        <p:nvSpPr>
          <p:cNvPr id="49" name="TextBox 49"/>
          <p:cNvSpPr txBox="1"/>
          <p:nvPr/>
        </p:nvSpPr>
        <p:spPr>
          <a:xfrm>
            <a:off x="6653212" y="4622006"/>
            <a:ext cx="3806797"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HyFiSS: Hybrid Fidelity Stall-Aware Simulator</a:t>
            </a:r>
          </a:p>
        </p:txBody>
      </p:sp>
      <p:sp>
        <p:nvSpPr>
          <p:cNvPr id="50" name="TextBox 50"/>
          <p:cNvSpPr txBox="1"/>
          <p:nvPr/>
        </p:nvSpPr>
        <p:spPr>
          <a:xfrm>
            <a:off x="6655118" y="4828699"/>
            <a:ext cx="4880562"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MICRO 2024 | TB-set 采样 + stall 事件建模 → 12.8x 加速，3.2x trace 压缩</a:t>
            </a:r>
          </a:p>
        </p:txBody>
      </p:sp>
      <p:sp>
        <p:nvSpPr>
          <p:cNvPr id="51" name="TextBox 51"/>
          <p:cNvSpPr txBox="1"/>
          <p:nvPr/>
        </p:nvSpPr>
        <p:spPr>
          <a:xfrm>
            <a:off x="6656070" y="4989195"/>
            <a:ext cx="359159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但仍然是模拟器层面优化，不解决"测量→改 knob"的映射问题</a:t>
            </a:r>
          </a:p>
        </p:txBody>
      </p:sp>
      <p:sp>
        <p:nvSpPr>
          <p:cNvPr id="52" name="Rectangle 52"/>
          <p:cNvSpPr/>
          <p:nvPr/>
        </p:nvSpPr>
        <p:spPr>
          <a:xfrm>
            <a:off x="533400" y="5772150"/>
            <a:ext cx="3619500" cy="533400"/>
          </a:xfrm>
          <a:prstGeom prst="roundRect">
            <a:avLst>
              <a:gd name="adj" fmla="val 14286"/>
            </a:avLst>
          </a:prstGeom>
          <a:solidFill>
            <a:srgbClr val="FEF2F2"/>
          </a:solidFill>
          <a:ln w="9525">
            <a:solidFill>
              <a:srgbClr val="FECACA"/>
            </a:solidFill>
          </a:ln>
        </p:spPr>
      </p:sp>
      <p:sp>
        <p:nvSpPr>
          <p:cNvPr id="53" name="TextBox 53"/>
          <p:cNvSpPr txBox="1"/>
          <p:nvPr/>
        </p:nvSpPr>
        <p:spPr>
          <a:xfrm>
            <a:off x="1524714" y="5887402"/>
            <a:ext cx="1636871" cy="213360"/>
          </a:xfrm>
          <a:prstGeom prst="rect">
            <a:avLst/>
          </a:prstGeom>
          <a:noFill/>
          <a:ln>
            <a:noFill/>
          </a:ln>
        </p:spPr>
        <p:txBody>
          <a:bodyPr wrap="none" lIns="0" tIns="0" rIns="0" bIns="0" anchor="t" anchorCtr="0">
            <a:spAutoFit/>
          </a:bodyPr>
          <a:lstStyle/>
          <a:p>
            <a:pPr algn="ctr"/>
            <a:r>
              <a:rPr lang="zh-CN" sz="1050" b="1" dirty="0">
                <a:solidFill>
                  <a:srgbClr val="B91C1C"/>
                </a:solidFill>
                <a:latin typeface="Arial"/>
                <a:ea typeface="Microsoft YaHei"/>
                <a:cs typeface="Arial"/>
              </a:rPr>
              <a:t>纯手工设计，覆盖不全</a:t>
            </a:r>
          </a:p>
        </p:txBody>
      </p:sp>
      <p:sp>
        <p:nvSpPr>
          <p:cNvPr id="54" name="TextBox 54"/>
          <p:cNvSpPr txBox="1"/>
          <p:nvPr/>
        </p:nvSpPr>
        <p:spPr>
          <a:xfrm>
            <a:off x="757666" y="6094095"/>
            <a:ext cx="3170968" cy="182880"/>
          </a:xfrm>
          <a:prstGeom prst="rect">
            <a:avLst/>
          </a:prstGeom>
          <a:noFill/>
          <a:ln>
            <a:noFill/>
          </a:ln>
        </p:spPr>
        <p:txBody>
          <a:bodyPr wrap="none" lIns="0" tIns="0" rIns="0" bIns="0" anchor="t" anchorCtr="0">
            <a:spAutoFit/>
          </a:bodyPr>
          <a:lstStyle/>
          <a:p>
            <a:pPr algn="ctr"/>
            <a:r>
              <a:rPr lang="zh-CN" sz="900" dirty="0">
                <a:solidFill>
                  <a:srgbClr val="991B1B"/>
                </a:solidFill>
                <a:latin typeface="Arial"/>
                <a:ea typeface="Microsoft YaHei"/>
                <a:cs typeface="Arial"/>
              </a:rPr>
              <a:t>每个测试需人工编写，无法随 workload 变化自动适配</a:t>
            </a:r>
          </a:p>
        </p:txBody>
      </p:sp>
      <p:sp>
        <p:nvSpPr>
          <p:cNvPr id="55" name="Rectangle 55"/>
          <p:cNvSpPr/>
          <p:nvPr/>
        </p:nvSpPr>
        <p:spPr>
          <a:xfrm>
            <a:off x="4286250" y="5772150"/>
            <a:ext cx="3619500" cy="533400"/>
          </a:xfrm>
          <a:prstGeom prst="roundRect">
            <a:avLst>
              <a:gd name="adj" fmla="val 14286"/>
            </a:avLst>
          </a:prstGeom>
          <a:solidFill>
            <a:srgbClr val="FEF2F2"/>
          </a:solidFill>
          <a:ln w="9525">
            <a:solidFill>
              <a:srgbClr val="FECACA"/>
            </a:solidFill>
          </a:ln>
        </p:spPr>
      </p:sp>
      <p:sp>
        <p:nvSpPr>
          <p:cNvPr id="56" name="TextBox 56"/>
          <p:cNvSpPr txBox="1"/>
          <p:nvPr/>
        </p:nvSpPr>
        <p:spPr>
          <a:xfrm>
            <a:off x="5201080" y="5887402"/>
            <a:ext cx="1789840" cy="213360"/>
          </a:xfrm>
          <a:prstGeom prst="rect">
            <a:avLst/>
          </a:prstGeom>
          <a:noFill/>
          <a:ln>
            <a:noFill/>
          </a:ln>
        </p:spPr>
        <p:txBody>
          <a:bodyPr wrap="none" lIns="0" tIns="0" rIns="0" bIns="0" anchor="t" anchorCtr="0">
            <a:spAutoFit/>
          </a:bodyPr>
          <a:lstStyle/>
          <a:p>
            <a:pPr algn="ctr"/>
            <a:r>
              <a:rPr lang="zh-CN" sz="1050" b="1" dirty="0">
                <a:solidFill>
                  <a:srgbClr val="B91C1C"/>
                </a:solidFill>
                <a:latin typeface="Arial"/>
                <a:ea typeface="Microsoft YaHei"/>
                <a:cs typeface="Arial"/>
              </a:rPr>
              <a:t>无 workload 级别上下文</a:t>
            </a:r>
          </a:p>
        </p:txBody>
      </p:sp>
      <p:sp>
        <p:nvSpPr>
          <p:cNvPr id="57" name="TextBox 57"/>
          <p:cNvSpPr txBox="1"/>
          <p:nvPr/>
        </p:nvSpPr>
        <p:spPr>
          <a:xfrm>
            <a:off x="4530233" y="6094095"/>
            <a:ext cx="3131534" cy="182880"/>
          </a:xfrm>
          <a:prstGeom prst="rect">
            <a:avLst/>
          </a:prstGeom>
          <a:noFill/>
          <a:ln>
            <a:noFill/>
          </a:ln>
        </p:spPr>
        <p:txBody>
          <a:bodyPr wrap="none" lIns="0" tIns="0" rIns="0" bIns="0" anchor="t" anchorCtr="0">
            <a:spAutoFit/>
          </a:bodyPr>
          <a:lstStyle/>
          <a:p>
            <a:pPr algn="ctr"/>
            <a:r>
              <a:rPr lang="zh-CN" sz="900" dirty="0">
                <a:solidFill>
                  <a:srgbClr val="991B1B"/>
                </a:solidFill>
                <a:latin typeface="Arial"/>
                <a:ea typeface="Microsoft YaHei"/>
                <a:cs typeface="Arial"/>
              </a:rPr>
              <a:t>测出硬件参数，但不知道真实 kernel 的复杂交互模式</a:t>
            </a:r>
          </a:p>
        </p:txBody>
      </p:sp>
      <p:sp>
        <p:nvSpPr>
          <p:cNvPr id="58" name="Rectangle 58"/>
          <p:cNvSpPr/>
          <p:nvPr/>
        </p:nvSpPr>
        <p:spPr>
          <a:xfrm>
            <a:off x="8039100" y="5772150"/>
            <a:ext cx="3619500" cy="533400"/>
          </a:xfrm>
          <a:prstGeom prst="roundRect">
            <a:avLst>
              <a:gd name="adj" fmla="val 14286"/>
            </a:avLst>
          </a:prstGeom>
          <a:solidFill>
            <a:srgbClr val="FEF2F2"/>
          </a:solidFill>
          <a:ln w="9525">
            <a:solidFill>
              <a:srgbClr val="FECACA"/>
            </a:solidFill>
          </a:ln>
        </p:spPr>
      </p:sp>
      <p:sp>
        <p:nvSpPr>
          <p:cNvPr id="59" name="TextBox 59"/>
          <p:cNvSpPr txBox="1"/>
          <p:nvPr/>
        </p:nvSpPr>
        <p:spPr>
          <a:xfrm>
            <a:off x="8857318" y="5887402"/>
            <a:ext cx="1983065" cy="213360"/>
          </a:xfrm>
          <a:prstGeom prst="rect">
            <a:avLst/>
          </a:prstGeom>
          <a:noFill/>
          <a:ln>
            <a:noFill/>
          </a:ln>
        </p:spPr>
        <p:txBody>
          <a:bodyPr wrap="none" lIns="0" tIns="0" rIns="0" bIns="0" anchor="t" anchorCtr="0">
            <a:spAutoFit/>
          </a:bodyPr>
          <a:lstStyle/>
          <a:p>
            <a:pPr algn="ctr"/>
            <a:r>
              <a:rPr lang="zh-CN" sz="1050" b="1" dirty="0">
                <a:solidFill>
                  <a:srgbClr val="B91C1C"/>
                </a:solidFill>
                <a:latin typeface="Arial"/>
                <a:ea typeface="Microsoft YaHei"/>
                <a:cs typeface="Arial"/>
              </a:rPr>
              <a:t>缺少"测量→修改 knob"映射</a:t>
            </a:r>
          </a:p>
        </p:txBody>
      </p:sp>
      <p:sp>
        <p:nvSpPr>
          <p:cNvPr id="60" name="TextBox 60"/>
          <p:cNvSpPr txBox="1"/>
          <p:nvPr/>
        </p:nvSpPr>
        <p:spPr>
          <a:xfrm>
            <a:off x="8391525" y="6094095"/>
            <a:ext cx="2914650" cy="182880"/>
          </a:xfrm>
          <a:prstGeom prst="rect">
            <a:avLst/>
          </a:prstGeom>
          <a:noFill/>
          <a:ln>
            <a:noFill/>
          </a:ln>
        </p:spPr>
        <p:txBody>
          <a:bodyPr wrap="none" lIns="0" tIns="0" rIns="0" bIns="0" anchor="t" anchorCtr="0">
            <a:spAutoFit/>
          </a:bodyPr>
          <a:lstStyle/>
          <a:p>
            <a:pPr algn="ctr"/>
            <a:r>
              <a:rPr lang="zh-CN" sz="900" dirty="0">
                <a:solidFill>
                  <a:srgbClr val="991B1B"/>
                </a:solidFill>
                <a:latin typeface="Arial"/>
                <a:ea typeface="Microsoft YaHei"/>
                <a:cs typeface="Arial"/>
              </a:rPr>
              <a:t>知道了瓶颈在哪，但没有自动链路告诉你该改什么</a:t>
            </a:r>
          </a:p>
        </p:txBody>
      </p:sp>
      <p:sp>
        <p:nvSpPr>
          <p:cNvPr id="61" name="TextBox 61"/>
          <p:cNvSpPr txBox="1"/>
          <p:nvPr/>
        </p:nvSpPr>
        <p:spPr>
          <a:xfrm>
            <a:off x="520065" y="6477952"/>
            <a:ext cx="287902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microbenchmark_survey</a:t>
            </a:r>
          </a:p>
        </p:txBody>
      </p:sp>
      <p:sp>
        <p:nvSpPr>
          <p:cNvPr id="62" name="TextBox 62"/>
          <p:cNvSpPr txBox="1"/>
          <p:nvPr/>
        </p:nvSpPr>
        <p:spPr>
          <a:xfrm>
            <a:off x="11274600" y="650224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05 / 21</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113556" cy="213360"/>
          </a:xfrm>
          <a:prstGeom prst="rect">
            <a:avLst/>
          </a:prstGeom>
          <a:noFill/>
          <a:ln>
            <a:noFill/>
          </a:ln>
        </p:spPr>
        <p:txBody>
          <a:bodyPr wrap="none" lIns="0" tIns="0" rIns="0" bIns="0" anchor="t" anchorCtr="0">
            <a:spAutoFit/>
          </a:bodyPr>
          <a:lstStyle/>
          <a:p>
            <a:pPr algn="l"/>
            <a:r>
              <a:rPr lang="zh-CN" sz="1050" b="1" dirty="0">
                <a:solidFill>
                  <a:srgbClr val="2F855A"/>
                </a:solidFill>
                <a:latin typeface="Arial"/>
                <a:ea typeface="Microsoft YaHei"/>
                <a:cs typeface="Arial"/>
              </a:rPr>
              <a:t>OUR APPROACH</a:t>
            </a:r>
          </a:p>
        </p:txBody>
      </p:sp>
      <p:sp>
        <p:nvSpPr>
          <p:cNvPr id="4" name="TextBox 4"/>
          <p:cNvSpPr txBox="1"/>
          <p:nvPr/>
        </p:nvSpPr>
        <p:spPr>
          <a:xfrm>
            <a:off x="502920" y="845820"/>
            <a:ext cx="4477512"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从绕路到直通：我们的路径</a:t>
            </a:r>
          </a:p>
        </p:txBody>
      </p:sp>
      <p:sp>
        <p:nvSpPr>
          <p:cNvPr id="5" name="TextBox 5"/>
          <p:cNvSpPr txBox="1"/>
          <p:nvPr/>
        </p:nvSpPr>
        <p:spPr>
          <a:xfrm>
            <a:off x="515302" y="1274921"/>
            <a:ext cx="8725257"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在压缩 trace 的同时提取机制证据，实现从 kernel 行为到 simulator knob 的端到端自动化。</a:t>
            </a:r>
          </a:p>
        </p:txBody>
      </p:sp>
      <p:sp>
        <p:nvSpPr>
          <p:cNvPr id="6" name="Rectangle 6"/>
          <p:cNvSpPr/>
          <p:nvPr/>
        </p:nvSpPr>
        <p:spPr>
          <a:xfrm>
            <a:off x="533400" y="1752600"/>
            <a:ext cx="5334000" cy="4000500"/>
          </a:xfrm>
          <a:prstGeom prst="roundRect">
            <a:avLst>
              <a:gd name="adj" fmla="val 1905"/>
            </a:avLst>
          </a:prstGeom>
          <a:solidFill>
            <a:srgbClr val="FFFFFF"/>
          </a:solidFill>
          <a:ln w="9525">
            <a:solidFill>
              <a:srgbClr val="CBD5E1"/>
            </a:solidFill>
          </a:ln>
        </p:spPr>
      </p:sp>
      <p:sp>
        <p:nvSpPr>
          <p:cNvPr id="7" name="Freeform 7"/>
          <p:cNvSpPr/>
          <p:nvPr/>
        </p:nvSpPr>
        <p:spPr>
          <a:xfrm>
            <a:off x="533400" y="1676400"/>
            <a:ext cx="5334000" cy="514350"/>
          </a:xfrm>
          <a:custGeom>
            <a:avLst/>
            <a:gdLst/>
            <a:ahLst/>
            <a:cxnLst/>
            <a:rect l="l" t="t" r="r" b="b"/>
            <a:pathLst>
              <a:path w="5334000" h="514350">
                <a:moveTo>
                  <a:pt x="0" y="152400"/>
                </a:moveTo>
                <a:lnTo>
                  <a:pt x="0" y="76200"/>
                </a:lnTo>
                <a:cubicBezTo>
                  <a:pt x="0" y="25400"/>
                  <a:pt x="25400" y="0"/>
                  <a:pt x="76200" y="0"/>
                </a:cubicBezTo>
                <a:lnTo>
                  <a:pt x="5257800" y="0"/>
                </a:lnTo>
                <a:cubicBezTo>
                  <a:pt x="5308600" y="0"/>
                  <a:pt x="5334000" y="25400"/>
                  <a:pt x="5334000" y="76200"/>
                </a:cubicBezTo>
                <a:lnTo>
                  <a:pt x="5334000" y="514350"/>
                </a:lnTo>
                <a:lnTo>
                  <a:pt x="0" y="514350"/>
                </a:lnTo>
                <a:close/>
              </a:path>
            </a:pathLst>
          </a:custGeom>
          <a:solidFill>
            <a:srgbClr val="D97706"/>
          </a:solidFill>
          <a:ln>
            <a:noFill/>
          </a:ln>
        </p:spPr>
      </p:sp>
      <p:sp>
        <p:nvSpPr>
          <p:cNvPr id="8" name="TextBox 8"/>
          <p:cNvSpPr txBox="1"/>
          <p:nvPr/>
        </p:nvSpPr>
        <p:spPr>
          <a:xfrm>
            <a:off x="1668911" y="1847850"/>
            <a:ext cx="306297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Microbenchmark 路径：绕路</a:t>
            </a:r>
          </a:p>
        </p:txBody>
      </p:sp>
      <p:sp>
        <p:nvSpPr>
          <p:cNvPr id="9" name="Rectangle 9"/>
          <p:cNvSpPr/>
          <p:nvPr/>
        </p:nvSpPr>
        <p:spPr>
          <a:xfrm>
            <a:off x="762000" y="2419350"/>
            <a:ext cx="4876800" cy="438150"/>
          </a:xfrm>
          <a:prstGeom prst="roundRect">
            <a:avLst>
              <a:gd name="adj" fmla="val 13043"/>
            </a:avLst>
          </a:prstGeom>
          <a:solidFill>
            <a:srgbClr val="FEF3C7"/>
          </a:solidFill>
          <a:ln>
            <a:noFill/>
          </a:ln>
        </p:spPr>
      </p:sp>
      <p:sp>
        <p:nvSpPr>
          <p:cNvPr id="10" name="TextBox 10"/>
          <p:cNvSpPr txBox="1"/>
          <p:nvPr/>
        </p:nvSpPr>
        <p:spPr>
          <a:xfrm>
            <a:off x="939165" y="2496502"/>
            <a:ext cx="1983065"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手工设计 microbenchmark</a:t>
            </a:r>
          </a:p>
        </p:txBody>
      </p:sp>
      <p:sp>
        <p:nvSpPr>
          <p:cNvPr id="11" name="TextBox 11"/>
          <p:cNvSpPr txBox="1"/>
          <p:nvPr/>
        </p:nvSpPr>
        <p:spPr>
          <a:xfrm>
            <a:off x="941070" y="2684145"/>
            <a:ext cx="3223546" cy="182880"/>
          </a:xfrm>
          <a:prstGeom prst="rect">
            <a:avLst/>
          </a:prstGeom>
          <a:noFill/>
          <a:ln>
            <a:noFill/>
          </a:ln>
        </p:spPr>
        <p:txBody>
          <a:bodyPr wrap="none" lIns="0" tIns="0" rIns="0" bIns="0" anchor="t" anchorCtr="0">
            <a:spAutoFit/>
          </a:bodyPr>
          <a:lstStyle/>
          <a:p>
            <a:pPr algn="l"/>
            <a:r>
              <a:rPr lang="zh-CN" sz="900" dirty="0">
                <a:solidFill>
                  <a:srgbClr val="92400E"/>
                </a:solidFill>
                <a:latin typeface="Arial"/>
                <a:ea typeface="Microsoft YaHei"/>
                <a:cs typeface="Arial"/>
              </a:rPr>
              <a:t>针对每个硬件单元单独编写测试 kernel，依赖专家经验</a:t>
            </a:r>
          </a:p>
        </p:txBody>
      </p:sp>
      <p:sp>
        <p:nvSpPr>
          <p:cNvPr id="12" name="TextBox 12"/>
          <p:cNvSpPr txBox="1"/>
          <p:nvPr/>
        </p:nvSpPr>
        <p:spPr>
          <a:xfrm>
            <a:off x="3129034" y="2883218"/>
            <a:ext cx="142732" cy="274320"/>
          </a:xfrm>
          <a:prstGeom prst="rect">
            <a:avLst/>
          </a:prstGeom>
          <a:noFill/>
          <a:ln>
            <a:noFill/>
          </a:ln>
        </p:spPr>
        <p:txBody>
          <a:bodyPr wrap="none" lIns="0" tIns="0" rIns="0" bIns="0" anchor="t" anchorCtr="0">
            <a:spAutoFit/>
          </a:bodyPr>
          <a:lstStyle/>
          <a:p>
            <a:pPr algn="ctr"/>
            <a:r>
              <a:rPr lang="zh-CN" sz="1350" dirty="0">
                <a:solidFill>
                  <a:srgbClr val="D97706"/>
                </a:solidFill>
                <a:latin typeface="Arial"/>
                <a:ea typeface="Microsoft YaHei"/>
                <a:cs typeface="Arial"/>
              </a:rPr>
              <a:t>↓</a:t>
            </a:r>
          </a:p>
        </p:txBody>
      </p:sp>
      <p:sp>
        <p:nvSpPr>
          <p:cNvPr id="13" name="Rectangle 13"/>
          <p:cNvSpPr/>
          <p:nvPr/>
        </p:nvSpPr>
        <p:spPr>
          <a:xfrm>
            <a:off x="762000" y="3143250"/>
            <a:ext cx="4876800" cy="438150"/>
          </a:xfrm>
          <a:prstGeom prst="roundRect">
            <a:avLst>
              <a:gd name="adj" fmla="val 13043"/>
            </a:avLst>
          </a:prstGeom>
          <a:solidFill>
            <a:srgbClr val="FEF3C7"/>
          </a:solidFill>
          <a:ln>
            <a:noFill/>
          </a:ln>
        </p:spPr>
      </p:sp>
      <p:sp>
        <p:nvSpPr>
          <p:cNvPr id="14" name="TextBox 14"/>
          <p:cNvSpPr txBox="1"/>
          <p:nvPr/>
        </p:nvSpPr>
        <p:spPr>
          <a:xfrm>
            <a:off x="939165" y="3220402"/>
            <a:ext cx="1999167"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在真实 GPU 上测量硬件参数</a:t>
            </a:r>
          </a:p>
        </p:txBody>
      </p:sp>
      <p:sp>
        <p:nvSpPr>
          <p:cNvPr id="15" name="TextBox 15"/>
          <p:cNvSpPr txBox="1"/>
          <p:nvPr/>
        </p:nvSpPr>
        <p:spPr>
          <a:xfrm>
            <a:off x="941070" y="3408045"/>
            <a:ext cx="2125980" cy="182880"/>
          </a:xfrm>
          <a:prstGeom prst="rect">
            <a:avLst/>
          </a:prstGeom>
          <a:noFill/>
          <a:ln>
            <a:noFill/>
          </a:ln>
        </p:spPr>
        <p:txBody>
          <a:bodyPr wrap="none" lIns="0" tIns="0" rIns="0" bIns="0" anchor="t" anchorCtr="0">
            <a:spAutoFit/>
          </a:bodyPr>
          <a:lstStyle/>
          <a:p>
            <a:pPr algn="l"/>
            <a:r>
              <a:rPr lang="zh-CN" sz="900" dirty="0">
                <a:solidFill>
                  <a:srgbClr val="92400E"/>
                </a:solidFill>
                <a:latin typeface="Arial"/>
                <a:ea typeface="Microsoft YaHei"/>
                <a:cs typeface="Arial"/>
              </a:rPr>
              <a:t>获取延迟、带宽、吞吐量等独立指标</a:t>
            </a:r>
          </a:p>
        </p:txBody>
      </p:sp>
      <p:sp>
        <p:nvSpPr>
          <p:cNvPr id="16" name="TextBox 16"/>
          <p:cNvSpPr txBox="1"/>
          <p:nvPr/>
        </p:nvSpPr>
        <p:spPr>
          <a:xfrm>
            <a:off x="3129034" y="3607118"/>
            <a:ext cx="142732" cy="274320"/>
          </a:xfrm>
          <a:prstGeom prst="rect">
            <a:avLst/>
          </a:prstGeom>
          <a:noFill/>
          <a:ln>
            <a:noFill/>
          </a:ln>
        </p:spPr>
        <p:txBody>
          <a:bodyPr wrap="none" lIns="0" tIns="0" rIns="0" bIns="0" anchor="t" anchorCtr="0">
            <a:spAutoFit/>
          </a:bodyPr>
          <a:lstStyle/>
          <a:p>
            <a:pPr algn="ctr"/>
            <a:r>
              <a:rPr lang="zh-CN" sz="1350" dirty="0">
                <a:solidFill>
                  <a:srgbClr val="D97706"/>
                </a:solidFill>
                <a:latin typeface="Arial"/>
                <a:ea typeface="Microsoft YaHei"/>
                <a:cs typeface="Arial"/>
              </a:rPr>
              <a:t>↓</a:t>
            </a:r>
          </a:p>
        </p:txBody>
      </p:sp>
      <p:sp>
        <p:nvSpPr>
          <p:cNvPr id="17" name="Rectangle 17"/>
          <p:cNvSpPr/>
          <p:nvPr/>
        </p:nvSpPr>
        <p:spPr>
          <a:xfrm>
            <a:off x="762000" y="3867150"/>
            <a:ext cx="4876800" cy="438150"/>
          </a:xfrm>
          <a:prstGeom prst="roundRect">
            <a:avLst>
              <a:gd name="adj" fmla="val 13043"/>
            </a:avLst>
          </a:prstGeom>
          <a:solidFill>
            <a:srgbClr val="FEF3C7"/>
          </a:solidFill>
          <a:ln>
            <a:noFill/>
          </a:ln>
        </p:spPr>
      </p:sp>
      <p:sp>
        <p:nvSpPr>
          <p:cNvPr id="18" name="TextBox 18"/>
          <p:cNvSpPr txBox="1"/>
          <p:nvPr/>
        </p:nvSpPr>
        <p:spPr>
          <a:xfrm>
            <a:off x="939165" y="3944302"/>
            <a:ext cx="1950860"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人工解读 → 猜测 knob 修改</a:t>
            </a:r>
          </a:p>
        </p:txBody>
      </p:sp>
      <p:sp>
        <p:nvSpPr>
          <p:cNvPr id="19" name="TextBox 19"/>
          <p:cNvSpPr txBox="1"/>
          <p:nvPr/>
        </p:nvSpPr>
        <p:spPr>
          <a:xfrm>
            <a:off x="941070" y="4131945"/>
            <a:ext cx="2651760" cy="182880"/>
          </a:xfrm>
          <a:prstGeom prst="rect">
            <a:avLst/>
          </a:prstGeom>
          <a:noFill/>
          <a:ln>
            <a:noFill/>
          </a:ln>
        </p:spPr>
        <p:txBody>
          <a:bodyPr wrap="none" lIns="0" tIns="0" rIns="0" bIns="0" anchor="t" anchorCtr="0">
            <a:spAutoFit/>
          </a:bodyPr>
          <a:lstStyle/>
          <a:p>
            <a:pPr algn="l"/>
            <a:r>
              <a:rPr lang="zh-CN" sz="900" dirty="0">
                <a:solidFill>
                  <a:srgbClr val="92400E"/>
                </a:solidFill>
                <a:latin typeface="Arial"/>
                <a:ea typeface="Microsoft YaHei"/>
                <a:cs typeface="Arial"/>
              </a:rPr>
              <a:t>无自动化映射链路，结果不可复现、不可验证</a:t>
            </a:r>
          </a:p>
        </p:txBody>
      </p:sp>
      <p:sp>
        <p:nvSpPr>
          <p:cNvPr id="20" name="Rectangle 20"/>
          <p:cNvSpPr/>
          <p:nvPr/>
        </p:nvSpPr>
        <p:spPr>
          <a:xfrm>
            <a:off x="762000" y="4572000"/>
            <a:ext cx="4876800" cy="914400"/>
          </a:xfrm>
          <a:prstGeom prst="roundRect">
            <a:avLst>
              <a:gd name="adj" fmla="val 6250"/>
            </a:avLst>
          </a:prstGeom>
          <a:solidFill>
            <a:srgbClr val="FEF2F2"/>
          </a:solidFill>
          <a:ln w="9525">
            <a:solidFill>
              <a:srgbClr val="FECACA"/>
            </a:solidFill>
          </a:ln>
        </p:spPr>
      </p:sp>
      <p:sp>
        <p:nvSpPr>
          <p:cNvPr id="21" name="TextBox 21"/>
          <p:cNvSpPr txBox="1"/>
          <p:nvPr/>
        </p:nvSpPr>
        <p:spPr>
          <a:xfrm>
            <a:off x="938212" y="4698206"/>
            <a:ext cx="718661" cy="228600"/>
          </a:xfrm>
          <a:prstGeom prst="rect">
            <a:avLst/>
          </a:prstGeom>
          <a:noFill/>
          <a:ln>
            <a:noFill/>
          </a:ln>
        </p:spPr>
        <p:txBody>
          <a:bodyPr wrap="none" lIns="0" tIns="0" rIns="0" bIns="0" anchor="t" anchorCtr="0">
            <a:spAutoFit/>
          </a:bodyPr>
          <a:lstStyle/>
          <a:p>
            <a:pPr algn="l"/>
            <a:r>
              <a:rPr lang="zh-CN" sz="1125" b="1" dirty="0">
                <a:solidFill>
                  <a:srgbClr val="B91C1C"/>
                </a:solidFill>
                <a:latin typeface="Arial"/>
                <a:ea typeface="Microsoft YaHei"/>
                <a:cs typeface="Arial"/>
              </a:rPr>
              <a:t>核心问题</a:t>
            </a:r>
          </a:p>
        </p:txBody>
      </p:sp>
      <p:sp>
        <p:nvSpPr>
          <p:cNvPr id="22" name="TextBox 22"/>
          <p:cNvSpPr txBox="1"/>
          <p:nvPr/>
        </p:nvSpPr>
        <p:spPr>
          <a:xfrm>
            <a:off x="940118" y="4942999"/>
            <a:ext cx="2730341" cy="198120"/>
          </a:xfrm>
          <a:prstGeom prst="rect">
            <a:avLst/>
          </a:prstGeom>
          <a:noFill/>
          <a:ln>
            <a:noFill/>
          </a:ln>
        </p:spPr>
        <p:txBody>
          <a:bodyPr wrap="none" lIns="0" tIns="0" rIns="0" bIns="0" anchor="t" anchorCtr="0">
            <a:spAutoFit/>
          </a:bodyPr>
          <a:lstStyle/>
          <a:p>
            <a:pPr algn="l"/>
            <a:r>
              <a:rPr lang="zh-CN" sz="975" dirty="0">
                <a:solidFill>
                  <a:srgbClr val="991B1B"/>
                </a:solidFill>
                <a:latin typeface="Arial"/>
                <a:ea typeface="Microsoft YaHei"/>
                <a:cs typeface="Arial"/>
              </a:rPr>
              <a:t>手工、无上下文、无自动映射、无闭环验证</a:t>
            </a:r>
          </a:p>
        </p:txBody>
      </p:sp>
      <p:sp>
        <p:nvSpPr>
          <p:cNvPr id="23" name="TextBox 23"/>
          <p:cNvSpPr txBox="1"/>
          <p:nvPr/>
        </p:nvSpPr>
        <p:spPr>
          <a:xfrm>
            <a:off x="940118" y="5133499"/>
            <a:ext cx="3969210" cy="198120"/>
          </a:xfrm>
          <a:prstGeom prst="rect">
            <a:avLst/>
          </a:prstGeom>
          <a:noFill/>
          <a:ln>
            <a:noFill/>
          </a:ln>
        </p:spPr>
        <p:txBody>
          <a:bodyPr wrap="none" lIns="0" tIns="0" rIns="0" bIns="0" anchor="t" anchorCtr="0">
            <a:spAutoFit/>
          </a:bodyPr>
          <a:lstStyle/>
          <a:p>
            <a:pPr algn="l"/>
            <a:r>
              <a:rPr lang="zh-CN" sz="975" dirty="0">
                <a:solidFill>
                  <a:srgbClr val="991B1B"/>
                </a:solidFill>
                <a:latin typeface="Arial"/>
                <a:ea typeface="Microsoft YaHei"/>
                <a:cs typeface="Arial"/>
              </a:rPr>
              <a:t>→ 能描述"硬件长什么样"，不能回答"对这个 kernel 该改什么"</a:t>
            </a:r>
          </a:p>
        </p:txBody>
      </p:sp>
      <p:sp>
        <p:nvSpPr>
          <p:cNvPr id="24" name="Rectangle 24"/>
          <p:cNvSpPr/>
          <p:nvPr/>
        </p:nvSpPr>
        <p:spPr>
          <a:xfrm>
            <a:off x="6324600" y="1752600"/>
            <a:ext cx="5334000" cy="4000500"/>
          </a:xfrm>
          <a:prstGeom prst="roundRect">
            <a:avLst>
              <a:gd name="adj" fmla="val 1905"/>
            </a:avLst>
          </a:prstGeom>
          <a:solidFill>
            <a:srgbClr val="FFFFFF"/>
          </a:solidFill>
          <a:ln w="9525">
            <a:solidFill>
              <a:srgbClr val="CBD5E1"/>
            </a:solidFill>
          </a:ln>
        </p:spPr>
      </p:sp>
      <p:sp>
        <p:nvSpPr>
          <p:cNvPr id="25" name="Freeform 25"/>
          <p:cNvSpPr/>
          <p:nvPr/>
        </p:nvSpPr>
        <p:spPr>
          <a:xfrm>
            <a:off x="6324600" y="1676400"/>
            <a:ext cx="5334000" cy="514350"/>
          </a:xfrm>
          <a:custGeom>
            <a:avLst/>
            <a:gdLst/>
            <a:ahLst/>
            <a:cxnLst/>
            <a:rect l="l" t="t" r="r" b="b"/>
            <a:pathLst>
              <a:path w="5334000" h="514350">
                <a:moveTo>
                  <a:pt x="0" y="152400"/>
                </a:moveTo>
                <a:lnTo>
                  <a:pt x="0" y="76200"/>
                </a:lnTo>
                <a:cubicBezTo>
                  <a:pt x="0" y="25400"/>
                  <a:pt x="25400" y="0"/>
                  <a:pt x="76200" y="0"/>
                </a:cubicBezTo>
                <a:lnTo>
                  <a:pt x="5257800" y="0"/>
                </a:lnTo>
                <a:cubicBezTo>
                  <a:pt x="5308600" y="0"/>
                  <a:pt x="5334000" y="25400"/>
                  <a:pt x="5334000" y="76200"/>
                </a:cubicBezTo>
                <a:lnTo>
                  <a:pt x="5334000" y="514350"/>
                </a:lnTo>
                <a:lnTo>
                  <a:pt x="0" y="514350"/>
                </a:lnTo>
                <a:close/>
              </a:path>
            </a:pathLst>
          </a:custGeom>
          <a:solidFill>
            <a:srgbClr val="2F855A"/>
          </a:solidFill>
          <a:ln>
            <a:noFill/>
          </a:ln>
        </p:spPr>
      </p:sp>
      <p:sp>
        <p:nvSpPr>
          <p:cNvPr id="26" name="TextBox 26"/>
          <p:cNvSpPr txBox="1"/>
          <p:nvPr/>
        </p:nvSpPr>
        <p:spPr>
          <a:xfrm>
            <a:off x="8052435" y="1847850"/>
            <a:ext cx="1878330"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我们的路径：直通</a:t>
            </a:r>
          </a:p>
        </p:txBody>
      </p:sp>
      <p:sp>
        <p:nvSpPr>
          <p:cNvPr id="27" name="Rectangle 27"/>
          <p:cNvSpPr/>
          <p:nvPr/>
        </p:nvSpPr>
        <p:spPr>
          <a:xfrm>
            <a:off x="6553200" y="2419350"/>
            <a:ext cx="4876800" cy="438150"/>
          </a:xfrm>
          <a:prstGeom prst="roundRect">
            <a:avLst>
              <a:gd name="adj" fmla="val 13043"/>
            </a:avLst>
          </a:prstGeom>
          <a:solidFill>
            <a:srgbClr val="D1FAE5"/>
          </a:solidFill>
          <a:ln>
            <a:noFill/>
          </a:ln>
        </p:spPr>
      </p:sp>
      <p:sp>
        <p:nvSpPr>
          <p:cNvPr id="28" name="TextBox 28"/>
          <p:cNvSpPr txBox="1"/>
          <p:nvPr/>
        </p:nvSpPr>
        <p:spPr>
          <a:xfrm>
            <a:off x="6730365" y="2496502"/>
            <a:ext cx="2377564" cy="213360"/>
          </a:xfrm>
          <a:prstGeom prst="rect">
            <a:avLst/>
          </a:prstGeom>
          <a:noFill/>
          <a:ln>
            <a:noFill/>
          </a:ln>
        </p:spPr>
        <p:txBody>
          <a:bodyPr wrap="none" lIns="0" tIns="0" rIns="0" bIns="0" anchor="t" anchorCtr="0">
            <a:spAutoFit/>
          </a:bodyPr>
          <a:lstStyle/>
          <a:p>
            <a:pPr algn="l"/>
            <a:r>
              <a:rPr lang="zh-CN" sz="1050" b="1" dirty="0">
                <a:solidFill>
                  <a:srgbClr val="065F46"/>
                </a:solidFill>
                <a:latin typeface="Arial"/>
                <a:ea typeface="Microsoft YaHei"/>
                <a:cs typeface="Arial"/>
              </a:rPr>
              <a:t>trace 压缩 + PKA evidence 提取</a:t>
            </a:r>
          </a:p>
        </p:txBody>
      </p:sp>
      <p:sp>
        <p:nvSpPr>
          <p:cNvPr id="29" name="TextBox 29"/>
          <p:cNvSpPr txBox="1"/>
          <p:nvPr/>
        </p:nvSpPr>
        <p:spPr>
          <a:xfrm>
            <a:off x="6732270" y="2684145"/>
            <a:ext cx="3092101" cy="182880"/>
          </a:xfrm>
          <a:prstGeom prst="rect">
            <a:avLst/>
          </a:prstGeom>
          <a:noFill/>
          <a:ln>
            <a:noFill/>
          </a:ln>
        </p:spPr>
        <p:txBody>
          <a:bodyPr wrap="none" lIns="0" tIns="0" rIns="0" bIns="0" anchor="t" anchorCtr="0">
            <a:spAutoFit/>
          </a:bodyPr>
          <a:lstStyle/>
          <a:p>
            <a:pPr algn="l"/>
            <a:r>
              <a:rPr lang="zh-CN" sz="900" dirty="0">
                <a:solidFill>
                  <a:srgbClr val="065F46"/>
                </a:solidFill>
                <a:latin typeface="Arial"/>
                <a:ea typeface="Microsoft YaHei"/>
                <a:cs typeface="Arial"/>
              </a:rPr>
              <a:t>在压缩 trace 的同时保留机制相关特征，自动化处理</a:t>
            </a:r>
          </a:p>
        </p:txBody>
      </p:sp>
      <p:sp>
        <p:nvSpPr>
          <p:cNvPr id="30" name="TextBox 30"/>
          <p:cNvSpPr txBox="1"/>
          <p:nvPr/>
        </p:nvSpPr>
        <p:spPr>
          <a:xfrm>
            <a:off x="8920234" y="2883218"/>
            <a:ext cx="142732" cy="274320"/>
          </a:xfrm>
          <a:prstGeom prst="rect">
            <a:avLst/>
          </a:prstGeom>
          <a:noFill/>
          <a:ln>
            <a:noFill/>
          </a:ln>
        </p:spPr>
        <p:txBody>
          <a:bodyPr wrap="none" lIns="0" tIns="0" rIns="0" bIns="0" anchor="t" anchorCtr="0">
            <a:spAutoFit/>
          </a:bodyPr>
          <a:lstStyle/>
          <a:p>
            <a:pPr algn="ctr"/>
            <a:r>
              <a:rPr lang="zh-CN" sz="1350" dirty="0">
                <a:solidFill>
                  <a:srgbClr val="2F855A"/>
                </a:solidFill>
                <a:latin typeface="Arial"/>
                <a:ea typeface="Microsoft YaHei"/>
                <a:cs typeface="Arial"/>
              </a:rPr>
              <a:t>↓</a:t>
            </a:r>
          </a:p>
        </p:txBody>
      </p:sp>
      <p:sp>
        <p:nvSpPr>
          <p:cNvPr id="31" name="Rectangle 31"/>
          <p:cNvSpPr/>
          <p:nvPr/>
        </p:nvSpPr>
        <p:spPr>
          <a:xfrm>
            <a:off x="6553200" y="3143250"/>
            <a:ext cx="4876800" cy="438150"/>
          </a:xfrm>
          <a:prstGeom prst="roundRect">
            <a:avLst>
              <a:gd name="adj" fmla="val 13043"/>
            </a:avLst>
          </a:prstGeom>
          <a:solidFill>
            <a:srgbClr val="D1FAE5"/>
          </a:solidFill>
          <a:ln>
            <a:noFill/>
          </a:ln>
        </p:spPr>
      </p:sp>
      <p:sp>
        <p:nvSpPr>
          <p:cNvPr id="32" name="TextBox 32"/>
          <p:cNvSpPr txBox="1"/>
          <p:nvPr/>
        </p:nvSpPr>
        <p:spPr>
          <a:xfrm>
            <a:off x="6730365" y="3220402"/>
            <a:ext cx="2989440" cy="213360"/>
          </a:xfrm>
          <a:prstGeom prst="rect">
            <a:avLst/>
          </a:prstGeom>
          <a:noFill/>
          <a:ln>
            <a:noFill/>
          </a:ln>
        </p:spPr>
        <p:txBody>
          <a:bodyPr wrap="none" lIns="0" tIns="0" rIns="0" bIns="0" anchor="t" anchorCtr="0">
            <a:spAutoFit/>
          </a:bodyPr>
          <a:lstStyle/>
          <a:p>
            <a:pPr algn="l"/>
            <a:r>
              <a:rPr lang="zh-CN" sz="1050" b="1" dirty="0">
                <a:solidFill>
                  <a:srgbClr val="065F46"/>
                </a:solidFill>
                <a:latin typeface="Arial"/>
                <a:ea typeface="Microsoft YaHei"/>
                <a:cs typeface="Arial"/>
              </a:rPr>
              <a:t>family/subtype 归类 + regime 时间权重</a:t>
            </a:r>
          </a:p>
        </p:txBody>
      </p:sp>
      <p:sp>
        <p:nvSpPr>
          <p:cNvPr id="33" name="TextBox 33"/>
          <p:cNvSpPr txBox="1"/>
          <p:nvPr/>
        </p:nvSpPr>
        <p:spPr>
          <a:xfrm>
            <a:off x="6732270" y="3408045"/>
            <a:ext cx="3243262" cy="182880"/>
          </a:xfrm>
          <a:prstGeom prst="rect">
            <a:avLst/>
          </a:prstGeom>
          <a:noFill/>
          <a:ln>
            <a:noFill/>
          </a:ln>
        </p:spPr>
        <p:txBody>
          <a:bodyPr wrap="none" lIns="0" tIns="0" rIns="0" bIns="0" anchor="t" anchorCtr="0">
            <a:spAutoFit/>
          </a:bodyPr>
          <a:lstStyle/>
          <a:p>
            <a:pPr algn="l"/>
            <a:r>
              <a:rPr lang="zh-CN" sz="900" dirty="0">
                <a:solidFill>
                  <a:srgbClr val="065F46"/>
                </a:solidFill>
                <a:latin typeface="Arial"/>
                <a:ea typeface="Microsoft YaHei"/>
                <a:cs typeface="Arial"/>
              </a:rPr>
              <a:t>B 线 + C 线：将 kernel 行为对齐到硬件机制和影响范围</a:t>
            </a:r>
          </a:p>
        </p:txBody>
      </p:sp>
      <p:sp>
        <p:nvSpPr>
          <p:cNvPr id="34" name="TextBox 34"/>
          <p:cNvSpPr txBox="1"/>
          <p:nvPr/>
        </p:nvSpPr>
        <p:spPr>
          <a:xfrm>
            <a:off x="8920234" y="3607118"/>
            <a:ext cx="142732" cy="274320"/>
          </a:xfrm>
          <a:prstGeom prst="rect">
            <a:avLst/>
          </a:prstGeom>
          <a:noFill/>
          <a:ln>
            <a:noFill/>
          </a:ln>
        </p:spPr>
        <p:txBody>
          <a:bodyPr wrap="none" lIns="0" tIns="0" rIns="0" bIns="0" anchor="t" anchorCtr="0">
            <a:spAutoFit/>
          </a:bodyPr>
          <a:lstStyle/>
          <a:p>
            <a:pPr algn="ctr"/>
            <a:r>
              <a:rPr lang="zh-CN" sz="1350" dirty="0">
                <a:solidFill>
                  <a:srgbClr val="2F855A"/>
                </a:solidFill>
                <a:latin typeface="Arial"/>
                <a:ea typeface="Microsoft YaHei"/>
                <a:cs typeface="Arial"/>
              </a:rPr>
              <a:t>↓</a:t>
            </a:r>
          </a:p>
        </p:txBody>
      </p:sp>
      <p:sp>
        <p:nvSpPr>
          <p:cNvPr id="35" name="Rectangle 35"/>
          <p:cNvSpPr/>
          <p:nvPr/>
        </p:nvSpPr>
        <p:spPr>
          <a:xfrm>
            <a:off x="6553200" y="3867150"/>
            <a:ext cx="4876800" cy="438150"/>
          </a:xfrm>
          <a:prstGeom prst="roundRect">
            <a:avLst>
              <a:gd name="adj" fmla="val 13043"/>
            </a:avLst>
          </a:prstGeom>
          <a:solidFill>
            <a:srgbClr val="D1FAE5"/>
          </a:solidFill>
          <a:ln>
            <a:noFill/>
          </a:ln>
        </p:spPr>
      </p:sp>
      <p:sp>
        <p:nvSpPr>
          <p:cNvPr id="36" name="TextBox 36"/>
          <p:cNvSpPr txBox="1"/>
          <p:nvPr/>
        </p:nvSpPr>
        <p:spPr>
          <a:xfrm>
            <a:off x="6730365" y="3944302"/>
            <a:ext cx="2860624" cy="213360"/>
          </a:xfrm>
          <a:prstGeom prst="rect">
            <a:avLst/>
          </a:prstGeom>
          <a:noFill/>
          <a:ln>
            <a:noFill/>
          </a:ln>
        </p:spPr>
        <p:txBody>
          <a:bodyPr wrap="none" lIns="0" tIns="0" rIns="0" bIns="0" anchor="t" anchorCtr="0">
            <a:spAutoFit/>
          </a:bodyPr>
          <a:lstStyle/>
          <a:p>
            <a:pPr algn="l"/>
            <a:r>
              <a:rPr lang="zh-CN" sz="1050" b="1" dirty="0">
                <a:solidFill>
                  <a:srgbClr val="065F46"/>
                </a:solidFill>
                <a:latin typeface="Arial"/>
                <a:ea typeface="Microsoft YaHei"/>
                <a:cs typeface="Arial"/>
              </a:rPr>
              <a:t>自动映射到 simulator knob + 闭环验证</a:t>
            </a:r>
          </a:p>
        </p:txBody>
      </p:sp>
      <p:sp>
        <p:nvSpPr>
          <p:cNvPr id="37" name="TextBox 37"/>
          <p:cNvSpPr txBox="1"/>
          <p:nvPr/>
        </p:nvSpPr>
        <p:spPr>
          <a:xfrm>
            <a:off x="6732270" y="4131945"/>
            <a:ext cx="3197257" cy="182880"/>
          </a:xfrm>
          <a:prstGeom prst="rect">
            <a:avLst/>
          </a:prstGeom>
          <a:noFill/>
          <a:ln>
            <a:noFill/>
          </a:ln>
        </p:spPr>
        <p:txBody>
          <a:bodyPr wrap="none" lIns="0" tIns="0" rIns="0" bIns="0" anchor="t" anchorCtr="0">
            <a:spAutoFit/>
          </a:bodyPr>
          <a:lstStyle/>
          <a:p>
            <a:pPr algn="l"/>
            <a:r>
              <a:rPr lang="zh-CN" sz="900" dirty="0">
                <a:solidFill>
                  <a:srgbClr val="065F46"/>
                </a:solidFill>
                <a:latin typeface="Arial"/>
                <a:ea typeface="Microsoft YaHei"/>
                <a:cs typeface="Arial"/>
              </a:rPr>
              <a:t>从 evidence 直接到 prescription，改后实测验证效果</a:t>
            </a:r>
          </a:p>
        </p:txBody>
      </p:sp>
      <p:sp>
        <p:nvSpPr>
          <p:cNvPr id="38" name="Rectangle 38"/>
          <p:cNvSpPr/>
          <p:nvPr/>
        </p:nvSpPr>
        <p:spPr>
          <a:xfrm>
            <a:off x="6553200" y="4572000"/>
            <a:ext cx="4876800" cy="914400"/>
          </a:xfrm>
          <a:prstGeom prst="roundRect">
            <a:avLst>
              <a:gd name="adj" fmla="val 6250"/>
            </a:avLst>
          </a:prstGeom>
          <a:solidFill>
            <a:srgbClr val="D1FAE5"/>
          </a:solidFill>
          <a:ln w="9525">
            <a:solidFill>
              <a:srgbClr val="A7F3D0"/>
            </a:solidFill>
          </a:ln>
        </p:spPr>
      </p:sp>
      <p:sp>
        <p:nvSpPr>
          <p:cNvPr id="39" name="TextBox 39"/>
          <p:cNvSpPr txBox="1"/>
          <p:nvPr/>
        </p:nvSpPr>
        <p:spPr>
          <a:xfrm>
            <a:off x="6729412" y="4698206"/>
            <a:ext cx="2694033" cy="228600"/>
          </a:xfrm>
          <a:prstGeom prst="rect">
            <a:avLst/>
          </a:prstGeom>
          <a:noFill/>
          <a:ln>
            <a:noFill/>
          </a:ln>
        </p:spPr>
        <p:txBody>
          <a:bodyPr wrap="none" lIns="0" tIns="0" rIns="0" bIns="0" anchor="t" anchorCtr="0">
            <a:spAutoFit/>
          </a:bodyPr>
          <a:lstStyle/>
          <a:p>
            <a:pPr algn="l"/>
            <a:r>
              <a:rPr lang="zh-CN" sz="1125" b="1" dirty="0">
                <a:solidFill>
                  <a:srgbClr val="065F46"/>
                </a:solidFill>
                <a:latin typeface="Arial"/>
                <a:ea typeface="Microsoft YaHei"/>
                <a:cs typeface="Arial"/>
              </a:rPr>
              <a:t>相比 microbenchmark 的三点提升</a:t>
            </a:r>
          </a:p>
        </p:txBody>
      </p:sp>
      <p:sp>
        <p:nvSpPr>
          <p:cNvPr id="40" name="TextBox 40"/>
          <p:cNvSpPr txBox="1"/>
          <p:nvPr/>
        </p:nvSpPr>
        <p:spPr>
          <a:xfrm>
            <a:off x="6731318" y="4942999"/>
            <a:ext cx="2844260" cy="198120"/>
          </a:xfrm>
          <a:prstGeom prst="rect">
            <a:avLst/>
          </a:prstGeom>
          <a:noFill/>
          <a:ln>
            <a:noFill/>
          </a:ln>
        </p:spPr>
        <p:txBody>
          <a:bodyPr wrap="none" lIns="0" tIns="0" rIns="0" bIns="0" anchor="t" anchorCtr="0">
            <a:spAutoFit/>
          </a:bodyPr>
          <a:lstStyle/>
          <a:p>
            <a:pPr algn="l"/>
            <a:r>
              <a:rPr lang="zh-CN" sz="975" dirty="0">
                <a:solidFill>
                  <a:srgbClr val="065F46"/>
                </a:solidFill>
                <a:latin typeface="Arial"/>
                <a:ea typeface="Microsoft YaHei"/>
                <a:cs typeface="Arial"/>
              </a:rPr>
              <a:t>1. 自动化：不需要为每个 kernel 手工写测试</a:t>
            </a:r>
          </a:p>
        </p:txBody>
      </p:sp>
      <p:sp>
        <p:nvSpPr>
          <p:cNvPr id="41" name="TextBox 41"/>
          <p:cNvSpPr txBox="1"/>
          <p:nvPr/>
        </p:nvSpPr>
        <p:spPr>
          <a:xfrm>
            <a:off x="6731318" y="5152549"/>
            <a:ext cx="3442335" cy="198120"/>
          </a:xfrm>
          <a:prstGeom prst="rect">
            <a:avLst/>
          </a:prstGeom>
          <a:noFill/>
          <a:ln>
            <a:noFill/>
          </a:ln>
        </p:spPr>
        <p:txBody>
          <a:bodyPr wrap="none" lIns="0" tIns="0" rIns="0" bIns="0" anchor="t" anchorCtr="0">
            <a:spAutoFit/>
          </a:bodyPr>
          <a:lstStyle/>
          <a:p>
            <a:pPr algn="l"/>
            <a:r>
              <a:rPr lang="zh-CN" sz="975" dirty="0">
                <a:solidFill>
                  <a:srgbClr val="065F46"/>
                </a:solidFill>
                <a:latin typeface="Arial"/>
                <a:ea typeface="Microsoft YaHei"/>
                <a:cs typeface="Arial"/>
              </a:rPr>
              <a:t>2. 有上下文：保留 workload 级别的 kernel 交互模式</a:t>
            </a:r>
          </a:p>
        </p:txBody>
      </p:sp>
      <p:sp>
        <p:nvSpPr>
          <p:cNvPr id="42" name="TextBox 42"/>
          <p:cNvSpPr txBox="1"/>
          <p:nvPr/>
        </p:nvSpPr>
        <p:spPr>
          <a:xfrm>
            <a:off x="6902768" y="5343049"/>
            <a:ext cx="3648813" cy="198120"/>
          </a:xfrm>
          <a:prstGeom prst="rect">
            <a:avLst/>
          </a:prstGeom>
          <a:noFill/>
          <a:ln>
            <a:noFill/>
          </a:ln>
        </p:spPr>
        <p:txBody>
          <a:bodyPr wrap="none" lIns="0" tIns="0" rIns="0" bIns="0" anchor="t" anchorCtr="0">
            <a:spAutoFit/>
          </a:bodyPr>
          <a:lstStyle/>
          <a:p>
            <a:pPr algn="l"/>
            <a:r>
              <a:rPr lang="zh-CN" sz="975" dirty="0">
                <a:solidFill>
                  <a:srgbClr val="065F46"/>
                </a:solidFill>
                <a:latin typeface="Arial"/>
                <a:ea typeface="Microsoft YaHei"/>
                <a:cs typeface="Arial"/>
              </a:rPr>
              <a:t>3. 可验证：修改 knob 后能在 simulator 里闭环验证效果</a:t>
            </a:r>
          </a:p>
        </p:txBody>
      </p:sp>
      <p:sp>
        <p:nvSpPr>
          <p:cNvPr id="43" name="Rectangle 43"/>
          <p:cNvSpPr/>
          <p:nvPr/>
        </p:nvSpPr>
        <p:spPr>
          <a:xfrm>
            <a:off x="533400" y="5943600"/>
            <a:ext cx="11125200" cy="361950"/>
          </a:xfrm>
          <a:prstGeom prst="roundRect">
            <a:avLst>
              <a:gd name="adj" fmla="val 21053"/>
            </a:avLst>
          </a:prstGeom>
          <a:solidFill>
            <a:srgbClr val="1E3A5F"/>
          </a:solidFill>
          <a:ln>
            <a:noFill/>
          </a:ln>
        </p:spPr>
      </p:sp>
      <p:sp>
        <p:nvSpPr>
          <p:cNvPr id="44" name="TextBox 44"/>
          <p:cNvSpPr txBox="1"/>
          <p:nvPr/>
        </p:nvSpPr>
        <p:spPr>
          <a:xfrm>
            <a:off x="2920165" y="6052185"/>
            <a:ext cx="6351670"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接下来展开：端到端从 PKA evidence 到 simulator prescription 的完整设计</a:t>
            </a:r>
          </a:p>
        </p:txBody>
      </p:sp>
      <p:sp>
        <p:nvSpPr>
          <p:cNvPr id="45" name="TextBox 45"/>
          <p:cNvSpPr txBox="1"/>
          <p:nvPr/>
        </p:nvSpPr>
        <p:spPr>
          <a:xfrm>
            <a:off x="520065" y="6477952"/>
            <a:ext cx="284835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our_approach_overview</a:t>
            </a:r>
          </a:p>
        </p:txBody>
      </p:sp>
      <p:sp>
        <p:nvSpPr>
          <p:cNvPr id="46" name="TextBox 46"/>
          <p:cNvSpPr txBox="1"/>
          <p:nvPr/>
        </p:nvSpPr>
        <p:spPr>
          <a:xfrm>
            <a:off x="11274600" y="650224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06 / 21</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177964"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PREREQUISITE 2</a:t>
            </a:r>
          </a:p>
        </p:txBody>
      </p:sp>
      <p:sp>
        <p:nvSpPr>
          <p:cNvPr id="4" name="TextBox 4"/>
          <p:cNvSpPr txBox="1"/>
          <p:nvPr/>
        </p:nvSpPr>
        <p:spPr>
          <a:xfrm>
            <a:off x="502920" y="845820"/>
            <a:ext cx="5673661"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当前 GPU 模拟器主要服务四类问题</a:t>
            </a:r>
          </a:p>
        </p:txBody>
      </p:sp>
      <p:sp>
        <p:nvSpPr>
          <p:cNvPr id="5" name="TextBox 5"/>
          <p:cNvSpPr txBox="1"/>
          <p:nvPr/>
        </p:nvSpPr>
        <p:spPr>
          <a:xfrm>
            <a:off x="515302" y="1274921"/>
            <a:ext cx="8340233"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真实硬件 profiling 告诉我们发生了什么，模拟器进一步回答“如果硬件机制改变会怎样”。</a:t>
            </a:r>
          </a:p>
        </p:txBody>
      </p:sp>
      <p:sp>
        <p:nvSpPr>
          <p:cNvPr id="6" name="Rectangle 6"/>
          <p:cNvSpPr/>
          <p:nvPr/>
        </p:nvSpPr>
        <p:spPr>
          <a:xfrm>
            <a:off x="533400" y="1885950"/>
            <a:ext cx="5238750" cy="1504950"/>
          </a:xfrm>
          <a:prstGeom prst="roundRect">
            <a:avLst>
              <a:gd name="adj" fmla="val 5063"/>
            </a:avLst>
          </a:prstGeom>
          <a:solidFill>
            <a:srgbClr val="FFFFFF"/>
          </a:solidFill>
          <a:ln w="9525">
            <a:solidFill>
              <a:srgbClr val="CBD5E1"/>
            </a:solidFill>
          </a:ln>
        </p:spPr>
      </p:sp>
      <p:sp>
        <p:nvSpPr>
          <p:cNvPr id="7" name="TextBox 7"/>
          <p:cNvSpPr txBox="1"/>
          <p:nvPr/>
        </p:nvSpPr>
        <p:spPr>
          <a:xfrm>
            <a:off x="798195" y="2107882"/>
            <a:ext cx="2357149" cy="335280"/>
          </a:xfrm>
          <a:prstGeom prst="rect">
            <a:avLst/>
          </a:prstGeom>
          <a:noFill/>
          <a:ln>
            <a:noFill/>
          </a:ln>
        </p:spPr>
        <p:txBody>
          <a:bodyPr wrap="none" lIns="0" tIns="0" rIns="0" bIns="0" anchor="t" anchorCtr="0">
            <a:spAutoFit/>
          </a:bodyPr>
          <a:lstStyle/>
          <a:p>
            <a:pPr algn="l"/>
            <a:r>
              <a:rPr lang="zh-CN" sz="1650" b="1" dirty="0">
                <a:solidFill>
                  <a:srgbClr val="1E3A5F"/>
                </a:solidFill>
                <a:latin typeface="Arial"/>
                <a:ea typeface="Microsoft YaHei"/>
                <a:cs typeface="Arial"/>
              </a:rPr>
              <a:t>1. 架构设计空间探索</a:t>
            </a:r>
          </a:p>
        </p:txBody>
      </p:sp>
      <p:sp>
        <p:nvSpPr>
          <p:cNvPr id="8" name="TextBox 8"/>
          <p:cNvSpPr txBox="1"/>
          <p:nvPr/>
        </p:nvSpPr>
        <p:spPr>
          <a:xfrm>
            <a:off x="802005" y="2502218"/>
            <a:ext cx="6402800"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在真实芯片不存在时评估 SM 数量、cache、memory、pipeline 等配置。</a:t>
            </a:r>
          </a:p>
        </p:txBody>
      </p:sp>
      <p:sp>
        <p:nvSpPr>
          <p:cNvPr id="9" name="TextBox 9"/>
          <p:cNvSpPr txBox="1"/>
          <p:nvPr/>
        </p:nvSpPr>
        <p:spPr>
          <a:xfrm>
            <a:off x="803910" y="2842260"/>
            <a:ext cx="4893945" cy="243840"/>
          </a:xfrm>
          <a:prstGeom prst="rect">
            <a:avLst/>
          </a:prstGeom>
          <a:noFill/>
          <a:ln>
            <a:noFill/>
          </a:ln>
        </p:spPr>
        <p:txBody>
          <a:bodyPr wrap="none" lIns="0" tIns="0" rIns="0" bIns="0" anchor="t" anchorCtr="0">
            <a:spAutoFit/>
          </a:bodyPr>
          <a:lstStyle/>
          <a:p>
            <a:pPr algn="l"/>
            <a:r>
              <a:rPr lang="zh-CN" sz="1200" dirty="0">
                <a:solidFill>
                  <a:srgbClr val="4B5563"/>
                </a:solidFill>
                <a:latin typeface="Arial"/>
                <a:ea typeface="Microsoft YaHei"/>
                <a:cs typeface="Arial"/>
              </a:rPr>
              <a:t>典型问题：某个资源加倍是否真的带来 workload-level 收益？</a:t>
            </a:r>
          </a:p>
        </p:txBody>
      </p:sp>
      <p:sp>
        <p:nvSpPr>
          <p:cNvPr id="10" name="Rectangle 10"/>
          <p:cNvSpPr/>
          <p:nvPr/>
        </p:nvSpPr>
        <p:spPr>
          <a:xfrm>
            <a:off x="6419850" y="1885950"/>
            <a:ext cx="5238750" cy="1504950"/>
          </a:xfrm>
          <a:prstGeom prst="roundRect">
            <a:avLst>
              <a:gd name="adj" fmla="val 5063"/>
            </a:avLst>
          </a:prstGeom>
          <a:solidFill>
            <a:srgbClr val="FFFFFF"/>
          </a:solidFill>
          <a:ln w="9525">
            <a:solidFill>
              <a:srgbClr val="CBD5E1"/>
            </a:solidFill>
          </a:ln>
        </p:spPr>
      </p:sp>
      <p:sp>
        <p:nvSpPr>
          <p:cNvPr id="11" name="TextBox 11"/>
          <p:cNvSpPr txBox="1"/>
          <p:nvPr/>
        </p:nvSpPr>
        <p:spPr>
          <a:xfrm>
            <a:off x="6684645" y="2107882"/>
            <a:ext cx="1914344" cy="335280"/>
          </a:xfrm>
          <a:prstGeom prst="rect">
            <a:avLst/>
          </a:prstGeom>
          <a:noFill/>
          <a:ln>
            <a:noFill/>
          </a:ln>
        </p:spPr>
        <p:txBody>
          <a:bodyPr wrap="none" lIns="0" tIns="0" rIns="0" bIns="0" anchor="t" anchorCtr="0">
            <a:spAutoFit/>
          </a:bodyPr>
          <a:lstStyle/>
          <a:p>
            <a:pPr algn="l"/>
            <a:r>
              <a:rPr lang="zh-CN" sz="1650" b="1" dirty="0">
                <a:solidFill>
                  <a:srgbClr val="1E3A5F"/>
                </a:solidFill>
                <a:latin typeface="Arial"/>
                <a:ea typeface="Microsoft YaHei"/>
                <a:cs typeface="Arial"/>
              </a:rPr>
              <a:t>2. 性能瓶颈归因</a:t>
            </a:r>
          </a:p>
        </p:txBody>
      </p:sp>
      <p:sp>
        <p:nvSpPr>
          <p:cNvPr id="12" name="TextBox 12"/>
          <p:cNvSpPr txBox="1"/>
          <p:nvPr/>
        </p:nvSpPr>
        <p:spPr>
          <a:xfrm>
            <a:off x="6688455" y="2502218"/>
            <a:ext cx="5683139"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判断慢在访存、计算、warp 调度、分支行为还是特定 pipeline。</a:t>
            </a:r>
          </a:p>
        </p:txBody>
      </p:sp>
      <p:sp>
        <p:nvSpPr>
          <p:cNvPr id="13" name="TextBox 13"/>
          <p:cNvSpPr txBox="1"/>
          <p:nvPr/>
        </p:nvSpPr>
        <p:spPr>
          <a:xfrm>
            <a:off x="6690360" y="2842260"/>
            <a:ext cx="3474339" cy="243840"/>
          </a:xfrm>
          <a:prstGeom prst="rect">
            <a:avLst/>
          </a:prstGeom>
          <a:noFill/>
          <a:ln>
            <a:noFill/>
          </a:ln>
        </p:spPr>
        <p:txBody>
          <a:bodyPr wrap="none" lIns="0" tIns="0" rIns="0" bIns="0" anchor="t" anchorCtr="0">
            <a:spAutoFit/>
          </a:bodyPr>
          <a:lstStyle/>
          <a:p>
            <a:pPr algn="l"/>
            <a:r>
              <a:rPr lang="zh-CN" sz="1200" dirty="0">
                <a:solidFill>
                  <a:srgbClr val="4B5563"/>
                </a:solidFill>
                <a:latin typeface="Arial"/>
                <a:ea typeface="Microsoft YaHei"/>
                <a:cs typeface="Arial"/>
              </a:rPr>
              <a:t>这一步需要把 kernel 行为对齐到硬件机制。</a:t>
            </a:r>
          </a:p>
        </p:txBody>
      </p:sp>
      <p:sp>
        <p:nvSpPr>
          <p:cNvPr id="14" name="Rectangle 14"/>
          <p:cNvSpPr/>
          <p:nvPr/>
        </p:nvSpPr>
        <p:spPr>
          <a:xfrm>
            <a:off x="533400" y="3695700"/>
            <a:ext cx="5238750" cy="1504950"/>
          </a:xfrm>
          <a:prstGeom prst="roundRect">
            <a:avLst>
              <a:gd name="adj" fmla="val 5063"/>
            </a:avLst>
          </a:prstGeom>
          <a:solidFill>
            <a:srgbClr val="FFFFFF"/>
          </a:solidFill>
          <a:ln w="9525">
            <a:solidFill>
              <a:srgbClr val="CBD5E1"/>
            </a:solidFill>
          </a:ln>
        </p:spPr>
      </p:sp>
      <p:sp>
        <p:nvSpPr>
          <p:cNvPr id="15" name="TextBox 15"/>
          <p:cNvSpPr txBox="1"/>
          <p:nvPr/>
        </p:nvSpPr>
        <p:spPr>
          <a:xfrm>
            <a:off x="798195" y="3917632"/>
            <a:ext cx="2673439" cy="335280"/>
          </a:xfrm>
          <a:prstGeom prst="rect">
            <a:avLst/>
          </a:prstGeom>
          <a:noFill/>
          <a:ln>
            <a:noFill/>
          </a:ln>
        </p:spPr>
        <p:txBody>
          <a:bodyPr wrap="none" lIns="0" tIns="0" rIns="0" bIns="0" anchor="t" anchorCtr="0">
            <a:spAutoFit/>
          </a:bodyPr>
          <a:lstStyle/>
          <a:p>
            <a:pPr algn="l"/>
            <a:r>
              <a:rPr lang="zh-CN" sz="1650" b="1" dirty="0">
                <a:solidFill>
                  <a:srgbClr val="D97706"/>
                </a:solidFill>
                <a:latin typeface="Arial"/>
                <a:ea typeface="Microsoft YaHei"/>
                <a:cs typeface="Arial"/>
              </a:rPr>
              <a:t>3. 软件与硬件协同优化</a:t>
            </a:r>
          </a:p>
        </p:txBody>
      </p:sp>
      <p:sp>
        <p:nvSpPr>
          <p:cNvPr id="16" name="TextBox 16"/>
          <p:cNvSpPr txBox="1"/>
          <p:nvPr/>
        </p:nvSpPr>
        <p:spPr>
          <a:xfrm>
            <a:off x="802005" y="4311968"/>
            <a:ext cx="5623989"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让 kernel、编译器策略、硬件参数可以在统一环境中先验验证。</a:t>
            </a:r>
          </a:p>
        </p:txBody>
      </p:sp>
      <p:sp>
        <p:nvSpPr>
          <p:cNvPr id="17" name="TextBox 17"/>
          <p:cNvSpPr txBox="1"/>
          <p:nvPr/>
        </p:nvSpPr>
        <p:spPr>
          <a:xfrm>
            <a:off x="803910" y="4652010"/>
            <a:ext cx="4061460" cy="243840"/>
          </a:xfrm>
          <a:prstGeom prst="rect">
            <a:avLst/>
          </a:prstGeom>
          <a:noFill/>
          <a:ln>
            <a:noFill/>
          </a:ln>
        </p:spPr>
        <p:txBody>
          <a:bodyPr wrap="none" lIns="0" tIns="0" rIns="0" bIns="0" anchor="t" anchorCtr="0">
            <a:spAutoFit/>
          </a:bodyPr>
          <a:lstStyle/>
          <a:p>
            <a:pPr algn="l"/>
            <a:r>
              <a:rPr lang="zh-CN" sz="1200" dirty="0">
                <a:solidFill>
                  <a:srgbClr val="4B5563"/>
                </a:solidFill>
                <a:latin typeface="Arial"/>
                <a:ea typeface="Microsoft YaHei"/>
                <a:cs typeface="Arial"/>
              </a:rPr>
              <a:t>典型问题：软件优化是否只是在规避某个硬件限制？</a:t>
            </a:r>
          </a:p>
        </p:txBody>
      </p:sp>
      <p:sp>
        <p:nvSpPr>
          <p:cNvPr id="18" name="Rectangle 18"/>
          <p:cNvSpPr/>
          <p:nvPr/>
        </p:nvSpPr>
        <p:spPr>
          <a:xfrm>
            <a:off x="6419850" y="3695700"/>
            <a:ext cx="5238750" cy="1504950"/>
          </a:xfrm>
          <a:prstGeom prst="roundRect">
            <a:avLst>
              <a:gd name="adj" fmla="val 5063"/>
            </a:avLst>
          </a:prstGeom>
          <a:solidFill>
            <a:srgbClr val="FFFFFF"/>
          </a:solidFill>
          <a:ln w="9525">
            <a:solidFill>
              <a:srgbClr val="CBD5E1"/>
            </a:solidFill>
          </a:ln>
        </p:spPr>
      </p:sp>
      <p:sp>
        <p:nvSpPr>
          <p:cNvPr id="19" name="TextBox 19"/>
          <p:cNvSpPr txBox="1"/>
          <p:nvPr/>
        </p:nvSpPr>
        <p:spPr>
          <a:xfrm>
            <a:off x="6684645" y="3917632"/>
            <a:ext cx="2167376" cy="335280"/>
          </a:xfrm>
          <a:prstGeom prst="rect">
            <a:avLst/>
          </a:prstGeom>
          <a:noFill/>
          <a:ln>
            <a:noFill/>
          </a:ln>
        </p:spPr>
        <p:txBody>
          <a:bodyPr wrap="none" lIns="0" tIns="0" rIns="0" bIns="0" anchor="t" anchorCtr="0">
            <a:spAutoFit/>
          </a:bodyPr>
          <a:lstStyle/>
          <a:p>
            <a:pPr algn="l"/>
            <a:r>
              <a:rPr lang="zh-CN" sz="1650" b="1" dirty="0">
                <a:solidFill>
                  <a:srgbClr val="2F855A"/>
                </a:solidFill>
                <a:latin typeface="Arial"/>
                <a:ea typeface="Microsoft YaHei"/>
                <a:cs typeface="Arial"/>
              </a:rPr>
              <a:t>4. 可复现实验平台</a:t>
            </a:r>
          </a:p>
        </p:txBody>
      </p:sp>
      <p:sp>
        <p:nvSpPr>
          <p:cNvPr id="20" name="TextBox 20"/>
          <p:cNvSpPr txBox="1"/>
          <p:nvPr/>
        </p:nvSpPr>
        <p:spPr>
          <a:xfrm>
            <a:off x="6688455" y="4311968"/>
            <a:ext cx="6126766"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研究中常用 GPGPU-Sim / Accel-Sim 这类 trace-driven simulator。</a:t>
            </a:r>
          </a:p>
        </p:txBody>
      </p:sp>
      <p:sp>
        <p:nvSpPr>
          <p:cNvPr id="21" name="TextBox 21"/>
          <p:cNvSpPr txBox="1"/>
          <p:nvPr/>
        </p:nvSpPr>
        <p:spPr>
          <a:xfrm>
            <a:off x="6690360" y="4652010"/>
            <a:ext cx="3597021" cy="243840"/>
          </a:xfrm>
          <a:prstGeom prst="rect">
            <a:avLst/>
          </a:prstGeom>
          <a:noFill/>
          <a:ln>
            <a:noFill/>
          </a:ln>
        </p:spPr>
        <p:txBody>
          <a:bodyPr wrap="none" lIns="0" tIns="0" rIns="0" bIns="0" anchor="t" anchorCtr="0">
            <a:spAutoFit/>
          </a:bodyPr>
          <a:lstStyle/>
          <a:p>
            <a:pPr algn="l"/>
            <a:r>
              <a:rPr lang="zh-CN" sz="1200" dirty="0">
                <a:solidFill>
                  <a:srgbClr val="4B5563"/>
                </a:solidFill>
                <a:latin typeface="Arial"/>
                <a:ea typeface="Microsoft YaHei"/>
                <a:cs typeface="Arial"/>
              </a:rPr>
              <a:t>同一 trace 可以在不同架构配置下重复评估。</a:t>
            </a:r>
          </a:p>
        </p:txBody>
      </p:sp>
      <p:sp>
        <p:nvSpPr>
          <p:cNvPr id="22" name="Rectangle 22"/>
          <p:cNvSpPr/>
          <p:nvPr/>
        </p:nvSpPr>
        <p:spPr>
          <a:xfrm>
            <a:off x="533400" y="5562600"/>
            <a:ext cx="11125200" cy="400050"/>
          </a:xfrm>
          <a:prstGeom prst="roundRect">
            <a:avLst>
              <a:gd name="adj" fmla="val 19048"/>
            </a:avLst>
          </a:prstGeom>
          <a:solidFill>
            <a:srgbClr val="F8FAFC"/>
          </a:solidFill>
          <a:ln w="9525">
            <a:solidFill>
              <a:srgbClr val="CBD5E1"/>
            </a:solidFill>
          </a:ln>
        </p:spPr>
      </p:sp>
      <p:sp>
        <p:nvSpPr>
          <p:cNvPr id="23" name="TextBox 23"/>
          <p:cNvSpPr txBox="1"/>
          <p:nvPr/>
        </p:nvSpPr>
        <p:spPr>
          <a:xfrm>
            <a:off x="2792319" y="5674042"/>
            <a:ext cx="6607362"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我们的目标：让压缩后的 trace 仍然能支撑这种机制级 what-if 分析。</a:t>
            </a:r>
          </a:p>
        </p:txBody>
      </p:sp>
      <p:sp>
        <p:nvSpPr>
          <p:cNvPr id="24" name="TextBox 24"/>
          <p:cNvSpPr txBox="1"/>
          <p:nvPr/>
        </p:nvSpPr>
        <p:spPr>
          <a:xfrm>
            <a:off x="520065" y="6116002"/>
            <a:ext cx="3323749"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prerequisite_simulator_usage</a:t>
            </a:r>
          </a:p>
        </p:txBody>
      </p:sp>
      <p:sp>
        <p:nvSpPr>
          <p:cNvPr id="25" name="TextBox 25"/>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07 / 21</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177964"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PREREQUISITE 3</a:t>
            </a:r>
          </a:p>
        </p:txBody>
      </p:sp>
      <p:sp>
        <p:nvSpPr>
          <p:cNvPr id="4" name="TextBox 4"/>
          <p:cNvSpPr txBox="1"/>
          <p:nvPr/>
        </p:nvSpPr>
        <p:spPr>
          <a:xfrm>
            <a:off x="502920" y="845820"/>
            <a:ext cx="690661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Trace-driven simulator 的基本工作方式</a:t>
            </a:r>
          </a:p>
        </p:txBody>
      </p:sp>
      <p:sp>
        <p:nvSpPr>
          <p:cNvPr id="5" name="TextBox 5"/>
          <p:cNvSpPr txBox="1"/>
          <p:nvPr/>
        </p:nvSpPr>
        <p:spPr>
          <a:xfrm>
            <a:off x="515302" y="1274921"/>
            <a:ext cx="7205972"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它不是直接运行 CUDA 程序，而是记录 kernel 行为，再在模拟器配置中回放。</a:t>
            </a:r>
          </a:p>
        </p:txBody>
      </p:sp>
      <p:sp>
        <p:nvSpPr>
          <p:cNvPr id="6" name="Rectangle 6"/>
          <p:cNvSpPr/>
          <p:nvPr/>
        </p:nvSpPr>
        <p:spPr>
          <a:xfrm>
            <a:off x="685800" y="2247900"/>
            <a:ext cx="2000250" cy="1238250"/>
          </a:xfrm>
          <a:prstGeom prst="roundRect">
            <a:avLst>
              <a:gd name="adj" fmla="val 6154"/>
            </a:avLst>
          </a:prstGeom>
          <a:solidFill>
            <a:srgbClr val="FFFFFF"/>
          </a:solidFill>
          <a:ln w="9525">
            <a:solidFill>
              <a:srgbClr val="CBD5E1"/>
            </a:solidFill>
          </a:ln>
        </p:spPr>
      </p:sp>
      <p:sp>
        <p:nvSpPr>
          <p:cNvPr id="7" name="TextBox 7"/>
          <p:cNvSpPr txBox="1"/>
          <p:nvPr/>
        </p:nvSpPr>
        <p:spPr>
          <a:xfrm>
            <a:off x="1158907" y="2546032"/>
            <a:ext cx="1054036" cy="335280"/>
          </a:xfrm>
          <a:prstGeom prst="rect">
            <a:avLst/>
          </a:prstGeom>
          <a:noFill/>
          <a:ln>
            <a:noFill/>
          </a:ln>
        </p:spPr>
        <p:txBody>
          <a:bodyPr wrap="none" lIns="0" tIns="0" rIns="0" bIns="0" anchor="t" anchorCtr="0">
            <a:spAutoFit/>
          </a:bodyPr>
          <a:lstStyle/>
          <a:p>
            <a:pPr algn="ctr"/>
            <a:r>
              <a:rPr lang="zh-CN" sz="1650" b="1" dirty="0">
                <a:solidFill>
                  <a:srgbClr val="1E3A5F"/>
                </a:solidFill>
                <a:latin typeface="Arial"/>
                <a:ea typeface="Microsoft YaHei"/>
                <a:cs typeface="Arial"/>
              </a:rPr>
              <a:t>真实运行</a:t>
            </a:r>
          </a:p>
        </p:txBody>
      </p:sp>
      <p:sp>
        <p:nvSpPr>
          <p:cNvPr id="8" name="TextBox 8"/>
          <p:cNvSpPr txBox="1"/>
          <p:nvPr/>
        </p:nvSpPr>
        <p:spPr>
          <a:xfrm>
            <a:off x="1152989" y="2929414"/>
            <a:ext cx="1065871" cy="259080"/>
          </a:xfrm>
          <a:prstGeom prst="rect">
            <a:avLst/>
          </a:prstGeom>
          <a:noFill/>
          <a:ln>
            <a:noFill/>
          </a:ln>
        </p:spPr>
        <p:txBody>
          <a:bodyPr wrap="none" lIns="0" tIns="0" rIns="0" bIns="0" anchor="t" anchorCtr="0">
            <a:spAutoFit/>
          </a:bodyPr>
          <a:lstStyle/>
          <a:p>
            <a:pPr algn="ctr"/>
            <a:r>
              <a:rPr lang="zh-CN" sz="1275" dirty="0">
                <a:solidFill>
                  <a:srgbClr val="4B5563"/>
                </a:solidFill>
                <a:latin typeface="Arial"/>
                <a:ea typeface="Microsoft YaHei"/>
                <a:cs typeface="Arial"/>
              </a:rPr>
              <a:t>CUDA kernel</a:t>
            </a:r>
          </a:p>
        </p:txBody>
      </p:sp>
      <p:sp>
        <p:nvSpPr>
          <p:cNvPr id="9" name="Rectangle 9"/>
          <p:cNvSpPr/>
          <p:nvPr/>
        </p:nvSpPr>
        <p:spPr>
          <a:xfrm>
            <a:off x="3162300" y="2247900"/>
            <a:ext cx="2000250" cy="1238250"/>
          </a:xfrm>
          <a:prstGeom prst="roundRect">
            <a:avLst>
              <a:gd name="adj" fmla="val 6154"/>
            </a:avLst>
          </a:prstGeom>
          <a:solidFill>
            <a:srgbClr val="FFFFFF"/>
          </a:solidFill>
          <a:ln w="9525">
            <a:solidFill>
              <a:srgbClr val="CBD5E1"/>
            </a:solidFill>
          </a:ln>
        </p:spPr>
      </p:sp>
      <p:sp>
        <p:nvSpPr>
          <p:cNvPr id="10" name="TextBox 10"/>
          <p:cNvSpPr txBox="1"/>
          <p:nvPr/>
        </p:nvSpPr>
        <p:spPr>
          <a:xfrm>
            <a:off x="3723968" y="2546032"/>
            <a:ext cx="876914" cy="335280"/>
          </a:xfrm>
          <a:prstGeom prst="rect">
            <a:avLst/>
          </a:prstGeom>
          <a:noFill/>
          <a:ln>
            <a:noFill/>
          </a:ln>
        </p:spPr>
        <p:txBody>
          <a:bodyPr wrap="none" lIns="0" tIns="0" rIns="0" bIns="0" anchor="t" anchorCtr="0">
            <a:spAutoFit/>
          </a:bodyPr>
          <a:lstStyle/>
          <a:p>
            <a:pPr algn="ctr"/>
            <a:r>
              <a:rPr lang="zh-CN" sz="1650" b="1" dirty="0">
                <a:solidFill>
                  <a:srgbClr val="1E3A5F"/>
                </a:solidFill>
                <a:latin typeface="Arial"/>
                <a:ea typeface="Microsoft YaHei"/>
                <a:cs typeface="Arial"/>
              </a:rPr>
              <a:t>tracer</a:t>
            </a:r>
          </a:p>
        </p:txBody>
      </p:sp>
      <p:sp>
        <p:nvSpPr>
          <p:cNvPr id="11" name="TextBox 11"/>
          <p:cNvSpPr txBox="1"/>
          <p:nvPr/>
        </p:nvSpPr>
        <p:spPr>
          <a:xfrm>
            <a:off x="3494484" y="2929414"/>
            <a:ext cx="1335881" cy="259080"/>
          </a:xfrm>
          <a:prstGeom prst="rect">
            <a:avLst/>
          </a:prstGeom>
          <a:noFill/>
          <a:ln>
            <a:noFill/>
          </a:ln>
        </p:spPr>
        <p:txBody>
          <a:bodyPr wrap="none" lIns="0" tIns="0" rIns="0" bIns="0" anchor="t" anchorCtr="0">
            <a:spAutoFit/>
          </a:bodyPr>
          <a:lstStyle/>
          <a:p>
            <a:pPr algn="ctr"/>
            <a:r>
              <a:rPr lang="zh-CN" sz="1275" dirty="0">
                <a:solidFill>
                  <a:srgbClr val="4B5563"/>
                </a:solidFill>
                <a:latin typeface="Arial"/>
                <a:ea typeface="Microsoft YaHei"/>
                <a:cs typeface="Arial"/>
              </a:rPr>
              <a:t>采集指令与访存</a:t>
            </a:r>
          </a:p>
        </p:txBody>
      </p:sp>
      <p:sp>
        <p:nvSpPr>
          <p:cNvPr id="12" name="Rectangle 12"/>
          <p:cNvSpPr/>
          <p:nvPr/>
        </p:nvSpPr>
        <p:spPr>
          <a:xfrm>
            <a:off x="5638800" y="2247900"/>
            <a:ext cx="2000250" cy="1238250"/>
          </a:xfrm>
          <a:prstGeom prst="roundRect">
            <a:avLst>
              <a:gd name="adj" fmla="val 6154"/>
            </a:avLst>
          </a:prstGeom>
          <a:solidFill>
            <a:srgbClr val="FFFFFF"/>
          </a:solidFill>
          <a:ln w="9525">
            <a:solidFill>
              <a:srgbClr val="CBD5E1"/>
            </a:solidFill>
          </a:ln>
        </p:spPr>
      </p:sp>
      <p:sp>
        <p:nvSpPr>
          <p:cNvPr id="13" name="TextBox 13"/>
          <p:cNvSpPr txBox="1"/>
          <p:nvPr/>
        </p:nvSpPr>
        <p:spPr>
          <a:xfrm>
            <a:off x="6270052" y="2546032"/>
            <a:ext cx="737747" cy="335280"/>
          </a:xfrm>
          <a:prstGeom prst="rect">
            <a:avLst/>
          </a:prstGeom>
          <a:noFill/>
          <a:ln>
            <a:noFill/>
          </a:ln>
        </p:spPr>
        <p:txBody>
          <a:bodyPr wrap="none" lIns="0" tIns="0" rIns="0" bIns="0" anchor="t" anchorCtr="0">
            <a:spAutoFit/>
          </a:bodyPr>
          <a:lstStyle/>
          <a:p>
            <a:pPr algn="ctr"/>
            <a:r>
              <a:rPr lang="zh-CN" sz="1650" b="1" dirty="0">
                <a:solidFill>
                  <a:srgbClr val="D97706"/>
                </a:solidFill>
                <a:latin typeface="Arial"/>
                <a:ea typeface="Microsoft YaHei"/>
                <a:cs typeface="Arial"/>
              </a:rPr>
              <a:t>trace</a:t>
            </a:r>
          </a:p>
        </p:txBody>
      </p:sp>
      <p:sp>
        <p:nvSpPr>
          <p:cNvPr id="14" name="TextBox 14"/>
          <p:cNvSpPr txBox="1"/>
          <p:nvPr/>
        </p:nvSpPr>
        <p:spPr>
          <a:xfrm>
            <a:off x="5938397" y="2929414"/>
            <a:ext cx="1401056" cy="259080"/>
          </a:xfrm>
          <a:prstGeom prst="rect">
            <a:avLst/>
          </a:prstGeom>
          <a:noFill/>
          <a:ln>
            <a:noFill/>
          </a:ln>
        </p:spPr>
        <p:txBody>
          <a:bodyPr wrap="none" lIns="0" tIns="0" rIns="0" bIns="0" anchor="t" anchorCtr="0">
            <a:spAutoFit/>
          </a:bodyPr>
          <a:lstStyle/>
          <a:p>
            <a:pPr algn="ctr"/>
            <a:r>
              <a:rPr lang="zh-CN" sz="1275" dirty="0">
                <a:solidFill>
                  <a:srgbClr val="4B5563"/>
                </a:solidFill>
                <a:latin typeface="Arial"/>
                <a:ea typeface="Microsoft YaHei"/>
                <a:cs typeface="Arial"/>
              </a:rPr>
              <a:t>kernel 行为记录</a:t>
            </a:r>
          </a:p>
        </p:txBody>
      </p:sp>
      <p:sp>
        <p:nvSpPr>
          <p:cNvPr id="15" name="Rectangle 15"/>
          <p:cNvSpPr/>
          <p:nvPr/>
        </p:nvSpPr>
        <p:spPr>
          <a:xfrm>
            <a:off x="8115300" y="2247900"/>
            <a:ext cx="2000250" cy="1238250"/>
          </a:xfrm>
          <a:prstGeom prst="roundRect">
            <a:avLst>
              <a:gd name="adj" fmla="val 6154"/>
            </a:avLst>
          </a:prstGeom>
          <a:solidFill>
            <a:srgbClr val="FFFFFF"/>
          </a:solidFill>
          <a:ln w="9525">
            <a:solidFill>
              <a:srgbClr val="CBD5E1"/>
            </a:solidFill>
          </a:ln>
        </p:spPr>
      </p:sp>
      <p:sp>
        <p:nvSpPr>
          <p:cNvPr id="16" name="TextBox 16"/>
          <p:cNvSpPr txBox="1"/>
          <p:nvPr/>
        </p:nvSpPr>
        <p:spPr>
          <a:xfrm>
            <a:off x="8506171" y="2546032"/>
            <a:ext cx="1218507" cy="335280"/>
          </a:xfrm>
          <a:prstGeom prst="rect">
            <a:avLst/>
          </a:prstGeom>
          <a:noFill/>
          <a:ln>
            <a:noFill/>
          </a:ln>
        </p:spPr>
        <p:txBody>
          <a:bodyPr wrap="none" lIns="0" tIns="0" rIns="0" bIns="0" anchor="t" anchorCtr="0">
            <a:spAutoFit/>
          </a:bodyPr>
          <a:lstStyle/>
          <a:p>
            <a:pPr algn="ctr"/>
            <a:r>
              <a:rPr lang="zh-CN" sz="1650" b="1" dirty="0">
                <a:solidFill>
                  <a:srgbClr val="D97706"/>
                </a:solidFill>
                <a:latin typeface="Arial"/>
                <a:ea typeface="Microsoft YaHei"/>
                <a:cs typeface="Arial"/>
              </a:rPr>
              <a:t>simulator</a:t>
            </a:r>
          </a:p>
        </p:txBody>
      </p:sp>
      <p:sp>
        <p:nvSpPr>
          <p:cNvPr id="17" name="TextBox 17"/>
          <p:cNvSpPr txBox="1"/>
          <p:nvPr/>
        </p:nvSpPr>
        <p:spPr>
          <a:xfrm>
            <a:off x="8447484" y="2929414"/>
            <a:ext cx="1335881" cy="259080"/>
          </a:xfrm>
          <a:prstGeom prst="rect">
            <a:avLst/>
          </a:prstGeom>
          <a:noFill/>
          <a:ln>
            <a:noFill/>
          </a:ln>
        </p:spPr>
        <p:txBody>
          <a:bodyPr wrap="none" lIns="0" tIns="0" rIns="0" bIns="0" anchor="t" anchorCtr="0">
            <a:spAutoFit/>
          </a:bodyPr>
          <a:lstStyle/>
          <a:p>
            <a:pPr algn="ctr"/>
            <a:r>
              <a:rPr lang="zh-CN" sz="1275" dirty="0">
                <a:solidFill>
                  <a:srgbClr val="4B5563"/>
                </a:solidFill>
                <a:latin typeface="Arial"/>
                <a:ea typeface="Microsoft YaHei"/>
                <a:cs typeface="Arial"/>
              </a:rPr>
              <a:t>架构配置下回放</a:t>
            </a:r>
          </a:p>
        </p:txBody>
      </p:sp>
      <p:sp>
        <p:nvSpPr>
          <p:cNvPr id="18" name="Line 18"/>
          <p:cNvSpPr/>
          <p:nvPr/>
        </p:nvSpPr>
        <p:spPr>
          <a:xfrm>
            <a:off x="2686050" y="2867025"/>
            <a:ext cx="476250" cy="9525"/>
          </a:xfrm>
          <a:custGeom>
            <a:avLst/>
            <a:gdLst/>
            <a:ahLst/>
            <a:cxnLst/>
            <a:rect l="l" t="t" r="r" b="b"/>
            <a:pathLst>
              <a:path w="476250" h="9525">
                <a:moveTo>
                  <a:pt x="0" y="0"/>
                </a:moveTo>
                <a:lnTo>
                  <a:pt x="476250" y="0"/>
                </a:lnTo>
              </a:path>
            </a:pathLst>
          </a:custGeom>
          <a:noFill/>
          <a:ln w="28575">
            <a:solidFill>
              <a:srgbClr val="CBD5E1"/>
            </a:solidFill>
          </a:ln>
        </p:spPr>
      </p:sp>
      <p:sp>
        <p:nvSpPr>
          <p:cNvPr id="19" name="Line 19"/>
          <p:cNvSpPr/>
          <p:nvPr/>
        </p:nvSpPr>
        <p:spPr>
          <a:xfrm>
            <a:off x="5162550" y="2867025"/>
            <a:ext cx="476250" cy="9525"/>
          </a:xfrm>
          <a:custGeom>
            <a:avLst/>
            <a:gdLst/>
            <a:ahLst/>
            <a:cxnLst/>
            <a:rect l="l" t="t" r="r" b="b"/>
            <a:pathLst>
              <a:path w="476250" h="9525">
                <a:moveTo>
                  <a:pt x="0" y="0"/>
                </a:moveTo>
                <a:lnTo>
                  <a:pt x="476250" y="0"/>
                </a:lnTo>
              </a:path>
            </a:pathLst>
          </a:custGeom>
          <a:noFill/>
          <a:ln w="28575">
            <a:solidFill>
              <a:srgbClr val="CBD5E1"/>
            </a:solidFill>
          </a:ln>
        </p:spPr>
      </p:sp>
      <p:sp>
        <p:nvSpPr>
          <p:cNvPr id="20" name="Line 20"/>
          <p:cNvSpPr/>
          <p:nvPr/>
        </p:nvSpPr>
        <p:spPr>
          <a:xfrm>
            <a:off x="7639050" y="2867025"/>
            <a:ext cx="476250" cy="9525"/>
          </a:xfrm>
          <a:custGeom>
            <a:avLst/>
            <a:gdLst/>
            <a:ahLst/>
            <a:cxnLst/>
            <a:rect l="l" t="t" r="r" b="b"/>
            <a:pathLst>
              <a:path w="476250" h="9525">
                <a:moveTo>
                  <a:pt x="0" y="0"/>
                </a:moveTo>
                <a:lnTo>
                  <a:pt x="476250" y="0"/>
                </a:lnTo>
              </a:path>
            </a:pathLst>
          </a:custGeom>
          <a:noFill/>
          <a:ln w="28575">
            <a:solidFill>
              <a:srgbClr val="CBD5E1"/>
            </a:solidFill>
          </a:ln>
        </p:spPr>
      </p:sp>
      <p:sp>
        <p:nvSpPr>
          <p:cNvPr id="21" name="Polygon 21"/>
          <p:cNvSpPr/>
          <p:nvPr/>
        </p:nvSpPr>
        <p:spPr>
          <a:xfrm>
            <a:off x="3105150" y="28003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22" name="Polygon 22"/>
          <p:cNvSpPr/>
          <p:nvPr/>
        </p:nvSpPr>
        <p:spPr>
          <a:xfrm>
            <a:off x="5581650" y="28003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23" name="Polygon 23"/>
          <p:cNvSpPr/>
          <p:nvPr/>
        </p:nvSpPr>
        <p:spPr>
          <a:xfrm>
            <a:off x="8058150" y="28003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24" name="Rectangle 24"/>
          <p:cNvSpPr/>
          <p:nvPr/>
        </p:nvSpPr>
        <p:spPr>
          <a:xfrm>
            <a:off x="10420350" y="2247900"/>
            <a:ext cx="1238250" cy="1238250"/>
          </a:xfrm>
          <a:prstGeom prst="roundRect">
            <a:avLst>
              <a:gd name="adj" fmla="val 6154"/>
            </a:avLst>
          </a:prstGeom>
          <a:solidFill>
            <a:srgbClr val="2F855A"/>
          </a:solidFill>
          <a:ln>
            <a:noFill/>
          </a:ln>
        </p:spPr>
      </p:sp>
      <p:sp>
        <p:nvSpPr>
          <p:cNvPr id="25" name="TextBox 25"/>
          <p:cNvSpPr txBox="1"/>
          <p:nvPr/>
        </p:nvSpPr>
        <p:spPr>
          <a:xfrm>
            <a:off x="10765488" y="2546032"/>
            <a:ext cx="547973"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结果</a:t>
            </a:r>
          </a:p>
        </p:txBody>
      </p:sp>
      <p:sp>
        <p:nvSpPr>
          <p:cNvPr id="26" name="TextBox 26"/>
          <p:cNvSpPr txBox="1"/>
          <p:nvPr/>
        </p:nvSpPr>
        <p:spPr>
          <a:xfrm>
            <a:off x="10553093" y="2929414"/>
            <a:ext cx="972764" cy="259080"/>
          </a:xfrm>
          <a:prstGeom prst="rect">
            <a:avLst/>
          </a:prstGeom>
          <a:noFill/>
          <a:ln>
            <a:noFill/>
          </a:ln>
        </p:spPr>
        <p:txBody>
          <a:bodyPr wrap="none" lIns="0" tIns="0" rIns="0" bIns="0" anchor="t" anchorCtr="0">
            <a:spAutoFit/>
          </a:bodyPr>
          <a:lstStyle/>
          <a:p>
            <a:pPr algn="ctr"/>
            <a:r>
              <a:rPr lang="zh-CN" sz="1275" dirty="0">
                <a:solidFill>
                  <a:srgbClr val="FFFFFF"/>
                </a:solidFill>
                <a:latin typeface="Arial"/>
                <a:ea typeface="Microsoft YaHei"/>
                <a:cs typeface="Arial"/>
              </a:rPr>
              <a:t>cycle / IPC</a:t>
            </a:r>
          </a:p>
        </p:txBody>
      </p:sp>
      <p:sp>
        <p:nvSpPr>
          <p:cNvPr id="27" name="Line 27"/>
          <p:cNvSpPr/>
          <p:nvPr/>
        </p:nvSpPr>
        <p:spPr>
          <a:xfrm>
            <a:off x="10115550" y="2867025"/>
            <a:ext cx="304800" cy="9525"/>
          </a:xfrm>
          <a:custGeom>
            <a:avLst/>
            <a:gdLst/>
            <a:ahLst/>
            <a:cxnLst/>
            <a:rect l="l" t="t" r="r" b="b"/>
            <a:pathLst>
              <a:path w="304800" h="9525">
                <a:moveTo>
                  <a:pt x="0" y="0"/>
                </a:moveTo>
                <a:lnTo>
                  <a:pt x="304800" y="0"/>
                </a:lnTo>
              </a:path>
            </a:pathLst>
          </a:custGeom>
          <a:noFill/>
          <a:ln w="28575">
            <a:solidFill>
              <a:srgbClr val="CBD5E1"/>
            </a:solidFill>
          </a:ln>
        </p:spPr>
      </p:sp>
      <p:sp>
        <p:nvSpPr>
          <p:cNvPr id="28" name="Polygon 28"/>
          <p:cNvSpPr/>
          <p:nvPr/>
        </p:nvSpPr>
        <p:spPr>
          <a:xfrm>
            <a:off x="10363200" y="28003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29" name="Rectangle 29"/>
          <p:cNvSpPr/>
          <p:nvPr/>
        </p:nvSpPr>
        <p:spPr>
          <a:xfrm>
            <a:off x="1143000" y="4210050"/>
            <a:ext cx="9906000" cy="990600"/>
          </a:xfrm>
          <a:prstGeom prst="roundRect">
            <a:avLst>
              <a:gd name="adj" fmla="val 7692"/>
            </a:avLst>
          </a:prstGeom>
          <a:solidFill>
            <a:srgbClr val="FFFFFF"/>
          </a:solidFill>
          <a:ln w="9525">
            <a:solidFill>
              <a:srgbClr val="CBD5E1"/>
            </a:solidFill>
          </a:ln>
        </p:spPr>
      </p:sp>
      <p:sp>
        <p:nvSpPr>
          <p:cNvPr id="30" name="TextBox 30"/>
          <p:cNvSpPr txBox="1"/>
          <p:nvPr/>
        </p:nvSpPr>
        <p:spPr>
          <a:xfrm>
            <a:off x="1409700" y="4429125"/>
            <a:ext cx="728186"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关键点</a:t>
            </a:r>
          </a:p>
        </p:txBody>
      </p:sp>
      <p:sp>
        <p:nvSpPr>
          <p:cNvPr id="31" name="TextBox 31"/>
          <p:cNvSpPr txBox="1"/>
          <p:nvPr/>
        </p:nvSpPr>
        <p:spPr>
          <a:xfrm>
            <a:off x="1411605" y="4788218"/>
            <a:ext cx="8216741"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同一份 trace 可以在不同架构配置上回放；因此 simulator knob 是做 what-if 分析的入口。</a:t>
            </a:r>
          </a:p>
        </p:txBody>
      </p:sp>
      <p:sp>
        <p:nvSpPr>
          <p:cNvPr id="32" name="TextBox 32"/>
          <p:cNvSpPr txBox="1"/>
          <p:nvPr/>
        </p:nvSpPr>
        <p:spPr>
          <a:xfrm>
            <a:off x="520065" y="6116002"/>
            <a:ext cx="3921823"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prerequisite_trace_driven_simulation</a:t>
            </a:r>
          </a:p>
        </p:txBody>
      </p:sp>
      <p:sp>
        <p:nvSpPr>
          <p:cNvPr id="33" name="TextBox 33"/>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08 / 21</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928383"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MOTIVATION</a:t>
            </a:r>
          </a:p>
        </p:txBody>
      </p:sp>
      <p:sp>
        <p:nvSpPr>
          <p:cNvPr id="4" name="TextBox 4"/>
          <p:cNvSpPr txBox="1"/>
          <p:nvPr/>
        </p:nvSpPr>
        <p:spPr>
          <a:xfrm>
            <a:off x="502920" y="845820"/>
            <a:ext cx="547123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为什么完整 trace replay 会很慢</a:t>
            </a:r>
          </a:p>
        </p:txBody>
      </p:sp>
      <p:sp>
        <p:nvSpPr>
          <p:cNvPr id="5" name="TextBox 5"/>
          <p:cNvSpPr txBox="1"/>
          <p:nvPr/>
        </p:nvSpPr>
        <p:spPr>
          <a:xfrm>
            <a:off x="515302" y="1274921"/>
            <a:ext cx="7029069"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单个 kernel 可能还能跑，完整网络层或 workload 会把模拟成本快速放大。</a:t>
            </a:r>
          </a:p>
        </p:txBody>
      </p:sp>
      <p:sp>
        <p:nvSpPr>
          <p:cNvPr id="6" name="Rectangle 6"/>
          <p:cNvSpPr/>
          <p:nvPr/>
        </p:nvSpPr>
        <p:spPr>
          <a:xfrm>
            <a:off x="533400" y="1962150"/>
            <a:ext cx="2609850" cy="2990850"/>
          </a:xfrm>
          <a:prstGeom prst="roundRect">
            <a:avLst>
              <a:gd name="adj" fmla="val 2920"/>
            </a:avLst>
          </a:prstGeom>
          <a:solidFill>
            <a:srgbClr val="FFFFFF"/>
          </a:solidFill>
          <a:ln w="9525">
            <a:solidFill>
              <a:srgbClr val="CBD5E1"/>
            </a:solidFill>
          </a:ln>
        </p:spPr>
      </p:sp>
      <p:sp>
        <p:nvSpPr>
          <p:cNvPr id="7" name="TextBox 7"/>
          <p:cNvSpPr txBox="1"/>
          <p:nvPr/>
        </p:nvSpPr>
        <p:spPr>
          <a:xfrm>
            <a:off x="817245" y="2222182"/>
            <a:ext cx="1307068" cy="335280"/>
          </a:xfrm>
          <a:prstGeom prst="rect">
            <a:avLst/>
          </a:prstGeom>
          <a:noFill/>
          <a:ln>
            <a:noFill/>
          </a:ln>
        </p:spPr>
        <p:txBody>
          <a:bodyPr wrap="none" lIns="0" tIns="0" rIns="0" bIns="0" anchor="t" anchorCtr="0">
            <a:spAutoFit/>
          </a:bodyPr>
          <a:lstStyle/>
          <a:p>
            <a:pPr algn="l"/>
            <a:r>
              <a:rPr lang="zh-CN" sz="1650" b="1" dirty="0">
                <a:solidFill>
                  <a:srgbClr val="1E3A5F"/>
                </a:solidFill>
                <a:latin typeface="Arial"/>
                <a:ea typeface="Microsoft YaHei"/>
                <a:cs typeface="Arial"/>
              </a:rPr>
              <a:t>指令规模大</a:t>
            </a:r>
          </a:p>
        </p:txBody>
      </p:sp>
      <p:sp>
        <p:nvSpPr>
          <p:cNvPr id="8" name="TextBox 8"/>
          <p:cNvSpPr txBox="1"/>
          <p:nvPr/>
        </p:nvSpPr>
        <p:spPr>
          <a:xfrm>
            <a:off x="821055" y="2635568"/>
            <a:ext cx="241015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trace 记录大量动态指令，</a:t>
            </a:r>
          </a:p>
        </p:txBody>
      </p:sp>
      <p:sp>
        <p:nvSpPr>
          <p:cNvPr id="9" name="TextBox 9"/>
          <p:cNvSpPr txBox="1"/>
          <p:nvPr/>
        </p:nvSpPr>
        <p:spPr>
          <a:xfrm>
            <a:off x="821055" y="2921318"/>
            <a:ext cx="240030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每条都要经过模拟器状态。</a:t>
            </a:r>
          </a:p>
        </p:txBody>
      </p:sp>
      <p:sp>
        <p:nvSpPr>
          <p:cNvPr id="10" name="Rectangle 10"/>
          <p:cNvSpPr/>
          <p:nvPr/>
        </p:nvSpPr>
        <p:spPr>
          <a:xfrm>
            <a:off x="819150" y="3714750"/>
            <a:ext cx="2038350" cy="495300"/>
          </a:xfrm>
          <a:prstGeom prst="roundRect">
            <a:avLst>
              <a:gd name="adj" fmla="val 15385"/>
            </a:avLst>
          </a:prstGeom>
          <a:solidFill>
            <a:srgbClr val="F8FAFC"/>
          </a:solidFill>
          <a:ln w="9525">
            <a:solidFill>
              <a:srgbClr val="CBD5E1"/>
            </a:solidFill>
          </a:ln>
        </p:spPr>
      </p:sp>
      <p:sp>
        <p:nvSpPr>
          <p:cNvPr id="11" name="TextBox 11"/>
          <p:cNvSpPr txBox="1"/>
          <p:nvPr/>
        </p:nvSpPr>
        <p:spPr>
          <a:xfrm>
            <a:off x="951671" y="3892868"/>
            <a:ext cx="1773307"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billions of events</a:t>
            </a:r>
          </a:p>
        </p:txBody>
      </p:sp>
      <p:sp>
        <p:nvSpPr>
          <p:cNvPr id="12" name="Rectangle 12"/>
          <p:cNvSpPr/>
          <p:nvPr/>
        </p:nvSpPr>
        <p:spPr>
          <a:xfrm>
            <a:off x="3390900" y="1962150"/>
            <a:ext cx="2609850" cy="2990850"/>
          </a:xfrm>
          <a:prstGeom prst="roundRect">
            <a:avLst>
              <a:gd name="adj" fmla="val 2920"/>
            </a:avLst>
          </a:prstGeom>
          <a:solidFill>
            <a:srgbClr val="FFFFFF"/>
          </a:solidFill>
          <a:ln w="9525">
            <a:solidFill>
              <a:srgbClr val="CBD5E1"/>
            </a:solidFill>
          </a:ln>
        </p:spPr>
      </p:sp>
      <p:sp>
        <p:nvSpPr>
          <p:cNvPr id="13" name="TextBox 13"/>
          <p:cNvSpPr txBox="1"/>
          <p:nvPr/>
        </p:nvSpPr>
        <p:spPr>
          <a:xfrm>
            <a:off x="3674745" y="2222182"/>
            <a:ext cx="1560100" cy="335280"/>
          </a:xfrm>
          <a:prstGeom prst="rect">
            <a:avLst/>
          </a:prstGeom>
          <a:noFill/>
          <a:ln>
            <a:noFill/>
          </a:ln>
        </p:spPr>
        <p:txBody>
          <a:bodyPr wrap="none" lIns="0" tIns="0" rIns="0" bIns="0" anchor="t" anchorCtr="0">
            <a:spAutoFit/>
          </a:bodyPr>
          <a:lstStyle/>
          <a:p>
            <a:pPr algn="l"/>
            <a:r>
              <a:rPr lang="zh-CN" sz="1650" b="1" dirty="0">
                <a:solidFill>
                  <a:srgbClr val="1E3A5F"/>
                </a:solidFill>
                <a:latin typeface="Arial"/>
                <a:ea typeface="Microsoft YaHei"/>
                <a:cs typeface="Arial"/>
              </a:rPr>
              <a:t>状态交互复杂</a:t>
            </a:r>
          </a:p>
        </p:txBody>
      </p:sp>
      <p:sp>
        <p:nvSpPr>
          <p:cNvPr id="14" name="TextBox 14"/>
          <p:cNvSpPr txBox="1"/>
          <p:nvPr/>
        </p:nvSpPr>
        <p:spPr>
          <a:xfrm>
            <a:off x="3678555" y="2635568"/>
            <a:ext cx="229185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访存、cache、warp 调度</a:t>
            </a:r>
          </a:p>
        </p:txBody>
      </p:sp>
      <p:sp>
        <p:nvSpPr>
          <p:cNvPr id="15" name="TextBox 15"/>
          <p:cNvSpPr txBox="1"/>
          <p:nvPr/>
        </p:nvSpPr>
        <p:spPr>
          <a:xfrm>
            <a:off x="3678555" y="2921318"/>
            <a:ext cx="161163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会产生连锁影响。</a:t>
            </a:r>
          </a:p>
        </p:txBody>
      </p:sp>
      <p:sp>
        <p:nvSpPr>
          <p:cNvPr id="16" name="Rectangle 16"/>
          <p:cNvSpPr/>
          <p:nvPr/>
        </p:nvSpPr>
        <p:spPr>
          <a:xfrm>
            <a:off x="3676650" y="3714750"/>
            <a:ext cx="2038350" cy="495300"/>
          </a:xfrm>
          <a:prstGeom prst="roundRect">
            <a:avLst>
              <a:gd name="adj" fmla="val 15385"/>
            </a:avLst>
          </a:prstGeom>
          <a:solidFill>
            <a:srgbClr val="F8FAFC"/>
          </a:solidFill>
          <a:ln w="9525">
            <a:solidFill>
              <a:srgbClr val="CBD5E1"/>
            </a:solidFill>
          </a:ln>
        </p:spPr>
      </p:sp>
      <p:sp>
        <p:nvSpPr>
          <p:cNvPr id="17" name="TextBox 17"/>
          <p:cNvSpPr txBox="1"/>
          <p:nvPr/>
        </p:nvSpPr>
        <p:spPr>
          <a:xfrm>
            <a:off x="3814347" y="3892868"/>
            <a:ext cx="1762956"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cycle-level state</a:t>
            </a:r>
          </a:p>
        </p:txBody>
      </p:sp>
      <p:sp>
        <p:nvSpPr>
          <p:cNvPr id="18" name="Rectangle 18"/>
          <p:cNvSpPr/>
          <p:nvPr/>
        </p:nvSpPr>
        <p:spPr>
          <a:xfrm>
            <a:off x="6248400" y="1962150"/>
            <a:ext cx="2609850" cy="2990850"/>
          </a:xfrm>
          <a:prstGeom prst="roundRect">
            <a:avLst>
              <a:gd name="adj" fmla="val 2920"/>
            </a:avLst>
          </a:prstGeom>
          <a:solidFill>
            <a:srgbClr val="FFFFFF"/>
          </a:solidFill>
          <a:ln w="9525">
            <a:solidFill>
              <a:srgbClr val="CBD5E1"/>
            </a:solidFill>
          </a:ln>
        </p:spPr>
      </p:sp>
      <p:sp>
        <p:nvSpPr>
          <p:cNvPr id="19" name="TextBox 19"/>
          <p:cNvSpPr txBox="1"/>
          <p:nvPr/>
        </p:nvSpPr>
        <p:spPr>
          <a:xfrm>
            <a:off x="6532245" y="2222182"/>
            <a:ext cx="1648661" cy="335280"/>
          </a:xfrm>
          <a:prstGeom prst="rect">
            <a:avLst/>
          </a:prstGeom>
          <a:noFill/>
          <a:ln>
            <a:noFill/>
          </a:ln>
        </p:spPr>
        <p:txBody>
          <a:bodyPr wrap="none" lIns="0" tIns="0" rIns="0" bIns="0" anchor="t" anchorCtr="0">
            <a:spAutoFit/>
          </a:bodyPr>
          <a:lstStyle/>
          <a:p>
            <a:pPr algn="l"/>
            <a:r>
              <a:rPr lang="zh-CN" sz="1650" b="1" dirty="0">
                <a:solidFill>
                  <a:srgbClr val="D97706"/>
                </a:solidFill>
                <a:latin typeface="Arial"/>
                <a:ea typeface="Microsoft YaHei"/>
                <a:cs typeface="Arial"/>
              </a:rPr>
              <a:t>kernel 序列长</a:t>
            </a:r>
          </a:p>
        </p:txBody>
      </p:sp>
      <p:sp>
        <p:nvSpPr>
          <p:cNvPr id="20" name="TextBox 20"/>
          <p:cNvSpPr txBox="1"/>
          <p:nvPr/>
        </p:nvSpPr>
        <p:spPr>
          <a:xfrm>
            <a:off x="6536055" y="2635568"/>
            <a:ext cx="2272141"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网络层不是一个 kernel，</a:t>
            </a:r>
          </a:p>
        </p:txBody>
      </p:sp>
      <p:sp>
        <p:nvSpPr>
          <p:cNvPr id="21" name="TextBox 21"/>
          <p:cNvSpPr txBox="1"/>
          <p:nvPr/>
        </p:nvSpPr>
        <p:spPr>
          <a:xfrm>
            <a:off x="6536055" y="2921318"/>
            <a:ext cx="240030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而是一串相互关联的调用。</a:t>
            </a:r>
          </a:p>
        </p:txBody>
      </p:sp>
      <p:sp>
        <p:nvSpPr>
          <p:cNvPr id="22" name="Rectangle 22"/>
          <p:cNvSpPr/>
          <p:nvPr/>
        </p:nvSpPr>
        <p:spPr>
          <a:xfrm>
            <a:off x="6534150" y="3714750"/>
            <a:ext cx="2038350" cy="495300"/>
          </a:xfrm>
          <a:prstGeom prst="roundRect">
            <a:avLst>
              <a:gd name="adj" fmla="val 15385"/>
            </a:avLst>
          </a:prstGeom>
          <a:solidFill>
            <a:srgbClr val="F8FAFC"/>
          </a:solidFill>
          <a:ln w="9525">
            <a:solidFill>
              <a:srgbClr val="CBD5E1"/>
            </a:solidFill>
          </a:ln>
        </p:spPr>
      </p:sp>
      <p:sp>
        <p:nvSpPr>
          <p:cNvPr id="23" name="TextBox 23"/>
          <p:cNvSpPr txBox="1"/>
          <p:nvPr/>
        </p:nvSpPr>
        <p:spPr>
          <a:xfrm>
            <a:off x="6708076" y="3892868"/>
            <a:ext cx="1690497"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layer / workload</a:t>
            </a:r>
          </a:p>
        </p:txBody>
      </p:sp>
      <p:sp>
        <p:nvSpPr>
          <p:cNvPr id="24" name="Rectangle 24"/>
          <p:cNvSpPr/>
          <p:nvPr/>
        </p:nvSpPr>
        <p:spPr>
          <a:xfrm>
            <a:off x="9105900" y="1962150"/>
            <a:ext cx="2552700" cy="2990850"/>
          </a:xfrm>
          <a:prstGeom prst="roundRect">
            <a:avLst>
              <a:gd name="adj" fmla="val 2985"/>
            </a:avLst>
          </a:prstGeom>
          <a:solidFill>
            <a:srgbClr val="FFFFFF"/>
          </a:solidFill>
          <a:ln w="9525">
            <a:solidFill>
              <a:srgbClr val="CBD5E1"/>
            </a:solidFill>
          </a:ln>
        </p:spPr>
      </p:sp>
      <p:sp>
        <p:nvSpPr>
          <p:cNvPr id="25" name="TextBox 25"/>
          <p:cNvSpPr txBox="1"/>
          <p:nvPr/>
        </p:nvSpPr>
        <p:spPr>
          <a:xfrm>
            <a:off x="9389745" y="2222182"/>
            <a:ext cx="1307068" cy="335280"/>
          </a:xfrm>
          <a:prstGeom prst="rect">
            <a:avLst/>
          </a:prstGeom>
          <a:noFill/>
          <a:ln>
            <a:noFill/>
          </a:ln>
        </p:spPr>
        <p:txBody>
          <a:bodyPr wrap="none" lIns="0" tIns="0" rIns="0" bIns="0" anchor="t" anchorCtr="0">
            <a:spAutoFit/>
          </a:bodyPr>
          <a:lstStyle/>
          <a:p>
            <a:pPr algn="l"/>
            <a:r>
              <a:rPr lang="zh-CN" sz="1650" b="1" dirty="0">
                <a:solidFill>
                  <a:srgbClr val="B91C1C"/>
                </a:solidFill>
                <a:latin typeface="Arial"/>
                <a:ea typeface="Microsoft YaHei"/>
                <a:cs typeface="Arial"/>
              </a:rPr>
              <a:t>实验迭代慢</a:t>
            </a:r>
          </a:p>
        </p:txBody>
      </p:sp>
      <p:sp>
        <p:nvSpPr>
          <p:cNvPr id="26" name="TextBox 26"/>
          <p:cNvSpPr txBox="1"/>
          <p:nvPr/>
        </p:nvSpPr>
        <p:spPr>
          <a:xfrm>
            <a:off x="9393555" y="2635568"/>
            <a:ext cx="2558034"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调一个 knob 就要重新模拟，</a:t>
            </a:r>
          </a:p>
        </p:txBody>
      </p:sp>
      <p:sp>
        <p:nvSpPr>
          <p:cNvPr id="27" name="TextBox 27"/>
          <p:cNvSpPr txBox="1"/>
          <p:nvPr/>
        </p:nvSpPr>
        <p:spPr>
          <a:xfrm>
            <a:off x="9393555" y="2921318"/>
            <a:ext cx="2005965"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很难支撑搜索和验证。</a:t>
            </a:r>
          </a:p>
        </p:txBody>
      </p:sp>
      <p:sp>
        <p:nvSpPr>
          <p:cNvPr id="28" name="Rectangle 28"/>
          <p:cNvSpPr/>
          <p:nvPr/>
        </p:nvSpPr>
        <p:spPr>
          <a:xfrm>
            <a:off x="9391650" y="3714750"/>
            <a:ext cx="1981200" cy="495300"/>
          </a:xfrm>
          <a:prstGeom prst="roundRect">
            <a:avLst>
              <a:gd name="adj" fmla="val 15385"/>
            </a:avLst>
          </a:prstGeom>
          <a:solidFill>
            <a:srgbClr val="F8FAFC"/>
          </a:solidFill>
          <a:ln w="9525">
            <a:solidFill>
              <a:srgbClr val="CBD5E1"/>
            </a:solidFill>
          </a:ln>
        </p:spPr>
      </p:sp>
      <p:sp>
        <p:nvSpPr>
          <p:cNvPr id="29" name="TextBox 29"/>
          <p:cNvSpPr txBox="1"/>
          <p:nvPr/>
        </p:nvSpPr>
        <p:spPr>
          <a:xfrm>
            <a:off x="9656041" y="3892868"/>
            <a:ext cx="1452417"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slow feedback</a:t>
            </a:r>
          </a:p>
        </p:txBody>
      </p:sp>
      <p:sp>
        <p:nvSpPr>
          <p:cNvPr id="30" name="Rectangle 30"/>
          <p:cNvSpPr/>
          <p:nvPr/>
        </p:nvSpPr>
        <p:spPr>
          <a:xfrm>
            <a:off x="1371600" y="5372100"/>
            <a:ext cx="9448800" cy="457200"/>
          </a:xfrm>
          <a:prstGeom prst="roundRect">
            <a:avLst>
              <a:gd name="adj" fmla="val 16667"/>
            </a:avLst>
          </a:prstGeom>
          <a:solidFill>
            <a:srgbClr val="1E3A5F"/>
          </a:solidFill>
          <a:ln>
            <a:noFill/>
          </a:ln>
        </p:spPr>
      </p:sp>
      <p:sp>
        <p:nvSpPr>
          <p:cNvPr id="31" name="TextBox 31"/>
          <p:cNvSpPr txBox="1"/>
          <p:nvPr/>
        </p:nvSpPr>
        <p:spPr>
          <a:xfrm>
            <a:off x="3431619" y="5505450"/>
            <a:ext cx="5328761"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所以需要压缩，但压缩后还必须保留机制解释能力。</a:t>
            </a:r>
          </a:p>
        </p:txBody>
      </p:sp>
      <p:sp>
        <p:nvSpPr>
          <p:cNvPr id="32" name="TextBox 32"/>
          <p:cNvSpPr txBox="1"/>
          <p:nvPr/>
        </p:nvSpPr>
        <p:spPr>
          <a:xfrm>
            <a:off x="520065" y="6116002"/>
            <a:ext cx="2856024"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replay_cost_motivation</a:t>
            </a:r>
          </a:p>
        </p:txBody>
      </p:sp>
      <p:sp>
        <p:nvSpPr>
          <p:cNvPr id="33" name="TextBox 33"/>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09 / 21</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629602"/>
            <a:ext cx="1258474"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PKA BACKGROUND</a:t>
            </a:r>
          </a:p>
        </p:txBody>
      </p:sp>
      <p:sp>
        <p:nvSpPr>
          <p:cNvPr id="4" name="TextBox 4"/>
          <p:cNvSpPr txBox="1"/>
          <p:nvPr/>
        </p:nvSpPr>
        <p:spPr>
          <a:xfrm>
            <a:off x="493395" y="860108"/>
            <a:ext cx="3437280" cy="640080"/>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PKA 的基本直觉</a:t>
            </a:r>
          </a:p>
        </p:txBody>
      </p:sp>
      <p:sp>
        <p:nvSpPr>
          <p:cNvPr id="5" name="TextBox 5"/>
          <p:cNvSpPr txBox="1"/>
          <p:nvPr/>
        </p:nvSpPr>
        <p:spPr>
          <a:xfrm>
            <a:off x="510540" y="1424940"/>
            <a:ext cx="6960384" cy="365760"/>
          </a:xfrm>
          <a:prstGeom prst="rect">
            <a:avLst/>
          </a:prstGeom>
          <a:noFill/>
          <a:ln>
            <a:noFill/>
          </a:ln>
        </p:spPr>
        <p:txBody>
          <a:bodyPr wrap="none" lIns="0" tIns="0" rIns="0" bIns="0" anchor="t" anchorCtr="0">
            <a:spAutoFit/>
          </a:bodyPr>
          <a:lstStyle/>
          <a:p>
            <a:pPr algn="l"/>
            <a:r>
              <a:rPr lang="zh-CN" sz="1800" b="1" dirty="0">
                <a:solidFill>
                  <a:srgbClr val="4B5563"/>
                </a:solidFill>
                <a:latin typeface="Arial"/>
                <a:ea typeface="Microsoft YaHei"/>
                <a:cs typeface="Arial"/>
              </a:rPr>
              <a:t>用少量代表片段近似长 trace，但不能丢掉结构性信息。</a:t>
            </a:r>
          </a:p>
        </p:txBody>
      </p:sp>
      <p:sp>
        <p:nvSpPr>
          <p:cNvPr id="6" name="Rectangle 6"/>
          <p:cNvSpPr/>
          <p:nvPr/>
        </p:nvSpPr>
        <p:spPr>
          <a:xfrm>
            <a:off x="762000" y="2324100"/>
            <a:ext cx="10668000" cy="819150"/>
          </a:xfrm>
          <a:prstGeom prst="roundRect">
            <a:avLst>
              <a:gd name="adj" fmla="val 9302"/>
            </a:avLst>
          </a:prstGeom>
          <a:solidFill>
            <a:srgbClr val="FFFFFF"/>
          </a:solidFill>
          <a:ln w="9525">
            <a:solidFill>
              <a:srgbClr val="CBD5E1"/>
            </a:solidFill>
          </a:ln>
        </p:spPr>
      </p:sp>
      <p:sp>
        <p:nvSpPr>
          <p:cNvPr id="7" name="TextBox 7"/>
          <p:cNvSpPr txBox="1"/>
          <p:nvPr/>
        </p:nvSpPr>
        <p:spPr>
          <a:xfrm>
            <a:off x="1028700" y="2638425"/>
            <a:ext cx="1199745"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完整 trace</a:t>
            </a:r>
          </a:p>
        </p:txBody>
      </p:sp>
      <p:sp>
        <p:nvSpPr>
          <p:cNvPr id="8" name="Line 8"/>
          <p:cNvSpPr/>
          <p:nvPr/>
        </p:nvSpPr>
        <p:spPr>
          <a:xfrm>
            <a:off x="2476500" y="2733675"/>
            <a:ext cx="8191500" cy="9525"/>
          </a:xfrm>
          <a:custGeom>
            <a:avLst/>
            <a:gdLst/>
            <a:ahLst/>
            <a:cxnLst/>
            <a:rect l="l" t="t" r="r" b="b"/>
            <a:pathLst>
              <a:path w="8191500" h="9525">
                <a:moveTo>
                  <a:pt x="0" y="0"/>
                </a:moveTo>
                <a:lnTo>
                  <a:pt x="8191500" y="0"/>
                </a:lnTo>
              </a:path>
            </a:pathLst>
          </a:custGeom>
          <a:noFill/>
          <a:ln w="76200">
            <a:solidFill>
              <a:srgbClr val="CBD5E1"/>
            </a:solidFill>
          </a:ln>
        </p:spPr>
      </p:sp>
      <p:sp>
        <p:nvSpPr>
          <p:cNvPr id="9" name="Rectangle 9"/>
          <p:cNvSpPr/>
          <p:nvPr/>
        </p:nvSpPr>
        <p:spPr>
          <a:xfrm>
            <a:off x="3238500" y="2628900"/>
            <a:ext cx="381000" cy="209550"/>
          </a:xfrm>
          <a:prstGeom prst="rect">
            <a:avLst/>
          </a:prstGeom>
          <a:solidFill>
            <a:srgbClr val="1E3A5F"/>
          </a:solidFill>
          <a:ln>
            <a:noFill/>
          </a:ln>
        </p:spPr>
      </p:sp>
      <p:sp>
        <p:nvSpPr>
          <p:cNvPr id="10" name="Rectangle 10"/>
          <p:cNvSpPr/>
          <p:nvPr/>
        </p:nvSpPr>
        <p:spPr>
          <a:xfrm>
            <a:off x="4953000" y="2628900"/>
            <a:ext cx="381000" cy="209550"/>
          </a:xfrm>
          <a:prstGeom prst="rect">
            <a:avLst/>
          </a:prstGeom>
          <a:solidFill>
            <a:srgbClr val="D97706"/>
          </a:solidFill>
          <a:ln>
            <a:noFill/>
          </a:ln>
        </p:spPr>
      </p:sp>
      <p:sp>
        <p:nvSpPr>
          <p:cNvPr id="11" name="Rectangle 11"/>
          <p:cNvSpPr/>
          <p:nvPr/>
        </p:nvSpPr>
        <p:spPr>
          <a:xfrm>
            <a:off x="6905625" y="2628900"/>
            <a:ext cx="381000" cy="209550"/>
          </a:xfrm>
          <a:prstGeom prst="rect">
            <a:avLst/>
          </a:prstGeom>
          <a:solidFill>
            <a:srgbClr val="1E3A5F"/>
          </a:solidFill>
          <a:ln>
            <a:noFill/>
          </a:ln>
        </p:spPr>
      </p:sp>
      <p:sp>
        <p:nvSpPr>
          <p:cNvPr id="12" name="Rectangle 12"/>
          <p:cNvSpPr/>
          <p:nvPr/>
        </p:nvSpPr>
        <p:spPr>
          <a:xfrm>
            <a:off x="8858250" y="2628900"/>
            <a:ext cx="381000" cy="209550"/>
          </a:xfrm>
          <a:prstGeom prst="rect">
            <a:avLst/>
          </a:prstGeom>
          <a:solidFill>
            <a:srgbClr val="2F855A"/>
          </a:solidFill>
          <a:ln>
            <a:noFill/>
          </a:ln>
        </p:spPr>
      </p:sp>
      <p:sp>
        <p:nvSpPr>
          <p:cNvPr id="13" name="Rectangle 13"/>
          <p:cNvSpPr/>
          <p:nvPr/>
        </p:nvSpPr>
        <p:spPr>
          <a:xfrm>
            <a:off x="762000" y="3619500"/>
            <a:ext cx="10668000" cy="1066800"/>
          </a:xfrm>
          <a:prstGeom prst="roundRect">
            <a:avLst>
              <a:gd name="adj" fmla="val 7143"/>
            </a:avLst>
          </a:prstGeom>
          <a:solidFill>
            <a:srgbClr val="FFFFFF"/>
          </a:solidFill>
          <a:ln w="9525">
            <a:solidFill>
              <a:srgbClr val="CBD5E1"/>
            </a:solidFill>
          </a:ln>
        </p:spPr>
      </p:sp>
      <p:sp>
        <p:nvSpPr>
          <p:cNvPr id="14" name="TextBox 14"/>
          <p:cNvSpPr txBox="1"/>
          <p:nvPr/>
        </p:nvSpPr>
        <p:spPr>
          <a:xfrm>
            <a:off x="1028700" y="3952875"/>
            <a:ext cx="946714"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PKA 选择</a:t>
            </a:r>
          </a:p>
        </p:txBody>
      </p:sp>
      <p:sp>
        <p:nvSpPr>
          <p:cNvPr id="15" name="Rectangle 15"/>
          <p:cNvSpPr/>
          <p:nvPr/>
        </p:nvSpPr>
        <p:spPr>
          <a:xfrm>
            <a:off x="3105150" y="3886200"/>
            <a:ext cx="666750" cy="533400"/>
          </a:xfrm>
          <a:prstGeom prst="roundRect">
            <a:avLst>
              <a:gd name="adj" fmla="val 14286"/>
            </a:avLst>
          </a:prstGeom>
          <a:solidFill>
            <a:srgbClr val="1E3A5F"/>
          </a:solidFill>
          <a:ln>
            <a:noFill/>
          </a:ln>
        </p:spPr>
      </p:sp>
      <p:sp>
        <p:nvSpPr>
          <p:cNvPr id="16" name="Rectangle 16"/>
          <p:cNvSpPr/>
          <p:nvPr/>
        </p:nvSpPr>
        <p:spPr>
          <a:xfrm>
            <a:off x="4819650" y="3886200"/>
            <a:ext cx="666750" cy="533400"/>
          </a:xfrm>
          <a:prstGeom prst="roundRect">
            <a:avLst>
              <a:gd name="adj" fmla="val 14286"/>
            </a:avLst>
          </a:prstGeom>
          <a:solidFill>
            <a:srgbClr val="D97706"/>
          </a:solidFill>
          <a:ln>
            <a:noFill/>
          </a:ln>
        </p:spPr>
      </p:sp>
      <p:sp>
        <p:nvSpPr>
          <p:cNvPr id="17" name="Rectangle 17"/>
          <p:cNvSpPr/>
          <p:nvPr/>
        </p:nvSpPr>
        <p:spPr>
          <a:xfrm>
            <a:off x="6772275" y="3886200"/>
            <a:ext cx="666750" cy="533400"/>
          </a:xfrm>
          <a:prstGeom prst="roundRect">
            <a:avLst>
              <a:gd name="adj" fmla="val 14286"/>
            </a:avLst>
          </a:prstGeom>
          <a:solidFill>
            <a:srgbClr val="1E3A5F"/>
          </a:solidFill>
          <a:ln>
            <a:noFill/>
          </a:ln>
        </p:spPr>
      </p:sp>
      <p:sp>
        <p:nvSpPr>
          <p:cNvPr id="18" name="Rectangle 18"/>
          <p:cNvSpPr/>
          <p:nvPr/>
        </p:nvSpPr>
        <p:spPr>
          <a:xfrm>
            <a:off x="8724900" y="3886200"/>
            <a:ext cx="666750" cy="533400"/>
          </a:xfrm>
          <a:prstGeom prst="roundRect">
            <a:avLst>
              <a:gd name="adj" fmla="val 14286"/>
            </a:avLst>
          </a:prstGeom>
          <a:solidFill>
            <a:srgbClr val="2F855A"/>
          </a:solidFill>
          <a:ln>
            <a:noFill/>
          </a:ln>
        </p:spPr>
      </p:sp>
      <p:sp>
        <p:nvSpPr>
          <p:cNvPr id="19" name="TextBox 19"/>
          <p:cNvSpPr txBox="1"/>
          <p:nvPr/>
        </p:nvSpPr>
        <p:spPr>
          <a:xfrm>
            <a:off x="3119647" y="4090035"/>
            <a:ext cx="63775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anchor</a:t>
            </a:r>
          </a:p>
        </p:txBody>
      </p:sp>
      <p:sp>
        <p:nvSpPr>
          <p:cNvPr id="20" name="TextBox 20"/>
          <p:cNvSpPr txBox="1"/>
          <p:nvPr/>
        </p:nvSpPr>
        <p:spPr>
          <a:xfrm>
            <a:off x="4834147" y="4090035"/>
            <a:ext cx="63775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anchor</a:t>
            </a:r>
          </a:p>
        </p:txBody>
      </p:sp>
      <p:sp>
        <p:nvSpPr>
          <p:cNvPr id="21" name="TextBox 21"/>
          <p:cNvSpPr txBox="1"/>
          <p:nvPr/>
        </p:nvSpPr>
        <p:spPr>
          <a:xfrm>
            <a:off x="6786772" y="4090035"/>
            <a:ext cx="63775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anchor</a:t>
            </a:r>
          </a:p>
        </p:txBody>
      </p:sp>
      <p:sp>
        <p:nvSpPr>
          <p:cNvPr id="22" name="TextBox 22"/>
          <p:cNvSpPr txBox="1"/>
          <p:nvPr/>
        </p:nvSpPr>
        <p:spPr>
          <a:xfrm>
            <a:off x="8739397" y="4090035"/>
            <a:ext cx="63775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anchor</a:t>
            </a:r>
          </a:p>
        </p:txBody>
      </p:sp>
      <p:sp>
        <p:nvSpPr>
          <p:cNvPr id="23" name="Rectangle 23"/>
          <p:cNvSpPr/>
          <p:nvPr/>
        </p:nvSpPr>
        <p:spPr>
          <a:xfrm>
            <a:off x="1885950" y="5219700"/>
            <a:ext cx="8420100" cy="495300"/>
          </a:xfrm>
          <a:prstGeom prst="roundRect">
            <a:avLst>
              <a:gd name="adj" fmla="val 15385"/>
            </a:avLst>
          </a:prstGeom>
          <a:solidFill>
            <a:srgbClr val="1E3A5F"/>
          </a:solidFill>
          <a:ln>
            <a:noFill/>
          </a:ln>
        </p:spPr>
      </p:sp>
      <p:sp>
        <p:nvSpPr>
          <p:cNvPr id="24" name="TextBox 24"/>
          <p:cNvSpPr txBox="1"/>
          <p:nvPr/>
        </p:nvSpPr>
        <p:spPr>
          <a:xfrm>
            <a:off x="2791187" y="5364004"/>
            <a:ext cx="6609626"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问题从“选哪些片段”升级为“这些片段还能说明哪些硬件机制”</a:t>
            </a:r>
          </a:p>
        </p:txBody>
      </p:sp>
      <p:sp>
        <p:nvSpPr>
          <p:cNvPr id="25" name="TextBox 25"/>
          <p:cNvSpPr txBox="1"/>
          <p:nvPr/>
        </p:nvSpPr>
        <p:spPr>
          <a:xfrm>
            <a:off x="520065" y="6116002"/>
            <a:ext cx="226561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pka_background</a:t>
            </a:r>
          </a:p>
        </p:txBody>
      </p:sp>
      <p:sp>
        <p:nvSpPr>
          <p:cNvPr id="26" name="TextBox 26"/>
          <p:cNvSpPr txBox="1"/>
          <p:nvPr/>
        </p:nvSpPr>
        <p:spPr>
          <a:xfrm>
            <a:off x="1130472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10 / 21</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629602"/>
            <a:ext cx="1548310" cy="213360"/>
          </a:xfrm>
          <a:prstGeom prst="rect">
            <a:avLst/>
          </a:prstGeom>
          <a:noFill/>
          <a:ln>
            <a:noFill/>
          </a:ln>
        </p:spPr>
        <p:txBody>
          <a:bodyPr wrap="none" lIns="0" tIns="0" rIns="0" bIns="0" anchor="t" anchorCtr="0">
            <a:spAutoFit/>
          </a:bodyPr>
          <a:lstStyle/>
          <a:p>
            <a:pPr algn="l"/>
            <a:r>
              <a:rPr lang="zh-CN" sz="1050" b="1" dirty="0">
                <a:solidFill>
                  <a:srgbClr val="D97706"/>
                </a:solidFill>
                <a:latin typeface="Arial"/>
                <a:ea typeface="Microsoft YaHei"/>
                <a:cs typeface="Arial"/>
              </a:rPr>
              <a:t>PROBLEM REFRAMING</a:t>
            </a:r>
          </a:p>
        </p:txBody>
      </p:sp>
      <p:sp>
        <p:nvSpPr>
          <p:cNvPr id="4" name="TextBox 4"/>
          <p:cNvSpPr txBox="1"/>
          <p:nvPr/>
        </p:nvSpPr>
        <p:spPr>
          <a:xfrm>
            <a:off x="493395" y="860108"/>
            <a:ext cx="8098812" cy="640080"/>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仅有 representative sample 还不够</a:t>
            </a:r>
          </a:p>
        </p:txBody>
      </p:sp>
      <p:sp>
        <p:nvSpPr>
          <p:cNvPr id="5" name="TextBox 5"/>
          <p:cNvSpPr txBox="1"/>
          <p:nvPr/>
        </p:nvSpPr>
        <p:spPr>
          <a:xfrm>
            <a:off x="510540" y="1424940"/>
            <a:ext cx="7774686" cy="365760"/>
          </a:xfrm>
          <a:prstGeom prst="rect">
            <a:avLst/>
          </a:prstGeom>
          <a:noFill/>
          <a:ln>
            <a:noFill/>
          </a:ln>
        </p:spPr>
        <p:txBody>
          <a:bodyPr wrap="none" lIns="0" tIns="0" rIns="0" bIns="0" anchor="t" anchorCtr="0">
            <a:spAutoFit/>
          </a:bodyPr>
          <a:lstStyle/>
          <a:p>
            <a:pPr algn="l"/>
            <a:r>
              <a:rPr lang="zh-CN" sz="1800" b="1" dirty="0">
                <a:solidFill>
                  <a:srgbClr val="4B5563"/>
                </a:solidFill>
                <a:latin typeface="Arial"/>
                <a:ea typeface="Microsoft YaHei"/>
                <a:cs typeface="Arial"/>
              </a:rPr>
              <a:t>如果最终目标是修改模拟器，就必须知道样本代表了什么机制。</a:t>
            </a:r>
          </a:p>
        </p:txBody>
      </p:sp>
      <p:sp>
        <p:nvSpPr>
          <p:cNvPr id="6" name="Rectangle 6"/>
          <p:cNvSpPr/>
          <p:nvPr/>
        </p:nvSpPr>
        <p:spPr>
          <a:xfrm>
            <a:off x="857250" y="2324100"/>
            <a:ext cx="4762500" cy="2343150"/>
          </a:xfrm>
          <a:prstGeom prst="roundRect">
            <a:avLst>
              <a:gd name="adj" fmla="val 3252"/>
            </a:avLst>
          </a:prstGeom>
          <a:solidFill>
            <a:srgbClr val="FFFFFF"/>
          </a:solidFill>
          <a:ln w="9525">
            <a:solidFill>
              <a:srgbClr val="CBD5E1"/>
            </a:solidFill>
          </a:ln>
        </p:spPr>
      </p:sp>
      <p:sp>
        <p:nvSpPr>
          <p:cNvPr id="7" name="TextBox 7"/>
          <p:cNvSpPr txBox="1"/>
          <p:nvPr/>
        </p:nvSpPr>
        <p:spPr>
          <a:xfrm>
            <a:off x="1177290" y="2586990"/>
            <a:ext cx="1701927"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Arial"/>
                <a:ea typeface="Microsoft YaHei"/>
                <a:cs typeface="Arial"/>
              </a:rPr>
              <a:t>传统压缩输出</a:t>
            </a:r>
          </a:p>
        </p:txBody>
      </p:sp>
      <p:sp>
        <p:nvSpPr>
          <p:cNvPr id="8" name="TextBox 8"/>
          <p:cNvSpPr txBox="1"/>
          <p:nvPr/>
        </p:nvSpPr>
        <p:spPr>
          <a:xfrm>
            <a:off x="1181100" y="3114675"/>
            <a:ext cx="2338387" cy="304800"/>
          </a:xfrm>
          <a:prstGeom prst="rect">
            <a:avLst/>
          </a:prstGeom>
          <a:noFill/>
          <a:ln>
            <a:noFill/>
          </a:ln>
        </p:spPr>
        <p:txBody>
          <a:bodyPr wrap="none" lIns="0" tIns="0" rIns="0" bIns="0" anchor="t" anchorCtr="0">
            <a:spAutoFit/>
          </a:bodyPr>
          <a:lstStyle/>
          <a:p>
            <a:pPr algn="l"/>
            <a:r>
              <a:rPr lang="zh-CN" sz="1500" dirty="0">
                <a:solidFill>
                  <a:srgbClr val="111827"/>
                </a:solidFill>
                <a:latin typeface="Arial"/>
                <a:ea typeface="Microsoft YaHei"/>
                <a:cs typeface="Arial"/>
              </a:rPr>
              <a:t>代表 kernel / 代表片段</a:t>
            </a:r>
          </a:p>
        </p:txBody>
      </p:sp>
      <p:sp>
        <p:nvSpPr>
          <p:cNvPr id="9" name="TextBox 9"/>
          <p:cNvSpPr txBox="1"/>
          <p:nvPr/>
        </p:nvSpPr>
        <p:spPr>
          <a:xfrm>
            <a:off x="1183005" y="3511868"/>
            <a:ext cx="318897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可以减少模拟量，但很难直接回答：</a:t>
            </a:r>
          </a:p>
        </p:txBody>
      </p:sp>
      <p:sp>
        <p:nvSpPr>
          <p:cNvPr id="10" name="TextBox 10"/>
          <p:cNvSpPr txBox="1"/>
          <p:nvPr/>
        </p:nvSpPr>
        <p:spPr>
          <a:xfrm>
            <a:off x="1183005" y="3892868"/>
            <a:ext cx="2104549" cy="274320"/>
          </a:xfrm>
          <a:prstGeom prst="rect">
            <a:avLst/>
          </a:prstGeom>
          <a:noFill/>
          <a:ln>
            <a:noFill/>
          </a:ln>
        </p:spPr>
        <p:txBody>
          <a:bodyPr wrap="none" lIns="0" tIns="0" rIns="0" bIns="0" anchor="t" anchorCtr="0">
            <a:spAutoFit/>
          </a:bodyPr>
          <a:lstStyle/>
          <a:p>
            <a:pPr algn="l"/>
            <a:r>
              <a:rPr lang="zh-CN" sz="1350" b="1" dirty="0">
                <a:solidFill>
                  <a:srgbClr val="B91C1C"/>
                </a:solidFill>
                <a:latin typeface="Arial"/>
                <a:ea typeface="Microsoft YaHei"/>
                <a:cs typeface="Arial"/>
              </a:rPr>
              <a:t>应该改哪个硬件机制？</a:t>
            </a:r>
          </a:p>
        </p:txBody>
      </p:sp>
      <p:sp>
        <p:nvSpPr>
          <p:cNvPr id="11" name="Rectangle 11"/>
          <p:cNvSpPr/>
          <p:nvPr/>
        </p:nvSpPr>
        <p:spPr>
          <a:xfrm>
            <a:off x="6572250" y="2324100"/>
            <a:ext cx="4762500" cy="2343150"/>
          </a:xfrm>
          <a:prstGeom prst="roundRect">
            <a:avLst>
              <a:gd name="adj" fmla="val 3252"/>
            </a:avLst>
          </a:prstGeom>
          <a:solidFill>
            <a:srgbClr val="FFFFFF"/>
          </a:solidFill>
          <a:ln w="9525">
            <a:solidFill>
              <a:srgbClr val="CBD5E1"/>
            </a:solidFill>
          </a:ln>
        </p:spPr>
      </p:sp>
      <p:sp>
        <p:nvSpPr>
          <p:cNvPr id="12" name="TextBox 12"/>
          <p:cNvSpPr txBox="1"/>
          <p:nvPr/>
        </p:nvSpPr>
        <p:spPr>
          <a:xfrm>
            <a:off x="6892290" y="2586990"/>
            <a:ext cx="1977962" cy="365760"/>
          </a:xfrm>
          <a:prstGeom prst="rect">
            <a:avLst/>
          </a:prstGeom>
          <a:noFill/>
          <a:ln>
            <a:noFill/>
          </a:ln>
        </p:spPr>
        <p:txBody>
          <a:bodyPr wrap="none" lIns="0" tIns="0" rIns="0" bIns="0" anchor="t" anchorCtr="0">
            <a:spAutoFit/>
          </a:bodyPr>
          <a:lstStyle/>
          <a:p>
            <a:pPr algn="l"/>
            <a:r>
              <a:rPr lang="zh-CN" sz="1800" b="1" dirty="0">
                <a:solidFill>
                  <a:srgbClr val="D97706"/>
                </a:solidFill>
                <a:latin typeface="Arial"/>
                <a:ea typeface="Microsoft YaHei"/>
                <a:cs typeface="Arial"/>
              </a:rPr>
              <a:t>我们希望的输出</a:t>
            </a:r>
          </a:p>
        </p:txBody>
      </p:sp>
      <p:sp>
        <p:nvSpPr>
          <p:cNvPr id="13" name="TextBox 13"/>
          <p:cNvSpPr txBox="1"/>
          <p:nvPr/>
        </p:nvSpPr>
        <p:spPr>
          <a:xfrm>
            <a:off x="6896100" y="3114675"/>
            <a:ext cx="3170872" cy="304800"/>
          </a:xfrm>
          <a:prstGeom prst="rect">
            <a:avLst/>
          </a:prstGeom>
          <a:noFill/>
          <a:ln>
            <a:noFill/>
          </a:ln>
        </p:spPr>
        <p:txBody>
          <a:bodyPr wrap="none" lIns="0" tIns="0" rIns="0" bIns="0" anchor="t" anchorCtr="0">
            <a:spAutoFit/>
          </a:bodyPr>
          <a:lstStyle/>
          <a:p>
            <a:pPr algn="l"/>
            <a:r>
              <a:rPr lang="zh-CN" sz="1500" dirty="0">
                <a:solidFill>
                  <a:srgbClr val="111827"/>
                </a:solidFill>
                <a:latin typeface="Arial"/>
                <a:ea typeface="Microsoft YaHei"/>
                <a:cs typeface="Arial"/>
              </a:rPr>
              <a:t>代表片段 + 机制证据 + 处方入口</a:t>
            </a:r>
          </a:p>
        </p:txBody>
      </p:sp>
      <p:sp>
        <p:nvSpPr>
          <p:cNvPr id="14" name="TextBox 14"/>
          <p:cNvSpPr txBox="1"/>
          <p:nvPr/>
        </p:nvSpPr>
        <p:spPr>
          <a:xfrm>
            <a:off x="6898005" y="3511868"/>
            <a:ext cx="2203132"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让压缩结果能继续服务：</a:t>
            </a:r>
          </a:p>
        </p:txBody>
      </p:sp>
      <p:sp>
        <p:nvSpPr>
          <p:cNvPr id="15" name="TextBox 15"/>
          <p:cNvSpPr txBox="1"/>
          <p:nvPr/>
        </p:nvSpPr>
        <p:spPr>
          <a:xfrm>
            <a:off x="6898005" y="3892868"/>
            <a:ext cx="2104549" cy="274320"/>
          </a:xfrm>
          <a:prstGeom prst="rect">
            <a:avLst/>
          </a:prstGeom>
          <a:noFill/>
          <a:ln>
            <a:noFill/>
          </a:ln>
        </p:spPr>
        <p:txBody>
          <a:bodyPr wrap="none" lIns="0" tIns="0" rIns="0" bIns="0" anchor="t" anchorCtr="0">
            <a:spAutoFit/>
          </a:bodyPr>
          <a:lstStyle/>
          <a:p>
            <a:pPr algn="l"/>
            <a:r>
              <a:rPr lang="zh-CN" sz="1350" b="1" dirty="0">
                <a:solidFill>
                  <a:srgbClr val="2F855A"/>
                </a:solidFill>
                <a:latin typeface="Arial"/>
                <a:ea typeface="Microsoft YaHei"/>
                <a:cs typeface="Arial"/>
              </a:rPr>
              <a:t>归因、调参、验证闭环</a:t>
            </a:r>
          </a:p>
        </p:txBody>
      </p:sp>
      <p:sp>
        <p:nvSpPr>
          <p:cNvPr id="16" name="Line 16"/>
          <p:cNvSpPr/>
          <p:nvPr/>
        </p:nvSpPr>
        <p:spPr>
          <a:xfrm>
            <a:off x="5734050" y="3495675"/>
            <a:ext cx="723900" cy="9525"/>
          </a:xfrm>
          <a:custGeom>
            <a:avLst/>
            <a:gdLst/>
            <a:ahLst/>
            <a:cxnLst/>
            <a:rect l="l" t="t" r="r" b="b"/>
            <a:pathLst>
              <a:path w="723900" h="9525">
                <a:moveTo>
                  <a:pt x="0" y="0"/>
                </a:moveTo>
                <a:lnTo>
                  <a:pt x="723900" y="0"/>
                </a:lnTo>
              </a:path>
            </a:pathLst>
          </a:custGeom>
          <a:noFill/>
          <a:ln w="38100">
            <a:solidFill>
              <a:srgbClr val="CBD5E1"/>
            </a:solidFill>
          </a:ln>
        </p:spPr>
      </p:sp>
      <p:sp>
        <p:nvSpPr>
          <p:cNvPr id="17" name="Polygon 17"/>
          <p:cNvSpPr/>
          <p:nvPr/>
        </p:nvSpPr>
        <p:spPr>
          <a:xfrm>
            <a:off x="6438900" y="3400425"/>
            <a:ext cx="152400" cy="190500"/>
          </a:xfrm>
          <a:custGeom>
            <a:avLst/>
            <a:gdLst/>
            <a:ahLst/>
            <a:cxnLst/>
            <a:rect l="l" t="t" r="r" b="b"/>
            <a:pathLst>
              <a:path w="152400" h="190500">
                <a:moveTo>
                  <a:pt x="0" y="0"/>
                </a:moveTo>
                <a:lnTo>
                  <a:pt x="152400" y="95250"/>
                </a:lnTo>
                <a:lnTo>
                  <a:pt x="0" y="190500"/>
                </a:lnTo>
                <a:close/>
              </a:path>
            </a:pathLst>
          </a:custGeom>
          <a:solidFill>
            <a:srgbClr val="CBD5E1"/>
          </a:solidFill>
          <a:ln>
            <a:noFill/>
          </a:ln>
        </p:spPr>
      </p:sp>
      <p:sp>
        <p:nvSpPr>
          <p:cNvPr id="18" name="Rectangle 18"/>
          <p:cNvSpPr/>
          <p:nvPr/>
        </p:nvSpPr>
        <p:spPr>
          <a:xfrm>
            <a:off x="2209800" y="5219700"/>
            <a:ext cx="7772400" cy="514350"/>
          </a:xfrm>
          <a:prstGeom prst="roundRect">
            <a:avLst>
              <a:gd name="adj" fmla="val 14815"/>
            </a:avLst>
          </a:prstGeom>
          <a:solidFill>
            <a:srgbClr val="1E3A5F"/>
          </a:solidFill>
          <a:ln>
            <a:noFill/>
          </a:ln>
        </p:spPr>
      </p:sp>
      <p:sp>
        <p:nvSpPr>
          <p:cNvPr id="19" name="TextBox 19"/>
          <p:cNvSpPr txBox="1"/>
          <p:nvPr/>
        </p:nvSpPr>
        <p:spPr>
          <a:xfrm>
            <a:off x="2157170" y="5383054"/>
            <a:ext cx="7877660"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因此，PKA evidence 必须被翻译成 family / subtype / regime / knob。</a:t>
            </a:r>
          </a:p>
        </p:txBody>
      </p:sp>
      <p:sp>
        <p:nvSpPr>
          <p:cNvPr id="20" name="TextBox 20"/>
          <p:cNvSpPr txBox="1"/>
          <p:nvPr/>
        </p:nvSpPr>
        <p:spPr>
          <a:xfrm>
            <a:off x="520065" y="6116002"/>
            <a:ext cx="2503313"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problem_reframing</a:t>
            </a:r>
          </a:p>
        </p:txBody>
      </p:sp>
      <p:sp>
        <p:nvSpPr>
          <p:cNvPr id="21" name="TextBox 21"/>
          <p:cNvSpPr txBox="1"/>
          <p:nvPr/>
        </p:nvSpPr>
        <p:spPr>
          <a:xfrm>
            <a:off x="11334845" y="6140291"/>
            <a:ext cx="334232"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11 / 21</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483902"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END-TO-END DESIGN</a:t>
            </a:r>
          </a:p>
        </p:txBody>
      </p:sp>
      <p:sp>
        <p:nvSpPr>
          <p:cNvPr id="4" name="TextBox 4"/>
          <p:cNvSpPr txBox="1"/>
          <p:nvPr/>
        </p:nvSpPr>
        <p:spPr>
          <a:xfrm>
            <a:off x="502920" y="845820"/>
            <a:ext cx="9648558"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端到端链路：从 PKA evidence 到 simulator prescription</a:t>
            </a:r>
          </a:p>
        </p:txBody>
      </p:sp>
      <p:sp>
        <p:nvSpPr>
          <p:cNvPr id="5" name="TextBox 5"/>
          <p:cNvSpPr txBox="1"/>
          <p:nvPr/>
        </p:nvSpPr>
        <p:spPr>
          <a:xfrm>
            <a:off x="515302" y="1274921"/>
            <a:ext cx="6279832"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优势不在于单点压缩，而在于把压缩、归因、调参和验证串成闭环。</a:t>
            </a:r>
          </a:p>
        </p:txBody>
      </p:sp>
      <p:sp>
        <p:nvSpPr>
          <p:cNvPr id="6" name="Rectangle 6"/>
          <p:cNvSpPr/>
          <p:nvPr/>
        </p:nvSpPr>
        <p:spPr>
          <a:xfrm>
            <a:off x="533400" y="2171700"/>
            <a:ext cx="1866900" cy="1314450"/>
          </a:xfrm>
          <a:prstGeom prst="roundRect">
            <a:avLst>
              <a:gd name="adj" fmla="val 5797"/>
            </a:avLst>
          </a:prstGeom>
          <a:solidFill>
            <a:srgbClr val="FFFFFF"/>
          </a:solidFill>
          <a:ln w="9525">
            <a:solidFill>
              <a:srgbClr val="CBD5E1"/>
            </a:solidFill>
          </a:ln>
        </p:spPr>
      </p:sp>
      <p:sp>
        <p:nvSpPr>
          <p:cNvPr id="7" name="TextBox 7"/>
          <p:cNvSpPr txBox="1"/>
          <p:nvPr/>
        </p:nvSpPr>
        <p:spPr>
          <a:xfrm>
            <a:off x="710180" y="2439829"/>
            <a:ext cx="1513339" cy="320040"/>
          </a:xfrm>
          <a:prstGeom prst="rect">
            <a:avLst/>
          </a:prstGeom>
          <a:noFill/>
          <a:ln>
            <a:noFill/>
          </a:ln>
        </p:spPr>
        <p:txBody>
          <a:bodyPr wrap="none" lIns="0" tIns="0" rIns="0" bIns="0" anchor="t" anchorCtr="0">
            <a:spAutoFit/>
          </a:bodyPr>
          <a:lstStyle/>
          <a:p>
            <a:pPr algn="ctr"/>
            <a:r>
              <a:rPr lang="zh-CN" sz="1575" b="1" dirty="0">
                <a:solidFill>
                  <a:srgbClr val="1E3A5F"/>
                </a:solidFill>
                <a:latin typeface="Arial"/>
                <a:ea typeface="Microsoft YaHei"/>
                <a:cs typeface="Arial"/>
              </a:rPr>
              <a:t>PKA evidence</a:t>
            </a:r>
          </a:p>
        </p:txBody>
      </p:sp>
      <p:sp>
        <p:nvSpPr>
          <p:cNvPr id="8" name="TextBox 8"/>
          <p:cNvSpPr txBox="1"/>
          <p:nvPr/>
        </p:nvSpPr>
        <p:spPr>
          <a:xfrm>
            <a:off x="1101090" y="2842260"/>
            <a:ext cx="73152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代表片段</a:t>
            </a:r>
          </a:p>
        </p:txBody>
      </p:sp>
      <p:sp>
        <p:nvSpPr>
          <p:cNvPr id="9" name="TextBox 9"/>
          <p:cNvSpPr txBox="1"/>
          <p:nvPr/>
        </p:nvSpPr>
        <p:spPr>
          <a:xfrm>
            <a:off x="1013460" y="3089910"/>
            <a:ext cx="90678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结构化特征</a:t>
            </a:r>
          </a:p>
        </p:txBody>
      </p:sp>
      <p:sp>
        <p:nvSpPr>
          <p:cNvPr id="10" name="Rectangle 10"/>
          <p:cNvSpPr/>
          <p:nvPr/>
        </p:nvSpPr>
        <p:spPr>
          <a:xfrm>
            <a:off x="2838450" y="2171700"/>
            <a:ext cx="1866900" cy="1314450"/>
          </a:xfrm>
          <a:prstGeom prst="roundRect">
            <a:avLst>
              <a:gd name="adj" fmla="val 5797"/>
            </a:avLst>
          </a:prstGeom>
          <a:solidFill>
            <a:srgbClr val="FFFFFF"/>
          </a:solidFill>
          <a:ln w="9525">
            <a:solidFill>
              <a:srgbClr val="CBD5E1"/>
            </a:solidFill>
          </a:ln>
        </p:spPr>
      </p:sp>
      <p:sp>
        <p:nvSpPr>
          <p:cNvPr id="11" name="TextBox 11"/>
          <p:cNvSpPr txBox="1"/>
          <p:nvPr/>
        </p:nvSpPr>
        <p:spPr>
          <a:xfrm>
            <a:off x="3389602" y="2439829"/>
            <a:ext cx="764596" cy="320040"/>
          </a:xfrm>
          <a:prstGeom prst="rect">
            <a:avLst/>
          </a:prstGeom>
          <a:noFill/>
          <a:ln>
            <a:noFill/>
          </a:ln>
        </p:spPr>
        <p:txBody>
          <a:bodyPr wrap="none" lIns="0" tIns="0" rIns="0" bIns="0" anchor="t" anchorCtr="0">
            <a:spAutoFit/>
          </a:bodyPr>
          <a:lstStyle/>
          <a:p>
            <a:pPr algn="ctr"/>
            <a:r>
              <a:rPr lang="zh-CN" sz="1575" b="1" dirty="0">
                <a:solidFill>
                  <a:srgbClr val="1E3A5F"/>
                </a:solidFill>
                <a:latin typeface="Arial"/>
                <a:ea typeface="Microsoft YaHei"/>
                <a:cs typeface="Arial"/>
              </a:rPr>
              <a:t>family</a:t>
            </a:r>
          </a:p>
        </p:txBody>
      </p:sp>
      <p:sp>
        <p:nvSpPr>
          <p:cNvPr id="12" name="TextBox 12"/>
          <p:cNvSpPr txBox="1"/>
          <p:nvPr/>
        </p:nvSpPr>
        <p:spPr>
          <a:xfrm>
            <a:off x="3230880" y="2842260"/>
            <a:ext cx="108204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选择资源大类</a:t>
            </a:r>
          </a:p>
        </p:txBody>
      </p:sp>
      <p:sp>
        <p:nvSpPr>
          <p:cNvPr id="13" name="TextBox 13"/>
          <p:cNvSpPr txBox="1"/>
          <p:nvPr/>
        </p:nvSpPr>
        <p:spPr>
          <a:xfrm>
            <a:off x="2976753" y="3089910"/>
            <a:ext cx="1590294"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compute / memory</a:t>
            </a:r>
          </a:p>
        </p:txBody>
      </p:sp>
      <p:sp>
        <p:nvSpPr>
          <p:cNvPr id="14" name="Rectangle 14"/>
          <p:cNvSpPr/>
          <p:nvPr/>
        </p:nvSpPr>
        <p:spPr>
          <a:xfrm>
            <a:off x="5143500" y="2171700"/>
            <a:ext cx="1866900" cy="1314450"/>
          </a:xfrm>
          <a:prstGeom prst="roundRect">
            <a:avLst>
              <a:gd name="adj" fmla="val 5797"/>
            </a:avLst>
          </a:prstGeom>
          <a:solidFill>
            <a:srgbClr val="FFFFFF"/>
          </a:solidFill>
          <a:ln w="9525">
            <a:solidFill>
              <a:srgbClr val="CBD5E1"/>
            </a:solidFill>
          </a:ln>
        </p:spPr>
      </p:sp>
      <p:sp>
        <p:nvSpPr>
          <p:cNvPr id="15" name="TextBox 15"/>
          <p:cNvSpPr txBox="1"/>
          <p:nvPr/>
        </p:nvSpPr>
        <p:spPr>
          <a:xfrm>
            <a:off x="5592002" y="2439829"/>
            <a:ext cx="969896" cy="320040"/>
          </a:xfrm>
          <a:prstGeom prst="rect">
            <a:avLst/>
          </a:prstGeom>
          <a:noFill/>
          <a:ln>
            <a:noFill/>
          </a:ln>
        </p:spPr>
        <p:txBody>
          <a:bodyPr wrap="none" lIns="0" tIns="0" rIns="0" bIns="0" anchor="t" anchorCtr="0">
            <a:spAutoFit/>
          </a:bodyPr>
          <a:lstStyle/>
          <a:p>
            <a:pPr algn="ctr"/>
            <a:r>
              <a:rPr lang="zh-CN" sz="1575" b="1" dirty="0">
                <a:solidFill>
                  <a:srgbClr val="D97706"/>
                </a:solidFill>
                <a:latin typeface="Arial"/>
                <a:ea typeface="Microsoft YaHei"/>
                <a:cs typeface="Arial"/>
              </a:rPr>
              <a:t>subtype</a:t>
            </a:r>
          </a:p>
        </p:txBody>
      </p:sp>
      <p:sp>
        <p:nvSpPr>
          <p:cNvPr id="16" name="TextBox 16"/>
          <p:cNvSpPr txBox="1"/>
          <p:nvPr/>
        </p:nvSpPr>
        <p:spPr>
          <a:xfrm>
            <a:off x="5535930" y="2842260"/>
            <a:ext cx="108204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定位具体机制</a:t>
            </a:r>
          </a:p>
        </p:txBody>
      </p:sp>
      <p:sp>
        <p:nvSpPr>
          <p:cNvPr id="17" name="TextBox 17"/>
          <p:cNvSpPr txBox="1"/>
          <p:nvPr/>
        </p:nvSpPr>
        <p:spPr>
          <a:xfrm>
            <a:off x="5400103" y="3089910"/>
            <a:ext cx="1353693"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pipeline / cache</a:t>
            </a:r>
          </a:p>
        </p:txBody>
      </p:sp>
      <p:sp>
        <p:nvSpPr>
          <p:cNvPr id="18" name="Rectangle 18"/>
          <p:cNvSpPr/>
          <p:nvPr/>
        </p:nvSpPr>
        <p:spPr>
          <a:xfrm>
            <a:off x="7448550" y="2171700"/>
            <a:ext cx="1866900" cy="1314450"/>
          </a:xfrm>
          <a:prstGeom prst="roundRect">
            <a:avLst>
              <a:gd name="adj" fmla="val 5797"/>
            </a:avLst>
          </a:prstGeom>
          <a:solidFill>
            <a:srgbClr val="FFFFFF"/>
          </a:solidFill>
          <a:ln w="9525">
            <a:solidFill>
              <a:srgbClr val="CBD5E1"/>
            </a:solidFill>
          </a:ln>
        </p:spPr>
      </p:sp>
      <p:sp>
        <p:nvSpPr>
          <p:cNvPr id="19" name="TextBox 19"/>
          <p:cNvSpPr txBox="1"/>
          <p:nvPr/>
        </p:nvSpPr>
        <p:spPr>
          <a:xfrm>
            <a:off x="7969511" y="2439829"/>
            <a:ext cx="824978" cy="320040"/>
          </a:xfrm>
          <a:prstGeom prst="rect">
            <a:avLst/>
          </a:prstGeom>
          <a:noFill/>
          <a:ln>
            <a:noFill/>
          </a:ln>
        </p:spPr>
        <p:txBody>
          <a:bodyPr wrap="none" lIns="0" tIns="0" rIns="0" bIns="0" anchor="t" anchorCtr="0">
            <a:spAutoFit/>
          </a:bodyPr>
          <a:lstStyle/>
          <a:p>
            <a:pPr algn="ctr"/>
            <a:r>
              <a:rPr lang="zh-CN" sz="1575" b="1" dirty="0">
                <a:solidFill>
                  <a:srgbClr val="D97706"/>
                </a:solidFill>
                <a:latin typeface="Arial"/>
                <a:ea typeface="Microsoft YaHei"/>
                <a:cs typeface="Arial"/>
              </a:rPr>
              <a:t>regime</a:t>
            </a:r>
          </a:p>
        </p:txBody>
      </p:sp>
      <p:sp>
        <p:nvSpPr>
          <p:cNvPr id="20" name="TextBox 20"/>
          <p:cNvSpPr txBox="1"/>
          <p:nvPr/>
        </p:nvSpPr>
        <p:spPr>
          <a:xfrm>
            <a:off x="8016240" y="2842260"/>
            <a:ext cx="73152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时间权重</a:t>
            </a:r>
          </a:p>
        </p:txBody>
      </p:sp>
      <p:sp>
        <p:nvSpPr>
          <p:cNvPr id="21" name="TextBox 21"/>
          <p:cNvSpPr txBox="1"/>
          <p:nvPr/>
        </p:nvSpPr>
        <p:spPr>
          <a:xfrm>
            <a:off x="7840980" y="3089910"/>
            <a:ext cx="108204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影响范围估计</a:t>
            </a:r>
          </a:p>
        </p:txBody>
      </p:sp>
      <p:sp>
        <p:nvSpPr>
          <p:cNvPr id="22" name="Rectangle 22"/>
          <p:cNvSpPr/>
          <p:nvPr/>
        </p:nvSpPr>
        <p:spPr>
          <a:xfrm>
            <a:off x="9753600" y="2171700"/>
            <a:ext cx="1905000" cy="1314450"/>
          </a:xfrm>
          <a:prstGeom prst="roundRect">
            <a:avLst>
              <a:gd name="adj" fmla="val 5797"/>
            </a:avLst>
          </a:prstGeom>
          <a:solidFill>
            <a:srgbClr val="2F855A"/>
          </a:solidFill>
          <a:ln w="9525">
            <a:solidFill>
              <a:srgbClr val="2F855A"/>
            </a:solidFill>
          </a:ln>
        </p:spPr>
      </p:sp>
      <p:sp>
        <p:nvSpPr>
          <p:cNvPr id="23" name="TextBox 23"/>
          <p:cNvSpPr txBox="1"/>
          <p:nvPr/>
        </p:nvSpPr>
        <p:spPr>
          <a:xfrm>
            <a:off x="9810551" y="2439829"/>
            <a:ext cx="1791099"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knob + validate</a:t>
            </a:r>
          </a:p>
        </p:txBody>
      </p:sp>
      <p:sp>
        <p:nvSpPr>
          <p:cNvPr id="24" name="TextBox 24"/>
          <p:cNvSpPr txBox="1"/>
          <p:nvPr/>
        </p:nvSpPr>
        <p:spPr>
          <a:xfrm>
            <a:off x="10077450" y="2842260"/>
            <a:ext cx="1257300" cy="243840"/>
          </a:xfrm>
          <a:prstGeom prst="rect">
            <a:avLst/>
          </a:prstGeom>
          <a:noFill/>
          <a:ln>
            <a:noFill/>
          </a:ln>
        </p:spPr>
        <p:txBody>
          <a:bodyPr wrap="none" lIns="0" tIns="0" rIns="0" bIns="0" anchor="t" anchorCtr="0">
            <a:spAutoFit/>
          </a:bodyPr>
          <a:lstStyle/>
          <a:p>
            <a:pPr algn="ctr"/>
            <a:r>
              <a:rPr lang="zh-CN" sz="1200" dirty="0">
                <a:solidFill>
                  <a:srgbClr val="FFFFFF"/>
                </a:solidFill>
                <a:latin typeface="Arial"/>
                <a:ea typeface="Microsoft YaHei"/>
                <a:cs typeface="Arial"/>
              </a:rPr>
              <a:t>修改模拟器参数</a:t>
            </a:r>
          </a:p>
        </p:txBody>
      </p:sp>
      <p:sp>
        <p:nvSpPr>
          <p:cNvPr id="25" name="TextBox 25"/>
          <p:cNvSpPr txBox="1"/>
          <p:nvPr/>
        </p:nvSpPr>
        <p:spPr>
          <a:xfrm>
            <a:off x="10340340" y="3089910"/>
            <a:ext cx="731520" cy="243840"/>
          </a:xfrm>
          <a:prstGeom prst="rect">
            <a:avLst/>
          </a:prstGeom>
          <a:noFill/>
          <a:ln>
            <a:noFill/>
          </a:ln>
        </p:spPr>
        <p:txBody>
          <a:bodyPr wrap="none" lIns="0" tIns="0" rIns="0" bIns="0" anchor="t" anchorCtr="0">
            <a:spAutoFit/>
          </a:bodyPr>
          <a:lstStyle/>
          <a:p>
            <a:pPr algn="ctr"/>
            <a:r>
              <a:rPr lang="zh-CN" sz="1200" dirty="0">
                <a:solidFill>
                  <a:srgbClr val="FFFFFF"/>
                </a:solidFill>
                <a:latin typeface="Arial"/>
                <a:ea typeface="Microsoft YaHei"/>
                <a:cs typeface="Arial"/>
              </a:rPr>
              <a:t>观察效果</a:t>
            </a:r>
          </a:p>
        </p:txBody>
      </p:sp>
      <p:sp>
        <p:nvSpPr>
          <p:cNvPr id="26" name="Line 26"/>
          <p:cNvSpPr/>
          <p:nvPr/>
        </p:nvSpPr>
        <p:spPr>
          <a:xfrm>
            <a:off x="2400300" y="2828925"/>
            <a:ext cx="438150" cy="9525"/>
          </a:xfrm>
          <a:custGeom>
            <a:avLst/>
            <a:gdLst/>
            <a:ahLst/>
            <a:cxnLst/>
            <a:rect l="l" t="t" r="r" b="b"/>
            <a:pathLst>
              <a:path w="438150" h="9525">
                <a:moveTo>
                  <a:pt x="0" y="0"/>
                </a:moveTo>
                <a:lnTo>
                  <a:pt x="438150" y="0"/>
                </a:lnTo>
              </a:path>
            </a:pathLst>
          </a:custGeom>
          <a:noFill/>
          <a:ln w="28575">
            <a:solidFill>
              <a:srgbClr val="CBD5E1"/>
            </a:solidFill>
          </a:ln>
        </p:spPr>
      </p:sp>
      <p:sp>
        <p:nvSpPr>
          <p:cNvPr id="27" name="Line 27"/>
          <p:cNvSpPr/>
          <p:nvPr/>
        </p:nvSpPr>
        <p:spPr>
          <a:xfrm>
            <a:off x="4705350" y="2828925"/>
            <a:ext cx="438150" cy="9525"/>
          </a:xfrm>
          <a:custGeom>
            <a:avLst/>
            <a:gdLst/>
            <a:ahLst/>
            <a:cxnLst/>
            <a:rect l="l" t="t" r="r" b="b"/>
            <a:pathLst>
              <a:path w="438150" h="9525">
                <a:moveTo>
                  <a:pt x="0" y="0"/>
                </a:moveTo>
                <a:lnTo>
                  <a:pt x="438150" y="0"/>
                </a:lnTo>
              </a:path>
            </a:pathLst>
          </a:custGeom>
          <a:noFill/>
          <a:ln w="28575">
            <a:solidFill>
              <a:srgbClr val="CBD5E1"/>
            </a:solidFill>
          </a:ln>
        </p:spPr>
      </p:sp>
      <p:sp>
        <p:nvSpPr>
          <p:cNvPr id="28" name="Line 28"/>
          <p:cNvSpPr/>
          <p:nvPr/>
        </p:nvSpPr>
        <p:spPr>
          <a:xfrm>
            <a:off x="7010400" y="2828925"/>
            <a:ext cx="438150" cy="9525"/>
          </a:xfrm>
          <a:custGeom>
            <a:avLst/>
            <a:gdLst/>
            <a:ahLst/>
            <a:cxnLst/>
            <a:rect l="l" t="t" r="r" b="b"/>
            <a:pathLst>
              <a:path w="438150" h="9525">
                <a:moveTo>
                  <a:pt x="0" y="0"/>
                </a:moveTo>
                <a:lnTo>
                  <a:pt x="438150" y="0"/>
                </a:lnTo>
              </a:path>
            </a:pathLst>
          </a:custGeom>
          <a:noFill/>
          <a:ln w="28575">
            <a:solidFill>
              <a:srgbClr val="CBD5E1"/>
            </a:solidFill>
          </a:ln>
        </p:spPr>
      </p:sp>
      <p:sp>
        <p:nvSpPr>
          <p:cNvPr id="29" name="Line 29"/>
          <p:cNvSpPr/>
          <p:nvPr/>
        </p:nvSpPr>
        <p:spPr>
          <a:xfrm>
            <a:off x="9315450" y="2828925"/>
            <a:ext cx="438150" cy="9525"/>
          </a:xfrm>
          <a:custGeom>
            <a:avLst/>
            <a:gdLst/>
            <a:ahLst/>
            <a:cxnLst/>
            <a:rect l="l" t="t" r="r" b="b"/>
            <a:pathLst>
              <a:path w="438150" h="9525">
                <a:moveTo>
                  <a:pt x="0" y="0"/>
                </a:moveTo>
                <a:lnTo>
                  <a:pt x="438150" y="0"/>
                </a:lnTo>
              </a:path>
            </a:pathLst>
          </a:custGeom>
          <a:noFill/>
          <a:ln w="28575">
            <a:solidFill>
              <a:srgbClr val="CBD5E1"/>
            </a:solidFill>
          </a:ln>
        </p:spPr>
      </p:sp>
      <p:sp>
        <p:nvSpPr>
          <p:cNvPr id="30" name="Polygon 30"/>
          <p:cNvSpPr/>
          <p:nvPr/>
        </p:nvSpPr>
        <p:spPr>
          <a:xfrm>
            <a:off x="2781300" y="27622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31" name="Polygon 31"/>
          <p:cNvSpPr/>
          <p:nvPr/>
        </p:nvSpPr>
        <p:spPr>
          <a:xfrm>
            <a:off x="5086350" y="27622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32" name="Polygon 32"/>
          <p:cNvSpPr/>
          <p:nvPr/>
        </p:nvSpPr>
        <p:spPr>
          <a:xfrm>
            <a:off x="7391400" y="27622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33" name="Polygon 33"/>
          <p:cNvSpPr/>
          <p:nvPr/>
        </p:nvSpPr>
        <p:spPr>
          <a:xfrm>
            <a:off x="9696450" y="27622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34" name="Rectangle 34"/>
          <p:cNvSpPr/>
          <p:nvPr/>
        </p:nvSpPr>
        <p:spPr>
          <a:xfrm>
            <a:off x="876300" y="4229100"/>
            <a:ext cx="10439400" cy="876300"/>
          </a:xfrm>
          <a:prstGeom prst="roundRect">
            <a:avLst>
              <a:gd name="adj" fmla="val 8696"/>
            </a:avLst>
          </a:prstGeom>
          <a:solidFill>
            <a:srgbClr val="FFFFFF"/>
          </a:solidFill>
          <a:ln w="9525">
            <a:solidFill>
              <a:srgbClr val="CBD5E1"/>
            </a:solidFill>
          </a:ln>
        </p:spPr>
      </p:sp>
      <p:sp>
        <p:nvSpPr>
          <p:cNvPr id="35" name="TextBox 35"/>
          <p:cNvSpPr txBox="1"/>
          <p:nvPr/>
        </p:nvSpPr>
        <p:spPr>
          <a:xfrm>
            <a:off x="1162050" y="4448175"/>
            <a:ext cx="1188244"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端到端优势</a:t>
            </a:r>
          </a:p>
        </p:txBody>
      </p:sp>
      <p:sp>
        <p:nvSpPr>
          <p:cNvPr id="36" name="TextBox 36"/>
          <p:cNvSpPr txBox="1"/>
          <p:nvPr/>
        </p:nvSpPr>
        <p:spPr>
          <a:xfrm>
            <a:off x="1163955" y="4807268"/>
            <a:ext cx="933073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不是黑盒调参，而是从 evidence 出发解释 kernel 属于哪类机制，再把机制落到 simulator knob 上验证。</a:t>
            </a:r>
          </a:p>
        </p:txBody>
      </p:sp>
      <p:sp>
        <p:nvSpPr>
          <p:cNvPr id="37" name="TextBox 37"/>
          <p:cNvSpPr txBox="1"/>
          <p:nvPr/>
        </p:nvSpPr>
        <p:spPr>
          <a:xfrm>
            <a:off x="520065" y="6116002"/>
            <a:ext cx="2549319"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end_to_end_method</a:t>
            </a:r>
          </a:p>
        </p:txBody>
      </p:sp>
      <p:sp>
        <p:nvSpPr>
          <p:cNvPr id="38" name="TextBox 38"/>
          <p:cNvSpPr txBox="1"/>
          <p:nvPr/>
        </p:nvSpPr>
        <p:spPr>
          <a:xfrm>
            <a:off x="1130472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12 / 21</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491953"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B-LINE ATTRIBUTION</a:t>
            </a:r>
          </a:p>
        </p:txBody>
      </p:sp>
      <p:sp>
        <p:nvSpPr>
          <p:cNvPr id="4" name="TextBox 4"/>
          <p:cNvSpPr txBox="1"/>
          <p:nvPr/>
        </p:nvSpPr>
        <p:spPr>
          <a:xfrm>
            <a:off x="502920" y="845820"/>
            <a:ext cx="8231581"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B 线：family/subtype 把 kernel 对齐到硬件机制</a:t>
            </a:r>
          </a:p>
        </p:txBody>
      </p:sp>
      <p:sp>
        <p:nvSpPr>
          <p:cNvPr id="5" name="TextBox 5"/>
          <p:cNvSpPr txBox="1"/>
          <p:nvPr/>
        </p:nvSpPr>
        <p:spPr>
          <a:xfrm>
            <a:off x="515302" y="1274921"/>
            <a:ext cx="6997851"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先选机制大类，再定位具体组件；这样归因结果才能指导 simulator knob。</a:t>
            </a:r>
          </a:p>
        </p:txBody>
      </p:sp>
      <p:sp>
        <p:nvSpPr>
          <p:cNvPr id="6" name="Rectangle 6"/>
          <p:cNvSpPr/>
          <p:nvPr/>
        </p:nvSpPr>
        <p:spPr>
          <a:xfrm>
            <a:off x="819150" y="2114550"/>
            <a:ext cx="4857750" cy="2781300"/>
          </a:xfrm>
          <a:prstGeom prst="roundRect">
            <a:avLst>
              <a:gd name="adj" fmla="val 2740"/>
            </a:avLst>
          </a:prstGeom>
          <a:solidFill>
            <a:srgbClr val="FFFFFF"/>
          </a:solidFill>
          <a:ln w="9525">
            <a:solidFill>
              <a:srgbClr val="CBD5E1"/>
            </a:solidFill>
          </a:ln>
        </p:spPr>
      </p:sp>
      <p:sp>
        <p:nvSpPr>
          <p:cNvPr id="7" name="TextBox 7"/>
          <p:cNvSpPr txBox="1"/>
          <p:nvPr/>
        </p:nvSpPr>
        <p:spPr>
          <a:xfrm>
            <a:off x="1175385" y="2361248"/>
            <a:ext cx="1365294" cy="396240"/>
          </a:xfrm>
          <a:prstGeom prst="rect">
            <a:avLst/>
          </a:prstGeom>
          <a:noFill/>
          <a:ln>
            <a:noFill/>
          </a:ln>
        </p:spPr>
        <p:txBody>
          <a:bodyPr wrap="none" lIns="0" tIns="0" rIns="0" bIns="0" anchor="t" anchorCtr="0">
            <a:spAutoFit/>
          </a:bodyPr>
          <a:lstStyle/>
          <a:p>
            <a:pPr algn="l"/>
            <a:r>
              <a:rPr lang="zh-CN" sz="1950" b="1" dirty="0">
                <a:solidFill>
                  <a:srgbClr val="1E3A5F"/>
                </a:solidFill>
                <a:latin typeface="Arial"/>
                <a:ea typeface="Microsoft YaHei"/>
                <a:cs typeface="Arial"/>
              </a:rPr>
              <a:t>family_id</a:t>
            </a:r>
          </a:p>
        </p:txBody>
      </p:sp>
      <p:sp>
        <p:nvSpPr>
          <p:cNvPr id="8" name="TextBox 8"/>
          <p:cNvSpPr txBox="1"/>
          <p:nvPr/>
        </p:nvSpPr>
        <p:spPr>
          <a:xfrm>
            <a:off x="1181100" y="2790825"/>
            <a:ext cx="3488531"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回答：它主要属于哪类硬件资源？</a:t>
            </a:r>
          </a:p>
        </p:txBody>
      </p:sp>
      <p:sp>
        <p:nvSpPr>
          <p:cNvPr id="9" name="TextBox 9"/>
          <p:cNvSpPr txBox="1"/>
          <p:nvPr/>
        </p:nvSpPr>
        <p:spPr>
          <a:xfrm>
            <a:off x="1183005" y="3264218"/>
            <a:ext cx="423395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例如：dense_compute、memory_hierarchy、</a:t>
            </a:r>
          </a:p>
        </p:txBody>
      </p:sp>
      <p:sp>
        <p:nvSpPr>
          <p:cNvPr id="10" name="TextBox 10"/>
          <p:cNvSpPr txBox="1"/>
          <p:nvPr/>
        </p:nvSpPr>
        <p:spPr>
          <a:xfrm>
            <a:off x="1183005" y="3549968"/>
            <a:ext cx="3573447"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control_flow、scheduler_pressure。</a:t>
            </a:r>
          </a:p>
        </p:txBody>
      </p:sp>
      <p:sp>
        <p:nvSpPr>
          <p:cNvPr id="11" name="Rectangle 11"/>
          <p:cNvSpPr/>
          <p:nvPr/>
        </p:nvSpPr>
        <p:spPr>
          <a:xfrm>
            <a:off x="1200150" y="4171950"/>
            <a:ext cx="3048000" cy="400050"/>
          </a:xfrm>
          <a:prstGeom prst="roundRect">
            <a:avLst>
              <a:gd name="adj" fmla="val 19048"/>
            </a:avLst>
          </a:prstGeom>
          <a:solidFill>
            <a:srgbClr val="F8FAFC"/>
          </a:solidFill>
          <a:ln w="9525">
            <a:solidFill>
              <a:srgbClr val="CBD5E1"/>
            </a:solidFill>
          </a:ln>
        </p:spPr>
      </p:sp>
      <p:sp>
        <p:nvSpPr>
          <p:cNvPr id="12" name="TextBox 12"/>
          <p:cNvSpPr txBox="1"/>
          <p:nvPr/>
        </p:nvSpPr>
        <p:spPr>
          <a:xfrm>
            <a:off x="1989405" y="4291489"/>
            <a:ext cx="1469490" cy="259080"/>
          </a:xfrm>
          <a:prstGeom prst="rect">
            <a:avLst/>
          </a:prstGeom>
          <a:noFill/>
          <a:ln>
            <a:noFill/>
          </a:ln>
        </p:spPr>
        <p:txBody>
          <a:bodyPr wrap="none" lIns="0" tIns="0" rIns="0" bIns="0" anchor="t" anchorCtr="0">
            <a:spAutoFit/>
          </a:bodyPr>
          <a:lstStyle/>
          <a:p>
            <a:pPr algn="ctr"/>
            <a:r>
              <a:rPr lang="zh-CN" sz="1275" b="1" dirty="0">
                <a:solidFill>
                  <a:srgbClr val="111827"/>
                </a:solidFill>
                <a:latin typeface="Consolas"/>
                <a:ea typeface="Microsoft YaHei"/>
                <a:cs typeface="Consolas"/>
              </a:rPr>
              <a:t>dense_compute</a:t>
            </a:r>
          </a:p>
        </p:txBody>
      </p:sp>
      <p:sp>
        <p:nvSpPr>
          <p:cNvPr id="13" name="Rectangle 13"/>
          <p:cNvSpPr/>
          <p:nvPr/>
        </p:nvSpPr>
        <p:spPr>
          <a:xfrm>
            <a:off x="6515100" y="2114550"/>
            <a:ext cx="4857750" cy="2781300"/>
          </a:xfrm>
          <a:prstGeom prst="roundRect">
            <a:avLst>
              <a:gd name="adj" fmla="val 2740"/>
            </a:avLst>
          </a:prstGeom>
          <a:solidFill>
            <a:srgbClr val="FFFFFF"/>
          </a:solidFill>
          <a:ln w="9525">
            <a:solidFill>
              <a:srgbClr val="CBD5E1"/>
            </a:solidFill>
          </a:ln>
        </p:spPr>
      </p:sp>
      <p:sp>
        <p:nvSpPr>
          <p:cNvPr id="14" name="TextBox 14"/>
          <p:cNvSpPr txBox="1"/>
          <p:nvPr/>
        </p:nvSpPr>
        <p:spPr>
          <a:xfrm>
            <a:off x="6871335" y="2361248"/>
            <a:ext cx="2681059" cy="396240"/>
          </a:xfrm>
          <a:prstGeom prst="rect">
            <a:avLst/>
          </a:prstGeom>
          <a:noFill/>
          <a:ln>
            <a:noFill/>
          </a:ln>
        </p:spPr>
        <p:txBody>
          <a:bodyPr wrap="none" lIns="0" tIns="0" rIns="0" bIns="0" anchor="t" anchorCtr="0">
            <a:spAutoFit/>
          </a:bodyPr>
          <a:lstStyle/>
          <a:p>
            <a:pPr algn="l"/>
            <a:r>
              <a:rPr lang="zh-CN" sz="1950" b="1" dirty="0">
                <a:solidFill>
                  <a:srgbClr val="D97706"/>
                </a:solidFill>
                <a:latin typeface="Arial"/>
                <a:ea typeface="Microsoft YaHei"/>
                <a:cs typeface="Arial"/>
              </a:rPr>
              <a:t>family_subtype_id</a:t>
            </a:r>
          </a:p>
        </p:txBody>
      </p:sp>
      <p:sp>
        <p:nvSpPr>
          <p:cNvPr id="15" name="TextBox 15"/>
          <p:cNvSpPr txBox="1"/>
          <p:nvPr/>
        </p:nvSpPr>
        <p:spPr>
          <a:xfrm>
            <a:off x="6877050" y="2790825"/>
            <a:ext cx="3258502"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回答：具体是哪一个可调机制？</a:t>
            </a:r>
          </a:p>
        </p:txBody>
      </p:sp>
      <p:sp>
        <p:nvSpPr>
          <p:cNvPr id="16" name="TextBox 16"/>
          <p:cNvSpPr txBox="1"/>
          <p:nvPr/>
        </p:nvSpPr>
        <p:spPr>
          <a:xfrm>
            <a:off x="6878955" y="3264218"/>
            <a:ext cx="3208687"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例如：FP64/DP pipeline、L1 miss、</a:t>
            </a:r>
          </a:p>
        </p:txBody>
      </p:sp>
      <p:sp>
        <p:nvSpPr>
          <p:cNvPr id="17" name="TextBox 17"/>
          <p:cNvSpPr txBox="1"/>
          <p:nvPr/>
        </p:nvSpPr>
        <p:spPr>
          <a:xfrm>
            <a:off x="6878955" y="3549968"/>
            <a:ext cx="2991803"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shared memory bank conflict。</a:t>
            </a:r>
          </a:p>
        </p:txBody>
      </p:sp>
      <p:sp>
        <p:nvSpPr>
          <p:cNvPr id="18" name="Rectangle 18"/>
          <p:cNvSpPr/>
          <p:nvPr/>
        </p:nvSpPr>
        <p:spPr>
          <a:xfrm>
            <a:off x="6896100" y="4171950"/>
            <a:ext cx="3524250" cy="400050"/>
          </a:xfrm>
          <a:prstGeom prst="roundRect">
            <a:avLst>
              <a:gd name="adj" fmla="val 19048"/>
            </a:avLst>
          </a:prstGeom>
          <a:solidFill>
            <a:srgbClr val="F8FAFC"/>
          </a:solidFill>
          <a:ln w="9525">
            <a:solidFill>
              <a:srgbClr val="CBD5E1"/>
            </a:solidFill>
          </a:ln>
        </p:spPr>
      </p:sp>
      <p:sp>
        <p:nvSpPr>
          <p:cNvPr id="19" name="TextBox 19"/>
          <p:cNvSpPr txBox="1"/>
          <p:nvPr/>
        </p:nvSpPr>
        <p:spPr>
          <a:xfrm>
            <a:off x="7405340" y="4291489"/>
            <a:ext cx="2505769" cy="259080"/>
          </a:xfrm>
          <a:prstGeom prst="rect">
            <a:avLst/>
          </a:prstGeom>
          <a:noFill/>
          <a:ln>
            <a:noFill/>
          </a:ln>
        </p:spPr>
        <p:txBody>
          <a:bodyPr wrap="none" lIns="0" tIns="0" rIns="0" bIns="0" anchor="t" anchorCtr="0">
            <a:spAutoFit/>
          </a:bodyPr>
          <a:lstStyle/>
          <a:p>
            <a:pPr algn="ctr"/>
            <a:r>
              <a:rPr lang="zh-CN" sz="1275" b="1" dirty="0">
                <a:solidFill>
                  <a:srgbClr val="111827"/>
                </a:solidFill>
                <a:latin typeface="Consolas"/>
                <a:ea typeface="Microsoft YaHei"/>
                <a:cs typeface="Consolas"/>
              </a:rPr>
              <a:t>fp64_dp_pipeline_compute</a:t>
            </a:r>
          </a:p>
        </p:txBody>
      </p:sp>
      <p:sp>
        <p:nvSpPr>
          <p:cNvPr id="20" name="Line 20"/>
          <p:cNvSpPr/>
          <p:nvPr/>
        </p:nvSpPr>
        <p:spPr>
          <a:xfrm>
            <a:off x="5676900" y="3505200"/>
            <a:ext cx="838200" cy="9525"/>
          </a:xfrm>
          <a:custGeom>
            <a:avLst/>
            <a:gdLst/>
            <a:ahLst/>
            <a:cxnLst/>
            <a:rect l="l" t="t" r="r" b="b"/>
            <a:pathLst>
              <a:path w="838200" h="9525">
                <a:moveTo>
                  <a:pt x="0" y="0"/>
                </a:moveTo>
                <a:lnTo>
                  <a:pt x="838200" y="0"/>
                </a:lnTo>
              </a:path>
            </a:pathLst>
          </a:custGeom>
          <a:noFill/>
          <a:ln w="38100">
            <a:solidFill>
              <a:srgbClr val="CBD5E1"/>
            </a:solidFill>
          </a:ln>
        </p:spPr>
      </p:sp>
      <p:sp>
        <p:nvSpPr>
          <p:cNvPr id="21" name="Polygon 21"/>
          <p:cNvSpPr/>
          <p:nvPr/>
        </p:nvSpPr>
        <p:spPr>
          <a:xfrm>
            <a:off x="6457950" y="3409950"/>
            <a:ext cx="171450" cy="190500"/>
          </a:xfrm>
          <a:custGeom>
            <a:avLst/>
            <a:gdLst/>
            <a:ahLst/>
            <a:cxnLst/>
            <a:rect l="l" t="t" r="r" b="b"/>
            <a:pathLst>
              <a:path w="171450" h="190500">
                <a:moveTo>
                  <a:pt x="0" y="0"/>
                </a:moveTo>
                <a:lnTo>
                  <a:pt x="171450" y="95250"/>
                </a:lnTo>
                <a:lnTo>
                  <a:pt x="0" y="190500"/>
                </a:lnTo>
                <a:close/>
              </a:path>
            </a:pathLst>
          </a:custGeom>
          <a:solidFill>
            <a:srgbClr val="CBD5E1"/>
          </a:solidFill>
          <a:ln>
            <a:noFill/>
          </a:ln>
        </p:spPr>
      </p:sp>
      <p:sp>
        <p:nvSpPr>
          <p:cNvPr id="22" name="Rectangle 22"/>
          <p:cNvSpPr/>
          <p:nvPr/>
        </p:nvSpPr>
        <p:spPr>
          <a:xfrm>
            <a:off x="2000250" y="5334000"/>
            <a:ext cx="8191500" cy="457200"/>
          </a:xfrm>
          <a:prstGeom prst="roundRect">
            <a:avLst>
              <a:gd name="adj" fmla="val 16667"/>
            </a:avLst>
          </a:prstGeom>
          <a:solidFill>
            <a:srgbClr val="1E3A5F"/>
          </a:solidFill>
          <a:ln>
            <a:noFill/>
          </a:ln>
        </p:spPr>
      </p:sp>
      <p:sp>
        <p:nvSpPr>
          <p:cNvPr id="23" name="TextBox 23"/>
          <p:cNvSpPr txBox="1"/>
          <p:nvPr/>
        </p:nvSpPr>
        <p:spPr>
          <a:xfrm>
            <a:off x="2689777" y="5467350"/>
            <a:ext cx="6812447"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课程化理解：family 是目录，subtype 是目录下真正要动的旋钮。</a:t>
            </a:r>
          </a:p>
        </p:txBody>
      </p:sp>
      <p:sp>
        <p:nvSpPr>
          <p:cNvPr id="24" name="TextBox 24"/>
          <p:cNvSpPr txBox="1"/>
          <p:nvPr/>
        </p:nvSpPr>
        <p:spPr>
          <a:xfrm>
            <a:off x="520065" y="6116002"/>
            <a:ext cx="206625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b_line_design</a:t>
            </a:r>
          </a:p>
        </p:txBody>
      </p:sp>
      <p:sp>
        <p:nvSpPr>
          <p:cNvPr id="25" name="TextBox 25"/>
          <p:cNvSpPr txBox="1"/>
          <p:nvPr/>
        </p:nvSpPr>
        <p:spPr>
          <a:xfrm>
            <a:off x="1130472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13 / 21</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089403" cy="213360"/>
          </a:xfrm>
          <a:prstGeom prst="rect">
            <a:avLst/>
          </a:prstGeom>
          <a:noFill/>
          <a:ln>
            <a:noFill/>
          </a:ln>
        </p:spPr>
        <p:txBody>
          <a:bodyPr wrap="none" lIns="0" tIns="0" rIns="0" bIns="0" anchor="t" anchorCtr="0">
            <a:spAutoFit/>
          </a:bodyPr>
          <a:lstStyle/>
          <a:p>
            <a:pPr algn="l"/>
            <a:r>
              <a:rPr lang="zh-CN" sz="1050" b="1" dirty="0">
                <a:solidFill>
                  <a:srgbClr val="D97706"/>
                </a:solidFill>
                <a:latin typeface="Arial"/>
                <a:ea typeface="Microsoft YaHei"/>
                <a:cs typeface="Arial"/>
              </a:rPr>
              <a:t>C-LINE REGIME</a:t>
            </a:r>
          </a:p>
        </p:txBody>
      </p:sp>
      <p:sp>
        <p:nvSpPr>
          <p:cNvPr id="4" name="TextBox 4"/>
          <p:cNvSpPr txBox="1"/>
          <p:nvPr/>
        </p:nvSpPr>
        <p:spPr>
          <a:xfrm>
            <a:off x="502920" y="845820"/>
            <a:ext cx="802915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C 线：regime/time weight 决定修改的影响范围</a:t>
            </a:r>
          </a:p>
        </p:txBody>
      </p:sp>
      <p:sp>
        <p:nvSpPr>
          <p:cNvPr id="5" name="TextBox 5"/>
          <p:cNvSpPr txBox="1"/>
          <p:nvPr/>
        </p:nvSpPr>
        <p:spPr>
          <a:xfrm>
            <a:off x="515302" y="1274921"/>
            <a:ext cx="6831354"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B 线告诉我们该动哪类机制，C 线估计这个机制在 workload 中有多重要。</a:t>
            </a:r>
          </a:p>
        </p:txBody>
      </p:sp>
      <p:sp>
        <p:nvSpPr>
          <p:cNvPr id="6" name="Rectangle 6"/>
          <p:cNvSpPr/>
          <p:nvPr/>
        </p:nvSpPr>
        <p:spPr>
          <a:xfrm>
            <a:off x="666750" y="2133600"/>
            <a:ext cx="3238500" cy="2571750"/>
          </a:xfrm>
          <a:prstGeom prst="roundRect">
            <a:avLst>
              <a:gd name="adj" fmla="val 2963"/>
            </a:avLst>
          </a:prstGeom>
          <a:solidFill>
            <a:srgbClr val="FFFFFF"/>
          </a:solidFill>
          <a:ln w="9525">
            <a:solidFill>
              <a:srgbClr val="CBD5E1"/>
            </a:solidFill>
          </a:ln>
        </p:spPr>
      </p:sp>
      <p:sp>
        <p:nvSpPr>
          <p:cNvPr id="7" name="TextBox 7"/>
          <p:cNvSpPr txBox="1"/>
          <p:nvPr/>
        </p:nvSpPr>
        <p:spPr>
          <a:xfrm>
            <a:off x="967740" y="2377440"/>
            <a:ext cx="942832"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Arial"/>
                <a:ea typeface="Microsoft YaHei"/>
                <a:cs typeface="Arial"/>
              </a:rPr>
              <a:t>regime</a:t>
            </a:r>
          </a:p>
        </p:txBody>
      </p:sp>
      <p:sp>
        <p:nvSpPr>
          <p:cNvPr id="8" name="TextBox 8"/>
          <p:cNvSpPr txBox="1"/>
          <p:nvPr/>
        </p:nvSpPr>
        <p:spPr>
          <a:xfrm>
            <a:off x="973455" y="2845118"/>
            <a:ext cx="2528459"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算法结构或 kernel 序列中的</a:t>
            </a:r>
          </a:p>
        </p:txBody>
      </p:sp>
      <p:sp>
        <p:nvSpPr>
          <p:cNvPr id="9" name="TextBox 9"/>
          <p:cNvSpPr txBox="1"/>
          <p:nvPr/>
        </p:nvSpPr>
        <p:spPr>
          <a:xfrm>
            <a:off x="973455" y="3130868"/>
            <a:ext cx="1808797"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一类稳定行为片段。</a:t>
            </a:r>
          </a:p>
        </p:txBody>
      </p:sp>
      <p:sp>
        <p:nvSpPr>
          <p:cNvPr id="10" name="Rectangle 10"/>
          <p:cNvSpPr/>
          <p:nvPr/>
        </p:nvSpPr>
        <p:spPr>
          <a:xfrm>
            <a:off x="990600" y="3714750"/>
            <a:ext cx="2381250" cy="419100"/>
          </a:xfrm>
          <a:prstGeom prst="roundRect">
            <a:avLst>
              <a:gd name="adj" fmla="val 18182"/>
            </a:avLst>
          </a:prstGeom>
          <a:solidFill>
            <a:srgbClr val="F8FAFC"/>
          </a:solidFill>
          <a:ln w="9525">
            <a:solidFill>
              <a:srgbClr val="CBD5E1"/>
            </a:solidFill>
          </a:ln>
        </p:spPr>
      </p:sp>
      <p:sp>
        <p:nvSpPr>
          <p:cNvPr id="11" name="TextBox 11"/>
          <p:cNvSpPr txBox="1"/>
          <p:nvPr/>
        </p:nvSpPr>
        <p:spPr>
          <a:xfrm>
            <a:off x="1540307" y="3851910"/>
            <a:ext cx="1281836" cy="243840"/>
          </a:xfrm>
          <a:prstGeom prst="rect">
            <a:avLst/>
          </a:prstGeom>
          <a:noFill/>
          <a:ln>
            <a:noFill/>
          </a:ln>
        </p:spPr>
        <p:txBody>
          <a:bodyPr wrap="none" lIns="0" tIns="0" rIns="0" bIns="0" anchor="t" anchorCtr="0">
            <a:spAutoFit/>
          </a:bodyPr>
          <a:lstStyle/>
          <a:p>
            <a:pPr algn="ctr"/>
            <a:r>
              <a:rPr lang="zh-CN" sz="1200" b="1" dirty="0">
                <a:solidFill>
                  <a:srgbClr val="111827"/>
                </a:solidFill>
                <a:latin typeface="Consolas"/>
                <a:ea typeface="Microsoft YaHei"/>
                <a:cs typeface="Consolas"/>
              </a:rPr>
              <a:t>conv_compute</a:t>
            </a:r>
          </a:p>
        </p:txBody>
      </p:sp>
      <p:sp>
        <p:nvSpPr>
          <p:cNvPr id="12" name="Rectangle 12"/>
          <p:cNvSpPr/>
          <p:nvPr/>
        </p:nvSpPr>
        <p:spPr>
          <a:xfrm>
            <a:off x="4476750" y="2133600"/>
            <a:ext cx="3238500" cy="2571750"/>
          </a:xfrm>
          <a:prstGeom prst="roundRect">
            <a:avLst>
              <a:gd name="adj" fmla="val 2963"/>
            </a:avLst>
          </a:prstGeom>
          <a:solidFill>
            <a:srgbClr val="FFFFFF"/>
          </a:solidFill>
          <a:ln w="9525">
            <a:solidFill>
              <a:srgbClr val="CBD5E1"/>
            </a:solidFill>
          </a:ln>
        </p:spPr>
      </p:sp>
      <p:sp>
        <p:nvSpPr>
          <p:cNvPr id="13" name="TextBox 13"/>
          <p:cNvSpPr txBox="1"/>
          <p:nvPr/>
        </p:nvSpPr>
        <p:spPr>
          <a:xfrm>
            <a:off x="4777740" y="2377440"/>
            <a:ext cx="1688125" cy="365760"/>
          </a:xfrm>
          <a:prstGeom prst="rect">
            <a:avLst/>
          </a:prstGeom>
          <a:noFill/>
          <a:ln>
            <a:noFill/>
          </a:ln>
        </p:spPr>
        <p:txBody>
          <a:bodyPr wrap="none" lIns="0" tIns="0" rIns="0" bIns="0" anchor="t" anchorCtr="0">
            <a:spAutoFit/>
          </a:bodyPr>
          <a:lstStyle/>
          <a:p>
            <a:pPr algn="l"/>
            <a:r>
              <a:rPr lang="zh-CN" sz="1800" b="1" dirty="0">
                <a:solidFill>
                  <a:srgbClr val="D97706"/>
                </a:solidFill>
                <a:latin typeface="Arial"/>
                <a:ea typeface="Microsoft YaHei"/>
                <a:cs typeface="Arial"/>
              </a:rPr>
              <a:t>time_weight</a:t>
            </a:r>
          </a:p>
        </p:txBody>
      </p:sp>
      <p:sp>
        <p:nvSpPr>
          <p:cNvPr id="14" name="TextBox 14"/>
          <p:cNvSpPr txBox="1"/>
          <p:nvPr/>
        </p:nvSpPr>
        <p:spPr>
          <a:xfrm>
            <a:off x="4783455" y="2845118"/>
            <a:ext cx="276506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这个 regime 占总时间的比例，</a:t>
            </a:r>
          </a:p>
        </p:txBody>
      </p:sp>
      <p:sp>
        <p:nvSpPr>
          <p:cNvPr id="15" name="TextBox 15"/>
          <p:cNvSpPr txBox="1"/>
          <p:nvPr/>
        </p:nvSpPr>
        <p:spPr>
          <a:xfrm>
            <a:off x="4783455" y="3130868"/>
            <a:ext cx="259746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用于把局部收益折算到整体。</a:t>
            </a:r>
          </a:p>
        </p:txBody>
      </p:sp>
      <p:sp>
        <p:nvSpPr>
          <p:cNvPr id="16" name="Rectangle 16"/>
          <p:cNvSpPr/>
          <p:nvPr/>
        </p:nvSpPr>
        <p:spPr>
          <a:xfrm>
            <a:off x="4800600" y="3714750"/>
            <a:ext cx="2381250" cy="419100"/>
          </a:xfrm>
          <a:prstGeom prst="roundRect">
            <a:avLst>
              <a:gd name="adj" fmla="val 18182"/>
            </a:avLst>
          </a:prstGeom>
          <a:solidFill>
            <a:srgbClr val="F8FAFC"/>
          </a:solidFill>
          <a:ln w="9525">
            <a:solidFill>
              <a:srgbClr val="CBD5E1"/>
            </a:solidFill>
          </a:ln>
        </p:spPr>
      </p:sp>
      <p:sp>
        <p:nvSpPr>
          <p:cNvPr id="17" name="TextBox 17"/>
          <p:cNvSpPr txBox="1"/>
          <p:nvPr/>
        </p:nvSpPr>
        <p:spPr>
          <a:xfrm>
            <a:off x="5672347" y="3851910"/>
            <a:ext cx="637756" cy="243840"/>
          </a:xfrm>
          <a:prstGeom prst="rect">
            <a:avLst/>
          </a:prstGeom>
          <a:noFill/>
          <a:ln>
            <a:noFill/>
          </a:ln>
        </p:spPr>
        <p:txBody>
          <a:bodyPr wrap="none" lIns="0" tIns="0" rIns="0" bIns="0" anchor="t" anchorCtr="0">
            <a:spAutoFit/>
          </a:bodyPr>
          <a:lstStyle/>
          <a:p>
            <a:pPr algn="ctr"/>
            <a:r>
              <a:rPr lang="zh-CN" sz="1200" b="1" dirty="0">
                <a:solidFill>
                  <a:srgbClr val="111827"/>
                </a:solidFill>
                <a:latin typeface="Consolas"/>
                <a:ea typeface="Microsoft YaHei"/>
                <a:cs typeface="Consolas"/>
              </a:rPr>
              <a:t>0.7579</a:t>
            </a:r>
          </a:p>
        </p:txBody>
      </p:sp>
      <p:sp>
        <p:nvSpPr>
          <p:cNvPr id="18" name="Rectangle 18"/>
          <p:cNvSpPr/>
          <p:nvPr/>
        </p:nvSpPr>
        <p:spPr>
          <a:xfrm>
            <a:off x="8286750" y="2133600"/>
            <a:ext cx="3238500" cy="2571750"/>
          </a:xfrm>
          <a:prstGeom prst="roundRect">
            <a:avLst>
              <a:gd name="adj" fmla="val 2963"/>
            </a:avLst>
          </a:prstGeom>
          <a:solidFill>
            <a:srgbClr val="FFFFFF"/>
          </a:solidFill>
          <a:ln w="9525">
            <a:solidFill>
              <a:srgbClr val="CBD5E1"/>
            </a:solidFill>
          </a:ln>
        </p:spPr>
      </p:sp>
      <p:sp>
        <p:nvSpPr>
          <p:cNvPr id="19" name="TextBox 19"/>
          <p:cNvSpPr txBox="1"/>
          <p:nvPr/>
        </p:nvSpPr>
        <p:spPr>
          <a:xfrm>
            <a:off x="8587740" y="2377440"/>
            <a:ext cx="2019367" cy="365760"/>
          </a:xfrm>
          <a:prstGeom prst="rect">
            <a:avLst/>
          </a:prstGeom>
          <a:noFill/>
          <a:ln>
            <a:noFill/>
          </a:ln>
        </p:spPr>
        <p:txBody>
          <a:bodyPr wrap="none" lIns="0" tIns="0" rIns="0" bIns="0" anchor="t" anchorCtr="0">
            <a:spAutoFit/>
          </a:bodyPr>
          <a:lstStyle/>
          <a:p>
            <a:pPr algn="l"/>
            <a:r>
              <a:rPr lang="zh-CN" sz="1800" b="1" dirty="0">
                <a:solidFill>
                  <a:srgbClr val="2F855A"/>
                </a:solidFill>
                <a:latin typeface="Arial"/>
                <a:ea typeface="Microsoft YaHei"/>
                <a:cs typeface="Arial"/>
              </a:rPr>
              <a:t>simulator knob</a:t>
            </a:r>
          </a:p>
        </p:txBody>
      </p:sp>
      <p:sp>
        <p:nvSpPr>
          <p:cNvPr id="20" name="TextBox 20"/>
          <p:cNvSpPr txBox="1"/>
          <p:nvPr/>
        </p:nvSpPr>
        <p:spPr>
          <a:xfrm>
            <a:off x="8593455" y="2845118"/>
            <a:ext cx="223270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subtype 映射到模拟器中</a:t>
            </a:r>
          </a:p>
        </p:txBody>
      </p:sp>
      <p:sp>
        <p:nvSpPr>
          <p:cNvPr id="21" name="TextBox 21"/>
          <p:cNvSpPr txBox="1"/>
          <p:nvPr/>
        </p:nvSpPr>
        <p:spPr>
          <a:xfrm>
            <a:off x="8593455" y="3130868"/>
            <a:ext cx="1808797"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真正可修改的参数。</a:t>
            </a:r>
          </a:p>
        </p:txBody>
      </p:sp>
      <p:sp>
        <p:nvSpPr>
          <p:cNvPr id="22" name="Rectangle 22"/>
          <p:cNvSpPr/>
          <p:nvPr/>
        </p:nvSpPr>
        <p:spPr>
          <a:xfrm>
            <a:off x="8610600" y="3714750"/>
            <a:ext cx="2381250" cy="419100"/>
          </a:xfrm>
          <a:prstGeom prst="roundRect">
            <a:avLst>
              <a:gd name="adj" fmla="val 18182"/>
            </a:avLst>
          </a:prstGeom>
          <a:solidFill>
            <a:srgbClr val="F8FAFC"/>
          </a:solidFill>
          <a:ln w="9525">
            <a:solidFill>
              <a:srgbClr val="CBD5E1"/>
            </a:solidFill>
          </a:ln>
        </p:spPr>
      </p:sp>
      <p:sp>
        <p:nvSpPr>
          <p:cNvPr id="23" name="TextBox 23"/>
          <p:cNvSpPr txBox="1"/>
          <p:nvPr/>
        </p:nvSpPr>
        <p:spPr>
          <a:xfrm>
            <a:off x="8989025" y="3860006"/>
            <a:ext cx="1624399" cy="228600"/>
          </a:xfrm>
          <a:prstGeom prst="rect">
            <a:avLst/>
          </a:prstGeom>
          <a:noFill/>
          <a:ln>
            <a:noFill/>
          </a:ln>
        </p:spPr>
        <p:txBody>
          <a:bodyPr wrap="none" lIns="0" tIns="0" rIns="0" bIns="0" anchor="t" anchorCtr="0">
            <a:spAutoFit/>
          </a:bodyPr>
          <a:lstStyle/>
          <a:p>
            <a:pPr algn="ctr"/>
            <a:r>
              <a:rPr lang="zh-CN" sz="1125" b="1" dirty="0">
                <a:solidFill>
                  <a:srgbClr val="111827"/>
                </a:solidFill>
                <a:latin typeface="Consolas"/>
                <a:ea typeface="Microsoft YaHei"/>
                <a:cs typeface="Consolas"/>
              </a:rPr>
              <a:t>latency / initiation</a:t>
            </a:r>
          </a:p>
        </p:txBody>
      </p:sp>
      <p:sp>
        <p:nvSpPr>
          <p:cNvPr id="24" name="Line 24"/>
          <p:cNvSpPr/>
          <p:nvPr/>
        </p:nvSpPr>
        <p:spPr>
          <a:xfrm>
            <a:off x="3905250" y="3429000"/>
            <a:ext cx="571500" cy="9525"/>
          </a:xfrm>
          <a:custGeom>
            <a:avLst/>
            <a:gdLst/>
            <a:ahLst/>
            <a:cxnLst/>
            <a:rect l="l" t="t" r="r" b="b"/>
            <a:pathLst>
              <a:path w="571500" h="9525">
                <a:moveTo>
                  <a:pt x="0" y="0"/>
                </a:moveTo>
                <a:lnTo>
                  <a:pt x="571500" y="0"/>
                </a:lnTo>
              </a:path>
            </a:pathLst>
          </a:custGeom>
          <a:noFill/>
          <a:ln w="38100">
            <a:solidFill>
              <a:srgbClr val="CBD5E1"/>
            </a:solidFill>
          </a:ln>
        </p:spPr>
      </p:sp>
      <p:sp>
        <p:nvSpPr>
          <p:cNvPr id="25" name="Line 25"/>
          <p:cNvSpPr/>
          <p:nvPr/>
        </p:nvSpPr>
        <p:spPr>
          <a:xfrm>
            <a:off x="7715250" y="3429000"/>
            <a:ext cx="571500" cy="9525"/>
          </a:xfrm>
          <a:custGeom>
            <a:avLst/>
            <a:gdLst/>
            <a:ahLst/>
            <a:cxnLst/>
            <a:rect l="l" t="t" r="r" b="b"/>
            <a:pathLst>
              <a:path w="571500" h="9525">
                <a:moveTo>
                  <a:pt x="0" y="0"/>
                </a:moveTo>
                <a:lnTo>
                  <a:pt x="571500" y="0"/>
                </a:lnTo>
              </a:path>
            </a:pathLst>
          </a:custGeom>
          <a:noFill/>
          <a:ln w="38100">
            <a:solidFill>
              <a:srgbClr val="CBD5E1"/>
            </a:solidFill>
          </a:ln>
        </p:spPr>
      </p:sp>
      <p:sp>
        <p:nvSpPr>
          <p:cNvPr id="26" name="Polygon 26"/>
          <p:cNvSpPr/>
          <p:nvPr/>
        </p:nvSpPr>
        <p:spPr>
          <a:xfrm>
            <a:off x="4419600" y="3333750"/>
            <a:ext cx="171450" cy="190500"/>
          </a:xfrm>
          <a:custGeom>
            <a:avLst/>
            <a:gdLst/>
            <a:ahLst/>
            <a:cxnLst/>
            <a:rect l="l" t="t" r="r" b="b"/>
            <a:pathLst>
              <a:path w="171450" h="190500">
                <a:moveTo>
                  <a:pt x="0" y="0"/>
                </a:moveTo>
                <a:lnTo>
                  <a:pt x="171450" y="95250"/>
                </a:lnTo>
                <a:lnTo>
                  <a:pt x="0" y="190500"/>
                </a:lnTo>
                <a:close/>
              </a:path>
            </a:pathLst>
          </a:custGeom>
          <a:solidFill>
            <a:srgbClr val="CBD5E1"/>
          </a:solidFill>
          <a:ln>
            <a:noFill/>
          </a:ln>
        </p:spPr>
      </p:sp>
      <p:sp>
        <p:nvSpPr>
          <p:cNvPr id="27" name="Polygon 27"/>
          <p:cNvSpPr/>
          <p:nvPr/>
        </p:nvSpPr>
        <p:spPr>
          <a:xfrm>
            <a:off x="8229600" y="3333750"/>
            <a:ext cx="171450" cy="190500"/>
          </a:xfrm>
          <a:custGeom>
            <a:avLst/>
            <a:gdLst/>
            <a:ahLst/>
            <a:cxnLst/>
            <a:rect l="l" t="t" r="r" b="b"/>
            <a:pathLst>
              <a:path w="171450" h="190500">
                <a:moveTo>
                  <a:pt x="0" y="0"/>
                </a:moveTo>
                <a:lnTo>
                  <a:pt x="171450" y="95250"/>
                </a:lnTo>
                <a:lnTo>
                  <a:pt x="0" y="190500"/>
                </a:lnTo>
                <a:close/>
              </a:path>
            </a:pathLst>
          </a:custGeom>
          <a:solidFill>
            <a:srgbClr val="CBD5E1"/>
          </a:solidFill>
          <a:ln>
            <a:noFill/>
          </a:ln>
        </p:spPr>
      </p:sp>
      <p:sp>
        <p:nvSpPr>
          <p:cNvPr id="28" name="Rectangle 28"/>
          <p:cNvSpPr/>
          <p:nvPr/>
        </p:nvSpPr>
        <p:spPr>
          <a:xfrm>
            <a:off x="1295400" y="5219700"/>
            <a:ext cx="9601200" cy="552450"/>
          </a:xfrm>
          <a:prstGeom prst="roundRect">
            <a:avLst>
              <a:gd name="adj" fmla="val 13793"/>
            </a:avLst>
          </a:prstGeom>
          <a:solidFill>
            <a:srgbClr val="FFFFFF"/>
          </a:solidFill>
          <a:ln w="9525">
            <a:solidFill>
              <a:srgbClr val="CBD5E1"/>
            </a:solidFill>
          </a:ln>
        </p:spPr>
      </p:sp>
      <p:sp>
        <p:nvSpPr>
          <p:cNvPr id="29" name="TextBox 29"/>
          <p:cNvSpPr txBox="1"/>
          <p:nvPr/>
        </p:nvSpPr>
        <p:spPr>
          <a:xfrm>
            <a:off x="2954310" y="5400675"/>
            <a:ext cx="6283381" cy="304800"/>
          </a:xfrm>
          <a:prstGeom prst="rect">
            <a:avLst/>
          </a:prstGeom>
          <a:noFill/>
          <a:ln>
            <a:noFill/>
          </a:ln>
        </p:spPr>
        <p:txBody>
          <a:bodyPr wrap="none" lIns="0" tIns="0" rIns="0" bIns="0" anchor="t" anchorCtr="0">
            <a:spAutoFit/>
          </a:bodyPr>
          <a:lstStyle/>
          <a:p>
            <a:pPr algn="ctr"/>
            <a:r>
              <a:rPr lang="zh-CN" sz="1500" b="1" dirty="0">
                <a:solidFill>
                  <a:srgbClr val="111827"/>
                </a:solidFill>
                <a:latin typeface="Arial"/>
                <a:ea typeface="Microsoft YaHei"/>
                <a:cs typeface="Arial"/>
              </a:rPr>
              <a:t>C 线让“局部 kernel 加速”变成“workload-level 预期收益”。</a:t>
            </a:r>
          </a:p>
        </p:txBody>
      </p:sp>
      <p:sp>
        <p:nvSpPr>
          <p:cNvPr id="30" name="TextBox 30"/>
          <p:cNvSpPr txBox="1"/>
          <p:nvPr/>
        </p:nvSpPr>
        <p:spPr>
          <a:xfrm>
            <a:off x="520065" y="6116002"/>
            <a:ext cx="206625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c_line_design</a:t>
            </a:r>
          </a:p>
        </p:txBody>
      </p:sp>
      <p:sp>
        <p:nvSpPr>
          <p:cNvPr id="31" name="TextBox 31"/>
          <p:cNvSpPr txBox="1"/>
          <p:nvPr/>
        </p:nvSpPr>
        <p:spPr>
          <a:xfrm>
            <a:off x="1130472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14 / 21</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496252"/>
            <a:ext cx="702955"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AI BRIDGE</a:t>
            </a:r>
          </a:p>
        </p:txBody>
      </p:sp>
      <p:sp>
        <p:nvSpPr>
          <p:cNvPr id="4" name="TextBox 4"/>
          <p:cNvSpPr txBox="1"/>
          <p:nvPr/>
        </p:nvSpPr>
        <p:spPr>
          <a:xfrm>
            <a:off x="502920" y="731520"/>
            <a:ext cx="8765248"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PKA evidence 到 family/subtype/regime 的 AI 桥梁</a:t>
            </a:r>
          </a:p>
        </p:txBody>
      </p:sp>
      <p:sp>
        <p:nvSpPr>
          <p:cNvPr id="5" name="TextBox 5"/>
          <p:cNvSpPr txBox="1"/>
          <p:nvPr/>
        </p:nvSpPr>
        <p:spPr>
          <a:xfrm>
            <a:off x="515302" y="1141571"/>
            <a:ext cx="9911548"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不是让模型直接猜答案——用弱监督生成 noisy label，再通过图一致性约束传播和正则化，实现可解释预测。</a:t>
            </a:r>
          </a:p>
        </p:txBody>
      </p:sp>
      <p:sp>
        <p:nvSpPr>
          <p:cNvPr id="6" name="Rectangle 6"/>
          <p:cNvSpPr/>
          <p:nvPr/>
        </p:nvSpPr>
        <p:spPr>
          <a:xfrm>
            <a:off x="533400" y="1524000"/>
            <a:ext cx="11125200" cy="438150"/>
          </a:xfrm>
          <a:prstGeom prst="roundRect">
            <a:avLst>
              <a:gd name="adj" fmla="val 17391"/>
            </a:avLst>
          </a:prstGeom>
          <a:solidFill>
            <a:srgbClr val="FFFFFF"/>
          </a:solidFill>
          <a:ln w="9525">
            <a:solidFill>
              <a:srgbClr val="CBD5E1"/>
            </a:solidFill>
          </a:ln>
        </p:spPr>
      </p:sp>
      <p:sp>
        <p:nvSpPr>
          <p:cNvPr id="7" name="TextBox 7"/>
          <p:cNvSpPr txBox="1"/>
          <p:nvPr/>
        </p:nvSpPr>
        <p:spPr>
          <a:xfrm>
            <a:off x="747712" y="1593056"/>
            <a:ext cx="373618" cy="228600"/>
          </a:xfrm>
          <a:prstGeom prst="rect">
            <a:avLst/>
          </a:prstGeom>
          <a:noFill/>
          <a:ln>
            <a:noFill/>
          </a:ln>
        </p:spPr>
        <p:txBody>
          <a:bodyPr wrap="none" lIns="0" tIns="0" rIns="0" bIns="0" anchor="t" anchorCtr="0">
            <a:spAutoFit/>
          </a:bodyPr>
          <a:lstStyle/>
          <a:p>
            <a:pPr algn="l"/>
            <a:r>
              <a:rPr lang="zh-CN" sz="1125" b="1" dirty="0">
                <a:solidFill>
                  <a:srgbClr val="1E3A5F"/>
                </a:solidFill>
                <a:latin typeface="Arial"/>
                <a:ea typeface="Microsoft YaHei"/>
                <a:cs typeface="Arial"/>
              </a:rPr>
              <a:t>输入</a:t>
            </a:r>
          </a:p>
        </p:txBody>
      </p:sp>
      <p:sp>
        <p:nvSpPr>
          <p:cNvPr id="8" name="TextBox 8"/>
          <p:cNvSpPr txBox="1"/>
          <p:nvPr/>
        </p:nvSpPr>
        <p:spPr>
          <a:xfrm>
            <a:off x="1128712" y="1593056"/>
            <a:ext cx="77867" cy="228600"/>
          </a:xfrm>
          <a:prstGeom prst="rect">
            <a:avLst/>
          </a:prstGeom>
          <a:noFill/>
          <a:ln>
            <a:noFill/>
          </a:ln>
        </p:spPr>
        <p:txBody>
          <a:bodyPr wrap="none" lIns="0" tIns="0" rIns="0" bIns="0" anchor="t" anchorCtr="0">
            <a:spAutoFit/>
          </a:bodyPr>
          <a:lstStyle/>
          <a:p>
            <a:pPr algn="l"/>
            <a:r>
              <a:rPr lang="zh-CN" sz="1125" dirty="0">
                <a:solidFill>
                  <a:srgbClr val="1E3A5F"/>
                </a:solidFill>
                <a:latin typeface="Arial"/>
                <a:ea typeface="Microsoft YaHei"/>
                <a:cs typeface="Arial"/>
              </a:rPr>
              <a:t>|</a:t>
            </a:r>
          </a:p>
        </p:txBody>
      </p:sp>
      <p:sp>
        <p:nvSpPr>
          <p:cNvPr id="9" name="TextBox 9"/>
          <p:cNvSpPr txBox="1"/>
          <p:nvPr/>
        </p:nvSpPr>
        <p:spPr>
          <a:xfrm>
            <a:off x="1319212" y="1593056"/>
            <a:ext cx="2538764"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Mechanism Evidence Signature</a:t>
            </a:r>
          </a:p>
        </p:txBody>
      </p:sp>
      <p:sp>
        <p:nvSpPr>
          <p:cNvPr id="10" name="TextBox 10"/>
          <p:cNvSpPr txBox="1"/>
          <p:nvPr/>
        </p:nvSpPr>
        <p:spPr>
          <a:xfrm>
            <a:off x="3606165" y="1601152"/>
            <a:ext cx="7180564"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来自 PKA 的结构化特征: opcode mix, memory behavior, occupancy, time share, trace locality ...</a:t>
            </a:r>
          </a:p>
        </p:txBody>
      </p:sp>
      <p:sp>
        <p:nvSpPr>
          <p:cNvPr id="11" name="Line 11"/>
          <p:cNvSpPr/>
          <p:nvPr/>
        </p:nvSpPr>
        <p:spPr>
          <a:xfrm>
            <a:off x="6096000" y="1962150"/>
            <a:ext cx="9525" cy="190500"/>
          </a:xfrm>
          <a:custGeom>
            <a:avLst/>
            <a:gdLst/>
            <a:ahLst/>
            <a:cxnLst/>
            <a:rect l="l" t="t" r="r" b="b"/>
            <a:pathLst>
              <a:path w="9525" h="190500">
                <a:moveTo>
                  <a:pt x="0" y="0"/>
                </a:moveTo>
                <a:lnTo>
                  <a:pt x="0" y="190500"/>
                </a:lnTo>
              </a:path>
            </a:pathLst>
          </a:custGeom>
          <a:noFill/>
          <a:ln w="28575">
            <a:solidFill>
              <a:srgbClr val="D97706"/>
            </a:solidFill>
          </a:ln>
        </p:spPr>
      </p:sp>
      <p:sp>
        <p:nvSpPr>
          <p:cNvPr id="12" name="Polygon 12"/>
          <p:cNvSpPr/>
          <p:nvPr/>
        </p:nvSpPr>
        <p:spPr>
          <a:xfrm>
            <a:off x="6019800" y="2095500"/>
            <a:ext cx="152400" cy="133350"/>
          </a:xfrm>
          <a:custGeom>
            <a:avLst/>
            <a:gdLst/>
            <a:ahLst/>
            <a:cxnLst/>
            <a:rect l="l" t="t" r="r" b="b"/>
            <a:pathLst>
              <a:path w="152400" h="133350">
                <a:moveTo>
                  <a:pt x="0" y="0"/>
                </a:moveTo>
                <a:lnTo>
                  <a:pt x="76200" y="133350"/>
                </a:lnTo>
                <a:lnTo>
                  <a:pt x="152400" y="0"/>
                </a:lnTo>
                <a:close/>
              </a:path>
            </a:pathLst>
          </a:custGeom>
          <a:solidFill>
            <a:srgbClr val="D97706"/>
          </a:solidFill>
          <a:ln>
            <a:noFill/>
          </a:ln>
        </p:spPr>
      </p:sp>
      <p:sp>
        <p:nvSpPr>
          <p:cNvPr id="13" name="Rectangle 13"/>
          <p:cNvSpPr/>
          <p:nvPr/>
        </p:nvSpPr>
        <p:spPr>
          <a:xfrm>
            <a:off x="533400" y="2266950"/>
            <a:ext cx="5353050" cy="2095500"/>
          </a:xfrm>
          <a:prstGeom prst="roundRect">
            <a:avLst>
              <a:gd name="adj" fmla="val 3636"/>
            </a:avLst>
          </a:prstGeom>
          <a:solidFill>
            <a:srgbClr val="FFFFFF"/>
          </a:solidFill>
          <a:ln w="9525">
            <a:solidFill>
              <a:srgbClr val="CBD5E1"/>
            </a:solidFill>
          </a:ln>
        </p:spPr>
      </p:sp>
      <p:sp>
        <p:nvSpPr>
          <p:cNvPr id="14" name="Freeform 14"/>
          <p:cNvSpPr/>
          <p:nvPr/>
        </p:nvSpPr>
        <p:spPr>
          <a:xfrm>
            <a:off x="533400" y="2190750"/>
            <a:ext cx="5353050" cy="457200"/>
          </a:xfrm>
          <a:custGeom>
            <a:avLst/>
            <a:gdLst/>
            <a:ahLst/>
            <a:cxnLst/>
            <a:rect l="l" t="t" r="r" b="b"/>
            <a:pathLst>
              <a:path w="5353050" h="457200">
                <a:moveTo>
                  <a:pt x="0" y="152400"/>
                </a:moveTo>
                <a:lnTo>
                  <a:pt x="0" y="76200"/>
                </a:lnTo>
                <a:cubicBezTo>
                  <a:pt x="0" y="25400"/>
                  <a:pt x="25400" y="0"/>
                  <a:pt x="76200" y="0"/>
                </a:cubicBezTo>
                <a:lnTo>
                  <a:pt x="5276850" y="0"/>
                </a:lnTo>
                <a:cubicBezTo>
                  <a:pt x="5327650" y="0"/>
                  <a:pt x="5353050" y="25400"/>
                  <a:pt x="5353050" y="76200"/>
                </a:cubicBezTo>
                <a:lnTo>
                  <a:pt x="5353050" y="457200"/>
                </a:lnTo>
                <a:lnTo>
                  <a:pt x="0" y="457200"/>
                </a:lnTo>
                <a:close/>
              </a:path>
            </a:pathLst>
          </a:custGeom>
          <a:solidFill>
            <a:srgbClr val="D97706"/>
          </a:solidFill>
          <a:ln>
            <a:noFill/>
          </a:ln>
        </p:spPr>
      </p:sp>
      <p:sp>
        <p:nvSpPr>
          <p:cNvPr id="15" name="TextBox 15"/>
          <p:cNvSpPr txBox="1"/>
          <p:nvPr/>
        </p:nvSpPr>
        <p:spPr>
          <a:xfrm>
            <a:off x="2426982" y="2341721"/>
            <a:ext cx="1565886"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弱监督信号生成</a:t>
            </a:r>
          </a:p>
        </p:txBody>
      </p:sp>
      <p:sp>
        <p:nvSpPr>
          <p:cNvPr id="16" name="TextBox 16"/>
          <p:cNvSpPr txBox="1"/>
          <p:nvPr/>
        </p:nvSpPr>
        <p:spPr>
          <a:xfrm>
            <a:off x="747712" y="2774156"/>
            <a:ext cx="1581269"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三个互补的弱监督源</a:t>
            </a:r>
          </a:p>
        </p:txBody>
      </p:sp>
      <p:sp>
        <p:nvSpPr>
          <p:cNvPr id="17" name="Rectangle 17"/>
          <p:cNvSpPr/>
          <p:nvPr/>
        </p:nvSpPr>
        <p:spPr>
          <a:xfrm>
            <a:off x="762000" y="3009900"/>
            <a:ext cx="1524000" cy="533400"/>
          </a:xfrm>
          <a:prstGeom prst="roundRect">
            <a:avLst>
              <a:gd name="adj" fmla="val 10714"/>
            </a:avLst>
          </a:prstGeom>
          <a:solidFill>
            <a:srgbClr val="FEF3C7"/>
          </a:solidFill>
          <a:ln w="4762">
            <a:solidFill>
              <a:srgbClr val="FCD34D"/>
            </a:solidFill>
          </a:ln>
        </p:spPr>
      </p:sp>
      <p:sp>
        <p:nvSpPr>
          <p:cNvPr id="18" name="TextBox 18"/>
          <p:cNvSpPr txBox="1"/>
          <p:nvPr/>
        </p:nvSpPr>
        <p:spPr>
          <a:xfrm>
            <a:off x="902018" y="3114199"/>
            <a:ext cx="622840" cy="198120"/>
          </a:xfrm>
          <a:prstGeom prst="rect">
            <a:avLst/>
          </a:prstGeom>
          <a:noFill/>
          <a:ln>
            <a:noFill/>
          </a:ln>
        </p:spPr>
        <p:txBody>
          <a:bodyPr wrap="none" lIns="0" tIns="0" rIns="0" bIns="0" anchor="t" anchorCtr="0">
            <a:spAutoFit/>
          </a:bodyPr>
          <a:lstStyle/>
          <a:p>
            <a:pPr algn="l"/>
            <a:r>
              <a:rPr lang="zh-CN" sz="975" b="1" dirty="0">
                <a:solidFill>
                  <a:srgbClr val="92400E"/>
                </a:solidFill>
                <a:latin typeface="Arial"/>
                <a:ea typeface="Microsoft YaHei"/>
                <a:cs typeface="Arial"/>
              </a:rPr>
              <a:t>规则引擎</a:t>
            </a:r>
          </a:p>
        </p:txBody>
      </p:sp>
      <p:sp>
        <p:nvSpPr>
          <p:cNvPr id="19" name="TextBox 19"/>
          <p:cNvSpPr txBox="1"/>
          <p:nvPr/>
        </p:nvSpPr>
        <p:spPr>
          <a:xfrm>
            <a:off x="903922" y="3301841"/>
            <a:ext cx="1352383" cy="167640"/>
          </a:xfrm>
          <a:prstGeom prst="rect">
            <a:avLst/>
          </a:prstGeom>
          <a:noFill/>
          <a:ln>
            <a:noFill/>
          </a:ln>
        </p:spPr>
        <p:txBody>
          <a:bodyPr wrap="none" lIns="0" tIns="0" rIns="0" bIns="0" anchor="t" anchorCtr="0">
            <a:spAutoFit/>
          </a:bodyPr>
          <a:lstStyle/>
          <a:p>
            <a:pPr algn="l"/>
            <a:r>
              <a:rPr lang="zh-CN" sz="825" dirty="0">
                <a:solidFill>
                  <a:srgbClr val="92400E"/>
                </a:solidFill>
                <a:latin typeface="Arial"/>
                <a:ea typeface="Microsoft YaHei"/>
                <a:cs typeface="Arial"/>
              </a:rPr>
              <a:t>opcode mix threshold →</a:t>
            </a:r>
          </a:p>
        </p:txBody>
      </p:sp>
      <p:sp>
        <p:nvSpPr>
          <p:cNvPr id="20" name="TextBox 20"/>
          <p:cNvSpPr txBox="1"/>
          <p:nvPr/>
        </p:nvSpPr>
        <p:spPr>
          <a:xfrm>
            <a:off x="903922" y="3416141"/>
            <a:ext cx="1689759" cy="167640"/>
          </a:xfrm>
          <a:prstGeom prst="rect">
            <a:avLst/>
          </a:prstGeom>
          <a:noFill/>
          <a:ln>
            <a:noFill/>
          </a:ln>
        </p:spPr>
        <p:txBody>
          <a:bodyPr wrap="none" lIns="0" tIns="0" rIns="0" bIns="0" anchor="t" anchorCtr="0">
            <a:spAutoFit/>
          </a:bodyPr>
          <a:lstStyle/>
          <a:p>
            <a:pPr algn="l"/>
            <a:r>
              <a:rPr lang="zh-CN" sz="825" dirty="0">
                <a:solidFill>
                  <a:srgbClr val="92400E"/>
                </a:solidFill>
                <a:latin typeface="Arial"/>
                <a:ea typeface="Microsoft YaHei"/>
                <a:cs typeface="Arial"/>
              </a:rPr>
              <a:t>dense_compute / mem_bound</a:t>
            </a:r>
          </a:p>
        </p:txBody>
      </p:sp>
      <p:sp>
        <p:nvSpPr>
          <p:cNvPr id="21" name="Rectangle 21"/>
          <p:cNvSpPr/>
          <p:nvPr/>
        </p:nvSpPr>
        <p:spPr>
          <a:xfrm>
            <a:off x="2438400" y="3009900"/>
            <a:ext cx="1524000" cy="533400"/>
          </a:xfrm>
          <a:prstGeom prst="roundRect">
            <a:avLst>
              <a:gd name="adj" fmla="val 10714"/>
            </a:avLst>
          </a:prstGeom>
          <a:solidFill>
            <a:srgbClr val="FEF3C7"/>
          </a:solidFill>
          <a:ln w="4762">
            <a:solidFill>
              <a:srgbClr val="FCD34D"/>
            </a:solidFill>
          </a:ln>
        </p:spPr>
      </p:sp>
      <p:sp>
        <p:nvSpPr>
          <p:cNvPr id="22" name="TextBox 22"/>
          <p:cNvSpPr txBox="1"/>
          <p:nvPr/>
        </p:nvSpPr>
        <p:spPr>
          <a:xfrm>
            <a:off x="2578418" y="3114199"/>
            <a:ext cx="622840" cy="198120"/>
          </a:xfrm>
          <a:prstGeom prst="rect">
            <a:avLst/>
          </a:prstGeom>
          <a:noFill/>
          <a:ln>
            <a:noFill/>
          </a:ln>
        </p:spPr>
        <p:txBody>
          <a:bodyPr wrap="none" lIns="0" tIns="0" rIns="0" bIns="0" anchor="t" anchorCtr="0">
            <a:spAutoFit/>
          </a:bodyPr>
          <a:lstStyle/>
          <a:p>
            <a:pPr algn="l"/>
            <a:r>
              <a:rPr lang="zh-CN" sz="975" b="1" dirty="0">
                <a:solidFill>
                  <a:srgbClr val="92400E"/>
                </a:solidFill>
                <a:latin typeface="Arial"/>
                <a:ea typeface="Microsoft YaHei"/>
                <a:cs typeface="Arial"/>
              </a:rPr>
              <a:t>已知案例</a:t>
            </a:r>
          </a:p>
        </p:txBody>
      </p:sp>
      <p:sp>
        <p:nvSpPr>
          <p:cNvPr id="23" name="TextBox 23"/>
          <p:cNvSpPr txBox="1"/>
          <p:nvPr/>
        </p:nvSpPr>
        <p:spPr>
          <a:xfrm>
            <a:off x="2580322" y="3301841"/>
            <a:ext cx="1129474" cy="167640"/>
          </a:xfrm>
          <a:prstGeom prst="rect">
            <a:avLst/>
          </a:prstGeom>
          <a:noFill/>
          <a:ln>
            <a:noFill/>
          </a:ln>
        </p:spPr>
        <p:txBody>
          <a:bodyPr wrap="none" lIns="0" tIns="0" rIns="0" bIns="0" anchor="t" anchorCtr="0">
            <a:spAutoFit/>
          </a:bodyPr>
          <a:lstStyle/>
          <a:p>
            <a:pPr algn="l"/>
            <a:r>
              <a:rPr lang="zh-CN" sz="825" dirty="0">
                <a:solidFill>
                  <a:srgbClr val="92400E"/>
                </a:solidFill>
                <a:latin typeface="Arial"/>
                <a:ea typeface="Microsoft YaHei"/>
                <a:cs typeface="Arial"/>
              </a:rPr>
              <a:t>人工标注的 kernel →</a:t>
            </a:r>
          </a:p>
        </p:txBody>
      </p:sp>
      <p:sp>
        <p:nvSpPr>
          <p:cNvPr id="24" name="TextBox 24"/>
          <p:cNvSpPr txBox="1"/>
          <p:nvPr/>
        </p:nvSpPr>
        <p:spPr>
          <a:xfrm>
            <a:off x="2580322" y="3416141"/>
            <a:ext cx="882467" cy="167640"/>
          </a:xfrm>
          <a:prstGeom prst="rect">
            <a:avLst/>
          </a:prstGeom>
          <a:noFill/>
          <a:ln>
            <a:noFill/>
          </a:ln>
        </p:spPr>
        <p:txBody>
          <a:bodyPr wrap="none" lIns="0" tIns="0" rIns="0" bIns="0" anchor="t" anchorCtr="0">
            <a:spAutoFit/>
          </a:bodyPr>
          <a:lstStyle/>
          <a:p>
            <a:pPr algn="l"/>
            <a:r>
              <a:rPr lang="zh-CN" sz="825" dirty="0">
                <a:solidFill>
                  <a:srgbClr val="92400E"/>
                </a:solidFill>
                <a:latin typeface="Arial"/>
                <a:ea typeface="Microsoft YaHei"/>
                <a:cs typeface="Arial"/>
              </a:rPr>
              <a:t>subtype 映射对</a:t>
            </a:r>
          </a:p>
        </p:txBody>
      </p:sp>
      <p:sp>
        <p:nvSpPr>
          <p:cNvPr id="25" name="Rectangle 25"/>
          <p:cNvSpPr/>
          <p:nvPr/>
        </p:nvSpPr>
        <p:spPr>
          <a:xfrm>
            <a:off x="4114800" y="3009900"/>
            <a:ext cx="1524000" cy="533400"/>
          </a:xfrm>
          <a:prstGeom prst="roundRect">
            <a:avLst>
              <a:gd name="adj" fmla="val 10714"/>
            </a:avLst>
          </a:prstGeom>
          <a:solidFill>
            <a:srgbClr val="FEF3C7"/>
          </a:solidFill>
          <a:ln w="4762">
            <a:solidFill>
              <a:srgbClr val="FCD34D"/>
            </a:solidFill>
          </a:ln>
        </p:spPr>
      </p:sp>
      <p:sp>
        <p:nvSpPr>
          <p:cNvPr id="26" name="TextBox 26"/>
          <p:cNvSpPr txBox="1"/>
          <p:nvPr/>
        </p:nvSpPr>
        <p:spPr>
          <a:xfrm>
            <a:off x="4254818" y="3114199"/>
            <a:ext cx="1385385" cy="198120"/>
          </a:xfrm>
          <a:prstGeom prst="rect">
            <a:avLst/>
          </a:prstGeom>
          <a:noFill/>
          <a:ln>
            <a:noFill/>
          </a:ln>
        </p:spPr>
        <p:txBody>
          <a:bodyPr wrap="none" lIns="0" tIns="0" rIns="0" bIns="0" anchor="t" anchorCtr="0">
            <a:spAutoFit/>
          </a:bodyPr>
          <a:lstStyle/>
          <a:p>
            <a:pPr algn="l"/>
            <a:r>
              <a:rPr lang="zh-CN" sz="975" b="1" dirty="0">
                <a:solidFill>
                  <a:srgbClr val="92400E"/>
                </a:solidFill>
                <a:latin typeface="Arial"/>
                <a:ea typeface="Microsoft YaHei"/>
                <a:cs typeface="Arial"/>
              </a:rPr>
              <a:t>Simulator Registry</a:t>
            </a:r>
          </a:p>
        </p:txBody>
      </p:sp>
      <p:sp>
        <p:nvSpPr>
          <p:cNvPr id="27" name="TextBox 27"/>
          <p:cNvSpPr txBox="1"/>
          <p:nvPr/>
        </p:nvSpPr>
        <p:spPr>
          <a:xfrm>
            <a:off x="4256722" y="3301841"/>
            <a:ext cx="1183696" cy="167640"/>
          </a:xfrm>
          <a:prstGeom prst="rect">
            <a:avLst/>
          </a:prstGeom>
          <a:noFill/>
          <a:ln>
            <a:noFill/>
          </a:ln>
        </p:spPr>
        <p:txBody>
          <a:bodyPr wrap="none" lIns="0" tIns="0" rIns="0" bIns="0" anchor="t" anchorCtr="0">
            <a:spAutoFit/>
          </a:bodyPr>
          <a:lstStyle/>
          <a:p>
            <a:pPr algn="l"/>
            <a:r>
              <a:rPr lang="zh-CN" sz="825" dirty="0">
                <a:solidFill>
                  <a:srgbClr val="92400E"/>
                </a:solidFill>
                <a:latin typeface="Arial"/>
                <a:ea typeface="Microsoft YaHei"/>
                <a:cs typeface="Arial"/>
              </a:rPr>
              <a:t>已知 knob → 机制映射</a:t>
            </a:r>
          </a:p>
        </p:txBody>
      </p:sp>
      <p:sp>
        <p:nvSpPr>
          <p:cNvPr id="28" name="TextBox 28"/>
          <p:cNvSpPr txBox="1"/>
          <p:nvPr/>
        </p:nvSpPr>
        <p:spPr>
          <a:xfrm>
            <a:off x="4256722" y="3416141"/>
            <a:ext cx="1496973" cy="167640"/>
          </a:xfrm>
          <a:prstGeom prst="rect">
            <a:avLst/>
          </a:prstGeom>
          <a:noFill/>
          <a:ln>
            <a:noFill/>
          </a:ln>
        </p:spPr>
        <p:txBody>
          <a:bodyPr wrap="none" lIns="0" tIns="0" rIns="0" bIns="0" anchor="t" anchorCtr="0">
            <a:spAutoFit/>
          </a:bodyPr>
          <a:lstStyle/>
          <a:p>
            <a:pPr algn="l"/>
            <a:r>
              <a:rPr lang="zh-CN" sz="825" dirty="0">
                <a:solidFill>
                  <a:srgbClr val="92400E"/>
                </a:solidFill>
                <a:latin typeface="Arial"/>
                <a:ea typeface="Microsoft YaHei"/>
                <a:cs typeface="Arial"/>
              </a:rPr>
              <a:t>e.g. DP latency → dp_pipe</a:t>
            </a:r>
          </a:p>
        </p:txBody>
      </p:sp>
      <p:sp>
        <p:nvSpPr>
          <p:cNvPr id="29" name="Line 29"/>
          <p:cNvSpPr/>
          <p:nvPr/>
        </p:nvSpPr>
        <p:spPr>
          <a:xfrm>
            <a:off x="2286000" y="3276600"/>
            <a:ext cx="152400" cy="9525"/>
          </a:xfrm>
          <a:custGeom>
            <a:avLst/>
            <a:gdLst/>
            <a:ahLst/>
            <a:cxnLst/>
            <a:rect l="l" t="t" r="r" b="b"/>
            <a:pathLst>
              <a:path w="152400" h="9525">
                <a:moveTo>
                  <a:pt x="0" y="0"/>
                </a:moveTo>
                <a:lnTo>
                  <a:pt x="152400" y="0"/>
                </a:lnTo>
              </a:path>
            </a:pathLst>
          </a:custGeom>
          <a:noFill/>
          <a:ln w="9525">
            <a:solidFill>
              <a:srgbClr val="D97706"/>
            </a:solidFill>
          </a:ln>
        </p:spPr>
      </p:sp>
      <p:sp>
        <p:nvSpPr>
          <p:cNvPr id="30" name="Line 30"/>
          <p:cNvSpPr/>
          <p:nvPr/>
        </p:nvSpPr>
        <p:spPr>
          <a:xfrm>
            <a:off x="3962400" y="3276600"/>
            <a:ext cx="152400" cy="9525"/>
          </a:xfrm>
          <a:custGeom>
            <a:avLst/>
            <a:gdLst/>
            <a:ahLst/>
            <a:cxnLst/>
            <a:rect l="l" t="t" r="r" b="b"/>
            <a:pathLst>
              <a:path w="152400" h="9525">
                <a:moveTo>
                  <a:pt x="0" y="0"/>
                </a:moveTo>
                <a:lnTo>
                  <a:pt x="152400" y="0"/>
                </a:lnTo>
              </a:path>
            </a:pathLst>
          </a:custGeom>
          <a:noFill/>
          <a:ln w="9525">
            <a:solidFill>
              <a:srgbClr val="D97706"/>
            </a:solidFill>
          </a:ln>
        </p:spPr>
      </p:sp>
      <p:sp>
        <p:nvSpPr>
          <p:cNvPr id="31" name="Rectangle 31"/>
          <p:cNvSpPr/>
          <p:nvPr/>
        </p:nvSpPr>
        <p:spPr>
          <a:xfrm>
            <a:off x="1905000" y="3752850"/>
            <a:ext cx="2609850" cy="285750"/>
          </a:xfrm>
          <a:prstGeom prst="roundRect">
            <a:avLst>
              <a:gd name="adj" fmla="val 20000"/>
            </a:avLst>
          </a:prstGeom>
          <a:solidFill>
            <a:srgbClr val="D97706"/>
          </a:solidFill>
          <a:ln>
            <a:noFill/>
          </a:ln>
        </p:spPr>
      </p:sp>
      <p:sp>
        <p:nvSpPr>
          <p:cNvPr id="32" name="TextBox 32"/>
          <p:cNvSpPr txBox="1"/>
          <p:nvPr/>
        </p:nvSpPr>
        <p:spPr>
          <a:xfrm>
            <a:off x="1767536" y="3830002"/>
            <a:ext cx="288477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Noisy Labels (noisy but informative)</a:t>
            </a:r>
          </a:p>
        </p:txBody>
      </p:sp>
      <p:sp>
        <p:nvSpPr>
          <p:cNvPr id="33" name="TextBox 33"/>
          <p:cNvSpPr txBox="1"/>
          <p:nvPr/>
        </p:nvSpPr>
        <p:spPr>
          <a:xfrm>
            <a:off x="1406878" y="4133374"/>
            <a:ext cx="3606094" cy="198120"/>
          </a:xfrm>
          <a:prstGeom prst="rect">
            <a:avLst/>
          </a:prstGeom>
          <a:noFill/>
          <a:ln>
            <a:noFill/>
          </a:ln>
        </p:spPr>
        <p:txBody>
          <a:bodyPr wrap="none" lIns="0" tIns="0" rIns="0" bIns="0" anchor="t" anchorCtr="0">
            <a:spAutoFit/>
          </a:bodyPr>
          <a:lstStyle/>
          <a:p>
            <a:pPr algn="ctr"/>
            <a:r>
              <a:rPr lang="zh-CN" sz="975" dirty="0">
                <a:solidFill>
                  <a:srgbClr val="4B5563"/>
                </a:solidFill>
                <a:latin typeface="Arial"/>
                <a:ea typeface="Microsoft YaHei"/>
                <a:cs typeface="Arial"/>
              </a:rPr>
              <a:t>三路信号融合 → 初始化 family + subtype + regime 标签</a:t>
            </a:r>
          </a:p>
        </p:txBody>
      </p:sp>
      <p:sp>
        <p:nvSpPr>
          <p:cNvPr id="34" name="Rectangle 34"/>
          <p:cNvSpPr/>
          <p:nvPr/>
        </p:nvSpPr>
        <p:spPr>
          <a:xfrm>
            <a:off x="6153150" y="2266950"/>
            <a:ext cx="5505450" cy="2095500"/>
          </a:xfrm>
          <a:prstGeom prst="roundRect">
            <a:avLst>
              <a:gd name="adj" fmla="val 3636"/>
            </a:avLst>
          </a:prstGeom>
          <a:solidFill>
            <a:srgbClr val="FFFFFF"/>
          </a:solidFill>
          <a:ln w="9525">
            <a:solidFill>
              <a:srgbClr val="CBD5E1"/>
            </a:solidFill>
          </a:ln>
        </p:spPr>
      </p:sp>
      <p:sp>
        <p:nvSpPr>
          <p:cNvPr id="35" name="Freeform 35"/>
          <p:cNvSpPr/>
          <p:nvPr/>
        </p:nvSpPr>
        <p:spPr>
          <a:xfrm>
            <a:off x="6153150" y="2190750"/>
            <a:ext cx="5505450" cy="457200"/>
          </a:xfrm>
          <a:custGeom>
            <a:avLst/>
            <a:gdLst/>
            <a:ahLst/>
            <a:cxnLst/>
            <a:rect l="l" t="t" r="r" b="b"/>
            <a:pathLst>
              <a:path w="5505450" h="457200">
                <a:moveTo>
                  <a:pt x="0" y="152400"/>
                </a:moveTo>
                <a:lnTo>
                  <a:pt x="0" y="76200"/>
                </a:lnTo>
                <a:cubicBezTo>
                  <a:pt x="0" y="25400"/>
                  <a:pt x="25400" y="0"/>
                  <a:pt x="76200" y="0"/>
                </a:cubicBezTo>
                <a:lnTo>
                  <a:pt x="5429250" y="0"/>
                </a:lnTo>
                <a:cubicBezTo>
                  <a:pt x="5480050" y="0"/>
                  <a:pt x="5505450" y="25400"/>
                  <a:pt x="5505450" y="76200"/>
                </a:cubicBezTo>
                <a:lnTo>
                  <a:pt x="5505450" y="457200"/>
                </a:lnTo>
                <a:lnTo>
                  <a:pt x="0" y="457200"/>
                </a:lnTo>
                <a:close/>
              </a:path>
            </a:pathLst>
          </a:custGeom>
          <a:solidFill>
            <a:srgbClr val="2F855A"/>
          </a:solidFill>
          <a:ln>
            <a:noFill/>
          </a:ln>
        </p:spPr>
      </p:sp>
      <p:sp>
        <p:nvSpPr>
          <p:cNvPr id="36" name="TextBox 36"/>
          <p:cNvSpPr txBox="1"/>
          <p:nvPr/>
        </p:nvSpPr>
        <p:spPr>
          <a:xfrm>
            <a:off x="8232196" y="2341721"/>
            <a:ext cx="1347359"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图一致性约束</a:t>
            </a:r>
          </a:p>
        </p:txBody>
      </p:sp>
      <p:sp>
        <p:nvSpPr>
          <p:cNvPr id="37" name="TextBox 37"/>
          <p:cNvSpPr txBox="1"/>
          <p:nvPr/>
        </p:nvSpPr>
        <p:spPr>
          <a:xfrm>
            <a:off x="6368415" y="2801302"/>
            <a:ext cx="2941134" cy="213360"/>
          </a:xfrm>
          <a:prstGeom prst="rect">
            <a:avLst/>
          </a:prstGeom>
          <a:noFill/>
          <a:ln>
            <a:noFill/>
          </a:ln>
        </p:spPr>
        <p:txBody>
          <a:bodyPr wrap="none" lIns="0" tIns="0" rIns="0" bIns="0" anchor="t" anchorCtr="0">
            <a:spAutoFit/>
          </a:bodyPr>
          <a:lstStyle/>
          <a:p>
            <a:pPr algn="l"/>
            <a:r>
              <a:rPr lang="zh-CN" sz="1050" b="1" dirty="0">
                <a:solidFill>
                  <a:srgbClr val="111827"/>
                </a:solidFill>
                <a:latin typeface="Arial"/>
                <a:ea typeface="Microsoft YaHei"/>
                <a:cs typeface="Arial"/>
              </a:rPr>
              <a:t>Kernel-Family-Subtype-Regime 关系图</a:t>
            </a:r>
          </a:p>
        </p:txBody>
      </p:sp>
      <p:sp>
        <p:nvSpPr>
          <p:cNvPr id="38" name="Rectangle 38"/>
          <p:cNvSpPr/>
          <p:nvPr/>
        </p:nvSpPr>
        <p:spPr>
          <a:xfrm>
            <a:off x="6381750" y="3028950"/>
            <a:ext cx="762000" cy="209550"/>
          </a:xfrm>
          <a:prstGeom prst="roundRect">
            <a:avLst>
              <a:gd name="adj" fmla="val 18182"/>
            </a:avLst>
          </a:prstGeom>
          <a:solidFill>
            <a:srgbClr val="DBEAFE"/>
          </a:solidFill>
          <a:ln w="4762">
            <a:solidFill>
              <a:srgbClr val="93C5FD"/>
            </a:solidFill>
          </a:ln>
        </p:spPr>
      </p:sp>
      <p:sp>
        <p:nvSpPr>
          <p:cNvPr id="39" name="TextBox 39"/>
          <p:cNvSpPr txBox="1"/>
          <p:nvPr/>
        </p:nvSpPr>
        <p:spPr>
          <a:xfrm>
            <a:off x="6482186" y="3084195"/>
            <a:ext cx="561127" cy="182880"/>
          </a:xfrm>
          <a:prstGeom prst="rect">
            <a:avLst/>
          </a:prstGeom>
          <a:noFill/>
          <a:ln>
            <a:noFill/>
          </a:ln>
        </p:spPr>
        <p:txBody>
          <a:bodyPr wrap="none" lIns="0" tIns="0" rIns="0" bIns="0" anchor="t" anchorCtr="0">
            <a:spAutoFit/>
          </a:bodyPr>
          <a:lstStyle/>
          <a:p>
            <a:pPr algn="ctr"/>
            <a:r>
              <a:rPr lang="zh-CN" sz="900" b="1" dirty="0">
                <a:solidFill>
                  <a:srgbClr val="1E3A5F"/>
                </a:solidFill>
                <a:latin typeface="Arial"/>
                <a:ea typeface="Microsoft YaHei"/>
                <a:cs typeface="Arial"/>
              </a:rPr>
              <a:t>kernel A</a:t>
            </a:r>
          </a:p>
        </p:txBody>
      </p:sp>
      <p:sp>
        <p:nvSpPr>
          <p:cNvPr id="40" name="Rectangle 40"/>
          <p:cNvSpPr/>
          <p:nvPr/>
        </p:nvSpPr>
        <p:spPr>
          <a:xfrm>
            <a:off x="7791450" y="3028950"/>
            <a:ext cx="762000" cy="209550"/>
          </a:xfrm>
          <a:prstGeom prst="roundRect">
            <a:avLst>
              <a:gd name="adj" fmla="val 18182"/>
            </a:avLst>
          </a:prstGeom>
          <a:solidFill>
            <a:srgbClr val="DBEAFE"/>
          </a:solidFill>
          <a:ln w="4762">
            <a:solidFill>
              <a:srgbClr val="93C5FD"/>
            </a:solidFill>
          </a:ln>
        </p:spPr>
      </p:sp>
      <p:sp>
        <p:nvSpPr>
          <p:cNvPr id="41" name="TextBox 41"/>
          <p:cNvSpPr txBox="1"/>
          <p:nvPr/>
        </p:nvSpPr>
        <p:spPr>
          <a:xfrm>
            <a:off x="7891886" y="3084195"/>
            <a:ext cx="561127" cy="182880"/>
          </a:xfrm>
          <a:prstGeom prst="rect">
            <a:avLst/>
          </a:prstGeom>
          <a:noFill/>
          <a:ln>
            <a:noFill/>
          </a:ln>
        </p:spPr>
        <p:txBody>
          <a:bodyPr wrap="none" lIns="0" tIns="0" rIns="0" bIns="0" anchor="t" anchorCtr="0">
            <a:spAutoFit/>
          </a:bodyPr>
          <a:lstStyle/>
          <a:p>
            <a:pPr algn="ctr"/>
            <a:r>
              <a:rPr lang="zh-CN" sz="900" b="1" dirty="0">
                <a:solidFill>
                  <a:srgbClr val="1E3A5F"/>
                </a:solidFill>
                <a:latin typeface="Arial"/>
                <a:ea typeface="Microsoft YaHei"/>
                <a:cs typeface="Arial"/>
              </a:rPr>
              <a:t>kernel B</a:t>
            </a:r>
          </a:p>
        </p:txBody>
      </p:sp>
      <p:sp>
        <p:nvSpPr>
          <p:cNvPr id="42" name="Rectangle 42"/>
          <p:cNvSpPr/>
          <p:nvPr/>
        </p:nvSpPr>
        <p:spPr>
          <a:xfrm>
            <a:off x="7086600" y="3448050"/>
            <a:ext cx="762000" cy="209550"/>
          </a:xfrm>
          <a:prstGeom prst="roundRect">
            <a:avLst>
              <a:gd name="adj" fmla="val 18182"/>
            </a:avLst>
          </a:prstGeom>
          <a:solidFill>
            <a:srgbClr val="DBEAFE"/>
          </a:solidFill>
          <a:ln w="4762">
            <a:solidFill>
              <a:srgbClr val="93C5FD"/>
            </a:solidFill>
          </a:ln>
        </p:spPr>
      </p:sp>
      <p:sp>
        <p:nvSpPr>
          <p:cNvPr id="43" name="TextBox 43"/>
          <p:cNvSpPr txBox="1"/>
          <p:nvPr/>
        </p:nvSpPr>
        <p:spPr>
          <a:xfrm>
            <a:off x="7187036" y="3503295"/>
            <a:ext cx="561127" cy="182880"/>
          </a:xfrm>
          <a:prstGeom prst="rect">
            <a:avLst/>
          </a:prstGeom>
          <a:noFill/>
          <a:ln>
            <a:noFill/>
          </a:ln>
        </p:spPr>
        <p:txBody>
          <a:bodyPr wrap="none" lIns="0" tIns="0" rIns="0" bIns="0" anchor="t" anchorCtr="0">
            <a:spAutoFit/>
          </a:bodyPr>
          <a:lstStyle/>
          <a:p>
            <a:pPr algn="ctr"/>
            <a:r>
              <a:rPr lang="zh-CN" sz="900" b="1" dirty="0">
                <a:solidFill>
                  <a:srgbClr val="1E3A5F"/>
                </a:solidFill>
                <a:latin typeface="Arial"/>
                <a:ea typeface="Microsoft YaHei"/>
                <a:cs typeface="Arial"/>
              </a:rPr>
              <a:t>kernel C</a:t>
            </a:r>
          </a:p>
        </p:txBody>
      </p:sp>
      <p:sp>
        <p:nvSpPr>
          <p:cNvPr id="44" name="Line 44"/>
          <p:cNvSpPr/>
          <p:nvPr/>
        </p:nvSpPr>
        <p:spPr>
          <a:xfrm>
            <a:off x="7143750" y="3133725"/>
            <a:ext cx="647700" cy="9525"/>
          </a:xfrm>
          <a:custGeom>
            <a:avLst/>
            <a:gdLst/>
            <a:ahLst/>
            <a:cxnLst/>
            <a:rect l="l" t="t" r="r" b="b"/>
            <a:pathLst>
              <a:path w="647700" h="9525">
                <a:moveTo>
                  <a:pt x="0" y="0"/>
                </a:moveTo>
                <a:lnTo>
                  <a:pt x="647700" y="0"/>
                </a:lnTo>
              </a:path>
            </a:pathLst>
          </a:custGeom>
          <a:noFill/>
          <a:ln w="14288">
            <a:solidFill>
              <a:srgbClr val="D97706"/>
            </a:solidFill>
            <a:custDash>
              <a:ds d="266666" sp="200000"/>
            </a:custDash>
          </a:ln>
        </p:spPr>
      </p:sp>
      <p:sp>
        <p:nvSpPr>
          <p:cNvPr id="45" name="TextBox 45"/>
          <p:cNvSpPr txBox="1"/>
          <p:nvPr/>
        </p:nvSpPr>
        <p:spPr>
          <a:xfrm>
            <a:off x="7109055" y="2994184"/>
            <a:ext cx="717090" cy="137160"/>
          </a:xfrm>
          <a:prstGeom prst="rect">
            <a:avLst/>
          </a:prstGeom>
          <a:noFill/>
          <a:ln>
            <a:noFill/>
          </a:ln>
        </p:spPr>
        <p:txBody>
          <a:bodyPr wrap="none" lIns="0" tIns="0" rIns="0" bIns="0" anchor="t" anchorCtr="0">
            <a:spAutoFit/>
          </a:bodyPr>
          <a:lstStyle/>
          <a:p>
            <a:pPr algn="ctr"/>
            <a:r>
              <a:rPr lang="zh-CN" sz="675" dirty="0">
                <a:solidFill>
                  <a:srgbClr val="D97706"/>
                </a:solidFill>
                <a:latin typeface="Arial"/>
                <a:ea typeface="Microsoft YaHei"/>
                <a:cs typeface="Arial"/>
              </a:rPr>
              <a:t>shares_regime</a:t>
            </a:r>
          </a:p>
        </p:txBody>
      </p:sp>
      <p:sp>
        <p:nvSpPr>
          <p:cNvPr id="46" name="Rectangle 46"/>
          <p:cNvSpPr/>
          <p:nvPr/>
        </p:nvSpPr>
        <p:spPr>
          <a:xfrm>
            <a:off x="6381750" y="3924300"/>
            <a:ext cx="857250" cy="209550"/>
          </a:xfrm>
          <a:prstGeom prst="roundRect">
            <a:avLst>
              <a:gd name="adj" fmla="val 18182"/>
            </a:avLst>
          </a:prstGeom>
          <a:solidFill>
            <a:srgbClr val="D1FAE5"/>
          </a:solidFill>
          <a:ln w="4762">
            <a:solidFill>
              <a:srgbClr val="A7F3D0"/>
            </a:solidFill>
          </a:ln>
        </p:spPr>
      </p:sp>
      <p:sp>
        <p:nvSpPr>
          <p:cNvPr id="47" name="TextBox 47"/>
          <p:cNvSpPr txBox="1"/>
          <p:nvPr/>
        </p:nvSpPr>
        <p:spPr>
          <a:xfrm>
            <a:off x="6334952" y="3987641"/>
            <a:ext cx="950846" cy="167640"/>
          </a:xfrm>
          <a:prstGeom prst="rect">
            <a:avLst/>
          </a:prstGeom>
          <a:noFill/>
          <a:ln>
            <a:noFill/>
          </a:ln>
        </p:spPr>
        <p:txBody>
          <a:bodyPr wrap="none" lIns="0" tIns="0" rIns="0" bIns="0" anchor="t" anchorCtr="0">
            <a:spAutoFit/>
          </a:bodyPr>
          <a:lstStyle/>
          <a:p>
            <a:pPr algn="ctr"/>
            <a:r>
              <a:rPr lang="zh-CN" sz="825" b="1" dirty="0">
                <a:solidFill>
                  <a:srgbClr val="065F46"/>
                </a:solidFill>
                <a:latin typeface="Arial"/>
                <a:ea typeface="Microsoft YaHei"/>
                <a:cs typeface="Arial"/>
              </a:rPr>
              <a:t>dense_compute</a:t>
            </a:r>
          </a:p>
        </p:txBody>
      </p:sp>
      <p:sp>
        <p:nvSpPr>
          <p:cNvPr id="48" name="Rectangle 48"/>
          <p:cNvSpPr/>
          <p:nvPr/>
        </p:nvSpPr>
        <p:spPr>
          <a:xfrm>
            <a:off x="7981950" y="3924300"/>
            <a:ext cx="952500" cy="209550"/>
          </a:xfrm>
          <a:prstGeom prst="roundRect">
            <a:avLst>
              <a:gd name="adj" fmla="val 18182"/>
            </a:avLst>
          </a:prstGeom>
          <a:solidFill>
            <a:srgbClr val="D1FAE5"/>
          </a:solidFill>
          <a:ln w="4762">
            <a:solidFill>
              <a:srgbClr val="A7F3D0"/>
            </a:solidFill>
          </a:ln>
        </p:spPr>
      </p:sp>
      <p:sp>
        <p:nvSpPr>
          <p:cNvPr id="49" name="TextBox 49"/>
          <p:cNvSpPr txBox="1"/>
          <p:nvPr/>
        </p:nvSpPr>
        <p:spPr>
          <a:xfrm>
            <a:off x="8004917" y="3987641"/>
            <a:ext cx="906566" cy="167640"/>
          </a:xfrm>
          <a:prstGeom prst="rect">
            <a:avLst/>
          </a:prstGeom>
          <a:noFill/>
          <a:ln>
            <a:noFill/>
          </a:ln>
        </p:spPr>
        <p:txBody>
          <a:bodyPr wrap="none" lIns="0" tIns="0" rIns="0" bIns="0" anchor="t" anchorCtr="0">
            <a:spAutoFit/>
          </a:bodyPr>
          <a:lstStyle/>
          <a:p>
            <a:pPr algn="ctr"/>
            <a:r>
              <a:rPr lang="zh-CN" sz="825" b="1" dirty="0">
                <a:solidFill>
                  <a:srgbClr val="065F46"/>
                </a:solidFill>
                <a:latin typeface="Arial"/>
                <a:ea typeface="Microsoft YaHei"/>
                <a:cs typeface="Arial"/>
              </a:rPr>
              <a:t>memory_bound</a:t>
            </a:r>
          </a:p>
        </p:txBody>
      </p:sp>
      <p:sp>
        <p:nvSpPr>
          <p:cNvPr id="50" name="Line 50"/>
          <p:cNvSpPr/>
          <p:nvPr/>
        </p:nvSpPr>
        <p:spPr>
          <a:xfrm>
            <a:off x="6762750" y="3238500"/>
            <a:ext cx="47625" cy="685800"/>
          </a:xfrm>
          <a:custGeom>
            <a:avLst/>
            <a:gdLst/>
            <a:ahLst/>
            <a:cxnLst/>
            <a:rect l="l" t="t" r="r" b="b"/>
            <a:pathLst>
              <a:path w="47625" h="685800">
                <a:moveTo>
                  <a:pt x="0" y="0"/>
                </a:moveTo>
                <a:lnTo>
                  <a:pt x="47625" y="685800"/>
                </a:lnTo>
              </a:path>
            </a:pathLst>
          </a:custGeom>
          <a:noFill/>
          <a:ln w="9525">
            <a:solidFill>
              <a:srgbClr val="CBD5E1"/>
            </a:solidFill>
          </a:ln>
        </p:spPr>
      </p:sp>
      <p:sp>
        <p:nvSpPr>
          <p:cNvPr id="51" name="TextBox 51"/>
          <p:cNvSpPr txBox="1"/>
          <p:nvPr/>
        </p:nvSpPr>
        <p:spPr>
          <a:xfrm>
            <a:off x="6619875" y="3557588"/>
            <a:ext cx="594122" cy="152400"/>
          </a:xfrm>
          <a:prstGeom prst="rect">
            <a:avLst/>
          </a:prstGeom>
          <a:noFill/>
          <a:ln>
            <a:noFill/>
          </a:ln>
        </p:spPr>
        <p:txBody>
          <a:bodyPr wrap="none" lIns="0" tIns="0" rIns="0" bIns="0" anchor="t" anchorCtr="0">
            <a:spAutoFit/>
          </a:bodyPr>
          <a:lstStyle/>
          <a:p>
            <a:pPr algn="l"/>
            <a:r>
              <a:rPr lang="zh-CN" sz="750" dirty="0">
                <a:solidFill>
                  <a:srgbClr val="9CA3AF"/>
                </a:solidFill>
                <a:latin typeface="Arial"/>
                <a:ea typeface="Microsoft YaHei"/>
                <a:cs typeface="Arial"/>
              </a:rPr>
              <a:t>belongs_to</a:t>
            </a:r>
          </a:p>
        </p:txBody>
      </p:sp>
      <p:sp>
        <p:nvSpPr>
          <p:cNvPr id="52" name="Line 52"/>
          <p:cNvSpPr/>
          <p:nvPr/>
        </p:nvSpPr>
        <p:spPr>
          <a:xfrm>
            <a:off x="8096250" y="3238500"/>
            <a:ext cx="76200" cy="685800"/>
          </a:xfrm>
          <a:custGeom>
            <a:avLst/>
            <a:gdLst/>
            <a:ahLst/>
            <a:cxnLst/>
            <a:rect l="l" t="t" r="r" b="b"/>
            <a:pathLst>
              <a:path w="76200" h="685800">
                <a:moveTo>
                  <a:pt x="0" y="0"/>
                </a:moveTo>
                <a:lnTo>
                  <a:pt x="76200" y="685800"/>
                </a:lnTo>
              </a:path>
            </a:pathLst>
          </a:custGeom>
          <a:noFill/>
          <a:ln w="9525">
            <a:solidFill>
              <a:srgbClr val="CBD5E1"/>
            </a:solidFill>
          </a:ln>
        </p:spPr>
      </p:sp>
      <p:sp>
        <p:nvSpPr>
          <p:cNvPr id="53" name="Line 53"/>
          <p:cNvSpPr/>
          <p:nvPr/>
        </p:nvSpPr>
        <p:spPr>
          <a:xfrm>
            <a:off x="7429500" y="3657600"/>
            <a:ext cx="552450" cy="342900"/>
          </a:xfrm>
          <a:custGeom>
            <a:avLst/>
            <a:gdLst/>
            <a:ahLst/>
            <a:cxnLst/>
            <a:rect l="l" t="t" r="r" b="b"/>
            <a:pathLst>
              <a:path w="552450" h="342900">
                <a:moveTo>
                  <a:pt x="0" y="0"/>
                </a:moveTo>
                <a:lnTo>
                  <a:pt x="552450" y="342900"/>
                </a:lnTo>
              </a:path>
            </a:pathLst>
          </a:custGeom>
          <a:noFill/>
          <a:ln w="9525">
            <a:solidFill>
              <a:srgbClr val="CBD5E1"/>
            </a:solidFill>
          </a:ln>
        </p:spPr>
      </p:sp>
      <p:sp>
        <p:nvSpPr>
          <p:cNvPr id="54" name="Rectangle 54"/>
          <p:cNvSpPr/>
          <p:nvPr/>
        </p:nvSpPr>
        <p:spPr>
          <a:xfrm>
            <a:off x="9429750" y="2914650"/>
            <a:ext cx="2000250" cy="762000"/>
          </a:xfrm>
          <a:prstGeom prst="roundRect">
            <a:avLst>
              <a:gd name="adj" fmla="val 7500"/>
            </a:avLst>
          </a:prstGeom>
          <a:solidFill>
            <a:srgbClr val="F1F5F9"/>
          </a:solidFill>
          <a:ln w="4762">
            <a:solidFill>
              <a:srgbClr val="E2E8F0"/>
            </a:solidFill>
          </a:ln>
        </p:spPr>
      </p:sp>
      <p:sp>
        <p:nvSpPr>
          <p:cNvPr id="55" name="TextBox 55"/>
          <p:cNvSpPr txBox="1"/>
          <p:nvPr/>
        </p:nvSpPr>
        <p:spPr>
          <a:xfrm>
            <a:off x="9570720" y="3027045"/>
            <a:ext cx="712946" cy="182880"/>
          </a:xfrm>
          <a:prstGeom prst="rect">
            <a:avLst/>
          </a:prstGeom>
          <a:noFill/>
          <a:ln>
            <a:noFill/>
          </a:ln>
        </p:spPr>
        <p:txBody>
          <a:bodyPr wrap="none" lIns="0" tIns="0" rIns="0" bIns="0" anchor="t" anchorCtr="0">
            <a:spAutoFit/>
          </a:bodyPr>
          <a:lstStyle/>
          <a:p>
            <a:pPr algn="l"/>
            <a:r>
              <a:rPr lang="zh-CN" sz="900" b="1" dirty="0">
                <a:solidFill>
                  <a:srgbClr val="1E3A5F"/>
                </a:solidFill>
                <a:latin typeface="Arial"/>
                <a:ea typeface="Microsoft YaHei"/>
                <a:cs typeface="Arial"/>
              </a:rPr>
              <a:t>两类图约束</a:t>
            </a:r>
          </a:p>
        </p:txBody>
      </p:sp>
      <p:sp>
        <p:nvSpPr>
          <p:cNvPr id="56" name="TextBox 56"/>
          <p:cNvSpPr txBox="1"/>
          <p:nvPr/>
        </p:nvSpPr>
        <p:spPr>
          <a:xfrm>
            <a:off x="9571672" y="3244691"/>
            <a:ext cx="1581317" cy="167640"/>
          </a:xfrm>
          <a:prstGeom prst="rect">
            <a:avLst/>
          </a:prstGeom>
          <a:noFill/>
          <a:ln>
            <a:noFill/>
          </a:ln>
        </p:spPr>
        <p:txBody>
          <a:bodyPr wrap="none" lIns="0" tIns="0" rIns="0" bIns="0" anchor="t" anchorCtr="0">
            <a:spAutoFit/>
          </a:bodyPr>
          <a:lstStyle/>
          <a:p>
            <a:pPr algn="l"/>
            <a:r>
              <a:rPr lang="zh-CN" sz="825" dirty="0">
                <a:solidFill>
                  <a:srgbClr val="4B5563"/>
                </a:solidFill>
                <a:latin typeface="Arial"/>
                <a:ea typeface="Microsoft YaHei"/>
                <a:cs typeface="Arial"/>
              </a:rPr>
              <a:t>1. 相似 kernel → 相似 family</a:t>
            </a:r>
          </a:p>
        </p:txBody>
      </p:sp>
      <p:sp>
        <p:nvSpPr>
          <p:cNvPr id="57" name="TextBox 57"/>
          <p:cNvSpPr txBox="1"/>
          <p:nvPr/>
        </p:nvSpPr>
        <p:spPr>
          <a:xfrm>
            <a:off x="9571672" y="3416141"/>
            <a:ext cx="1617464" cy="167640"/>
          </a:xfrm>
          <a:prstGeom prst="rect">
            <a:avLst/>
          </a:prstGeom>
          <a:noFill/>
          <a:ln>
            <a:noFill/>
          </a:ln>
        </p:spPr>
        <p:txBody>
          <a:bodyPr wrap="none" lIns="0" tIns="0" rIns="0" bIns="0" anchor="t" anchorCtr="0">
            <a:spAutoFit/>
          </a:bodyPr>
          <a:lstStyle/>
          <a:p>
            <a:pPr algn="l"/>
            <a:r>
              <a:rPr lang="zh-CN" sz="825" dirty="0">
                <a:solidFill>
                  <a:srgbClr val="4B5563"/>
                </a:solidFill>
                <a:latin typeface="Arial"/>
                <a:ea typeface="Microsoft YaHei"/>
                <a:cs typeface="Arial"/>
              </a:rPr>
              <a:t>2. 同 regime → 一致 subtype</a:t>
            </a:r>
          </a:p>
        </p:txBody>
      </p:sp>
      <p:sp>
        <p:nvSpPr>
          <p:cNvPr id="58" name="TextBox 58"/>
          <p:cNvSpPr txBox="1"/>
          <p:nvPr/>
        </p:nvSpPr>
        <p:spPr>
          <a:xfrm>
            <a:off x="7337786" y="4161949"/>
            <a:ext cx="3136178" cy="198120"/>
          </a:xfrm>
          <a:prstGeom prst="rect">
            <a:avLst/>
          </a:prstGeom>
          <a:noFill/>
          <a:ln>
            <a:noFill/>
          </a:ln>
        </p:spPr>
        <p:txBody>
          <a:bodyPr wrap="none" lIns="0" tIns="0" rIns="0" bIns="0" anchor="t" anchorCtr="0">
            <a:spAutoFit/>
          </a:bodyPr>
          <a:lstStyle/>
          <a:p>
            <a:pPr algn="ctr"/>
            <a:r>
              <a:rPr lang="zh-CN" sz="975" dirty="0">
                <a:solidFill>
                  <a:srgbClr val="9CA3AF"/>
                </a:solidFill>
                <a:latin typeface="Arial"/>
                <a:ea typeface="Microsoft YaHei"/>
                <a:cs typeface="Arial"/>
              </a:rPr>
              <a:t>标注一个 kernel → 约束沿图边传播到相邻 kernel</a:t>
            </a:r>
          </a:p>
        </p:txBody>
      </p:sp>
      <p:sp>
        <p:nvSpPr>
          <p:cNvPr id="59" name="Line 59"/>
          <p:cNvSpPr/>
          <p:nvPr/>
        </p:nvSpPr>
        <p:spPr>
          <a:xfrm>
            <a:off x="3209925" y="4362450"/>
            <a:ext cx="9525" cy="171450"/>
          </a:xfrm>
          <a:custGeom>
            <a:avLst/>
            <a:gdLst/>
            <a:ahLst/>
            <a:cxnLst/>
            <a:rect l="l" t="t" r="r" b="b"/>
            <a:pathLst>
              <a:path w="9525" h="171450">
                <a:moveTo>
                  <a:pt x="0" y="0"/>
                </a:moveTo>
                <a:lnTo>
                  <a:pt x="0" y="171450"/>
                </a:lnTo>
              </a:path>
            </a:pathLst>
          </a:custGeom>
          <a:noFill/>
          <a:ln w="19050">
            <a:solidFill>
              <a:srgbClr val="D97706"/>
            </a:solidFill>
          </a:ln>
        </p:spPr>
      </p:sp>
      <p:sp>
        <p:nvSpPr>
          <p:cNvPr id="60" name="Polygon 60"/>
          <p:cNvSpPr/>
          <p:nvPr/>
        </p:nvSpPr>
        <p:spPr>
          <a:xfrm>
            <a:off x="3143250" y="4476750"/>
            <a:ext cx="133350" cy="123825"/>
          </a:xfrm>
          <a:custGeom>
            <a:avLst/>
            <a:gdLst/>
            <a:ahLst/>
            <a:cxnLst/>
            <a:rect l="l" t="t" r="r" b="b"/>
            <a:pathLst>
              <a:path w="133350" h="123825">
                <a:moveTo>
                  <a:pt x="0" y="0"/>
                </a:moveTo>
                <a:lnTo>
                  <a:pt x="66675" y="123825"/>
                </a:lnTo>
                <a:lnTo>
                  <a:pt x="133350" y="0"/>
                </a:lnTo>
                <a:close/>
              </a:path>
            </a:pathLst>
          </a:custGeom>
          <a:solidFill>
            <a:srgbClr val="D97706"/>
          </a:solidFill>
          <a:ln>
            <a:noFill/>
          </a:ln>
        </p:spPr>
      </p:sp>
      <p:sp>
        <p:nvSpPr>
          <p:cNvPr id="61" name="Line 61"/>
          <p:cNvSpPr/>
          <p:nvPr/>
        </p:nvSpPr>
        <p:spPr>
          <a:xfrm>
            <a:off x="8905875" y="4362450"/>
            <a:ext cx="9525" cy="171450"/>
          </a:xfrm>
          <a:custGeom>
            <a:avLst/>
            <a:gdLst/>
            <a:ahLst/>
            <a:cxnLst/>
            <a:rect l="l" t="t" r="r" b="b"/>
            <a:pathLst>
              <a:path w="9525" h="171450">
                <a:moveTo>
                  <a:pt x="0" y="0"/>
                </a:moveTo>
                <a:lnTo>
                  <a:pt x="0" y="171450"/>
                </a:lnTo>
              </a:path>
            </a:pathLst>
          </a:custGeom>
          <a:noFill/>
          <a:ln w="19050">
            <a:solidFill>
              <a:srgbClr val="2F855A"/>
            </a:solidFill>
          </a:ln>
        </p:spPr>
      </p:sp>
      <p:sp>
        <p:nvSpPr>
          <p:cNvPr id="62" name="Polygon 62"/>
          <p:cNvSpPr/>
          <p:nvPr/>
        </p:nvSpPr>
        <p:spPr>
          <a:xfrm>
            <a:off x="8839200" y="4476750"/>
            <a:ext cx="133350" cy="123825"/>
          </a:xfrm>
          <a:custGeom>
            <a:avLst/>
            <a:gdLst/>
            <a:ahLst/>
            <a:cxnLst/>
            <a:rect l="l" t="t" r="r" b="b"/>
            <a:pathLst>
              <a:path w="133350" h="123825">
                <a:moveTo>
                  <a:pt x="0" y="0"/>
                </a:moveTo>
                <a:lnTo>
                  <a:pt x="66675" y="123825"/>
                </a:lnTo>
                <a:lnTo>
                  <a:pt x="133350" y="0"/>
                </a:lnTo>
                <a:close/>
              </a:path>
            </a:pathLst>
          </a:custGeom>
          <a:solidFill>
            <a:srgbClr val="2F855A"/>
          </a:solidFill>
          <a:ln>
            <a:noFill/>
          </a:ln>
        </p:spPr>
      </p:sp>
      <p:sp>
        <p:nvSpPr>
          <p:cNvPr id="63" name="Rectangle 63"/>
          <p:cNvSpPr/>
          <p:nvPr/>
        </p:nvSpPr>
        <p:spPr>
          <a:xfrm>
            <a:off x="533400" y="4667250"/>
            <a:ext cx="11125200" cy="400050"/>
          </a:xfrm>
          <a:prstGeom prst="roundRect">
            <a:avLst>
              <a:gd name="adj" fmla="val 19048"/>
            </a:avLst>
          </a:prstGeom>
          <a:solidFill>
            <a:srgbClr val="FFFFFF"/>
          </a:solidFill>
          <a:ln w="9525">
            <a:solidFill>
              <a:srgbClr val="CBD5E1"/>
            </a:solidFill>
          </a:ln>
        </p:spPr>
      </p:sp>
      <p:sp>
        <p:nvSpPr>
          <p:cNvPr id="64" name="TextBox 64"/>
          <p:cNvSpPr txBox="1"/>
          <p:nvPr/>
        </p:nvSpPr>
        <p:spPr>
          <a:xfrm>
            <a:off x="747712" y="4736306"/>
            <a:ext cx="373618" cy="228600"/>
          </a:xfrm>
          <a:prstGeom prst="rect">
            <a:avLst/>
          </a:prstGeom>
          <a:noFill/>
          <a:ln>
            <a:noFill/>
          </a:ln>
        </p:spPr>
        <p:txBody>
          <a:bodyPr wrap="none" lIns="0" tIns="0" rIns="0" bIns="0" anchor="t" anchorCtr="0">
            <a:spAutoFit/>
          </a:bodyPr>
          <a:lstStyle/>
          <a:p>
            <a:pPr algn="l"/>
            <a:r>
              <a:rPr lang="zh-CN" sz="1125" b="1" dirty="0">
                <a:solidFill>
                  <a:srgbClr val="2F855A"/>
                </a:solidFill>
                <a:latin typeface="Arial"/>
                <a:ea typeface="Microsoft YaHei"/>
                <a:cs typeface="Arial"/>
              </a:rPr>
              <a:t>输出</a:t>
            </a:r>
          </a:p>
        </p:txBody>
      </p:sp>
      <p:sp>
        <p:nvSpPr>
          <p:cNvPr id="65" name="TextBox 65"/>
          <p:cNvSpPr txBox="1"/>
          <p:nvPr/>
        </p:nvSpPr>
        <p:spPr>
          <a:xfrm>
            <a:off x="1128712" y="4736306"/>
            <a:ext cx="77867" cy="228600"/>
          </a:xfrm>
          <a:prstGeom prst="rect">
            <a:avLst/>
          </a:prstGeom>
          <a:noFill/>
          <a:ln>
            <a:noFill/>
          </a:ln>
        </p:spPr>
        <p:txBody>
          <a:bodyPr wrap="none" lIns="0" tIns="0" rIns="0" bIns="0" anchor="t" anchorCtr="0">
            <a:spAutoFit/>
          </a:bodyPr>
          <a:lstStyle/>
          <a:p>
            <a:pPr algn="l"/>
            <a:r>
              <a:rPr lang="zh-CN" sz="1125" dirty="0">
                <a:solidFill>
                  <a:srgbClr val="2F855A"/>
                </a:solidFill>
                <a:latin typeface="Arial"/>
                <a:ea typeface="Microsoft YaHei"/>
                <a:cs typeface="Arial"/>
              </a:rPr>
              <a:t>|</a:t>
            </a:r>
          </a:p>
        </p:txBody>
      </p:sp>
      <p:sp>
        <p:nvSpPr>
          <p:cNvPr id="66" name="TextBox 66"/>
          <p:cNvSpPr txBox="1"/>
          <p:nvPr/>
        </p:nvSpPr>
        <p:spPr>
          <a:xfrm>
            <a:off x="1319212" y="4736306"/>
            <a:ext cx="891183"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可解释预测</a:t>
            </a:r>
          </a:p>
        </p:txBody>
      </p:sp>
      <p:sp>
        <p:nvSpPr>
          <p:cNvPr id="67" name="TextBox 67"/>
          <p:cNvSpPr txBox="1"/>
          <p:nvPr/>
        </p:nvSpPr>
        <p:spPr>
          <a:xfrm>
            <a:off x="2558415" y="4744402"/>
            <a:ext cx="6996541"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family, subtype, regime, confidence, evidence contribution — 每个预测可追溯到特征和约束路径</a:t>
            </a:r>
          </a:p>
        </p:txBody>
      </p:sp>
      <p:sp>
        <p:nvSpPr>
          <p:cNvPr id="68" name="Rectangle 68"/>
          <p:cNvSpPr/>
          <p:nvPr/>
        </p:nvSpPr>
        <p:spPr>
          <a:xfrm>
            <a:off x="533400" y="5295900"/>
            <a:ext cx="11125200" cy="647700"/>
          </a:xfrm>
          <a:prstGeom prst="roundRect">
            <a:avLst>
              <a:gd name="adj" fmla="val 11765"/>
            </a:avLst>
          </a:prstGeom>
          <a:solidFill>
            <a:srgbClr val="1E3A5F"/>
          </a:solidFill>
          <a:ln>
            <a:noFill/>
          </a:ln>
        </p:spPr>
      </p:sp>
      <p:sp>
        <p:nvSpPr>
          <p:cNvPr id="69" name="TextBox 69"/>
          <p:cNvSpPr txBox="1"/>
          <p:nvPr/>
        </p:nvSpPr>
        <p:spPr>
          <a:xfrm>
            <a:off x="5068634" y="5414010"/>
            <a:ext cx="205473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与端到端黑箱的关键区别</a:t>
            </a:r>
          </a:p>
        </p:txBody>
      </p:sp>
      <p:sp>
        <p:nvSpPr>
          <p:cNvPr id="70" name="TextBox 70"/>
          <p:cNvSpPr txBox="1"/>
          <p:nvPr/>
        </p:nvSpPr>
        <p:spPr>
          <a:xfrm>
            <a:off x="1957483" y="5677852"/>
            <a:ext cx="8277034" cy="213360"/>
          </a:xfrm>
          <a:prstGeom prst="rect">
            <a:avLst/>
          </a:prstGeom>
          <a:noFill/>
          <a:ln>
            <a:noFill/>
          </a:ln>
        </p:spPr>
        <p:txBody>
          <a:bodyPr wrap="none" lIns="0" tIns="0" rIns="0" bIns="0" anchor="t" anchorCtr="0">
            <a:spAutoFit/>
          </a:bodyPr>
          <a:lstStyle/>
          <a:p>
            <a:pPr algn="ctr"/>
            <a:r>
              <a:rPr lang="zh-CN" sz="1050" dirty="0">
                <a:solidFill>
                  <a:srgbClr val="CBD5E1"/>
                </a:solidFill>
                <a:latin typeface="Arial"/>
                <a:ea typeface="Microsoft YaHei"/>
                <a:cs typeface="Arial"/>
              </a:rPr>
              <a:t>不把 kernel 特征扔进模型让它输出一个分类结果 → 弱监督提供初始信号，图结构保证一致性，每个预测都可追溯、可解释</a:t>
            </a:r>
          </a:p>
        </p:txBody>
      </p:sp>
      <p:sp>
        <p:nvSpPr>
          <p:cNvPr id="71" name="TextBox 71"/>
          <p:cNvSpPr txBox="1"/>
          <p:nvPr/>
        </p:nvSpPr>
        <p:spPr>
          <a:xfrm>
            <a:off x="520065" y="6363652"/>
            <a:ext cx="2319290"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ai_bridge_design</a:t>
            </a:r>
          </a:p>
        </p:txBody>
      </p:sp>
      <p:sp>
        <p:nvSpPr>
          <p:cNvPr id="72" name="TextBox 72"/>
          <p:cNvSpPr txBox="1"/>
          <p:nvPr/>
        </p:nvSpPr>
        <p:spPr>
          <a:xfrm>
            <a:off x="11304722" y="638794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15 / 21</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477526"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CASE 1</a:t>
            </a:r>
          </a:p>
        </p:txBody>
      </p:sp>
      <p:sp>
        <p:nvSpPr>
          <p:cNvPr id="4" name="TextBox 4"/>
          <p:cNvSpPr txBox="1"/>
          <p:nvPr/>
        </p:nvSpPr>
        <p:spPr>
          <a:xfrm>
            <a:off x="502920" y="845820"/>
            <a:ext cx="6685788"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Rodinia backprop 暴露 DP pipeline 瓶颈</a:t>
            </a:r>
          </a:p>
        </p:txBody>
      </p:sp>
      <p:sp>
        <p:nvSpPr>
          <p:cNvPr id="5" name="TextBox 5"/>
          <p:cNvSpPr txBox="1"/>
          <p:nvPr/>
        </p:nvSpPr>
        <p:spPr>
          <a:xfrm>
            <a:off x="515302" y="1274921"/>
            <a:ext cx="5478566"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这个案例用于说明 B 线归因如何落到一个具体的硬件机制。</a:t>
            </a:r>
          </a:p>
        </p:txBody>
      </p:sp>
      <p:sp>
        <p:nvSpPr>
          <p:cNvPr id="6" name="Rectangle 6"/>
          <p:cNvSpPr/>
          <p:nvPr/>
        </p:nvSpPr>
        <p:spPr>
          <a:xfrm>
            <a:off x="685800" y="2038350"/>
            <a:ext cx="3333750" cy="2762250"/>
          </a:xfrm>
          <a:prstGeom prst="roundRect">
            <a:avLst>
              <a:gd name="adj" fmla="val 2759"/>
            </a:avLst>
          </a:prstGeom>
          <a:solidFill>
            <a:srgbClr val="FFFFFF"/>
          </a:solidFill>
          <a:ln w="9525">
            <a:solidFill>
              <a:srgbClr val="CBD5E1"/>
            </a:solidFill>
          </a:ln>
        </p:spPr>
      </p:sp>
      <p:sp>
        <p:nvSpPr>
          <p:cNvPr id="7" name="TextBox 7"/>
          <p:cNvSpPr txBox="1"/>
          <p:nvPr/>
        </p:nvSpPr>
        <p:spPr>
          <a:xfrm>
            <a:off x="968692" y="2290286"/>
            <a:ext cx="1194534" cy="350520"/>
          </a:xfrm>
          <a:prstGeom prst="rect">
            <a:avLst/>
          </a:prstGeom>
          <a:noFill/>
          <a:ln>
            <a:noFill/>
          </a:ln>
        </p:spPr>
        <p:txBody>
          <a:bodyPr wrap="none" lIns="0" tIns="0" rIns="0" bIns="0" anchor="t" anchorCtr="0">
            <a:spAutoFit/>
          </a:bodyPr>
          <a:lstStyle/>
          <a:p>
            <a:pPr algn="l"/>
            <a:r>
              <a:rPr lang="zh-CN" sz="1725" b="1" dirty="0">
                <a:solidFill>
                  <a:srgbClr val="1E3A5F"/>
                </a:solidFill>
                <a:latin typeface="Arial"/>
                <a:ea typeface="Microsoft YaHei"/>
                <a:cs typeface="Arial"/>
              </a:rPr>
              <a:t>workload</a:t>
            </a:r>
          </a:p>
        </p:txBody>
      </p:sp>
      <p:sp>
        <p:nvSpPr>
          <p:cNvPr id="8" name="TextBox 8"/>
          <p:cNvSpPr txBox="1"/>
          <p:nvPr/>
        </p:nvSpPr>
        <p:spPr>
          <a:xfrm>
            <a:off x="973455" y="2749868"/>
            <a:ext cx="1700848"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Consolas"/>
                <a:ea typeface="Microsoft YaHei"/>
                <a:cs typeface="Consolas"/>
              </a:rPr>
              <a:t>Rodinia backprop</a:t>
            </a:r>
          </a:p>
        </p:txBody>
      </p:sp>
      <p:sp>
        <p:nvSpPr>
          <p:cNvPr id="9" name="TextBox 9"/>
          <p:cNvSpPr txBox="1"/>
          <p:nvPr/>
        </p:nvSpPr>
        <p:spPr>
          <a:xfrm>
            <a:off x="973455" y="3188018"/>
            <a:ext cx="288336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神经网络反向传播 benchmark，</a:t>
            </a:r>
          </a:p>
        </p:txBody>
      </p:sp>
      <p:sp>
        <p:nvSpPr>
          <p:cNvPr id="10" name="TextBox 10"/>
          <p:cNvSpPr txBox="1"/>
          <p:nvPr/>
        </p:nvSpPr>
        <p:spPr>
          <a:xfrm>
            <a:off x="973455" y="3473768"/>
            <a:ext cx="2134124"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包含多个 kernel 调用。</a:t>
            </a:r>
          </a:p>
        </p:txBody>
      </p:sp>
      <p:sp>
        <p:nvSpPr>
          <p:cNvPr id="11" name="Rectangle 11"/>
          <p:cNvSpPr/>
          <p:nvPr/>
        </p:nvSpPr>
        <p:spPr>
          <a:xfrm>
            <a:off x="4438650" y="2038350"/>
            <a:ext cx="3333750" cy="2762250"/>
          </a:xfrm>
          <a:prstGeom prst="roundRect">
            <a:avLst>
              <a:gd name="adj" fmla="val 2759"/>
            </a:avLst>
          </a:prstGeom>
          <a:solidFill>
            <a:srgbClr val="FFFFFF"/>
          </a:solidFill>
          <a:ln w="9525">
            <a:solidFill>
              <a:srgbClr val="CBD5E1"/>
            </a:solidFill>
          </a:ln>
        </p:spPr>
      </p:sp>
      <p:sp>
        <p:nvSpPr>
          <p:cNvPr id="12" name="TextBox 12"/>
          <p:cNvSpPr txBox="1"/>
          <p:nvPr/>
        </p:nvSpPr>
        <p:spPr>
          <a:xfrm>
            <a:off x="4721542" y="2290286"/>
            <a:ext cx="1802960" cy="350520"/>
          </a:xfrm>
          <a:prstGeom prst="rect">
            <a:avLst/>
          </a:prstGeom>
          <a:noFill/>
          <a:ln>
            <a:noFill/>
          </a:ln>
        </p:spPr>
        <p:txBody>
          <a:bodyPr wrap="none" lIns="0" tIns="0" rIns="0" bIns="0" anchor="t" anchorCtr="0">
            <a:spAutoFit/>
          </a:bodyPr>
          <a:lstStyle/>
          <a:p>
            <a:pPr algn="l"/>
            <a:r>
              <a:rPr lang="zh-CN" sz="1725" b="1" dirty="0">
                <a:solidFill>
                  <a:srgbClr val="D97706"/>
                </a:solidFill>
                <a:latin typeface="Arial"/>
                <a:ea typeface="Microsoft YaHei"/>
                <a:cs typeface="Arial"/>
              </a:rPr>
              <a:t>target kernel</a:t>
            </a:r>
          </a:p>
        </p:txBody>
      </p:sp>
      <p:sp>
        <p:nvSpPr>
          <p:cNvPr id="13" name="TextBox 13"/>
          <p:cNvSpPr txBox="1"/>
          <p:nvPr/>
        </p:nvSpPr>
        <p:spPr>
          <a:xfrm>
            <a:off x="4727258" y="2757964"/>
            <a:ext cx="2554650"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Consolas"/>
                <a:ea typeface="Microsoft YaHei"/>
                <a:cs typeface="Consolas"/>
              </a:rPr>
              <a:t>bpnn_adjust_weights_cuda</a:t>
            </a:r>
          </a:p>
        </p:txBody>
      </p:sp>
      <p:sp>
        <p:nvSpPr>
          <p:cNvPr id="14" name="TextBox 14"/>
          <p:cNvSpPr txBox="1"/>
          <p:nvPr/>
        </p:nvSpPr>
        <p:spPr>
          <a:xfrm>
            <a:off x="4726305" y="3188018"/>
            <a:ext cx="241015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该 kernel 在模拟器中对 DP</a:t>
            </a:r>
          </a:p>
        </p:txBody>
      </p:sp>
      <p:sp>
        <p:nvSpPr>
          <p:cNvPr id="15" name="TextBox 15"/>
          <p:cNvSpPr txBox="1"/>
          <p:nvPr/>
        </p:nvSpPr>
        <p:spPr>
          <a:xfrm>
            <a:off x="4726305" y="3473768"/>
            <a:ext cx="2193274"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pipeline 相关参数敏感。</a:t>
            </a:r>
          </a:p>
        </p:txBody>
      </p:sp>
      <p:sp>
        <p:nvSpPr>
          <p:cNvPr id="16" name="Rectangle 16"/>
          <p:cNvSpPr/>
          <p:nvPr/>
        </p:nvSpPr>
        <p:spPr>
          <a:xfrm>
            <a:off x="8191500" y="2038350"/>
            <a:ext cx="3333750" cy="2762250"/>
          </a:xfrm>
          <a:prstGeom prst="roundRect">
            <a:avLst>
              <a:gd name="adj" fmla="val 2759"/>
            </a:avLst>
          </a:prstGeom>
          <a:solidFill>
            <a:srgbClr val="FFFFFF"/>
          </a:solidFill>
          <a:ln w="9525">
            <a:solidFill>
              <a:srgbClr val="CBD5E1"/>
            </a:solidFill>
          </a:ln>
        </p:spPr>
      </p:sp>
      <p:sp>
        <p:nvSpPr>
          <p:cNvPr id="17" name="TextBox 17"/>
          <p:cNvSpPr txBox="1"/>
          <p:nvPr/>
        </p:nvSpPr>
        <p:spPr>
          <a:xfrm>
            <a:off x="8474392" y="2290286"/>
            <a:ext cx="1736827" cy="350520"/>
          </a:xfrm>
          <a:prstGeom prst="rect">
            <a:avLst/>
          </a:prstGeom>
          <a:noFill/>
          <a:ln>
            <a:noFill/>
          </a:ln>
        </p:spPr>
        <p:txBody>
          <a:bodyPr wrap="none" lIns="0" tIns="0" rIns="0" bIns="0" anchor="t" anchorCtr="0">
            <a:spAutoFit/>
          </a:bodyPr>
          <a:lstStyle/>
          <a:p>
            <a:pPr algn="l"/>
            <a:r>
              <a:rPr lang="zh-CN" sz="1725" b="1" dirty="0">
                <a:solidFill>
                  <a:srgbClr val="2F855A"/>
                </a:solidFill>
                <a:latin typeface="Arial"/>
                <a:ea typeface="Microsoft YaHei"/>
                <a:cs typeface="Arial"/>
              </a:rPr>
              <a:t>B-line output</a:t>
            </a:r>
          </a:p>
        </p:txBody>
      </p:sp>
      <p:sp>
        <p:nvSpPr>
          <p:cNvPr id="18" name="TextBox 18"/>
          <p:cNvSpPr txBox="1"/>
          <p:nvPr/>
        </p:nvSpPr>
        <p:spPr>
          <a:xfrm>
            <a:off x="8480108" y="2757964"/>
            <a:ext cx="1469490"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Consolas"/>
                <a:ea typeface="Microsoft YaHei"/>
                <a:cs typeface="Consolas"/>
              </a:rPr>
              <a:t>dense_compute</a:t>
            </a:r>
          </a:p>
        </p:txBody>
      </p:sp>
      <p:sp>
        <p:nvSpPr>
          <p:cNvPr id="19" name="TextBox 19"/>
          <p:cNvSpPr txBox="1"/>
          <p:nvPr/>
        </p:nvSpPr>
        <p:spPr>
          <a:xfrm>
            <a:off x="8482012" y="3155156"/>
            <a:ext cx="2210973"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Consolas"/>
                <a:ea typeface="Microsoft YaHei"/>
                <a:cs typeface="Consolas"/>
              </a:rPr>
              <a:t>fp64_dp_pipeline_compute</a:t>
            </a:r>
          </a:p>
        </p:txBody>
      </p:sp>
      <p:sp>
        <p:nvSpPr>
          <p:cNvPr id="20" name="TextBox 20"/>
          <p:cNvSpPr txBox="1"/>
          <p:nvPr/>
        </p:nvSpPr>
        <p:spPr>
          <a:xfrm>
            <a:off x="8479155" y="3569018"/>
            <a:ext cx="308052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归因明确指向 FP64/DP 执行路径。</a:t>
            </a:r>
          </a:p>
        </p:txBody>
      </p:sp>
      <p:sp>
        <p:nvSpPr>
          <p:cNvPr id="21" name="Rectangle 21"/>
          <p:cNvSpPr/>
          <p:nvPr/>
        </p:nvSpPr>
        <p:spPr>
          <a:xfrm>
            <a:off x="1638300" y="5334000"/>
            <a:ext cx="8915400" cy="457200"/>
          </a:xfrm>
          <a:prstGeom prst="roundRect">
            <a:avLst>
              <a:gd name="adj" fmla="val 16667"/>
            </a:avLst>
          </a:prstGeom>
          <a:solidFill>
            <a:srgbClr val="1E3A5F"/>
          </a:solidFill>
          <a:ln>
            <a:noFill/>
          </a:ln>
        </p:spPr>
      </p:sp>
      <p:sp>
        <p:nvSpPr>
          <p:cNvPr id="22" name="TextBox 22"/>
          <p:cNvSpPr txBox="1"/>
          <p:nvPr/>
        </p:nvSpPr>
        <p:spPr>
          <a:xfrm>
            <a:off x="2643771" y="5467350"/>
            <a:ext cx="690445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这不是泛泛地说“compute bound”，而是定位到 DP pipeline 机制。</a:t>
            </a:r>
          </a:p>
        </p:txBody>
      </p:sp>
      <p:sp>
        <p:nvSpPr>
          <p:cNvPr id="23" name="TextBox 23"/>
          <p:cNvSpPr txBox="1"/>
          <p:nvPr/>
        </p:nvSpPr>
        <p:spPr>
          <a:xfrm>
            <a:off x="520065" y="6116002"/>
            <a:ext cx="3408093"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simulator_internal_case_setup</a:t>
            </a:r>
          </a:p>
        </p:txBody>
      </p:sp>
      <p:sp>
        <p:nvSpPr>
          <p:cNvPr id="24" name="TextBox 24"/>
          <p:cNvSpPr txBox="1"/>
          <p:nvPr/>
        </p:nvSpPr>
        <p:spPr>
          <a:xfrm>
            <a:off x="1130472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16 / 21</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910605" cy="213360"/>
          </a:xfrm>
          <a:prstGeom prst="rect">
            <a:avLst/>
          </a:prstGeom>
          <a:noFill/>
          <a:ln>
            <a:noFill/>
          </a:ln>
        </p:spPr>
        <p:txBody>
          <a:bodyPr wrap="none" lIns="0" tIns="0" rIns="0" bIns="0" anchor="t" anchorCtr="0">
            <a:spAutoFit/>
          </a:bodyPr>
          <a:lstStyle/>
          <a:p>
            <a:pPr algn="l"/>
            <a:r>
              <a:rPr lang="zh-CN" sz="1050" b="1" dirty="0">
                <a:solidFill>
                  <a:srgbClr val="D97706"/>
                </a:solidFill>
                <a:latin typeface="Arial"/>
                <a:ea typeface="Microsoft YaHei"/>
                <a:cs typeface="Arial"/>
              </a:rPr>
              <a:t>SIMULATOR PRESCRIPTION</a:t>
            </a:r>
          </a:p>
        </p:txBody>
      </p:sp>
      <p:sp>
        <p:nvSpPr>
          <p:cNvPr id="4" name="TextBox 4"/>
          <p:cNvSpPr txBox="1"/>
          <p:nvPr/>
        </p:nvSpPr>
        <p:spPr>
          <a:xfrm>
            <a:off x="502920" y="845820"/>
            <a:ext cx="6612179"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从 B 线归因到 C 线处方：修改哪个 knob</a:t>
            </a:r>
          </a:p>
        </p:txBody>
      </p:sp>
      <p:sp>
        <p:nvSpPr>
          <p:cNvPr id="5" name="TextBox 5"/>
          <p:cNvSpPr txBox="1"/>
          <p:nvPr/>
        </p:nvSpPr>
        <p:spPr>
          <a:xfrm>
            <a:off x="515302" y="1274921"/>
            <a:ext cx="8236172"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处方不是修改真实硬件，而是在模拟器中改变对应机制的参数，用来观察 what-if 效果。</a:t>
            </a:r>
          </a:p>
        </p:txBody>
      </p:sp>
      <p:sp>
        <p:nvSpPr>
          <p:cNvPr id="6" name="Rectangle 6"/>
          <p:cNvSpPr/>
          <p:nvPr/>
        </p:nvSpPr>
        <p:spPr>
          <a:xfrm>
            <a:off x="781050" y="2190750"/>
            <a:ext cx="10629900" cy="1123950"/>
          </a:xfrm>
          <a:prstGeom prst="roundRect">
            <a:avLst>
              <a:gd name="adj" fmla="val 6780"/>
            </a:avLst>
          </a:prstGeom>
          <a:solidFill>
            <a:srgbClr val="FFFFFF"/>
          </a:solidFill>
          <a:ln w="9525">
            <a:solidFill>
              <a:srgbClr val="CBD5E1"/>
            </a:solidFill>
          </a:ln>
        </p:spPr>
      </p:sp>
      <p:sp>
        <p:nvSpPr>
          <p:cNvPr id="7" name="TextBox 7"/>
          <p:cNvSpPr txBox="1"/>
          <p:nvPr/>
        </p:nvSpPr>
        <p:spPr>
          <a:xfrm>
            <a:off x="1065848" y="2439829"/>
            <a:ext cx="2551919" cy="320040"/>
          </a:xfrm>
          <a:prstGeom prst="rect">
            <a:avLst/>
          </a:prstGeom>
          <a:noFill/>
          <a:ln>
            <a:noFill/>
          </a:ln>
        </p:spPr>
        <p:txBody>
          <a:bodyPr wrap="none" lIns="0" tIns="0" rIns="0" bIns="0" anchor="t" anchorCtr="0">
            <a:spAutoFit/>
          </a:bodyPr>
          <a:lstStyle/>
          <a:p>
            <a:pPr algn="l"/>
            <a:r>
              <a:rPr lang="zh-CN" sz="1575" b="1" dirty="0">
                <a:solidFill>
                  <a:srgbClr val="111827"/>
                </a:solidFill>
                <a:latin typeface="Arial"/>
                <a:ea typeface="Microsoft YaHei"/>
                <a:cs typeface="Arial"/>
              </a:rPr>
              <a:t>subtype-to-knob map</a:t>
            </a:r>
          </a:p>
        </p:txBody>
      </p:sp>
      <p:sp>
        <p:nvSpPr>
          <p:cNvPr id="8" name="TextBox 8"/>
          <p:cNvSpPr txBox="1"/>
          <p:nvPr/>
        </p:nvSpPr>
        <p:spPr>
          <a:xfrm>
            <a:off x="1067752" y="2837021"/>
            <a:ext cx="6539984" cy="289560"/>
          </a:xfrm>
          <a:prstGeom prst="rect">
            <a:avLst/>
          </a:prstGeom>
          <a:noFill/>
          <a:ln>
            <a:noFill/>
          </a:ln>
        </p:spPr>
        <p:txBody>
          <a:bodyPr wrap="none" lIns="0" tIns="0" rIns="0" bIns="0" anchor="t" anchorCtr="0">
            <a:spAutoFit/>
          </a:bodyPr>
          <a:lstStyle/>
          <a:p>
            <a:pPr algn="l"/>
            <a:r>
              <a:rPr lang="zh-CN" sz="1425" dirty="0">
                <a:solidFill>
                  <a:srgbClr val="1E3A5F"/>
                </a:solidFill>
                <a:latin typeface="Consolas"/>
                <a:ea typeface="Microsoft YaHei"/>
                <a:cs typeface="Consolas"/>
              </a:rPr>
              <a:t>fp64_dp_pipeline_compute → trace_opcode_latency_initiation_dp</a:t>
            </a:r>
          </a:p>
        </p:txBody>
      </p:sp>
      <p:sp>
        <p:nvSpPr>
          <p:cNvPr id="9" name="Rectangle 9"/>
          <p:cNvSpPr/>
          <p:nvPr/>
        </p:nvSpPr>
        <p:spPr>
          <a:xfrm>
            <a:off x="1714500" y="3943350"/>
            <a:ext cx="3429000" cy="1066800"/>
          </a:xfrm>
          <a:prstGeom prst="roundRect">
            <a:avLst>
              <a:gd name="adj" fmla="val 7143"/>
            </a:avLst>
          </a:prstGeom>
          <a:solidFill>
            <a:srgbClr val="FFFFFF"/>
          </a:solidFill>
          <a:ln w="9525">
            <a:solidFill>
              <a:srgbClr val="CBD5E1"/>
            </a:solidFill>
          </a:ln>
        </p:spPr>
      </p:sp>
      <p:sp>
        <p:nvSpPr>
          <p:cNvPr id="10" name="TextBox 10"/>
          <p:cNvSpPr txBox="1"/>
          <p:nvPr/>
        </p:nvSpPr>
        <p:spPr>
          <a:xfrm>
            <a:off x="2938014" y="4192429"/>
            <a:ext cx="981973" cy="320040"/>
          </a:xfrm>
          <a:prstGeom prst="rect">
            <a:avLst/>
          </a:prstGeom>
          <a:noFill/>
          <a:ln>
            <a:noFill/>
          </a:ln>
        </p:spPr>
        <p:txBody>
          <a:bodyPr wrap="none" lIns="0" tIns="0" rIns="0" bIns="0" anchor="t" anchorCtr="0">
            <a:spAutoFit/>
          </a:bodyPr>
          <a:lstStyle/>
          <a:p>
            <a:pPr algn="ctr"/>
            <a:r>
              <a:rPr lang="zh-CN" sz="1575" b="1" dirty="0">
                <a:solidFill>
                  <a:srgbClr val="1E3A5F"/>
                </a:solidFill>
                <a:latin typeface="Arial"/>
                <a:ea typeface="Microsoft YaHei"/>
                <a:cs typeface="Arial"/>
              </a:rPr>
              <a:t>baseline</a:t>
            </a:r>
          </a:p>
        </p:txBody>
      </p:sp>
      <p:sp>
        <p:nvSpPr>
          <p:cNvPr id="11" name="TextBox 11"/>
          <p:cNvSpPr txBox="1"/>
          <p:nvPr/>
        </p:nvSpPr>
        <p:spPr>
          <a:xfrm>
            <a:off x="3091755" y="4546282"/>
            <a:ext cx="674489" cy="335280"/>
          </a:xfrm>
          <a:prstGeom prst="rect">
            <a:avLst/>
          </a:prstGeom>
          <a:noFill/>
          <a:ln>
            <a:noFill/>
          </a:ln>
        </p:spPr>
        <p:txBody>
          <a:bodyPr wrap="none" lIns="0" tIns="0" rIns="0" bIns="0" anchor="t" anchorCtr="0">
            <a:spAutoFit/>
          </a:bodyPr>
          <a:lstStyle/>
          <a:p>
            <a:pPr algn="ctr"/>
            <a:r>
              <a:rPr lang="zh-CN" sz="1650" b="1" dirty="0">
                <a:solidFill>
                  <a:srgbClr val="111827"/>
                </a:solidFill>
                <a:latin typeface="Consolas"/>
                <a:ea typeface="Microsoft YaHei"/>
                <a:cs typeface="Consolas"/>
              </a:rPr>
              <a:t>24,16</a:t>
            </a:r>
          </a:p>
        </p:txBody>
      </p:sp>
      <p:sp>
        <p:nvSpPr>
          <p:cNvPr id="12" name="Rectangle 12"/>
          <p:cNvSpPr/>
          <p:nvPr/>
        </p:nvSpPr>
        <p:spPr>
          <a:xfrm>
            <a:off x="7048500" y="3943350"/>
            <a:ext cx="3429000" cy="1066800"/>
          </a:xfrm>
          <a:prstGeom prst="roundRect">
            <a:avLst>
              <a:gd name="adj" fmla="val 7143"/>
            </a:avLst>
          </a:prstGeom>
          <a:solidFill>
            <a:srgbClr val="2F855A"/>
          </a:solidFill>
          <a:ln w="9525">
            <a:solidFill>
              <a:srgbClr val="2F855A"/>
            </a:solidFill>
          </a:ln>
        </p:spPr>
      </p:sp>
      <p:sp>
        <p:nvSpPr>
          <p:cNvPr id="13" name="TextBox 13"/>
          <p:cNvSpPr txBox="1"/>
          <p:nvPr/>
        </p:nvSpPr>
        <p:spPr>
          <a:xfrm>
            <a:off x="8247861" y="4192429"/>
            <a:ext cx="1030279"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modified</a:t>
            </a:r>
          </a:p>
        </p:txBody>
      </p:sp>
      <p:sp>
        <p:nvSpPr>
          <p:cNvPr id="14" name="TextBox 14"/>
          <p:cNvSpPr txBox="1"/>
          <p:nvPr/>
        </p:nvSpPr>
        <p:spPr>
          <a:xfrm>
            <a:off x="8463710" y="4546282"/>
            <a:ext cx="598580"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onsolas"/>
                <a:ea typeface="Microsoft YaHei"/>
                <a:cs typeface="Consolas"/>
              </a:rPr>
              <a:t>24,4</a:t>
            </a:r>
          </a:p>
        </p:txBody>
      </p:sp>
      <p:sp>
        <p:nvSpPr>
          <p:cNvPr id="15" name="Line 15"/>
          <p:cNvSpPr/>
          <p:nvPr/>
        </p:nvSpPr>
        <p:spPr>
          <a:xfrm>
            <a:off x="5143500" y="4476750"/>
            <a:ext cx="1905000" cy="9525"/>
          </a:xfrm>
          <a:custGeom>
            <a:avLst/>
            <a:gdLst/>
            <a:ahLst/>
            <a:cxnLst/>
            <a:rect l="l" t="t" r="r" b="b"/>
            <a:pathLst>
              <a:path w="1905000" h="9525">
                <a:moveTo>
                  <a:pt x="0" y="0"/>
                </a:moveTo>
                <a:lnTo>
                  <a:pt x="1905000" y="0"/>
                </a:lnTo>
              </a:path>
            </a:pathLst>
          </a:custGeom>
          <a:noFill/>
          <a:ln w="38100">
            <a:solidFill>
              <a:srgbClr val="CBD5E1"/>
            </a:solidFill>
          </a:ln>
        </p:spPr>
      </p:sp>
      <p:sp>
        <p:nvSpPr>
          <p:cNvPr id="16" name="Polygon 16"/>
          <p:cNvSpPr/>
          <p:nvPr/>
        </p:nvSpPr>
        <p:spPr>
          <a:xfrm>
            <a:off x="6972300" y="4362450"/>
            <a:ext cx="190500" cy="228600"/>
          </a:xfrm>
          <a:custGeom>
            <a:avLst/>
            <a:gdLst/>
            <a:ahLst/>
            <a:cxnLst/>
            <a:rect l="l" t="t" r="r" b="b"/>
            <a:pathLst>
              <a:path w="190500" h="228600">
                <a:moveTo>
                  <a:pt x="0" y="0"/>
                </a:moveTo>
                <a:lnTo>
                  <a:pt x="190500" y="114300"/>
                </a:lnTo>
                <a:lnTo>
                  <a:pt x="0" y="228600"/>
                </a:lnTo>
                <a:close/>
              </a:path>
            </a:pathLst>
          </a:custGeom>
          <a:solidFill>
            <a:srgbClr val="CBD5E1"/>
          </a:solidFill>
          <a:ln>
            <a:noFill/>
          </a:ln>
        </p:spPr>
      </p:sp>
      <p:sp>
        <p:nvSpPr>
          <p:cNvPr id="17" name="TextBox 17"/>
          <p:cNvSpPr txBox="1"/>
          <p:nvPr/>
        </p:nvSpPr>
        <p:spPr>
          <a:xfrm>
            <a:off x="5004423" y="4148614"/>
            <a:ext cx="2183154" cy="259080"/>
          </a:xfrm>
          <a:prstGeom prst="rect">
            <a:avLst/>
          </a:prstGeom>
          <a:noFill/>
          <a:ln>
            <a:noFill/>
          </a:ln>
        </p:spPr>
        <p:txBody>
          <a:bodyPr wrap="none" lIns="0" tIns="0" rIns="0" bIns="0" anchor="t" anchorCtr="0">
            <a:spAutoFit/>
          </a:bodyPr>
          <a:lstStyle/>
          <a:p>
            <a:pPr algn="ctr"/>
            <a:r>
              <a:rPr lang="zh-CN" sz="1275" b="1" dirty="0">
                <a:solidFill>
                  <a:srgbClr val="D97706"/>
                </a:solidFill>
                <a:latin typeface="Arial"/>
                <a:ea typeface="Microsoft YaHei"/>
                <a:cs typeface="Arial"/>
              </a:rPr>
              <a:t>降低 initiation interval</a:t>
            </a:r>
          </a:p>
        </p:txBody>
      </p:sp>
      <p:sp>
        <p:nvSpPr>
          <p:cNvPr id="18" name="Rectangle 18"/>
          <p:cNvSpPr/>
          <p:nvPr/>
        </p:nvSpPr>
        <p:spPr>
          <a:xfrm>
            <a:off x="1943100" y="5429250"/>
            <a:ext cx="8305800" cy="400050"/>
          </a:xfrm>
          <a:prstGeom prst="roundRect">
            <a:avLst>
              <a:gd name="adj" fmla="val 19048"/>
            </a:avLst>
          </a:prstGeom>
          <a:solidFill>
            <a:srgbClr val="F8FAFC"/>
          </a:solidFill>
          <a:ln w="9525">
            <a:solidFill>
              <a:srgbClr val="CBD5E1"/>
            </a:solidFill>
          </a:ln>
        </p:spPr>
      </p:sp>
      <p:sp>
        <p:nvSpPr>
          <p:cNvPr id="19" name="TextBox 19"/>
          <p:cNvSpPr txBox="1"/>
          <p:nvPr/>
        </p:nvSpPr>
        <p:spPr>
          <a:xfrm>
            <a:off x="2409321" y="5540692"/>
            <a:ext cx="7373357"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含义：让模拟器中的 DP pipeline 更快发射 FP64 相关操作，观察性能是否提升。</a:t>
            </a:r>
          </a:p>
        </p:txBody>
      </p:sp>
      <p:sp>
        <p:nvSpPr>
          <p:cNvPr id="20" name="TextBox 20"/>
          <p:cNvSpPr txBox="1"/>
          <p:nvPr/>
        </p:nvSpPr>
        <p:spPr>
          <a:xfrm>
            <a:off x="520065" y="6116002"/>
            <a:ext cx="2817685"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simulator_prescription</a:t>
            </a:r>
          </a:p>
        </p:txBody>
      </p:sp>
      <p:sp>
        <p:nvSpPr>
          <p:cNvPr id="21" name="TextBox 21"/>
          <p:cNvSpPr txBox="1"/>
          <p:nvPr/>
        </p:nvSpPr>
        <p:spPr>
          <a:xfrm>
            <a:off x="1130472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17 / 21</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983065" cy="213360"/>
          </a:xfrm>
          <a:prstGeom prst="rect">
            <a:avLst/>
          </a:prstGeom>
          <a:noFill/>
          <a:ln>
            <a:noFill/>
          </a:ln>
        </p:spPr>
        <p:txBody>
          <a:bodyPr wrap="none" lIns="0" tIns="0" rIns="0" bIns="0" anchor="t" anchorCtr="0">
            <a:spAutoFit/>
          </a:bodyPr>
          <a:lstStyle/>
          <a:p>
            <a:pPr algn="l"/>
            <a:r>
              <a:rPr lang="zh-CN" sz="1050" b="1" dirty="0">
                <a:solidFill>
                  <a:srgbClr val="2F855A"/>
                </a:solidFill>
                <a:latin typeface="Arial"/>
                <a:ea typeface="Microsoft YaHei"/>
                <a:cs typeface="Arial"/>
              </a:rPr>
              <a:t>CLOSED-LOOP VALIDATION</a:t>
            </a:r>
          </a:p>
        </p:txBody>
      </p:sp>
      <p:sp>
        <p:nvSpPr>
          <p:cNvPr id="4" name="TextBox 4"/>
          <p:cNvSpPr txBox="1"/>
          <p:nvPr/>
        </p:nvSpPr>
        <p:spPr>
          <a:xfrm>
            <a:off x="502920" y="845820"/>
            <a:ext cx="714584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闭环验证：修改后 simulator 内部效果明显</a:t>
            </a:r>
          </a:p>
        </p:txBody>
      </p:sp>
      <p:sp>
        <p:nvSpPr>
          <p:cNvPr id="5" name="TextBox 5"/>
          <p:cNvSpPr txBox="1"/>
          <p:nvPr/>
        </p:nvSpPr>
        <p:spPr>
          <a:xfrm>
            <a:off x="515302" y="1274921"/>
            <a:ext cx="6727293"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Rodinia backprop 中，目标 kernel 对 DP pipeline knob 的响应很清楚。</a:t>
            </a:r>
          </a:p>
        </p:txBody>
      </p:sp>
      <p:sp>
        <p:nvSpPr>
          <p:cNvPr id="6" name="Rectangle 6"/>
          <p:cNvSpPr/>
          <p:nvPr/>
        </p:nvSpPr>
        <p:spPr>
          <a:xfrm>
            <a:off x="609600" y="2019300"/>
            <a:ext cx="2571750" cy="1466850"/>
          </a:xfrm>
          <a:prstGeom prst="roundRect">
            <a:avLst>
              <a:gd name="adj" fmla="val 5195"/>
            </a:avLst>
          </a:prstGeom>
          <a:solidFill>
            <a:srgbClr val="FFFFFF"/>
          </a:solidFill>
          <a:ln w="9525">
            <a:solidFill>
              <a:srgbClr val="CBD5E1"/>
            </a:solidFill>
          </a:ln>
        </p:spPr>
      </p:sp>
      <p:sp>
        <p:nvSpPr>
          <p:cNvPr id="7" name="TextBox 7"/>
          <p:cNvSpPr txBox="1"/>
          <p:nvPr/>
        </p:nvSpPr>
        <p:spPr>
          <a:xfrm>
            <a:off x="1562616" y="2311718"/>
            <a:ext cx="665719" cy="274320"/>
          </a:xfrm>
          <a:prstGeom prst="rect">
            <a:avLst/>
          </a:prstGeom>
          <a:noFill/>
          <a:ln>
            <a:noFill/>
          </a:ln>
        </p:spPr>
        <p:txBody>
          <a:bodyPr wrap="none" lIns="0" tIns="0" rIns="0" bIns="0" anchor="t" anchorCtr="0">
            <a:spAutoFit/>
          </a:bodyPr>
          <a:lstStyle/>
          <a:p>
            <a:pPr algn="ctr"/>
            <a:r>
              <a:rPr lang="zh-CN" sz="1350" b="1" dirty="0">
                <a:solidFill>
                  <a:srgbClr val="4B5563"/>
                </a:solidFill>
                <a:latin typeface="Arial"/>
                <a:ea typeface="Microsoft YaHei"/>
                <a:cs typeface="Arial"/>
              </a:rPr>
              <a:t>cycles</a:t>
            </a:r>
          </a:p>
        </p:txBody>
      </p:sp>
      <p:sp>
        <p:nvSpPr>
          <p:cNvPr id="8" name="TextBox 8"/>
          <p:cNvSpPr txBox="1"/>
          <p:nvPr/>
        </p:nvSpPr>
        <p:spPr>
          <a:xfrm>
            <a:off x="1178000" y="2585085"/>
            <a:ext cx="1434951" cy="548640"/>
          </a:xfrm>
          <a:prstGeom prst="rect">
            <a:avLst/>
          </a:prstGeom>
          <a:noFill/>
          <a:ln>
            <a:noFill/>
          </a:ln>
        </p:spPr>
        <p:txBody>
          <a:bodyPr wrap="none" lIns="0" tIns="0" rIns="0" bIns="0" anchor="t" anchorCtr="0">
            <a:spAutoFit/>
          </a:bodyPr>
          <a:lstStyle/>
          <a:p>
            <a:pPr algn="ctr"/>
            <a:r>
              <a:rPr lang="zh-CN" sz="2700" b="1" dirty="0">
                <a:solidFill>
                  <a:srgbClr val="2F855A"/>
                </a:solidFill>
                <a:latin typeface="Arial"/>
                <a:ea typeface="Microsoft YaHei"/>
                <a:cs typeface="Arial"/>
              </a:rPr>
              <a:t>-43.6%</a:t>
            </a:r>
          </a:p>
        </p:txBody>
      </p:sp>
      <p:sp>
        <p:nvSpPr>
          <p:cNvPr id="9" name="TextBox 9"/>
          <p:cNvSpPr txBox="1"/>
          <p:nvPr/>
        </p:nvSpPr>
        <p:spPr>
          <a:xfrm>
            <a:off x="1389507" y="3070860"/>
            <a:ext cx="1011936"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Consolas"/>
                <a:ea typeface="Microsoft YaHei"/>
                <a:cs typeface="Consolas"/>
              </a:rPr>
              <a:t>12593 → 7106</a:t>
            </a:r>
          </a:p>
        </p:txBody>
      </p:sp>
      <p:sp>
        <p:nvSpPr>
          <p:cNvPr id="10" name="Rectangle 10"/>
          <p:cNvSpPr/>
          <p:nvPr/>
        </p:nvSpPr>
        <p:spPr>
          <a:xfrm>
            <a:off x="3486150" y="2019300"/>
            <a:ext cx="2571750" cy="1466850"/>
          </a:xfrm>
          <a:prstGeom prst="roundRect">
            <a:avLst>
              <a:gd name="adj" fmla="val 5195"/>
            </a:avLst>
          </a:prstGeom>
          <a:solidFill>
            <a:srgbClr val="FFFFFF"/>
          </a:solidFill>
          <a:ln w="9525">
            <a:solidFill>
              <a:srgbClr val="CBD5E1"/>
            </a:solidFill>
          </a:ln>
        </p:spPr>
      </p:sp>
      <p:sp>
        <p:nvSpPr>
          <p:cNvPr id="11" name="TextBox 11"/>
          <p:cNvSpPr txBox="1"/>
          <p:nvPr/>
        </p:nvSpPr>
        <p:spPr>
          <a:xfrm>
            <a:off x="4609962" y="2311718"/>
            <a:ext cx="324126" cy="274320"/>
          </a:xfrm>
          <a:prstGeom prst="rect">
            <a:avLst/>
          </a:prstGeom>
          <a:noFill/>
          <a:ln>
            <a:noFill/>
          </a:ln>
        </p:spPr>
        <p:txBody>
          <a:bodyPr wrap="none" lIns="0" tIns="0" rIns="0" bIns="0" anchor="t" anchorCtr="0">
            <a:spAutoFit/>
          </a:bodyPr>
          <a:lstStyle/>
          <a:p>
            <a:pPr algn="ctr"/>
            <a:r>
              <a:rPr lang="zh-CN" sz="1350" b="1" dirty="0">
                <a:solidFill>
                  <a:srgbClr val="4B5563"/>
                </a:solidFill>
                <a:latin typeface="Arial"/>
                <a:ea typeface="Microsoft YaHei"/>
                <a:cs typeface="Arial"/>
              </a:rPr>
              <a:t>IPC</a:t>
            </a:r>
          </a:p>
        </p:txBody>
      </p:sp>
      <p:sp>
        <p:nvSpPr>
          <p:cNvPr id="12" name="TextBox 12"/>
          <p:cNvSpPr txBox="1"/>
          <p:nvPr/>
        </p:nvSpPr>
        <p:spPr>
          <a:xfrm>
            <a:off x="4054550" y="2585085"/>
            <a:ext cx="1434951" cy="548640"/>
          </a:xfrm>
          <a:prstGeom prst="rect">
            <a:avLst/>
          </a:prstGeom>
          <a:noFill/>
          <a:ln>
            <a:noFill/>
          </a:ln>
        </p:spPr>
        <p:txBody>
          <a:bodyPr wrap="none" lIns="0" tIns="0" rIns="0" bIns="0" anchor="t" anchorCtr="0">
            <a:spAutoFit/>
          </a:bodyPr>
          <a:lstStyle/>
          <a:p>
            <a:pPr algn="ctr"/>
            <a:r>
              <a:rPr lang="zh-CN" sz="2700" b="1" dirty="0">
                <a:solidFill>
                  <a:srgbClr val="2F855A"/>
                </a:solidFill>
                <a:latin typeface="Arial"/>
                <a:ea typeface="Microsoft YaHei"/>
                <a:cs typeface="Arial"/>
              </a:rPr>
              <a:t>+77.2%</a:t>
            </a:r>
          </a:p>
        </p:txBody>
      </p:sp>
      <p:sp>
        <p:nvSpPr>
          <p:cNvPr id="13" name="TextBox 13"/>
          <p:cNvSpPr txBox="1"/>
          <p:nvPr/>
        </p:nvSpPr>
        <p:spPr>
          <a:xfrm>
            <a:off x="4217860" y="3070860"/>
            <a:ext cx="1108329"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Consolas"/>
                <a:ea typeface="Microsoft YaHei"/>
                <a:cs typeface="Consolas"/>
              </a:rPr>
              <a:t>234.2 → 415.1</a:t>
            </a:r>
          </a:p>
        </p:txBody>
      </p:sp>
      <p:sp>
        <p:nvSpPr>
          <p:cNvPr id="14" name="Rectangle 14"/>
          <p:cNvSpPr/>
          <p:nvPr/>
        </p:nvSpPr>
        <p:spPr>
          <a:xfrm>
            <a:off x="6362700" y="2019300"/>
            <a:ext cx="2571750" cy="1466850"/>
          </a:xfrm>
          <a:prstGeom prst="roundRect">
            <a:avLst>
              <a:gd name="adj" fmla="val 5195"/>
            </a:avLst>
          </a:prstGeom>
          <a:solidFill>
            <a:srgbClr val="FFFFFF"/>
          </a:solidFill>
          <a:ln w="9525">
            <a:solidFill>
              <a:srgbClr val="CBD5E1"/>
            </a:solidFill>
          </a:ln>
        </p:spPr>
      </p:sp>
      <p:sp>
        <p:nvSpPr>
          <p:cNvPr id="15" name="TextBox 15"/>
          <p:cNvSpPr txBox="1"/>
          <p:nvPr/>
        </p:nvSpPr>
        <p:spPr>
          <a:xfrm>
            <a:off x="6968947" y="2311718"/>
            <a:ext cx="1359256" cy="274320"/>
          </a:xfrm>
          <a:prstGeom prst="rect">
            <a:avLst/>
          </a:prstGeom>
          <a:noFill/>
          <a:ln>
            <a:noFill/>
          </a:ln>
        </p:spPr>
        <p:txBody>
          <a:bodyPr wrap="none" lIns="0" tIns="0" rIns="0" bIns="0" anchor="t" anchorCtr="0">
            <a:spAutoFit/>
          </a:bodyPr>
          <a:lstStyle/>
          <a:p>
            <a:pPr algn="ctr"/>
            <a:r>
              <a:rPr lang="zh-CN" sz="1350" b="1" dirty="0">
                <a:solidFill>
                  <a:srgbClr val="4B5563"/>
                </a:solidFill>
                <a:latin typeface="Arial"/>
                <a:ea typeface="Microsoft YaHei"/>
                <a:cs typeface="Arial"/>
              </a:rPr>
              <a:t>local speedup</a:t>
            </a:r>
          </a:p>
        </p:txBody>
      </p:sp>
      <p:sp>
        <p:nvSpPr>
          <p:cNvPr id="16" name="TextBox 16"/>
          <p:cNvSpPr txBox="1"/>
          <p:nvPr/>
        </p:nvSpPr>
        <p:spPr>
          <a:xfrm>
            <a:off x="6982856" y="2585085"/>
            <a:ext cx="1331438" cy="548640"/>
          </a:xfrm>
          <a:prstGeom prst="rect">
            <a:avLst/>
          </a:prstGeom>
          <a:noFill/>
          <a:ln>
            <a:noFill/>
          </a:ln>
        </p:spPr>
        <p:txBody>
          <a:bodyPr wrap="none" lIns="0" tIns="0" rIns="0" bIns="0" anchor="t" anchorCtr="0">
            <a:spAutoFit/>
          </a:bodyPr>
          <a:lstStyle/>
          <a:p>
            <a:pPr algn="ctr"/>
            <a:r>
              <a:rPr lang="zh-CN" sz="2700" b="1" dirty="0">
                <a:solidFill>
                  <a:srgbClr val="2F855A"/>
                </a:solidFill>
                <a:latin typeface="Arial"/>
                <a:ea typeface="Microsoft YaHei"/>
                <a:cs typeface="Arial"/>
              </a:rPr>
              <a:t>1.772x</a:t>
            </a:r>
          </a:p>
        </p:txBody>
      </p:sp>
      <p:sp>
        <p:nvSpPr>
          <p:cNvPr id="17" name="TextBox 17"/>
          <p:cNvSpPr txBox="1"/>
          <p:nvPr/>
        </p:nvSpPr>
        <p:spPr>
          <a:xfrm>
            <a:off x="7050596" y="3070860"/>
            <a:ext cx="1195959"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Consolas"/>
                <a:ea typeface="Microsoft YaHei"/>
                <a:cs typeface="Consolas"/>
              </a:rPr>
              <a:t>target kernel</a:t>
            </a:r>
          </a:p>
        </p:txBody>
      </p:sp>
      <p:sp>
        <p:nvSpPr>
          <p:cNvPr id="18" name="Rectangle 18"/>
          <p:cNvSpPr/>
          <p:nvPr/>
        </p:nvSpPr>
        <p:spPr>
          <a:xfrm>
            <a:off x="9239250" y="2019300"/>
            <a:ext cx="2343150" cy="1466850"/>
          </a:xfrm>
          <a:prstGeom prst="roundRect">
            <a:avLst>
              <a:gd name="adj" fmla="val 5195"/>
            </a:avLst>
          </a:prstGeom>
          <a:solidFill>
            <a:srgbClr val="FFFFFF"/>
          </a:solidFill>
          <a:ln w="9525">
            <a:solidFill>
              <a:srgbClr val="CBD5E1"/>
            </a:solidFill>
          </a:ln>
        </p:spPr>
      </p:sp>
      <p:sp>
        <p:nvSpPr>
          <p:cNvPr id="19" name="TextBox 19"/>
          <p:cNvSpPr txBox="1"/>
          <p:nvPr/>
        </p:nvSpPr>
        <p:spPr>
          <a:xfrm>
            <a:off x="9462064" y="2311718"/>
            <a:ext cx="1897523" cy="274320"/>
          </a:xfrm>
          <a:prstGeom prst="rect">
            <a:avLst/>
          </a:prstGeom>
          <a:noFill/>
          <a:ln>
            <a:noFill/>
          </a:ln>
        </p:spPr>
        <p:txBody>
          <a:bodyPr wrap="none" lIns="0" tIns="0" rIns="0" bIns="0" anchor="t" anchorCtr="0">
            <a:spAutoFit/>
          </a:bodyPr>
          <a:lstStyle/>
          <a:p>
            <a:pPr algn="ctr"/>
            <a:r>
              <a:rPr lang="zh-CN" sz="1350" b="1" dirty="0">
                <a:solidFill>
                  <a:srgbClr val="4B5563"/>
                </a:solidFill>
                <a:latin typeface="Arial"/>
                <a:ea typeface="Microsoft YaHei"/>
                <a:cs typeface="Arial"/>
              </a:rPr>
              <a:t>workload estimate</a:t>
            </a:r>
          </a:p>
        </p:txBody>
      </p:sp>
      <p:sp>
        <p:nvSpPr>
          <p:cNvPr id="20" name="TextBox 20"/>
          <p:cNvSpPr txBox="1"/>
          <p:nvPr/>
        </p:nvSpPr>
        <p:spPr>
          <a:xfrm>
            <a:off x="9745106" y="2585085"/>
            <a:ext cx="1331438" cy="548640"/>
          </a:xfrm>
          <a:prstGeom prst="rect">
            <a:avLst/>
          </a:prstGeom>
          <a:noFill/>
          <a:ln>
            <a:noFill/>
          </a:ln>
        </p:spPr>
        <p:txBody>
          <a:bodyPr wrap="none" lIns="0" tIns="0" rIns="0" bIns="0" anchor="t" anchorCtr="0">
            <a:spAutoFit/>
          </a:bodyPr>
          <a:lstStyle/>
          <a:p>
            <a:pPr algn="ctr"/>
            <a:r>
              <a:rPr lang="zh-CN" sz="2700" b="1" dirty="0">
                <a:solidFill>
                  <a:srgbClr val="2F855A"/>
                </a:solidFill>
                <a:latin typeface="Arial"/>
                <a:ea typeface="Microsoft YaHei"/>
                <a:cs typeface="Arial"/>
              </a:rPr>
              <a:t>1.403x</a:t>
            </a:r>
          </a:p>
        </p:txBody>
      </p:sp>
      <p:sp>
        <p:nvSpPr>
          <p:cNvPr id="21" name="TextBox 21"/>
          <p:cNvSpPr txBox="1"/>
          <p:nvPr/>
        </p:nvSpPr>
        <p:spPr>
          <a:xfrm>
            <a:off x="9900476" y="3070860"/>
            <a:ext cx="1020699"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Consolas"/>
                <a:ea typeface="Microsoft YaHei"/>
                <a:cs typeface="Consolas"/>
              </a:rPr>
              <a:t>19114 → 13627</a:t>
            </a:r>
          </a:p>
        </p:txBody>
      </p:sp>
      <p:sp>
        <p:nvSpPr>
          <p:cNvPr id="22" name="Rectangle 22"/>
          <p:cNvSpPr/>
          <p:nvPr/>
        </p:nvSpPr>
        <p:spPr>
          <a:xfrm>
            <a:off x="1047750" y="4076700"/>
            <a:ext cx="10096500" cy="1009650"/>
          </a:xfrm>
          <a:prstGeom prst="roundRect">
            <a:avLst>
              <a:gd name="adj" fmla="val 7547"/>
            </a:avLst>
          </a:prstGeom>
          <a:solidFill>
            <a:srgbClr val="FFFFFF"/>
          </a:solidFill>
          <a:ln w="9525">
            <a:solidFill>
              <a:srgbClr val="CBD5E1"/>
            </a:solidFill>
          </a:ln>
        </p:spPr>
      </p:sp>
      <p:sp>
        <p:nvSpPr>
          <p:cNvPr id="23" name="TextBox 23"/>
          <p:cNvSpPr txBox="1"/>
          <p:nvPr/>
        </p:nvSpPr>
        <p:spPr>
          <a:xfrm>
            <a:off x="1352550" y="4314825"/>
            <a:ext cx="958215"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怎么解读</a:t>
            </a:r>
          </a:p>
        </p:txBody>
      </p:sp>
      <p:sp>
        <p:nvSpPr>
          <p:cNvPr id="24" name="TextBox 24"/>
          <p:cNvSpPr txBox="1"/>
          <p:nvPr/>
        </p:nvSpPr>
        <p:spPr>
          <a:xfrm>
            <a:off x="1354455" y="4673918"/>
            <a:ext cx="8896969"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这个结果证明当前机制链路能把“DP pipeline 归因”落到具体 knob，并在模拟器内部得到可观测提升。</a:t>
            </a:r>
          </a:p>
        </p:txBody>
      </p:sp>
      <p:sp>
        <p:nvSpPr>
          <p:cNvPr id="25" name="TextBox 25"/>
          <p:cNvSpPr txBox="1"/>
          <p:nvPr/>
        </p:nvSpPr>
        <p:spPr>
          <a:xfrm>
            <a:off x="520065" y="6116002"/>
            <a:ext cx="422852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simulator_internal_closed_loop_validation</a:t>
            </a:r>
          </a:p>
        </p:txBody>
      </p:sp>
      <p:sp>
        <p:nvSpPr>
          <p:cNvPr id="26" name="TextBox 26"/>
          <p:cNvSpPr txBox="1"/>
          <p:nvPr/>
        </p:nvSpPr>
        <p:spPr>
          <a:xfrm>
            <a:off x="1130472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18 / 21</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517781"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CASE 2</a:t>
            </a:r>
          </a:p>
        </p:txBody>
      </p:sp>
      <p:sp>
        <p:nvSpPr>
          <p:cNvPr id="4" name="TextBox 4"/>
          <p:cNvSpPr txBox="1"/>
          <p:nvPr/>
        </p:nvSpPr>
        <p:spPr>
          <a:xfrm>
            <a:off x="502920" y="845820"/>
            <a:ext cx="618892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ref_layer3/stage3 的 PKA 代理验证</a:t>
            </a:r>
          </a:p>
        </p:txBody>
      </p:sp>
      <p:sp>
        <p:nvSpPr>
          <p:cNvPr id="5" name="TextBox 5"/>
          <p:cNvSpPr txBox="1"/>
          <p:nvPr/>
        </p:nvSpPr>
        <p:spPr>
          <a:xfrm>
            <a:off x="515302" y="1274921"/>
            <a:ext cx="7663839"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这个案例用于说明方法可迁移到真实深度学习层，但当前还不是完整 replay 结论。</a:t>
            </a:r>
          </a:p>
        </p:txBody>
      </p:sp>
      <p:sp>
        <p:nvSpPr>
          <p:cNvPr id="6" name="Rectangle 6"/>
          <p:cNvSpPr/>
          <p:nvPr/>
        </p:nvSpPr>
        <p:spPr>
          <a:xfrm>
            <a:off x="666750" y="2095500"/>
            <a:ext cx="2476500" cy="1428750"/>
          </a:xfrm>
          <a:prstGeom prst="roundRect">
            <a:avLst>
              <a:gd name="adj" fmla="val 5333"/>
            </a:avLst>
          </a:prstGeom>
          <a:solidFill>
            <a:srgbClr val="FFFFFF"/>
          </a:solidFill>
          <a:ln w="9525">
            <a:solidFill>
              <a:srgbClr val="CBD5E1"/>
            </a:solidFill>
          </a:ln>
        </p:spPr>
      </p:sp>
      <p:sp>
        <p:nvSpPr>
          <p:cNvPr id="7" name="TextBox 7"/>
          <p:cNvSpPr txBox="1"/>
          <p:nvPr/>
        </p:nvSpPr>
        <p:spPr>
          <a:xfrm>
            <a:off x="1642982" y="2261235"/>
            <a:ext cx="524037" cy="548640"/>
          </a:xfrm>
          <a:prstGeom prst="rect">
            <a:avLst/>
          </a:prstGeom>
          <a:noFill/>
          <a:ln>
            <a:noFill/>
          </a:ln>
        </p:spPr>
        <p:txBody>
          <a:bodyPr wrap="none" lIns="0" tIns="0" rIns="0" bIns="0" anchor="t" anchorCtr="0">
            <a:spAutoFit/>
          </a:bodyPr>
          <a:lstStyle/>
          <a:p>
            <a:pPr algn="ctr"/>
            <a:r>
              <a:rPr lang="zh-CN" sz="2700" b="1" dirty="0">
                <a:solidFill>
                  <a:srgbClr val="1E3A5F"/>
                </a:solidFill>
                <a:latin typeface="Arial"/>
                <a:ea typeface="Microsoft YaHei"/>
                <a:cs typeface="Arial"/>
              </a:rPr>
              <a:t>29</a:t>
            </a:r>
          </a:p>
        </p:txBody>
      </p:sp>
      <p:sp>
        <p:nvSpPr>
          <p:cNvPr id="8" name="TextBox 8"/>
          <p:cNvSpPr txBox="1"/>
          <p:nvPr/>
        </p:nvSpPr>
        <p:spPr>
          <a:xfrm>
            <a:off x="966590" y="2787968"/>
            <a:ext cx="1876820"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kernel invocations</a:t>
            </a:r>
          </a:p>
        </p:txBody>
      </p:sp>
      <p:sp>
        <p:nvSpPr>
          <p:cNvPr id="9" name="TextBox 9"/>
          <p:cNvSpPr txBox="1"/>
          <p:nvPr/>
        </p:nvSpPr>
        <p:spPr>
          <a:xfrm>
            <a:off x="1397794" y="3098006"/>
            <a:ext cx="1014412" cy="228600"/>
          </a:xfrm>
          <a:prstGeom prst="rect">
            <a:avLst/>
          </a:prstGeom>
          <a:noFill/>
          <a:ln>
            <a:noFill/>
          </a:ln>
        </p:spPr>
        <p:txBody>
          <a:bodyPr wrap="none" lIns="0" tIns="0" rIns="0" bIns="0" anchor="t" anchorCtr="0">
            <a:spAutoFit/>
          </a:bodyPr>
          <a:lstStyle/>
          <a:p>
            <a:pPr algn="ctr"/>
            <a:r>
              <a:rPr lang="zh-CN" sz="1125" dirty="0">
                <a:solidFill>
                  <a:srgbClr val="4B5563"/>
                </a:solidFill>
                <a:latin typeface="Arial"/>
                <a:ea typeface="Microsoft YaHei"/>
                <a:cs typeface="Arial"/>
              </a:rPr>
              <a:t>原始序列规模</a:t>
            </a:r>
          </a:p>
        </p:txBody>
      </p:sp>
      <p:sp>
        <p:nvSpPr>
          <p:cNvPr id="10" name="Rectangle 10"/>
          <p:cNvSpPr/>
          <p:nvPr/>
        </p:nvSpPr>
        <p:spPr>
          <a:xfrm>
            <a:off x="3524250" y="2095500"/>
            <a:ext cx="2476500" cy="1428750"/>
          </a:xfrm>
          <a:prstGeom prst="roundRect">
            <a:avLst>
              <a:gd name="adj" fmla="val 5333"/>
            </a:avLst>
          </a:prstGeom>
          <a:solidFill>
            <a:srgbClr val="FFFFFF"/>
          </a:solidFill>
          <a:ln w="9525">
            <a:solidFill>
              <a:srgbClr val="CBD5E1"/>
            </a:solidFill>
          </a:ln>
        </p:spPr>
      </p:sp>
      <p:sp>
        <p:nvSpPr>
          <p:cNvPr id="11" name="TextBox 11"/>
          <p:cNvSpPr txBox="1"/>
          <p:nvPr/>
        </p:nvSpPr>
        <p:spPr>
          <a:xfrm>
            <a:off x="4614346" y="2261235"/>
            <a:ext cx="296308" cy="548640"/>
          </a:xfrm>
          <a:prstGeom prst="rect">
            <a:avLst/>
          </a:prstGeom>
          <a:noFill/>
          <a:ln>
            <a:noFill/>
          </a:ln>
        </p:spPr>
        <p:txBody>
          <a:bodyPr wrap="none" lIns="0" tIns="0" rIns="0" bIns="0" anchor="t" anchorCtr="0">
            <a:spAutoFit/>
          </a:bodyPr>
          <a:lstStyle/>
          <a:p>
            <a:pPr algn="ctr"/>
            <a:r>
              <a:rPr lang="zh-CN" sz="2700" b="1" dirty="0">
                <a:solidFill>
                  <a:srgbClr val="1E3A5F"/>
                </a:solidFill>
                <a:latin typeface="Arial"/>
                <a:ea typeface="Microsoft YaHei"/>
                <a:cs typeface="Arial"/>
              </a:rPr>
              <a:t>6</a:t>
            </a:r>
          </a:p>
        </p:txBody>
      </p:sp>
      <p:sp>
        <p:nvSpPr>
          <p:cNvPr id="12" name="TextBox 12"/>
          <p:cNvSpPr txBox="1"/>
          <p:nvPr/>
        </p:nvSpPr>
        <p:spPr>
          <a:xfrm>
            <a:off x="4346830" y="2787968"/>
            <a:ext cx="831340"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anchors</a:t>
            </a:r>
          </a:p>
        </p:txBody>
      </p:sp>
      <p:sp>
        <p:nvSpPr>
          <p:cNvPr id="13" name="TextBox 13"/>
          <p:cNvSpPr txBox="1"/>
          <p:nvPr/>
        </p:nvSpPr>
        <p:spPr>
          <a:xfrm>
            <a:off x="4259401" y="3098006"/>
            <a:ext cx="1006197" cy="228600"/>
          </a:xfrm>
          <a:prstGeom prst="rect">
            <a:avLst/>
          </a:prstGeom>
          <a:noFill/>
          <a:ln>
            <a:noFill/>
          </a:ln>
        </p:spPr>
        <p:txBody>
          <a:bodyPr wrap="none" lIns="0" tIns="0" rIns="0" bIns="0" anchor="t" anchorCtr="0">
            <a:spAutoFit/>
          </a:bodyPr>
          <a:lstStyle/>
          <a:p>
            <a:pPr algn="ctr"/>
            <a:r>
              <a:rPr lang="zh-CN" sz="1125" dirty="0">
                <a:solidFill>
                  <a:srgbClr val="4B5563"/>
                </a:solidFill>
                <a:latin typeface="Arial"/>
                <a:ea typeface="Microsoft YaHei"/>
                <a:cs typeface="Arial"/>
              </a:rPr>
              <a:t>PKA 代表片段</a:t>
            </a:r>
          </a:p>
        </p:txBody>
      </p:sp>
      <p:sp>
        <p:nvSpPr>
          <p:cNvPr id="14" name="Rectangle 14"/>
          <p:cNvSpPr/>
          <p:nvPr/>
        </p:nvSpPr>
        <p:spPr>
          <a:xfrm>
            <a:off x="6381750" y="2095500"/>
            <a:ext cx="2476500" cy="1428750"/>
          </a:xfrm>
          <a:prstGeom prst="roundRect">
            <a:avLst>
              <a:gd name="adj" fmla="val 5333"/>
            </a:avLst>
          </a:prstGeom>
          <a:solidFill>
            <a:srgbClr val="FFFFFF"/>
          </a:solidFill>
          <a:ln w="9525">
            <a:solidFill>
              <a:srgbClr val="CBD5E1"/>
            </a:solidFill>
          </a:ln>
        </p:spPr>
      </p:sp>
      <p:sp>
        <p:nvSpPr>
          <p:cNvPr id="15" name="TextBox 15"/>
          <p:cNvSpPr txBox="1"/>
          <p:nvPr/>
        </p:nvSpPr>
        <p:spPr>
          <a:xfrm>
            <a:off x="7471846" y="2261235"/>
            <a:ext cx="296308" cy="548640"/>
          </a:xfrm>
          <a:prstGeom prst="rect">
            <a:avLst/>
          </a:prstGeom>
          <a:noFill/>
          <a:ln>
            <a:noFill/>
          </a:ln>
        </p:spPr>
        <p:txBody>
          <a:bodyPr wrap="none" lIns="0" tIns="0" rIns="0" bIns="0" anchor="t" anchorCtr="0">
            <a:spAutoFit/>
          </a:bodyPr>
          <a:lstStyle/>
          <a:p>
            <a:pPr algn="ctr"/>
            <a:r>
              <a:rPr lang="zh-CN" sz="2700" b="1" dirty="0">
                <a:solidFill>
                  <a:srgbClr val="D97706"/>
                </a:solidFill>
                <a:latin typeface="Arial"/>
                <a:ea typeface="Microsoft YaHei"/>
                <a:cs typeface="Arial"/>
              </a:rPr>
              <a:t>7</a:t>
            </a:r>
          </a:p>
        </p:txBody>
      </p:sp>
      <p:sp>
        <p:nvSpPr>
          <p:cNvPr id="16" name="TextBox 16"/>
          <p:cNvSpPr txBox="1"/>
          <p:nvPr/>
        </p:nvSpPr>
        <p:spPr>
          <a:xfrm>
            <a:off x="6691941" y="2787968"/>
            <a:ext cx="1856118"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regime candidates</a:t>
            </a:r>
          </a:p>
        </p:txBody>
      </p:sp>
      <p:sp>
        <p:nvSpPr>
          <p:cNvPr id="17" name="TextBox 17"/>
          <p:cNvSpPr txBox="1"/>
          <p:nvPr/>
        </p:nvSpPr>
        <p:spPr>
          <a:xfrm>
            <a:off x="7112794" y="3098006"/>
            <a:ext cx="1014412" cy="228600"/>
          </a:xfrm>
          <a:prstGeom prst="rect">
            <a:avLst/>
          </a:prstGeom>
          <a:noFill/>
          <a:ln>
            <a:noFill/>
          </a:ln>
        </p:spPr>
        <p:txBody>
          <a:bodyPr wrap="none" lIns="0" tIns="0" rIns="0" bIns="0" anchor="t" anchorCtr="0">
            <a:spAutoFit/>
          </a:bodyPr>
          <a:lstStyle/>
          <a:p>
            <a:pPr algn="ctr"/>
            <a:r>
              <a:rPr lang="zh-CN" sz="1125" dirty="0">
                <a:solidFill>
                  <a:srgbClr val="4B5563"/>
                </a:solidFill>
                <a:latin typeface="Arial"/>
                <a:ea typeface="Microsoft YaHei"/>
                <a:cs typeface="Arial"/>
              </a:rPr>
              <a:t>算法结构候选</a:t>
            </a:r>
          </a:p>
        </p:txBody>
      </p:sp>
      <p:sp>
        <p:nvSpPr>
          <p:cNvPr id="18" name="Rectangle 18"/>
          <p:cNvSpPr/>
          <p:nvPr/>
        </p:nvSpPr>
        <p:spPr>
          <a:xfrm>
            <a:off x="9239250" y="2095500"/>
            <a:ext cx="2286000" cy="1428750"/>
          </a:xfrm>
          <a:prstGeom prst="roundRect">
            <a:avLst>
              <a:gd name="adj" fmla="val 5333"/>
            </a:avLst>
          </a:prstGeom>
          <a:solidFill>
            <a:srgbClr val="FFFFFF"/>
          </a:solidFill>
          <a:ln w="9525">
            <a:solidFill>
              <a:srgbClr val="CBD5E1"/>
            </a:solidFill>
          </a:ln>
        </p:spPr>
      </p:sp>
      <p:sp>
        <p:nvSpPr>
          <p:cNvPr id="19" name="TextBox 19"/>
          <p:cNvSpPr txBox="1"/>
          <p:nvPr/>
        </p:nvSpPr>
        <p:spPr>
          <a:xfrm>
            <a:off x="9716531" y="2261235"/>
            <a:ext cx="1331438" cy="548640"/>
          </a:xfrm>
          <a:prstGeom prst="rect">
            <a:avLst/>
          </a:prstGeom>
          <a:noFill/>
          <a:ln>
            <a:noFill/>
          </a:ln>
        </p:spPr>
        <p:txBody>
          <a:bodyPr wrap="none" lIns="0" tIns="0" rIns="0" bIns="0" anchor="t" anchorCtr="0">
            <a:spAutoFit/>
          </a:bodyPr>
          <a:lstStyle/>
          <a:p>
            <a:pPr algn="ctr"/>
            <a:r>
              <a:rPr lang="zh-CN" sz="2700" b="1" dirty="0">
                <a:solidFill>
                  <a:srgbClr val="2F855A"/>
                </a:solidFill>
                <a:latin typeface="Arial"/>
                <a:ea typeface="Microsoft YaHei"/>
                <a:cs typeface="Arial"/>
              </a:rPr>
              <a:t>1.064x</a:t>
            </a:r>
          </a:p>
        </p:txBody>
      </p:sp>
      <p:sp>
        <p:nvSpPr>
          <p:cNvPr id="20" name="TextBox 20"/>
          <p:cNvSpPr txBox="1"/>
          <p:nvPr/>
        </p:nvSpPr>
        <p:spPr>
          <a:xfrm>
            <a:off x="9428313" y="2787968"/>
            <a:ext cx="1907874"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estimated speedup</a:t>
            </a:r>
          </a:p>
        </p:txBody>
      </p:sp>
      <p:sp>
        <p:nvSpPr>
          <p:cNvPr id="21" name="TextBox 21"/>
          <p:cNvSpPr txBox="1"/>
          <p:nvPr/>
        </p:nvSpPr>
        <p:spPr>
          <a:xfrm>
            <a:off x="9743599" y="3098006"/>
            <a:ext cx="1277302" cy="228600"/>
          </a:xfrm>
          <a:prstGeom prst="rect">
            <a:avLst/>
          </a:prstGeom>
          <a:noFill/>
          <a:ln>
            <a:noFill/>
          </a:ln>
        </p:spPr>
        <p:txBody>
          <a:bodyPr wrap="none" lIns="0" tIns="0" rIns="0" bIns="0" anchor="t" anchorCtr="0">
            <a:spAutoFit/>
          </a:bodyPr>
          <a:lstStyle/>
          <a:p>
            <a:pPr algn="ctr"/>
            <a:r>
              <a:rPr lang="zh-CN" sz="1125" dirty="0">
                <a:solidFill>
                  <a:srgbClr val="4B5563"/>
                </a:solidFill>
                <a:latin typeface="Arial"/>
                <a:ea typeface="Microsoft YaHei"/>
                <a:cs typeface="Arial"/>
              </a:rPr>
              <a:t>stage3 代理估计</a:t>
            </a:r>
          </a:p>
        </p:txBody>
      </p:sp>
      <p:sp>
        <p:nvSpPr>
          <p:cNvPr id="22" name="Rectangle 22"/>
          <p:cNvSpPr/>
          <p:nvPr/>
        </p:nvSpPr>
        <p:spPr>
          <a:xfrm>
            <a:off x="1104900" y="4095750"/>
            <a:ext cx="9982200" cy="990600"/>
          </a:xfrm>
          <a:prstGeom prst="roundRect">
            <a:avLst>
              <a:gd name="adj" fmla="val 7692"/>
            </a:avLst>
          </a:prstGeom>
          <a:solidFill>
            <a:srgbClr val="FFFFFF"/>
          </a:solidFill>
          <a:ln w="9525">
            <a:solidFill>
              <a:srgbClr val="CBD5E1"/>
            </a:solidFill>
          </a:ln>
        </p:spPr>
      </p:sp>
      <p:sp>
        <p:nvSpPr>
          <p:cNvPr id="23" name="TextBox 23"/>
          <p:cNvSpPr txBox="1"/>
          <p:nvPr/>
        </p:nvSpPr>
        <p:spPr>
          <a:xfrm>
            <a:off x="1409700" y="4314825"/>
            <a:ext cx="1084731"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主 regime</a:t>
            </a:r>
          </a:p>
        </p:txBody>
      </p:sp>
      <p:sp>
        <p:nvSpPr>
          <p:cNvPr id="24" name="TextBox 24"/>
          <p:cNvSpPr txBox="1"/>
          <p:nvPr/>
        </p:nvSpPr>
        <p:spPr>
          <a:xfrm>
            <a:off x="1412558" y="4682014"/>
            <a:ext cx="7387828" cy="259080"/>
          </a:xfrm>
          <a:prstGeom prst="rect">
            <a:avLst/>
          </a:prstGeom>
          <a:noFill/>
          <a:ln>
            <a:noFill/>
          </a:ln>
        </p:spPr>
        <p:txBody>
          <a:bodyPr wrap="none" lIns="0" tIns="0" rIns="0" bIns="0" anchor="t" anchorCtr="0">
            <a:spAutoFit/>
          </a:bodyPr>
          <a:lstStyle/>
          <a:p>
            <a:pPr algn="l"/>
            <a:r>
              <a:rPr lang="zh-CN" sz="1275" dirty="0">
                <a:solidFill>
                  <a:srgbClr val="1E3A5F"/>
                </a:solidFill>
                <a:latin typeface="Consolas"/>
                <a:ea typeface="Microsoft YaHei"/>
                <a:cs typeface="Consolas"/>
              </a:rPr>
              <a:t>regime_ref_layer3_anchor_03_conv_compute, time_weight = 0.7579189233546693</a:t>
            </a:r>
          </a:p>
        </p:txBody>
      </p:sp>
      <p:sp>
        <p:nvSpPr>
          <p:cNvPr id="25" name="Rectangle 25"/>
          <p:cNvSpPr/>
          <p:nvPr/>
        </p:nvSpPr>
        <p:spPr>
          <a:xfrm>
            <a:off x="2266950" y="5429250"/>
            <a:ext cx="7658100" cy="400050"/>
          </a:xfrm>
          <a:prstGeom prst="roundRect">
            <a:avLst>
              <a:gd name="adj" fmla="val 19048"/>
            </a:avLst>
          </a:prstGeom>
          <a:solidFill>
            <a:srgbClr val="F8FAFC"/>
          </a:solidFill>
          <a:ln w="9525">
            <a:solidFill>
              <a:srgbClr val="CBD5E1"/>
            </a:solidFill>
          </a:ln>
        </p:spPr>
      </p:sp>
      <p:sp>
        <p:nvSpPr>
          <p:cNvPr id="26" name="TextBox 26"/>
          <p:cNvSpPr txBox="1"/>
          <p:nvPr/>
        </p:nvSpPr>
        <p:spPr>
          <a:xfrm>
            <a:off x="2145363" y="5540692"/>
            <a:ext cx="7901273"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定位：可作为方法趋势验证，但完整结论仍需更快的 replay 或 sampled simulation。</a:t>
            </a:r>
          </a:p>
        </p:txBody>
      </p:sp>
      <p:sp>
        <p:nvSpPr>
          <p:cNvPr id="27" name="TextBox 27"/>
          <p:cNvSpPr txBox="1"/>
          <p:nvPr/>
        </p:nvSpPr>
        <p:spPr>
          <a:xfrm>
            <a:off x="520065" y="6116002"/>
            <a:ext cx="3630454"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proxy_accounting_not_full_replay</a:t>
            </a:r>
          </a:p>
        </p:txBody>
      </p:sp>
      <p:sp>
        <p:nvSpPr>
          <p:cNvPr id="28" name="TextBox 28"/>
          <p:cNvSpPr txBox="1"/>
          <p:nvPr/>
        </p:nvSpPr>
        <p:spPr>
          <a:xfrm>
            <a:off x="1130472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19 / 21</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944485"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Arial"/>
                <a:ea typeface="Microsoft YaHei"/>
                <a:cs typeface="Arial"/>
              </a:rPr>
              <a:t>LIMITATIONS</a:t>
            </a:r>
          </a:p>
        </p:txBody>
      </p:sp>
      <p:sp>
        <p:nvSpPr>
          <p:cNvPr id="4" name="TextBox 4"/>
          <p:cNvSpPr txBox="1"/>
          <p:nvPr/>
        </p:nvSpPr>
        <p:spPr>
          <a:xfrm>
            <a:off x="502920" y="845820"/>
            <a:ext cx="6685788"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当前限制：完整回放仍然是主要工程瓶颈</a:t>
            </a:r>
          </a:p>
        </p:txBody>
      </p:sp>
      <p:sp>
        <p:nvSpPr>
          <p:cNvPr id="5" name="TextBox 5"/>
          <p:cNvSpPr txBox="1"/>
          <p:nvPr/>
        </p:nvSpPr>
        <p:spPr>
          <a:xfrm>
            <a:off x="515302" y="1274921"/>
            <a:ext cx="5905214"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课程报告中需要把“已经验证什么”和“还不能宣称什么”讲清楚。</a:t>
            </a:r>
          </a:p>
        </p:txBody>
      </p:sp>
      <p:sp>
        <p:nvSpPr>
          <p:cNvPr id="6" name="Rectangle 6"/>
          <p:cNvSpPr/>
          <p:nvPr/>
        </p:nvSpPr>
        <p:spPr>
          <a:xfrm>
            <a:off x="914400" y="2038350"/>
            <a:ext cx="10363200" cy="876300"/>
          </a:xfrm>
          <a:prstGeom prst="roundRect">
            <a:avLst>
              <a:gd name="adj" fmla="val 8696"/>
            </a:avLst>
          </a:prstGeom>
          <a:solidFill>
            <a:srgbClr val="FFFFFF"/>
          </a:solidFill>
          <a:ln w="9525">
            <a:solidFill>
              <a:srgbClr val="CBD5E1"/>
            </a:solidFill>
          </a:ln>
        </p:spPr>
      </p:sp>
      <p:sp>
        <p:nvSpPr>
          <p:cNvPr id="7" name="TextBox 7"/>
          <p:cNvSpPr txBox="1"/>
          <p:nvPr/>
        </p:nvSpPr>
        <p:spPr>
          <a:xfrm>
            <a:off x="1237298" y="2249329"/>
            <a:ext cx="3505963" cy="320040"/>
          </a:xfrm>
          <a:prstGeom prst="rect">
            <a:avLst/>
          </a:prstGeom>
          <a:noFill/>
          <a:ln>
            <a:noFill/>
          </a:ln>
        </p:spPr>
        <p:txBody>
          <a:bodyPr wrap="none" lIns="0" tIns="0" rIns="0" bIns="0" anchor="t" anchorCtr="0">
            <a:spAutoFit/>
          </a:bodyPr>
          <a:lstStyle/>
          <a:p>
            <a:pPr algn="l"/>
            <a:r>
              <a:rPr lang="zh-CN" sz="1575" b="1" dirty="0">
                <a:solidFill>
                  <a:srgbClr val="B91C1C"/>
                </a:solidFill>
                <a:latin typeface="Arial"/>
                <a:ea typeface="Microsoft YaHei"/>
                <a:cs typeface="Arial"/>
              </a:rPr>
              <a:t>1. ref_layer3 完整 replay 太慢</a:t>
            </a:r>
          </a:p>
        </p:txBody>
      </p:sp>
      <p:sp>
        <p:nvSpPr>
          <p:cNvPr id="8" name="TextBox 8"/>
          <p:cNvSpPr txBox="1"/>
          <p:nvPr/>
        </p:nvSpPr>
        <p:spPr>
          <a:xfrm>
            <a:off x="1240155" y="2578418"/>
            <a:ext cx="7063311"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单层 kernel 序列已经会产生较长模拟时间，直接全量回放不适合快速调参迭代。</a:t>
            </a:r>
          </a:p>
        </p:txBody>
      </p:sp>
      <p:sp>
        <p:nvSpPr>
          <p:cNvPr id="9" name="Rectangle 9"/>
          <p:cNvSpPr/>
          <p:nvPr/>
        </p:nvSpPr>
        <p:spPr>
          <a:xfrm>
            <a:off x="914400" y="3181350"/>
            <a:ext cx="10363200" cy="876300"/>
          </a:xfrm>
          <a:prstGeom prst="roundRect">
            <a:avLst>
              <a:gd name="adj" fmla="val 8696"/>
            </a:avLst>
          </a:prstGeom>
          <a:solidFill>
            <a:srgbClr val="FFFFFF"/>
          </a:solidFill>
          <a:ln w="9525">
            <a:solidFill>
              <a:srgbClr val="CBD5E1"/>
            </a:solidFill>
          </a:ln>
        </p:spPr>
      </p:sp>
      <p:sp>
        <p:nvSpPr>
          <p:cNvPr id="10" name="TextBox 10"/>
          <p:cNvSpPr txBox="1"/>
          <p:nvPr/>
        </p:nvSpPr>
        <p:spPr>
          <a:xfrm>
            <a:off x="1237298" y="3392329"/>
            <a:ext cx="5208751" cy="320040"/>
          </a:xfrm>
          <a:prstGeom prst="rect">
            <a:avLst/>
          </a:prstGeom>
          <a:noFill/>
          <a:ln>
            <a:noFill/>
          </a:ln>
        </p:spPr>
        <p:txBody>
          <a:bodyPr wrap="none" lIns="0" tIns="0" rIns="0" bIns="0" anchor="t" anchorCtr="0">
            <a:spAutoFit/>
          </a:bodyPr>
          <a:lstStyle/>
          <a:p>
            <a:pPr algn="l"/>
            <a:r>
              <a:rPr lang="zh-CN" sz="1575" b="1" dirty="0">
                <a:solidFill>
                  <a:srgbClr val="D97706"/>
                </a:solidFill>
                <a:latin typeface="Arial"/>
                <a:ea typeface="Microsoft YaHei"/>
                <a:cs typeface="Arial"/>
              </a:rPr>
              <a:t>2. 当前 ref_layer3 是 proxy/accounting 证据</a:t>
            </a:r>
          </a:p>
        </p:txBody>
      </p:sp>
      <p:sp>
        <p:nvSpPr>
          <p:cNvPr id="11" name="TextBox 11"/>
          <p:cNvSpPr txBox="1"/>
          <p:nvPr/>
        </p:nvSpPr>
        <p:spPr>
          <a:xfrm>
            <a:off x="1240155" y="3721418"/>
            <a:ext cx="749708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它能说明方法方向和估计链路，但还不是 claim-bearing 的完整模拟器 replay 结论。</a:t>
            </a:r>
          </a:p>
        </p:txBody>
      </p:sp>
      <p:sp>
        <p:nvSpPr>
          <p:cNvPr id="12" name="Rectangle 12"/>
          <p:cNvSpPr/>
          <p:nvPr/>
        </p:nvSpPr>
        <p:spPr>
          <a:xfrm>
            <a:off x="914400" y="4324350"/>
            <a:ext cx="10363200" cy="876300"/>
          </a:xfrm>
          <a:prstGeom prst="roundRect">
            <a:avLst>
              <a:gd name="adj" fmla="val 8696"/>
            </a:avLst>
          </a:prstGeom>
          <a:solidFill>
            <a:srgbClr val="FFFFFF"/>
          </a:solidFill>
          <a:ln w="9525">
            <a:solidFill>
              <a:srgbClr val="CBD5E1"/>
            </a:solidFill>
          </a:ln>
        </p:spPr>
      </p:sp>
      <p:sp>
        <p:nvSpPr>
          <p:cNvPr id="13" name="TextBox 13"/>
          <p:cNvSpPr txBox="1"/>
          <p:nvPr/>
        </p:nvSpPr>
        <p:spPr>
          <a:xfrm>
            <a:off x="1237298" y="4535329"/>
            <a:ext cx="5703888" cy="320040"/>
          </a:xfrm>
          <a:prstGeom prst="rect">
            <a:avLst/>
          </a:prstGeom>
          <a:noFill/>
          <a:ln>
            <a:noFill/>
          </a:ln>
        </p:spPr>
        <p:txBody>
          <a:bodyPr wrap="none" lIns="0" tIns="0" rIns="0" bIns="0" anchor="t" anchorCtr="0">
            <a:spAutoFit/>
          </a:bodyPr>
          <a:lstStyle/>
          <a:p>
            <a:pPr algn="l"/>
            <a:r>
              <a:rPr lang="zh-CN" sz="1575" b="1" dirty="0">
                <a:solidFill>
                  <a:srgbClr val="2F855A"/>
                </a:solidFill>
                <a:latin typeface="Arial"/>
                <a:ea typeface="Microsoft YaHei"/>
                <a:cs typeface="Arial"/>
              </a:rPr>
              <a:t>3. 后续路线：simulator-layer sampled simulation</a:t>
            </a:r>
          </a:p>
        </p:txBody>
      </p:sp>
      <p:sp>
        <p:nvSpPr>
          <p:cNvPr id="14" name="TextBox 14"/>
          <p:cNvSpPr txBox="1"/>
          <p:nvPr/>
        </p:nvSpPr>
        <p:spPr>
          <a:xfrm>
            <a:off x="1240155" y="4864418"/>
            <a:ext cx="6954869"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Photon-style 方法可以作为模拟器层加速，和 PKA/B/C 的机制归因主线互补。</a:t>
            </a:r>
          </a:p>
        </p:txBody>
      </p:sp>
      <p:sp>
        <p:nvSpPr>
          <p:cNvPr id="15" name="Rectangle 15"/>
          <p:cNvSpPr/>
          <p:nvPr/>
        </p:nvSpPr>
        <p:spPr>
          <a:xfrm>
            <a:off x="1714500" y="5619750"/>
            <a:ext cx="8763000" cy="400050"/>
          </a:xfrm>
          <a:prstGeom prst="roundRect">
            <a:avLst>
              <a:gd name="adj" fmla="val 19048"/>
            </a:avLst>
          </a:prstGeom>
          <a:solidFill>
            <a:srgbClr val="1E3A5F"/>
          </a:solidFill>
          <a:ln>
            <a:noFill/>
          </a:ln>
        </p:spPr>
      </p:sp>
      <p:sp>
        <p:nvSpPr>
          <p:cNvPr id="16" name="TextBox 16"/>
          <p:cNvSpPr txBox="1"/>
          <p:nvPr/>
        </p:nvSpPr>
        <p:spPr>
          <a:xfrm>
            <a:off x="2952764" y="5731192"/>
            <a:ext cx="628647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结论边界：Rodinia 是闭环验证；ref_layer3 目前是代理趋势验证。</a:t>
            </a:r>
          </a:p>
        </p:txBody>
      </p:sp>
      <p:sp>
        <p:nvSpPr>
          <p:cNvPr id="17" name="TextBox 17"/>
          <p:cNvSpPr txBox="1"/>
          <p:nvPr/>
        </p:nvSpPr>
        <p:spPr>
          <a:xfrm>
            <a:off x="520065" y="6116002"/>
            <a:ext cx="3239405"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limitation_and_future_route</a:t>
            </a:r>
          </a:p>
        </p:txBody>
      </p:sp>
      <p:sp>
        <p:nvSpPr>
          <p:cNvPr id="18" name="TextBox 18"/>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20 / 21</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533400" y="514350"/>
            <a:ext cx="11125200" cy="5829300"/>
          </a:xfrm>
          <a:prstGeom prst="roundRect">
            <a:avLst>
              <a:gd name="adj" fmla="val 1307"/>
            </a:avLst>
          </a:prstGeom>
          <a:solidFill>
            <a:srgbClr val="FFFFFF"/>
          </a:solidFill>
          <a:ln w="9525">
            <a:solidFill>
              <a:srgbClr val="CBD5E1"/>
            </a:solidFill>
          </a:ln>
        </p:spPr>
      </p:sp>
      <p:sp>
        <p:nvSpPr>
          <p:cNvPr id="4" name="Rectangle 4"/>
          <p:cNvSpPr/>
          <p:nvPr/>
        </p:nvSpPr>
        <p:spPr>
          <a:xfrm>
            <a:off x="533400" y="514350"/>
            <a:ext cx="76200" cy="5829300"/>
          </a:xfrm>
          <a:prstGeom prst="rect">
            <a:avLst/>
          </a:prstGeom>
          <a:solidFill>
            <a:srgbClr val="2F855A"/>
          </a:solidFill>
          <a:ln>
            <a:noFill/>
          </a:ln>
        </p:spPr>
      </p:sp>
      <p:sp>
        <p:nvSpPr>
          <p:cNvPr id="5" name="TextBox 5"/>
          <p:cNvSpPr txBox="1"/>
          <p:nvPr/>
        </p:nvSpPr>
        <p:spPr>
          <a:xfrm>
            <a:off x="1091565" y="1124902"/>
            <a:ext cx="711006" cy="213360"/>
          </a:xfrm>
          <a:prstGeom prst="rect">
            <a:avLst/>
          </a:prstGeom>
          <a:noFill/>
          <a:ln>
            <a:noFill/>
          </a:ln>
        </p:spPr>
        <p:txBody>
          <a:bodyPr wrap="none" lIns="0" tIns="0" rIns="0" bIns="0" anchor="t" anchorCtr="0">
            <a:spAutoFit/>
          </a:bodyPr>
          <a:lstStyle/>
          <a:p>
            <a:pPr algn="l"/>
            <a:r>
              <a:rPr lang="zh-CN" sz="1050" b="1" dirty="0">
                <a:solidFill>
                  <a:srgbClr val="2F855A"/>
                </a:solidFill>
                <a:latin typeface="Arial"/>
                <a:ea typeface="Microsoft YaHei"/>
                <a:cs typeface="Arial"/>
              </a:rPr>
              <a:t>SUMMARY</a:t>
            </a:r>
          </a:p>
        </p:txBody>
      </p:sp>
      <p:sp>
        <p:nvSpPr>
          <p:cNvPr id="6" name="TextBox 6"/>
          <p:cNvSpPr txBox="1"/>
          <p:nvPr/>
        </p:nvSpPr>
        <p:spPr>
          <a:xfrm>
            <a:off x="1064895" y="1412558"/>
            <a:ext cx="11190399" cy="640080"/>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总结：优势在于让压缩结果可解释、可归因、可验证</a:t>
            </a:r>
          </a:p>
        </p:txBody>
      </p:sp>
      <p:sp>
        <p:nvSpPr>
          <p:cNvPr id="7" name="Rectangle 7"/>
          <p:cNvSpPr/>
          <p:nvPr/>
        </p:nvSpPr>
        <p:spPr>
          <a:xfrm>
            <a:off x="1104900" y="2324100"/>
            <a:ext cx="3048000" cy="1809750"/>
          </a:xfrm>
          <a:prstGeom prst="roundRect">
            <a:avLst>
              <a:gd name="adj" fmla="val 4211"/>
            </a:avLst>
          </a:prstGeom>
          <a:solidFill>
            <a:srgbClr val="F8FAFC"/>
          </a:solidFill>
          <a:ln w="9525">
            <a:solidFill>
              <a:srgbClr val="CBD5E1"/>
            </a:solidFill>
          </a:ln>
        </p:spPr>
      </p:sp>
      <p:sp>
        <p:nvSpPr>
          <p:cNvPr id="8" name="TextBox 8"/>
          <p:cNvSpPr txBox="1"/>
          <p:nvPr/>
        </p:nvSpPr>
        <p:spPr>
          <a:xfrm>
            <a:off x="1369695" y="2584132"/>
            <a:ext cx="801005" cy="335280"/>
          </a:xfrm>
          <a:prstGeom prst="rect">
            <a:avLst/>
          </a:prstGeom>
          <a:noFill/>
          <a:ln>
            <a:noFill/>
          </a:ln>
        </p:spPr>
        <p:txBody>
          <a:bodyPr wrap="none" lIns="0" tIns="0" rIns="0" bIns="0" anchor="t" anchorCtr="0">
            <a:spAutoFit/>
          </a:bodyPr>
          <a:lstStyle/>
          <a:p>
            <a:pPr algn="l"/>
            <a:r>
              <a:rPr lang="zh-CN" sz="1650" b="1" dirty="0">
                <a:solidFill>
                  <a:srgbClr val="1E3A5F"/>
                </a:solidFill>
                <a:latin typeface="Arial"/>
                <a:ea typeface="Microsoft YaHei"/>
                <a:cs typeface="Arial"/>
              </a:rPr>
              <a:t>可解释</a:t>
            </a:r>
          </a:p>
        </p:txBody>
      </p:sp>
      <p:sp>
        <p:nvSpPr>
          <p:cNvPr id="9" name="TextBox 9"/>
          <p:cNvSpPr txBox="1"/>
          <p:nvPr/>
        </p:nvSpPr>
        <p:spPr>
          <a:xfrm>
            <a:off x="1373505" y="2997518"/>
            <a:ext cx="2193274"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PKA 不只输出代表样本，</a:t>
            </a:r>
          </a:p>
        </p:txBody>
      </p:sp>
      <p:sp>
        <p:nvSpPr>
          <p:cNvPr id="10" name="TextBox 10"/>
          <p:cNvSpPr txBox="1"/>
          <p:nvPr/>
        </p:nvSpPr>
        <p:spPr>
          <a:xfrm>
            <a:off x="1373505" y="3283268"/>
            <a:ext cx="161163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还输出机制证据。</a:t>
            </a:r>
          </a:p>
        </p:txBody>
      </p:sp>
      <p:sp>
        <p:nvSpPr>
          <p:cNvPr id="11" name="Rectangle 11"/>
          <p:cNvSpPr/>
          <p:nvPr/>
        </p:nvSpPr>
        <p:spPr>
          <a:xfrm>
            <a:off x="4572000" y="2324100"/>
            <a:ext cx="3048000" cy="1809750"/>
          </a:xfrm>
          <a:prstGeom prst="roundRect">
            <a:avLst>
              <a:gd name="adj" fmla="val 4211"/>
            </a:avLst>
          </a:prstGeom>
          <a:solidFill>
            <a:srgbClr val="F8FAFC"/>
          </a:solidFill>
          <a:ln w="9525">
            <a:solidFill>
              <a:srgbClr val="CBD5E1"/>
            </a:solidFill>
          </a:ln>
        </p:spPr>
      </p:sp>
      <p:sp>
        <p:nvSpPr>
          <p:cNvPr id="12" name="TextBox 12"/>
          <p:cNvSpPr txBox="1"/>
          <p:nvPr/>
        </p:nvSpPr>
        <p:spPr>
          <a:xfrm>
            <a:off x="4836795" y="2584132"/>
            <a:ext cx="801005" cy="335280"/>
          </a:xfrm>
          <a:prstGeom prst="rect">
            <a:avLst/>
          </a:prstGeom>
          <a:noFill/>
          <a:ln>
            <a:noFill/>
          </a:ln>
        </p:spPr>
        <p:txBody>
          <a:bodyPr wrap="none" lIns="0" tIns="0" rIns="0" bIns="0" anchor="t" anchorCtr="0">
            <a:spAutoFit/>
          </a:bodyPr>
          <a:lstStyle/>
          <a:p>
            <a:pPr algn="l"/>
            <a:r>
              <a:rPr lang="zh-CN" sz="1650" b="1" dirty="0">
                <a:solidFill>
                  <a:srgbClr val="D97706"/>
                </a:solidFill>
                <a:latin typeface="Arial"/>
                <a:ea typeface="Microsoft YaHei"/>
                <a:cs typeface="Arial"/>
              </a:rPr>
              <a:t>可归因</a:t>
            </a:r>
          </a:p>
        </p:txBody>
      </p:sp>
      <p:sp>
        <p:nvSpPr>
          <p:cNvPr id="13" name="TextBox 13"/>
          <p:cNvSpPr txBox="1"/>
          <p:nvPr/>
        </p:nvSpPr>
        <p:spPr>
          <a:xfrm>
            <a:off x="4840605" y="2997518"/>
            <a:ext cx="241015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family/subtype 把 kernel</a:t>
            </a:r>
          </a:p>
        </p:txBody>
      </p:sp>
      <p:sp>
        <p:nvSpPr>
          <p:cNvPr id="14" name="TextBox 14"/>
          <p:cNvSpPr txBox="1"/>
          <p:nvPr/>
        </p:nvSpPr>
        <p:spPr>
          <a:xfrm>
            <a:off x="4840605" y="3283268"/>
            <a:ext cx="2005965"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对齐到具体硬件机制。</a:t>
            </a:r>
          </a:p>
        </p:txBody>
      </p:sp>
      <p:sp>
        <p:nvSpPr>
          <p:cNvPr id="15" name="Rectangle 15"/>
          <p:cNvSpPr/>
          <p:nvPr/>
        </p:nvSpPr>
        <p:spPr>
          <a:xfrm>
            <a:off x="8039100" y="2324100"/>
            <a:ext cx="3048000" cy="1809750"/>
          </a:xfrm>
          <a:prstGeom prst="roundRect">
            <a:avLst>
              <a:gd name="adj" fmla="val 4211"/>
            </a:avLst>
          </a:prstGeom>
          <a:solidFill>
            <a:srgbClr val="F8FAFC"/>
          </a:solidFill>
          <a:ln w="9525">
            <a:solidFill>
              <a:srgbClr val="CBD5E1"/>
            </a:solidFill>
          </a:ln>
        </p:spPr>
      </p:sp>
      <p:sp>
        <p:nvSpPr>
          <p:cNvPr id="16" name="TextBox 16"/>
          <p:cNvSpPr txBox="1"/>
          <p:nvPr/>
        </p:nvSpPr>
        <p:spPr>
          <a:xfrm>
            <a:off x="8303895" y="2584132"/>
            <a:ext cx="801005" cy="335280"/>
          </a:xfrm>
          <a:prstGeom prst="rect">
            <a:avLst/>
          </a:prstGeom>
          <a:noFill/>
          <a:ln>
            <a:noFill/>
          </a:ln>
        </p:spPr>
        <p:txBody>
          <a:bodyPr wrap="none" lIns="0" tIns="0" rIns="0" bIns="0" anchor="t" anchorCtr="0">
            <a:spAutoFit/>
          </a:bodyPr>
          <a:lstStyle/>
          <a:p>
            <a:pPr algn="l"/>
            <a:r>
              <a:rPr lang="zh-CN" sz="1650" b="1" dirty="0">
                <a:solidFill>
                  <a:srgbClr val="2F855A"/>
                </a:solidFill>
                <a:latin typeface="Arial"/>
                <a:ea typeface="Microsoft YaHei"/>
                <a:cs typeface="Arial"/>
              </a:rPr>
              <a:t>可验证</a:t>
            </a:r>
          </a:p>
        </p:txBody>
      </p:sp>
      <p:sp>
        <p:nvSpPr>
          <p:cNvPr id="17" name="TextBox 17"/>
          <p:cNvSpPr txBox="1"/>
          <p:nvPr/>
        </p:nvSpPr>
        <p:spPr>
          <a:xfrm>
            <a:off x="8307705" y="2997518"/>
            <a:ext cx="234115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subtype-to-knob map 让</a:t>
            </a:r>
          </a:p>
        </p:txBody>
      </p:sp>
      <p:sp>
        <p:nvSpPr>
          <p:cNvPr id="18" name="TextBox 18"/>
          <p:cNvSpPr txBox="1"/>
          <p:nvPr/>
        </p:nvSpPr>
        <p:spPr>
          <a:xfrm>
            <a:off x="8307705" y="3283268"/>
            <a:ext cx="2449592"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处方能被 simulator 检验。</a:t>
            </a:r>
          </a:p>
        </p:txBody>
      </p:sp>
      <p:sp>
        <p:nvSpPr>
          <p:cNvPr id="19" name="Rectangle 19"/>
          <p:cNvSpPr/>
          <p:nvPr/>
        </p:nvSpPr>
        <p:spPr>
          <a:xfrm>
            <a:off x="1104900" y="4667250"/>
            <a:ext cx="9982200" cy="781050"/>
          </a:xfrm>
          <a:prstGeom prst="roundRect">
            <a:avLst>
              <a:gd name="adj" fmla="val 9756"/>
            </a:avLst>
          </a:prstGeom>
          <a:solidFill>
            <a:srgbClr val="1E3A5F"/>
          </a:solidFill>
          <a:ln>
            <a:noFill/>
          </a:ln>
        </p:spPr>
      </p:sp>
      <p:sp>
        <p:nvSpPr>
          <p:cNvPr id="20" name="TextBox 20"/>
          <p:cNvSpPr txBox="1"/>
          <p:nvPr/>
        </p:nvSpPr>
        <p:spPr>
          <a:xfrm>
            <a:off x="1390650" y="4848225"/>
            <a:ext cx="728186"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下一步</a:t>
            </a:r>
          </a:p>
        </p:txBody>
      </p:sp>
      <p:sp>
        <p:nvSpPr>
          <p:cNvPr id="21" name="TextBox 21"/>
          <p:cNvSpPr txBox="1"/>
          <p:nvPr/>
        </p:nvSpPr>
        <p:spPr>
          <a:xfrm>
            <a:off x="1393508" y="5158264"/>
            <a:ext cx="7294721"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扩展 3-5 个 workload、实现弱监督 AI 桥梁、引入 sampled simulation 加速完整验证。</a:t>
            </a:r>
          </a:p>
        </p:txBody>
      </p:sp>
      <p:sp>
        <p:nvSpPr>
          <p:cNvPr id="22" name="TextBox 22"/>
          <p:cNvSpPr txBox="1"/>
          <p:nvPr/>
        </p:nvSpPr>
        <p:spPr>
          <a:xfrm>
            <a:off x="1110615" y="6116002"/>
            <a:ext cx="2541651"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summary_next_plan</a:t>
            </a:r>
          </a:p>
        </p:txBody>
      </p:sp>
      <p:sp>
        <p:nvSpPr>
          <p:cNvPr id="23" name="TextBox 23"/>
          <p:cNvSpPr txBox="1"/>
          <p:nvPr/>
        </p:nvSpPr>
        <p:spPr>
          <a:xfrm>
            <a:off x="1071417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21 / 21</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